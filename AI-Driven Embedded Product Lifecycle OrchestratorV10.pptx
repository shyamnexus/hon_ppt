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8" r:id="rId5"/>
    <p:sldId id="257" r:id="rId6"/>
    <p:sldId id="259" r:id="rId8"/>
    <p:sldId id="261" r:id="rId10"/>
    <p:sldId id="262" r:id="rId11"/>
    <p:sldId id="270" r:id="rId12"/>
    <p:sldId id="264" r:id="rId14"/>
    <p:sldId id="263" r:id="rId13"/>
    <p:sldId id="26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1194" y="-9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Optimisation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story is simple: connect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"The architecture connects Jira, Confluence, GitHub, Copilot,</a:t>
            </a:r>
          </a:p>
          <a:p>
            <a:r>
              <a:rPr lang="en-US"/>
              <a:t>ROVO Studio, Atlassian MCP, and JTAG/SWD evidence. AEPLO then</a:t>
            </a:r>
          </a:p>
          <a:p>
            <a:r>
              <a:rPr lang="en-US"/>
              <a:t>turns that data into orchestration, controlled fixes, gate</a:t>
            </a:r>
          </a:p>
          <a:p>
            <a:r>
              <a:rPr lang="en-US"/>
              <a:t>verdicts, and reusable launch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95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PG1, AEPLO collects PRD context, Jira themes, Confluence</a:t>
            </a:r>
          </a:p>
          <a:p>
            <a:r>
              <a:rPr lang="en-US"/>
              <a:t>architecture, GitHub history, and target-board assumptions. It</a:t>
            </a:r>
          </a:p>
          <a:p>
            <a:r>
              <a:rPr lang="en-US"/>
              <a:t>maps PDLC risks and embedded debug hotspots, then produces a</a:t>
            </a:r>
          </a:p>
          <a:p>
            <a:r>
              <a:rPr lang="en-US"/>
              <a:t>risk-backed demo scope and validation plan."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62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PG3, the JTAG Accelerator converts embedded coding defects</a:t>
            </a:r>
          </a:p>
          <a:p>
            <a:r>
              <a:rPr lang="en-US"/>
              <a:t>into hardware-backed root-cause analysis. It captures registers,</a:t>
            </a:r>
          </a:p>
          <a:p>
            <a:r>
              <a:rPr lang="en-US"/>
              <a:t>stack frames, memory evidence, and probe logs, then links the</a:t>
            </a:r>
          </a:p>
          <a:p>
            <a:r>
              <a:rPr lang="en-US"/>
              <a:t>controlled fix back to GitHub and Jira."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0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"This slide shows three real-time use cases for the JTAG agent.</a:t>
            </a:r>
          </a:p>
          <a:p>
            <a:r>
              <a:rPr lang="en-US"/>
              <a:t>First, a bootloader-to-application handoff caused a </a:t>
            </a:r>
            <a:r>
              <a:rPr lang="en-US" err="1"/>
              <a:t>HardFault</a:t>
            </a:r>
            <a:endParaRPr lang="en-US"/>
          </a:p>
          <a:p>
            <a:r>
              <a:rPr lang="en-US"/>
              <a:t>because </a:t>
            </a:r>
            <a:r>
              <a:rPr lang="en-US" err="1"/>
              <a:t>SysTick</a:t>
            </a:r>
            <a:r>
              <a:rPr lang="en-US"/>
              <a:t> was enabled but the application vector table had</a:t>
            </a:r>
          </a:p>
          <a:p>
            <a:r>
              <a:rPr lang="en-US"/>
              <a:t>no </a:t>
            </a:r>
            <a:r>
              <a:rPr lang="en-US" err="1"/>
              <a:t>SysTick</a:t>
            </a:r>
            <a:r>
              <a:rPr lang="en-US"/>
              <a:t> handler. The agent correlated the PC, vector table,</a:t>
            </a:r>
          </a:p>
          <a:p>
            <a:r>
              <a:rPr lang="en-US"/>
              <a:t>and peripheral state and reduced diagnosis from days to about</a:t>
            </a:r>
          </a:p>
          <a:p>
            <a:r>
              <a:rPr lang="en-US"/>
              <a:t>45 minutes.</a:t>
            </a:r>
          </a:p>
          <a:p>
            <a:endParaRPr lang="en-US"/>
          </a:p>
          <a:p>
            <a:r>
              <a:rPr lang="en-US"/>
              <a:t>Second, the agent emulated a sub-zero ADC condition at room</a:t>
            </a:r>
          </a:p>
          <a:p>
            <a:r>
              <a:rPr lang="en-US"/>
              <a:t>temperature. That allowed driver </a:t>
            </a:r>
            <a:r>
              <a:rPr lang="en-US" err="1"/>
              <a:t>reinitialisation</a:t>
            </a:r>
            <a:r>
              <a:rPr lang="en-US"/>
              <a:t> and gain</a:t>
            </a:r>
          </a:p>
          <a:p>
            <a:r>
              <a:rPr lang="en-US"/>
              <a:t>adjustment to be validated without waiting for thermal chamber</a:t>
            </a:r>
          </a:p>
          <a:p>
            <a:r>
              <a:rPr lang="en-US"/>
              <a:t>cycling.</a:t>
            </a:r>
          </a:p>
          <a:p>
            <a:endParaRPr lang="en-US"/>
          </a:p>
          <a:p>
            <a:r>
              <a:rPr lang="en-US"/>
              <a:t>Third, for a boot failure after flashing a new build, the agent</a:t>
            </a:r>
          </a:p>
          <a:p>
            <a:r>
              <a:rPr lang="en-US"/>
              <a:t>traced the Program Counter and identified execution going to</a:t>
            </a:r>
          </a:p>
          <a:p>
            <a:r>
              <a:rPr lang="en-US"/>
              <a:t>system ROM instead of internal flash. The key message is that</a:t>
            </a:r>
          </a:p>
          <a:p>
            <a:r>
              <a:rPr lang="en-US"/>
              <a:t>JTAG evidence becomes actionable AI context, not just a debug</a:t>
            </a:r>
          </a:p>
          <a:p>
            <a:r>
              <a:rPr lang="en-US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"QA2Release closes the loop. Test failures and JTAG evidence</a:t>
            </a:r>
          </a:p>
          <a:p>
            <a:r>
              <a:rPr lang="en-US"/>
              <a:t>feed root-cause analysis, test </a:t>
            </a:r>
            <a:r>
              <a:rPr lang="en-US" err="1"/>
              <a:t>optimisation</a:t>
            </a:r>
            <a:r>
              <a:rPr lang="en-US"/>
              <a:t>, and next-release</a:t>
            </a:r>
          </a:p>
          <a:p>
            <a:r>
              <a:rPr lang="en-US"/>
              <a:t>learning. The output becomes Jira actions, Confluence summaries,</a:t>
            </a:r>
          </a:p>
          <a:p>
            <a:r>
              <a:rPr lang="en-US"/>
              <a:t>and better evidence for the next gate.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6.png"/><Relationship Id="rId10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11.png"/><Relationship Id="rId8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3-Minute 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40" name="Picture 239" descr="confl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5687568"/>
            <a:ext cx="329184" cy="329184"/>
          </a:xfrm>
          <a:prstGeom prst="rect">
            <a:avLst/>
          </a:prstGeom>
        </p:spPr>
      </p:pic>
      <p:pic>
        <p:nvPicPr>
          <p:cNvPr id="241" name="Picture 240" descr="ji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5687568"/>
            <a:ext cx="329184" cy="329184"/>
          </a:xfrm>
          <a:prstGeom prst="rect">
            <a:avLst/>
          </a:prstGeom>
        </p:spPr>
      </p:pic>
      <p:pic>
        <p:nvPicPr>
          <p:cNvPr id="242" name="Picture 241" descr="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3896" y="5687568"/>
            <a:ext cx="329184" cy="329184"/>
          </a:xfrm>
          <a:prstGeom prst="rect">
            <a:avLst/>
          </a:prstGeom>
        </p:spPr>
      </p:pic>
      <p:pic>
        <p:nvPicPr>
          <p:cNvPr id="243" name="Picture 242" descr="jta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29384" y="5687568"/>
            <a:ext cx="329184" cy="329184"/>
          </a:xfrm>
          <a:prstGeom prst="rect">
            <a:avLst/>
          </a:prstGeom>
        </p:spPr>
      </p:pic>
      <p:pic>
        <p:nvPicPr>
          <p:cNvPr id="244" name="Picture 243" descr="q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4872" y="5687568"/>
            <a:ext cx="329184" cy="329184"/>
          </a:xfrm>
          <a:prstGeom prst="rect">
            <a:avLst/>
          </a:prstGeom>
        </p:spPr>
      </p:pic>
      <p:pic>
        <p:nvPicPr>
          <p:cNvPr id="245" name="Picture 244" descr="stq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0360" y="5687568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49" name="Picture 48" descr="ji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6053328"/>
            <a:ext cx="292608" cy="292608"/>
          </a:xfrm>
          <a:prstGeom prst="rect">
            <a:avLst/>
          </a:prstGeom>
        </p:spPr>
      </p:pic>
      <p:pic>
        <p:nvPicPr>
          <p:cNvPr id="50" name="Picture 49" descr="confl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6053328"/>
            <a:ext cx="292608" cy="292608"/>
          </a:xfrm>
          <a:prstGeom prst="rect">
            <a:avLst/>
          </a:prstGeom>
        </p:spPr>
      </p:pic>
      <p:pic>
        <p:nvPicPr>
          <p:cNvPr id="51" name="Picture 50" descr="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6053328"/>
            <a:ext cx="292608" cy="292608"/>
          </a:xfrm>
          <a:prstGeom prst="rect">
            <a:avLst/>
          </a:prstGeom>
        </p:spPr>
      </p:pic>
      <p:pic>
        <p:nvPicPr>
          <p:cNvPr id="52" name="Picture 51" descr="jta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9967" y="6053328"/>
            <a:ext cx="292608" cy="292608"/>
          </a:xfrm>
          <a:prstGeom prst="rect">
            <a:avLst/>
          </a:prstGeom>
        </p:spPr>
      </p:pic>
      <p:pic>
        <p:nvPicPr>
          <p:cNvPr id="53" name="Picture 52" descr="q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7168" y="605332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46" name="Picture 45" descr="ji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53328"/>
            <a:ext cx="265176" cy="265176"/>
          </a:xfrm>
          <a:prstGeom prst="rect">
            <a:avLst/>
          </a:prstGeom>
        </p:spPr>
      </p:pic>
      <p:pic>
        <p:nvPicPr>
          <p:cNvPr id="47" name="Picture 46" descr="confl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6053328"/>
            <a:ext cx="265176" cy="265176"/>
          </a:xfrm>
          <a:prstGeom prst="rect">
            <a:avLst/>
          </a:prstGeom>
        </p:spPr>
      </p:pic>
      <p:pic>
        <p:nvPicPr>
          <p:cNvPr id="48" name="Picture 47" descr="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84" y="6053328"/>
            <a:ext cx="265176" cy="265176"/>
          </a:xfrm>
          <a:prstGeom prst="rect">
            <a:avLst/>
          </a:prstGeom>
        </p:spPr>
      </p:pic>
      <p:pic>
        <p:nvPicPr>
          <p:cNvPr id="49" name="Picture 48" descr="copi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6776" y="6053328"/>
            <a:ext cx="265176" cy="265176"/>
          </a:xfrm>
          <a:prstGeom prst="rect">
            <a:avLst/>
          </a:prstGeom>
        </p:spPr>
      </p:pic>
      <p:pic>
        <p:nvPicPr>
          <p:cNvPr id="50" name="Picture 49" descr="rov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9967" y="6053328"/>
            <a:ext cx="265176" cy="265176"/>
          </a:xfrm>
          <a:prstGeom prst="rect">
            <a:avLst/>
          </a:prstGeom>
        </p:spPr>
      </p:pic>
      <p:pic>
        <p:nvPicPr>
          <p:cNvPr id="51" name="Picture 50" descr="azure_devo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6053328"/>
            <a:ext cx="265176" cy="265176"/>
          </a:xfrm>
          <a:prstGeom prst="rect">
            <a:avLst/>
          </a:prstGeom>
        </p:spPr>
      </p:pic>
      <p:pic>
        <p:nvPicPr>
          <p:cNvPr id="52" name="Picture 51" descr="jta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6352" y="6053328"/>
            <a:ext cx="265176" cy="265176"/>
          </a:xfrm>
          <a:prstGeom prst="rect">
            <a:avLst/>
          </a:prstGeom>
        </p:spPr>
      </p:pic>
      <p:pic>
        <p:nvPicPr>
          <p:cNvPr id="53" name="Picture 52" descr="q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9544" y="6053328"/>
            <a:ext cx="265176" cy="2651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PRD TO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Confluence PRD -&gt; Pickable Jira Work</a:t>
            </a:r>
            <a:r>
              <a:rPr sz="2800" b="1" i="0" err="1">
                <a:solidFill>
                  <a:srgbClr val="FFFFFF"/>
                </a:solidFill>
                <a:latin typeface="Arial"/>
              </a:rPr>
              <a:t/>
            </a:r>
            <a:endParaRPr sz="28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Epics and stories are created from the PRD hosted on Confluence, guided by SDE Elements and PSJIRA. The user picks work items and AEPLO carries acceptance context into the branch.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Confluence PRD +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Reads PRD, SDE Elements, architecture notes, release intent, security scope and PSJIRA conventions.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CREATE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Epics, Stories and Criteria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Maps requirements into epics, stories, acceptance criteria, trace links and validation evidence expectations.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User Selects 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Lists stories for the user to pick, then creates a feature branch with PRD clauses and QA inputs attached.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50" name="Picture 49" descr="confl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053328"/>
            <a:ext cx="292608" cy="292608"/>
          </a:xfrm>
          <a:prstGeom prst="rect">
            <a:avLst/>
          </a:prstGeom>
        </p:spPr>
      </p:pic>
      <p:pic>
        <p:nvPicPr>
          <p:cNvPr id="51" name="Picture 50" descr="rov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6053328"/>
            <a:ext cx="292608" cy="292608"/>
          </a:xfrm>
          <a:prstGeom prst="rect">
            <a:avLst/>
          </a:prstGeom>
        </p:spPr>
      </p:pic>
      <p:pic>
        <p:nvPicPr>
          <p:cNvPr id="52" name="Picture 51" descr="ji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2496" y="6053328"/>
            <a:ext cx="292608" cy="292608"/>
          </a:xfrm>
          <a:prstGeom prst="rect">
            <a:avLst/>
          </a:prstGeom>
        </p:spPr>
      </p:pic>
      <p:pic>
        <p:nvPicPr>
          <p:cNvPr id="53" name="Picture 52" descr="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6272" y="6053328"/>
            <a:ext cx="292608" cy="292608"/>
          </a:xfrm>
          <a:prstGeom prst="rect">
            <a:avLst/>
          </a:prstGeom>
        </p:spPr>
      </p:pic>
      <p:pic>
        <p:nvPicPr>
          <p:cNvPr id="54" name="Picture 53" descr="q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0048" y="605332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At PG3, AEPLO generates firmware/code from datasheet and PRD, injecting SDK, BSP, compiler, OS/RTOS and board context before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DATASHEET + PRD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Requirement, register map, interface contract and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SDK / OS / RTOS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SDK, BSP, HAL, compiler, memory map, OS/RTOS and board constraints are injected.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FIRMWARE GENERATION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Driver skeletons, peripheral init, configuration tables and test hooks are generated.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VALIDATED FEATURE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Generated code becomes a review-ready branch with tests, evidence and PRD traceability.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DATASHEET AND HARDWARE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Checks: datasheet conformance | PRD trace | static/unit validation | JTAG/SWD registers, stack frames, memory dumps, peripheral state and probe logs.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Draft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Firmware first draft moves from days to guided PG3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Validation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generated file links PRD, datasheet, QA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firmware flows into QA release and STQC readiness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5  /  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3" name="Picture 92" descr="p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6089904"/>
            <a:ext cx="274320" cy="274320"/>
          </a:xfrm>
          <a:prstGeom prst="rect">
            <a:avLst/>
          </a:prstGeom>
        </p:spPr>
      </p:pic>
      <p:pic>
        <p:nvPicPr>
          <p:cNvPr id="94" name="Picture 93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6089904"/>
            <a:ext cx="274320" cy="274320"/>
          </a:xfrm>
          <a:prstGeom prst="rect">
            <a:avLst/>
          </a:prstGeom>
        </p:spPr>
      </p:pic>
      <p:pic>
        <p:nvPicPr>
          <p:cNvPr id="95" name="Picture 94" descr="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6192" y="6089904"/>
            <a:ext cx="274320" cy="274320"/>
          </a:xfrm>
          <a:prstGeom prst="rect">
            <a:avLst/>
          </a:prstGeom>
        </p:spPr>
      </p:pic>
      <p:pic>
        <p:nvPicPr>
          <p:cNvPr id="96" name="Picture 95" descr="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5104" y="6089904"/>
            <a:ext cx="274320" cy="274320"/>
          </a:xfrm>
          <a:prstGeom prst="rect">
            <a:avLst/>
          </a:prstGeom>
        </p:spPr>
      </p:pic>
      <p:pic>
        <p:nvPicPr>
          <p:cNvPr id="97" name="Picture 96" descr="azure_dev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4015" y="6089904"/>
            <a:ext cx="274320" cy="274320"/>
          </a:xfrm>
          <a:prstGeom prst="rect">
            <a:avLst/>
          </a:prstGeom>
        </p:spPr>
      </p:pic>
      <p:pic>
        <p:nvPicPr>
          <p:cNvPr id="98" name="Picture 97" descr="jta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2928" y="6089904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132" name="Picture 131" descr="jt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053328"/>
            <a:ext cx="292608" cy="292608"/>
          </a:xfrm>
          <a:prstGeom prst="rect">
            <a:avLst/>
          </a:prstGeom>
        </p:spPr>
      </p:pic>
      <p:pic>
        <p:nvPicPr>
          <p:cNvPr id="133" name="Picture 132" descr="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6053328"/>
            <a:ext cx="292608" cy="292608"/>
          </a:xfrm>
          <a:prstGeom prst="rect">
            <a:avLst/>
          </a:prstGeom>
        </p:spPr>
      </p:pic>
      <p:pic>
        <p:nvPicPr>
          <p:cNvPr id="134" name="Picture 133" descr="ji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320" y="6053328"/>
            <a:ext cx="292608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47" name="Picture 46" descr="stq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053328"/>
            <a:ext cx="292608" cy="292608"/>
          </a:xfrm>
          <a:prstGeom prst="rect">
            <a:avLst/>
          </a:prstGeom>
        </p:spPr>
      </p:pic>
      <p:pic>
        <p:nvPicPr>
          <p:cNvPr id="48" name="Picture 47" descr="p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" y="6053328"/>
            <a:ext cx="292608" cy="292608"/>
          </a:xfrm>
          <a:prstGeom prst="rect">
            <a:avLst/>
          </a:prstGeom>
        </p:spPr>
      </p:pic>
      <p:pic>
        <p:nvPicPr>
          <p:cNvPr id="49" name="Picture 48" descr="ji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6053328"/>
            <a:ext cx="292608" cy="292608"/>
          </a:xfrm>
          <a:prstGeom prst="rect">
            <a:avLst/>
          </a:prstGeom>
        </p:spPr>
      </p:pic>
      <p:pic>
        <p:nvPicPr>
          <p:cNvPr id="50" name="Picture 49" descr="conflu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0" y="605332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 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 Release Gate Closed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Feature branch, PRD criteria, QA inputs and JTAG evidence are validated together. NOT_READY decisions become prioritized next-release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Validate Release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QA results, PRD acceptance criteria, generated firmware tests and JTAG evidence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Readiness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and hardware evidence.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Guide Next Release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stories and priorities are created until the release gate returns READY.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36" name="Picture 35" descr="q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053328"/>
            <a:ext cx="292608" cy="292608"/>
          </a:xfrm>
          <a:prstGeom prst="rect">
            <a:avLst/>
          </a:prstGeom>
        </p:spPr>
      </p:pic>
      <p:pic>
        <p:nvPicPr>
          <p:cNvPr id="37" name="Picture 36" descr="p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" y="6053328"/>
            <a:ext cx="292608" cy="292608"/>
          </a:xfrm>
          <a:prstGeom prst="rect">
            <a:avLst/>
          </a:prstGeom>
        </p:spPr>
      </p:pic>
      <p:pic>
        <p:nvPicPr>
          <p:cNvPr id="38" name="Picture 37" descr="jt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6053328"/>
            <a:ext cx="292608" cy="292608"/>
          </a:xfrm>
          <a:prstGeom prst="rect">
            <a:avLst/>
          </a:prstGeom>
        </p:spPr>
      </p:pic>
      <p:pic>
        <p:nvPicPr>
          <p:cNvPr id="39" name="Picture 38" descr="ji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0" y="6053328"/>
            <a:ext cx="292608" cy="292608"/>
          </a:xfrm>
          <a:prstGeom prst="rect">
            <a:avLst/>
          </a:prstGeom>
        </p:spPr>
      </p:pic>
      <p:pic>
        <p:nvPicPr>
          <p:cNvPr id="40" name="Picture 39" descr="conflue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608" y="605332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56" name="Picture 55" descr="stq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6053328"/>
            <a:ext cx="292608" cy="292608"/>
          </a:xfrm>
          <a:prstGeom prst="rect">
            <a:avLst/>
          </a:prstGeom>
        </p:spPr>
      </p:pic>
      <p:pic>
        <p:nvPicPr>
          <p:cNvPr id="57" name="Picture 56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1328" y="6053328"/>
            <a:ext cx="292608" cy="292608"/>
          </a:xfrm>
          <a:prstGeom prst="rect">
            <a:avLst/>
          </a:prstGeom>
        </p:spPr>
      </p:pic>
      <p:pic>
        <p:nvPicPr>
          <p:cNvPr id="58" name="Picture 57" descr="jt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6816" y="6053328"/>
            <a:ext cx="292608" cy="292608"/>
          </a:xfrm>
          <a:prstGeom prst="rect">
            <a:avLst/>
          </a:prstGeom>
        </p:spPr>
      </p:pic>
      <p:pic>
        <p:nvPicPr>
          <p:cNvPr id="59" name="Picture 58" descr="q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2304" y="6053328"/>
            <a:ext cx="292608" cy="292608"/>
          </a:xfrm>
          <a:prstGeom prst="rect">
            <a:avLst/>
          </a:prstGeom>
        </p:spPr>
      </p:pic>
      <p:pic>
        <p:nvPicPr>
          <p:cNvPr id="60" name="Picture 59" descr="copil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7792" y="605332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2747</Words>
  <Application>Microsoft Office PowerPoint</Application>
  <PresentationFormat>On-screen Show (4:3)</PresentationFormat>
  <Paragraphs>402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1</cp:revision>
  <dcterms:created xsi:type="dcterms:W3CDTF">2013-01-27T09:14:16Z</dcterms:created>
  <dcterms:modified xsi:type="dcterms:W3CDTF">2026-06-17T05:45:01Z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