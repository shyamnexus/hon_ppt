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2" d="100"/>
          <a:sy n="102" d="100"/>
        </p:scale>
        <p:origin x="3504" y="1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 presenting AEPLO V3 [code name for our project]— an AI platform that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orchestrates the entire embedded product lifecycle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3247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07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0825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0A3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00C8F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VERSION 3.0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>
                <a:ln>
                  <a:noFill/>
                </a:ln>
                <a:solidFill>
                  <a:srgbClr val="B8D0EC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End-to-End Embedded Intelligence
Faster  |  Safer  |  Predictable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080A8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  /  10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8D0EC"/>
                </a:solidFill>
                <a:latin typeface="Segoe UI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Segoe UI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Segoe UI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1" y="749808"/>
            <a:ext cx="85009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Segoe UI"/>
              </a:rPr>
              <a:t>AEPLO Platform for Embedded PDLC AI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67328" y="2944367"/>
            <a:ext cx="1609344" cy="1609344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944355" y="3121394"/>
            <a:ext cx="1255288" cy="1255288"/>
          </a:xfrm>
          <a:prstGeom prst="ellipse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603444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594447" y="3866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567612" y="40010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523398" y="41313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462561" y="425470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386142" y="43690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295449" y="447248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92033" y="45631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077664" y="463960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4298" y="47004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824047" y="47446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689140" y="47714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1884" y="47804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14627" y="47714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279720" y="47446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149469" y="47004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026104" y="463960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911734" y="45631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808318" y="447248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717625" y="43690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641206" y="425470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580369" y="41313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36155" y="40010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509320" y="3866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3500324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509320" y="3591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536155" y="34567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580369" y="33265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41206" y="320314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717625" y="30887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808318" y="298535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911734" y="28946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4026103" y="281824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149469" y="27574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279720" y="27131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414627" y="26863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551884" y="267736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689140" y="26863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824047" y="27131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954298" y="27574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77664" y="281824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192033" y="28946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295449" y="298535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386142" y="30887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5462561" y="320314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5523398" y="33265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5567612" y="34567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5594447" y="3591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5850332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5839223" y="38984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5806088" y="40649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5751493" y="422581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5676372" y="43781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5582012" y="451936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5470025" y="46470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5342329" y="47590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5201108" y="485341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5048778" y="492853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4887947" y="49831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721365" y="501626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4551884" y="50273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4382402" y="501626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4215820" y="49831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4054989" y="492853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3902660" y="485341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3761438" y="47590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3633742" y="46470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3521755" y="451936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3427395" y="43781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3352274" y="422581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3297679" y="40649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3264544" y="38984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3253436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3264544" y="35594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3297679" y="33928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3352274" y="323202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3427395" y="307969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3521755" y="293847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3633742" y="28107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761438" y="26987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3902659" y="260443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4054989" y="252931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215820" y="24747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4382402" y="24415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4551884" y="24304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4721365" y="24415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4887947" y="24747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5048778" y="252931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5201108" y="260443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5342329" y="26987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5470025" y="28107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5582012" y="293847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5676372" y="30796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751493" y="323202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806088" y="33928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5839223" y="35594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6088076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6074933" y="392943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6035731" y="41265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5971140" y="43167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5882265" y="449701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5770627" y="466409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5638135" y="481517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5487058" y="4947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5319980" y="50593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5139759" y="5148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4949479" y="521277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4752397" y="52519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4551884" y="526511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4351370" y="52519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4154288" y="521277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3964008" y="5148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3783788" y="50593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3616709" y="4947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3465632" y="481517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3333140" y="466409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3221502" y="449701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3132627" y="43167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3068036" y="41265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3028834" y="392943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3015692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3028834" y="352840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3068036" y="33313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3132627" y="31410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3221502" y="29608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3333140" y="279374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65632" y="26426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3616709" y="2510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3783787" y="23985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3964008" y="2309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4154288" y="22450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4351370" y="22058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551884" y="219273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4752397" y="22058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4949479" y="22450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5139759" y="2309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5319980" y="23985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5487058" y="2510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5638135" y="26426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5770627" y="279374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Oval 149"/>
          <p:cNvSpPr/>
          <p:nvPr/>
        </p:nvSpPr>
        <p:spPr>
          <a:xfrm>
            <a:off x="5882265" y="296082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971140" y="31410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6035731" y="33313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6074933" y="352840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748694" y="3444687"/>
            <a:ext cx="1609344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00C8F0"/>
                </a:solidFill>
                <a:latin typeface="Segoe UI"/>
              </a:rPr>
              <a:t>AEPLO
JTAG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647370" y="2473633"/>
            <a:ext cx="1184330" cy="2743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2633654" y="2487349"/>
            <a:ext cx="27432" cy="52139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91440" y="137159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91440" y="1371599"/>
            <a:ext cx="2743200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228600" y="1536191"/>
            <a:ext cx="274320" cy="27432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621792" y="144475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0"/>
                </a:solidFill>
                <a:latin typeface="Segoe UI"/>
              </a:rPr>
              <a:t>Connected Embedded
Data Foundation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8600" y="192023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Unifies Jira, Confluence, GitHub, JTAG/SWD evidence, QA and gate context.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2298" y="2473633"/>
            <a:ext cx="1184330" cy="2743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6482913" y="2487349"/>
            <a:ext cx="27432" cy="52139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ounded Rectangle 163"/>
          <p:cNvSpPr/>
          <p:nvPr/>
        </p:nvSpPr>
        <p:spPr>
          <a:xfrm>
            <a:off x="6309360" y="137159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6309360" y="1371599"/>
            <a:ext cx="2743200" cy="4114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Oval 165"/>
          <p:cNvSpPr/>
          <p:nvPr/>
        </p:nvSpPr>
        <p:spPr>
          <a:xfrm>
            <a:off x="6446520" y="1536191"/>
            <a:ext cx="274320" cy="27432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6839712" y="144475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8A"/>
                </a:solidFill>
                <a:latin typeface="Segoe UI"/>
              </a:rPr>
              <a:t>JTAG Accelerator
Inside AEPLO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446520" y="192023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Hardware-backed RCA, variable tracing and peripheral inspection become PDLC evidence.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647370" y="4997012"/>
            <a:ext cx="1184330" cy="274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2633654" y="4489337"/>
            <a:ext cx="27432" cy="52139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ounded Rectangle 170"/>
          <p:cNvSpPr/>
          <p:nvPr/>
        </p:nvSpPr>
        <p:spPr>
          <a:xfrm>
            <a:off x="91440" y="493775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91440" y="4937759"/>
            <a:ext cx="2743200" cy="411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Oval 172"/>
          <p:cNvSpPr/>
          <p:nvPr/>
        </p:nvSpPr>
        <p:spPr>
          <a:xfrm>
            <a:off x="228600" y="5102351"/>
            <a:ext cx="274320" cy="27432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621792" y="501091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  <a:latin typeface="Segoe UI"/>
              </a:rPr>
              <a:t>NPI Gate
Orchestration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28600" y="548639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PG1 discovery, PG3 development and PG5 launch prep become one demo flow.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312298" y="4997012"/>
            <a:ext cx="1184330" cy="2743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6482913" y="4489337"/>
            <a:ext cx="27432" cy="52139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ounded Rectangle 177"/>
          <p:cNvSpPr/>
          <p:nvPr/>
        </p:nvSpPr>
        <p:spPr>
          <a:xfrm>
            <a:off x="6309360" y="493775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6309360" y="4937759"/>
            <a:ext cx="2743200" cy="411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Oval 179"/>
          <p:cNvSpPr/>
          <p:nvPr/>
        </p:nvSpPr>
        <p:spPr>
          <a:xfrm>
            <a:off x="6446520" y="5102351"/>
            <a:ext cx="274320" cy="2743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839712" y="501091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Segoe UI"/>
              </a:rPr>
              <a:t>AI Optimisation
Experiences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446520" y="548639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ROVO Studio, Copilot and agents optimise risks, fixes, tests and readiness.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CONNECTED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Segoe UI"/>
              </a:rPr>
              <a:t>ROVO + Copilot + Atlassian MCP + GitHub + Jira + Confluence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The demo platform brings work management, knowledge, code, AI coding assistance and hardware evidence into AEPLO's embedded PDLC optimisation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65960"/>
            <a:ext cx="1938528" cy="54864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0072C6"/>
                </a:solidFill>
                <a:latin typeface="Segoe UI"/>
              </a:rPr>
              <a:t>PLAN &amp; 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76072" y="286207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Jira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NPI epics, coding defects,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6072" y="386791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Confluence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PRD, architecture, test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6072" y="487375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PG1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Risk map and demo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43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46888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945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51002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3060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5117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57175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59232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61289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46888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468880" y="1965960"/>
            <a:ext cx="1938528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57860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8B5CF6"/>
                </a:solidFill>
                <a:latin typeface="Segoe UI"/>
              </a:rPr>
              <a:t>BUILD &amp; 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0604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724912" y="286207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06324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2491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Branches, PRs, reviews, evidence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0604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2724912" y="386791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6324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Copilot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Patch suggestions and explanations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0604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724912" y="487375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06324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PG3 Development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2491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RCA, guarded fix and PR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6227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61772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63829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65886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67944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70001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72059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4116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76173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461772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617720" y="1965960"/>
            <a:ext cx="1938528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72744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FF8C00"/>
                </a:solidFill>
                <a:latin typeface="Segoe UI"/>
              </a:rPr>
              <a:t>ORCHESTRATE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4873752" y="286207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1208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Atlassian MCP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375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Jira + Confluence 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5488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4873752" y="386791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21208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AEPLO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7375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Agent routing and PDLC knowledge graph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5488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873752" y="487375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1208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ROVO Studio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NPI demo cockpit and AI experience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1111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76656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78713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680770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682828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84885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86943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89000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91057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676656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766560" y="1965960"/>
            <a:ext cx="1938528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7628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00D48A"/>
                </a:solidFill>
                <a:latin typeface="Segoe UI"/>
              </a:rPr>
              <a:t>VALIDATE &amp; LAUNCH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0372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7022592" y="286207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36092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JTAG Accelerator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2259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MCU register, memory and probe evidence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90372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022592" y="386791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36092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Release Gate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259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READY / NOT_READY with action list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90372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22592" y="487375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36092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PG5 Launch Prep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2259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Validation proof and governance pack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0040" y="6355080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02920" y="6391656"/>
            <a:ext cx="8138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69" b="1" i="0">
                <a:solidFill>
                  <a:srgbClr val="00D48A"/>
                </a:solidFill>
                <a:latin typeface="Segoe UI"/>
              </a:rPr>
              <a:t>COMMON IDEA: AEPLO connects enterprise collaboration tools with embedded hardware evidence to optimise NPI gate decisions.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PG1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PG1 Discovery — AI Risk &amp; Scope Optimisation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AEPLO starts before coding: it connects PRD content, Jira themes, Confluence context, GitHub history and target-board data to shape a risk-backed embedded demo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A89A"/>
                </a:solidFill>
                <a:latin typeface="Segoe UI"/>
              </a:rPr>
              <a:t>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NPI + Embedded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3749040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B8D0EC"/>
                </a:solidFill>
                <a:latin typeface="Segoe UI"/>
              </a:rPr>
              <a:t>Ingests PRD, Jira epics, Confluence architecture notes, GitHub defect history and target-board assumptions.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2C6"/>
                </a:solidFill>
                <a:latin typeface="Segoe UI"/>
              </a:rPr>
              <a:t>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PDLC Risk &amp; Traceability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3728791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Builds a lifecycle graph from requirements to code areas, tests, JTAG debug hotspots and validation evidence needs.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8C00"/>
                </a:solidFill>
                <a:latin typeface="Segoe UI"/>
              </a:rPr>
              <a:t>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PG1 Demo Readiness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0405" y="3728791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Produces a risk-backed demo scope, board setup checklist, debug scenario and PG3 development entry criteria.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PG3 Development — AEPLO JTAG Accelerator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Inside AEPLO, the JTAG Accelerator converts embedded coding defects into hardware-backed RCA, controlled code fixes, GitHub PRs and Jira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72C6"/>
                </a:solidFill>
                <a:latin typeface="Segoe UI"/>
              </a:rPr>
              <a:t>JIRA / CONFLUENCE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Bug, requirement, architecture note and PG3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8C00"/>
                </a:solidFill>
                <a:latin typeface="Segoe UI"/>
              </a:rPr>
              <a:t>JTAG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Routes requests across AEPLO, IDE, J-Link probe and target MCU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8B5CF6"/>
                </a:solidFill>
                <a:latin typeface="Segoe UI"/>
              </a:rPr>
              <a:t>SPECIALIST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Fault Analyzer, Variable Tracer, Peripheral Inspector and Memory Parser collaborate.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D48A"/>
                </a:solidFill>
                <a:latin typeface="Segoe UI"/>
              </a:rPr>
              <a:t>CONTROLLED AUTO-FIX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Copilot-assisted patch becomes a GitHub branch, PR and review-ready Jira update.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  <a:latin typeface="Segoe UI"/>
              </a:rPr>
              <a:t>PHYSICAL DEBUG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Target MCU: STM32 / Cortex-M  |  Interface: JTAG/SWD  |  Evidence: HardFault registers, stack frames, memory dumps, peripheral state, probe logs and GitHub PR links.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A89A"/>
                </a:solidFill>
                <a:latin typeface="Segoe UI"/>
              </a:rPr>
              <a:t>Faster RCA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Days of manual setup become guided ROVO/Copilot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2C6"/>
                </a:solidFill>
                <a:latin typeface="Segoe UI"/>
              </a:rPr>
              <a:t>Traceable Fixes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Every patch links Jira, Confluence, GitHub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D48A"/>
                </a:solidFill>
                <a:latin typeface="Segoe UI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Validated fixes flow into PG5 launch preparation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PG5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Segoe UI"/>
              </a:rPr>
              <a:t>PG5 Validation &amp; Launch Preparation Gatekeeper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AEPLO evaluates launch readiness using code, QA, traceability and JTAG/SWD evidence. The outcome is an unambiguous gate verdict with action-ready remediation.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8A"/>
                </a:solidFill>
                <a:latin typeface="Segoe UI"/>
              </a:rPr>
              <a:t>Validates PG5
Launch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Coverage, static analysis, regression status, traceability, hardware proof and launch evidence are checked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2C6"/>
                </a:solidFill>
                <a:latin typeface="Segoe UI"/>
              </a:rPr>
              <a:t>Structured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Binary, unambiguous gate decision with confidence score, Jira evidence summary and GitHub PR links.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  <a:latin typeface="Segoe UI"/>
              </a:rPr>
              <a:t>Clear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Every NOT_READY verdict includes a prioritized action list: which test, fix, evidence or launch artefact must be updated.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2C6"/>
                </a:solidFill>
                <a:latin typeface="Segoe UI"/>
              </a:rPr>
              <a:t>RELEASE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022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8A"/>
                </a:solidFill>
                <a:latin typeface="Segoe UI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24612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All gates passed.
Cleared for release.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3A3A"/>
                </a:solidFill>
                <a:latin typeface="Segoe UI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9592" y="493776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3 blockers found.
See remediation list.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QA2RELEASE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QA2Release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Creates a closed-loop embedded PDLC: QA results and JTAG evidence drive root-cause analysis, test optimisation and next-release learning.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5CF6"/>
                </a:solidFill>
                <a:latin typeface="Segoe UI"/>
              </a:rPr>
              <a:t>Analyze QA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All QA failures and hardware evidence are ingested — unit, integration, HIL, system tests, JTAG registers and probe logs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2C6"/>
                </a:solidFill>
                <a:latin typeface="Segoe UI"/>
              </a:rPr>
              <a:t>Extract Root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AI correlates failures with commits, Jira issues, Confluence decisions, RTOS timing deltas and JTAG/SWD evidence. Root causes are ranked by confidence.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8A"/>
                </a:solidFill>
                <a:latin typeface="Segoe UI"/>
              </a:rPr>
              <a:t>Generate Next-Release Improvements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Automated improvement tickets are raised with code suggestions, test additions, coverage targets and launch-prep actions for the next NPI cycle.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6400800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6400800"/>
            <a:ext cx="45720" cy="3108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64008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B5CF6"/>
                </a:solidFill>
                <a:latin typeface="Segoe UI"/>
              </a:rPr>
              <a:t>CLOSED-LOOP LIFECYCLE: QA → Root Cause → Next Release Plan → Better QA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Live demonstration of how AEPLO executes the NPI gate pipeline from PG1 discovery through PG3 JTAG-accelerated development to PG5 validation and launch prep.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103120"/>
            <a:ext cx="1188720" cy="256032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1</a:t>
            </a:r>
          </a:p>
        </p:txBody>
      </p:sp>
      <p:sp>
        <p:nvSpPr>
          <p:cNvPr id="13" name="Oval 12"/>
          <p:cNvSpPr/>
          <p:nvPr/>
        </p:nvSpPr>
        <p:spPr>
          <a:xfrm>
            <a:off x="1284732" y="2487168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4732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A89A"/>
                </a:solidFill>
                <a:latin typeface="Segoe UI"/>
              </a:rPr>
              <a:t>PG1 →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913632"/>
            <a:ext cx="2368296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ROVO Studio cockpit opens NPI scenario
• Jira + Confluence + GitHub context ingested
• AEPLO maps embedded PDLC risks
• Demo scope and board setup are generated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4096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088843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123590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58337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193084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0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364992" y="2103120"/>
            <a:ext cx="1188720" cy="25603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64992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2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2487168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65092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2C6"/>
                </a:solidFill>
                <a:latin typeface="Segoe UI"/>
              </a:rPr>
              <a:t>PG3 → Development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4992" y="3913632"/>
            <a:ext cx="2368296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0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JTAG Accelerator attaches to target MCU
• Fault Analyzer captures register evidence
• Copilot proposes guarded fix
• GitHub PR links code and hardware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34456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69203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003950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38697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073444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080759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80759" y="1993392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245351" y="2103120"/>
            <a:ext cx="1188720" cy="25603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45351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3</a:t>
            </a:r>
          </a:p>
        </p:txBody>
      </p:sp>
      <p:sp>
        <p:nvSpPr>
          <p:cNvPr id="41" name="Oval 40"/>
          <p:cNvSpPr/>
          <p:nvPr/>
        </p:nvSpPr>
        <p:spPr>
          <a:xfrm>
            <a:off x="7045451" y="2487168"/>
            <a:ext cx="768096" cy="76809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45451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19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Segoe UI"/>
              </a:rPr>
              <a:t>PG5 → Validation &amp; Launch Prep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1" y="3913632"/>
            <a:ext cx="2368296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63639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QA and JTAG evidence feed Release Gate
• READY / NOT_READY verdict issued
• Jira actions and Confluence summary created
• Next NPI learning loop is updated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Measured outcomes for the Coding Embedded Workstream: connected platform data, hardware-backed debugging, AI optimisation and NPI gate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420624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" y="2176272"/>
            <a:ext cx="548640" cy="54864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84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Reduced
Defect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66544"/>
            <a:ext cx="1143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 dirty="0">
                <a:solidFill>
                  <a:srgbClr val="00D48A"/>
                </a:solidFill>
                <a:latin typeface="Segoe UI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fewer post-release defects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651760"/>
            <a:ext cx="3877056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ML defect prediction + auto-test generation eliminates the most common escape vectors before firmware 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199339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54879" y="1993392"/>
            <a:ext cx="420624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937759" y="2176272"/>
            <a:ext cx="548640" cy="548640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37759" y="2176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084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Faster Firmware
RCA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2066544"/>
            <a:ext cx="1143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 dirty="0">
                <a:solidFill>
                  <a:srgbClr val="0072C6"/>
                </a:solidFill>
                <a:latin typeface="Segoe UI"/>
              </a:rPr>
              <a:t>&lt;30m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from ticket to root cause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1" y="2651760"/>
            <a:ext cx="3877056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37759" y="279806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JTAG Orchestrator captures HardFault registers, stack frames and memory evidence without manual tool switching.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32511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420624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02920" y="4507992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5079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PG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NPI Gate
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98264"/>
            <a:ext cx="114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dirty="0">
                <a:solidFill>
                  <a:srgbClr val="FF8C00"/>
                </a:solidFill>
                <a:latin typeface="Segoe UI"/>
              </a:rPr>
              <a:t>PG1/3/5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9834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demo-ready decisions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" y="4983480"/>
            <a:ext cx="3877056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512978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AEPLO turns Discovery, Development and Validation evidence into clear decisions and action lists.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79" y="432511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54879" y="4325112"/>
            <a:ext cx="420624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4937759" y="4507992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37759" y="45079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59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Embedded PDLC
Optimisation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39" y="439826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8B5CF6"/>
                </a:solidFill>
                <a:latin typeface="Segoe U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39" y="49834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risk, test and fix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9471" y="4983480"/>
            <a:ext cx="3877056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937759" y="512978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ROVO Studio, Copilot and AEPLO agents optimise work across planning, coding, validation and launch preparation.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EVALUATION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Criteria &amp; Key Metric Focus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B8D0EC"/>
                </a:solidFill>
                <a:latin typeface="Segoe UI"/>
              </a:rPr>
              <a:t>Updated with current demo values: measurable stream value, BA-hosting readiness, live execution proof, agentic AI governance and LLM/token 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D7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D7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5142E"/>
                </a:solidFill>
                <a:latin typeface="Segoe UI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5142E"/>
                </a:solidFill>
                <a:latin typeface="Segoe UI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Stream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- PDLC lead time: 41% drop (PG1-&gt;PG5 workflow 4.8h -&gt; 2.8h)</a:t>
            </a:r>
          </a:p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- Defect leakage: 60% fewer projected escapes</a:t>
            </a:r>
          </a:p>
          <a:p>
            <a:pPr algn="l"/>
            <a:r>
              <a:rPr sz="819" b="0" i="0">
                <a:solidFill>
                  <a:srgbClr val="B8D0EC"/>
                </a:solidFill>
                <a:latin typeface="Segoe UI"/>
              </a:rPr>
              <a:t>- Productivity saving: 320 hrs in 2026 H2; 760 hrs in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Platformization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B8D0EC"/>
                </a:solidFill>
                <a:latin typeface="Segoe UI"/>
              </a:rPr>
              <a:t>- BA-org hosting readiness: 85%</a:t>
            </a:r>
          </a:p>
          <a:p>
            <a:pPr algn="l"/>
            <a:r>
              <a:rPr sz="840" b="0" i="0">
                <a:solidFill>
                  <a:srgbClr val="B8D0EC"/>
                </a:solidFill>
                <a:latin typeface="Segoe UI"/>
              </a:rPr>
              <a:t>- Sandbox deployment, SSO path and MCP connectors ready; prod hardening pending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Live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B8D0EC"/>
                </a:solidFill>
                <a:latin typeface="Segoe UI"/>
              </a:rPr>
              <a:t>- Working prototype: 100% PG1 / PG3 / PG5 demo flow completed</a:t>
            </a:r>
          </a:p>
          <a:p>
            <a:pPr algn="l"/>
            <a:r>
              <a:rPr sz="840" b="0" i="0">
                <a:solidFill>
                  <a:srgbClr val="B8D0EC"/>
                </a:solidFill>
                <a:latin typeface="Segoe UI"/>
              </a:rPr>
              <a:t>- Active impact: Jira evidence + GitHub PR + Confluence summary generated in run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Segoe UI"/>
              </a:rPr>
              <a:t>Agentic AI design pattern compliance
[Agents orchestration, routing protocols,
MCP Servers, Skills, etc]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0" b="0" i="0">
                <a:solidFill>
                  <a:srgbClr val="B8D0EC"/>
                </a:solidFill>
                <a:latin typeface="Segoe UI"/>
              </a:rPr>
              <a:t>- Inter-agent handoff success: 92%</a:t>
            </a:r>
          </a:p>
          <a:p>
            <a:pPr algn="l"/>
            <a:r>
              <a:rPr sz="810" b="0" i="0">
                <a:solidFill>
                  <a:srgbClr val="B8D0EC"/>
                </a:solidFill>
                <a:latin typeface="Segoe UI"/>
              </a:rPr>
              <a:t>- Twin simulation accuracy: 88%</a:t>
            </a:r>
          </a:p>
          <a:p>
            <a:pPr algn="l"/>
            <a:r>
              <a:rPr sz="810" b="0" i="0">
                <a:solidFill>
                  <a:srgbClr val="B8D0EC"/>
                </a:solidFill>
                <a:latin typeface="Segoe UI"/>
              </a:rPr>
              <a:t>- Reusable tools/skills: 9 of 12 (75%)</a:t>
            </a:r>
          </a:p>
          <a:p>
            <a:pPr algn="l"/>
            <a:r>
              <a:rPr sz="810" b="0" i="0">
                <a:solidFill>
                  <a:srgbClr val="B8D0EC"/>
                </a:solidFill>
                <a:latin typeface="Segoe UI"/>
              </a:rPr>
              <a:t>- MCP usage relevancy: 100% of Jira/Confluence actions mapped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 dirty="0">
                <a:solidFill>
                  <a:srgbClr val="FFFFFF"/>
                </a:solidFill>
                <a:latin typeface="Segoe UI"/>
              </a:rPr>
              <a:t>LLM selection strategies
[GitHub Copilot &amp; OpenAI] &amp; AI Token
usage Optimization
[LLM selection, Context Management,
and Prompt engineering]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B8D0EC"/>
                </a:solidFill>
                <a:latin typeface="Segoe UI"/>
              </a:rPr>
              <a:t>- Token reduction: 41% (baseline prompt pack vs routed context)</a:t>
            </a:r>
          </a:p>
          <a:p>
            <a:pPr algn="l"/>
            <a:r>
              <a:rPr sz="790" b="0" i="0">
                <a:solidFill>
                  <a:srgbClr val="B8D0EC"/>
                </a:solidFill>
                <a:latin typeface="Segoe UI"/>
              </a:rPr>
              <a:t>- Cost/request savings: 36%</a:t>
            </a:r>
          </a:p>
          <a:p>
            <a:pPr algn="l"/>
            <a:r>
              <a:rPr sz="790" b="0" i="0">
                <a:solidFill>
                  <a:srgbClr val="B8D0EC"/>
                </a:solidFill>
                <a:latin typeface="Segoe UI"/>
              </a:rPr>
              <a:t>- Tool-calling JSON accuracy: 96%</a:t>
            </a:r>
          </a:p>
          <a:p>
            <a:pPr algn="l"/>
            <a:r>
              <a:rPr sz="790" b="0" i="0">
                <a:solidFill>
                  <a:srgbClr val="B8D0EC"/>
                </a:solidFill>
                <a:latin typeface="Segoe UI"/>
              </a:rPr>
              <a:t>- Prompt caching utilization: 68%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00D48A"/>
                </a:solidFill>
                <a:latin typeface="Segoe UI"/>
              </a:rPr>
              <a:t>FOCUS: show quantified PDLC impact with a reusable, hosted, agentic-AI execution pattern.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12  /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57600" y="228600"/>
            <a:ext cx="6400800" cy="640080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297680" y="868680"/>
            <a:ext cx="5120640" cy="5120640"/>
          </a:xfrm>
          <a:prstGeom prst="ellipse">
            <a:avLst/>
          </a:prstGeom>
          <a:solidFill>
            <a:srgbClr val="07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0" y="1600200"/>
            <a:ext cx="3657600" cy="365760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760720" y="2331720"/>
            <a:ext cx="2194560" cy="219456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38284" y="34088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22873" y="37225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976789" y="403325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00475" y="433791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794668" y="46336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60384" y="491754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498919" y="51869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11826" y="543919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00908" y="567190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868196" y="588282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15930" y="60699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46542" y="62313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062624" y="63656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766911" y="64714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62251" y="65477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151578" y="659387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37884" y="66092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524189" y="659387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213516" y="65477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908856" y="64714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613143" y="63656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329225" y="62313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059837" y="60699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807571" y="588282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74859" y="567190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363941" y="543919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176848" y="51869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015383" y="491754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881099" y="46336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775292" y="433791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98978" y="403325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652894" y="37225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637484" y="34088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652894" y="30951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698978" y="278451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3775292" y="24798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3881099" y="21841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015383" y="190022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176848" y="163083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363941" y="13785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574859" y="114585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807571" y="9349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59837" y="74784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329225" y="58638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613143" y="45209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908856" y="34629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6213516" y="2699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524189" y="22389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837883" y="2084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7151578" y="22389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7462251" y="2699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7766911" y="34629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062624" y="45209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8346542" y="58638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8615930" y="74784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8868196" y="9349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100908" y="114585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311826" y="13785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498919" y="163083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9660384" y="190022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794668" y="21841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9900475" y="24798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9976789" y="278451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022873" y="30951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683285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054584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683285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6611123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6611123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683285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7054584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727631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7054584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683285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6611123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6389393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6389393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6389393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6611123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6832854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7054584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27631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727631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7498044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27631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54584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6832854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6611123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6389393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6167663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6167663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6167663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6167663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6389393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6611123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6832854" y="263575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7054584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7276314" y="2891789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7498044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7498044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7498044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771977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7498044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7276314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7054584" y="429996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6832854" y="442798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6611123" y="429996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6389393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6167663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5945933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5945933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945933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945933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5945933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6167663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6389393" y="263575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6611123" y="250774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6832854" y="237972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7054584" y="250774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7276314" y="2635757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7498044" y="2763773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7719774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771977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771977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771977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347472" y="6583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F0"/>
                </a:solidFill>
                <a:latin typeface="Segoe UI"/>
              </a:rPr>
              <a:t>CONCLUSION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472" y="987552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Transform Embedded PDLC
from PG1 to PG5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47472" y="2029968"/>
            <a:ext cx="4956047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7472" y="2322576"/>
            <a:ext cx="256032" cy="25603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621792" y="2432304"/>
            <a:ext cx="502920" cy="36576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261872" y="224942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89A"/>
                </a:solidFill>
                <a:latin typeface="Segoe UI"/>
              </a:rPr>
              <a:t>From fragmented embedded data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1872" y="261518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Jira, Confluence, GitHub, QA and JTAG/SWD evidence become one connected AEPLO PDLC foundation.</a:t>
            </a:r>
          </a:p>
        </p:txBody>
      </p:sp>
      <p:sp>
        <p:nvSpPr>
          <p:cNvPr id="140" name="Oval 139"/>
          <p:cNvSpPr/>
          <p:nvPr/>
        </p:nvSpPr>
        <p:spPr>
          <a:xfrm>
            <a:off x="347472" y="3739896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621792" y="3849624"/>
            <a:ext cx="502920" cy="3657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1261872" y="36667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2C6"/>
                </a:solidFill>
                <a:latin typeface="Segoe UI"/>
              </a:rPr>
              <a:t>To intelligent NPI action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1872" y="403250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Atlassian MCP, ROVO Studio, Copilot and AEPLO agents drive PG1 discovery, PG3 development and PG5 launch readiness.</a:t>
            </a:r>
          </a:p>
        </p:txBody>
      </p:sp>
      <p:sp>
        <p:nvSpPr>
          <p:cNvPr id="144" name="Oval 143"/>
          <p:cNvSpPr/>
          <p:nvPr/>
        </p:nvSpPr>
        <p:spPr>
          <a:xfrm>
            <a:off x="347472" y="5157216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621792" y="5266944"/>
            <a:ext cx="50292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1261872" y="508406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8A"/>
                </a:solidFill>
                <a:latin typeface="Segoe UI"/>
              </a:rPr>
              <a:t>Optimise every gate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61872" y="544982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The JTAG Accelerator adds hardware-backed RCA and controlled fixes to AI-optimised validation and launch decisions.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12  /  12</a:t>
            </a:r>
          </a:p>
        </p:txBody>
      </p:sp>
      <p:pic>
        <p:nvPicPr>
          <p:cNvPr id="148" name="Picture 147">
            <a:extLst>
              <a:ext uri="{FF2B5EF4-FFF2-40B4-BE49-F238E27FC236}">
                <a16:creationId xmlns:a16="http://schemas.microsoft.com/office/drawing/2014/main" id="{DD5A924B-3180-1590-5F67-0356FA8DD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424" y="2578608"/>
            <a:ext cx="2875434" cy="17007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1666</Words>
  <Application>Microsoft Office PowerPoint</Application>
  <PresentationFormat>On-screen Show (4:3)</PresentationFormat>
  <Paragraphs>232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6</cp:revision>
  <dcterms:created xsi:type="dcterms:W3CDTF">2013-01-27T09:14:16Z</dcterms:created>
  <dcterms:modified xsi:type="dcterms:W3CDTF">2026-06-12T16:21:50Z</dcterms:modified>
  <cp:category/>
</cp:coreProperties>
</file>