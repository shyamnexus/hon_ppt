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68" r:id="rId5"/>
    <p:sldId id="257" r:id="rId6"/>
    <p:sldId id="271" r:id="rId7"/>
    <p:sldId id="263" r:id="rId8"/>
    <p:sldId id="269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111111"/>
    <a:srgbClr val="FF4242"/>
    <a:srgbClr val="D71920"/>
    <a:srgbClr val="6B6B6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894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"Today we are showing AEPLO, the AI-driven embedded product lifecycle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orchestrator. The 3-minute story is PRD to firmware, firmware to JTAG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evidence, evidence to QA release readiness, and finally STQC submission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readiness for regulated IoT security and surveillance products."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embedded PDLC data is</a:t>
            </a:r>
          </a:p>
          <a:p>
            <a:r>
              <a:rPr lang="en-US" dirty="0"/>
              <a:t>fragmented across Confluence, Jira, GitHub, QA and hardware evidence, and</a:t>
            </a:r>
          </a:p>
          <a:p>
            <a:r>
              <a:rPr lang="en-US" dirty="0"/>
              <a:t>AEPLO brings it into one orchestration layer. Then the  Confluence PRD,</a:t>
            </a:r>
          </a:p>
          <a:p>
            <a:r>
              <a:rPr lang="en-US" dirty="0"/>
              <a:t>guided by SDE Elements and PSJIRA, creates epics and stories. </a:t>
            </a:r>
          </a:p>
          <a:p>
            <a:r>
              <a:rPr lang="en-US" dirty="0"/>
              <a:t>Next, the  user picks a story and creates a feature branch with PRD and QA context.</a:t>
            </a:r>
          </a:p>
          <a:p>
            <a:r>
              <a:rPr lang="en-US" dirty="0"/>
              <a:t>Next , at PG3, AEPLO generates firmware from the datasheet and PRD,</a:t>
            </a:r>
          </a:p>
          <a:p>
            <a:r>
              <a:rPr lang="en-US" dirty="0"/>
              <a:t>injecting SDK, BSP and OS or RTOS context, then validates it against the</a:t>
            </a:r>
          </a:p>
          <a:p>
            <a:r>
              <a:rPr lang="en-US" dirty="0"/>
              <a:t>datasheet and acceptance criteria. Finally, QA inputs, PRD criteria and</a:t>
            </a:r>
          </a:p>
          <a:p>
            <a:r>
              <a:rPr lang="en-US" dirty="0"/>
              <a:t>JTAG evidence produce READY or NOT_READY; NOT_READY becomes the priority</a:t>
            </a:r>
          </a:p>
          <a:p>
            <a:r>
              <a:rPr lang="en-US" dirty="0"/>
              <a:t>list for the next release loop.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star of the show is the PG5 STQC agent. IoT security and surveillance</a:t>
            </a:r>
          </a:p>
          <a:p>
            <a:r>
              <a:rPr lang="en-US" dirty="0"/>
              <a:t>devices need BIS certification governed by STQC guidelines, for both</a:t>
            </a:r>
          </a:p>
          <a:p>
            <a:r>
              <a:rPr lang="en-US" dirty="0"/>
              <a:t>in-house designs and BTS sales. Earlier, developers spent months creating</a:t>
            </a:r>
          </a:p>
          <a:p>
            <a:r>
              <a:rPr lang="en-US" dirty="0"/>
              <a:t>evidence, validating code and preparing auditor submissions. The STQC</a:t>
            </a:r>
          </a:p>
          <a:p>
            <a:r>
              <a:rPr lang="en-US" dirty="0"/>
              <a:t>agent crawls the code, creates evidence, enforces hard rules like no</a:t>
            </a:r>
          </a:p>
          <a:p>
            <a:r>
              <a:rPr lang="en-US" dirty="0"/>
              <a:t>foreign characters, checks STQC ER guidelines, and decides whether the</a:t>
            </a:r>
          </a:p>
          <a:p>
            <a:r>
              <a:rPr lang="en-US" dirty="0"/>
              <a:t>submission pack is ready. If not, it highlights the section and creates</a:t>
            </a:r>
          </a:p>
          <a:p>
            <a:r>
              <a:rPr lang="en-US" dirty="0"/>
              <a:t>Jira tickets or stories for remediation."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realistic impact is material: STQC evidence preparation drops from</a:t>
            </a:r>
          </a:p>
          <a:p>
            <a:r>
              <a:rPr lang="en-US" dirty="0"/>
              <a:t>8 to 12 weeks into 1 to 3 days, PG3 firmware loops are 45 to 60 percent faster, JTAG root</a:t>
            </a:r>
          </a:p>
          <a:p>
            <a:r>
              <a:rPr lang="en-US" dirty="0"/>
              <a:t>cause is reduced to under two hours, and routed context plus prompt caching</a:t>
            </a:r>
          </a:p>
          <a:p>
            <a:r>
              <a:rPr lang="en-US" dirty="0"/>
              <a:t>cuts token use by about 35 to 45 percent. AEPLO keeps looping until QA says</a:t>
            </a:r>
          </a:p>
          <a:p>
            <a:r>
              <a:rPr lang="en-US" dirty="0"/>
              <a:t>READY."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83099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0CCAC89-0190-A7D6-EBD7-D85BFF7A9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63" y="5233683"/>
            <a:ext cx="492289" cy="492289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5356E3C6-FA42-00A7-E46F-58DAAF6F6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47" y="5206667"/>
            <a:ext cx="532273" cy="532273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F48DEC1-4565-2109-F0A2-0F0142F0A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738" y="5204460"/>
            <a:ext cx="529558" cy="529558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F6490DE-0B74-8A98-78B6-FB5738277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2189" y="5179892"/>
            <a:ext cx="536751" cy="536751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24F2EB3F-5139-8979-FA15-BDD0F43C8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1121" y="5245897"/>
            <a:ext cx="460826" cy="460826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0ECC60AA-6628-92F5-EFDD-CCFB4CD8B8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672" y="5143500"/>
            <a:ext cx="599496" cy="599496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42FA650A-973E-1A45-2080-4B8A538650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4193" y="5143500"/>
            <a:ext cx="644557" cy="644557"/>
          </a:xfrm>
          <a:prstGeom prst="rect">
            <a:avLst/>
          </a:prstGeom>
        </p:spPr>
      </p:pic>
      <p:pic>
        <p:nvPicPr>
          <p:cNvPr id="251" name="Picture 250">
            <a:extLst>
              <a:ext uri="{FF2B5EF4-FFF2-40B4-BE49-F238E27FC236}">
                <a16:creationId xmlns:a16="http://schemas.microsoft.com/office/drawing/2014/main" id="{84610CBF-870A-A388-25E3-A00F411745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0452" y="5172946"/>
            <a:ext cx="477468" cy="573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84632"/>
            <a:ext cx="2011680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COMBINED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39087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lang="en-US" sz="2300" b="1" i="0" dirty="0">
                <a:solidFill>
                  <a:srgbClr val="FFFFFF"/>
                </a:solidFill>
                <a:latin typeface="Segoe UI"/>
              </a:rPr>
              <a:t>From Fragmentation to Release Readiness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25880"/>
            <a:ext cx="8449056" cy="1463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3584448"/>
            <a:ext cx="8375904" cy="32004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84048" y="2057399"/>
            <a:ext cx="1554480" cy="3956521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057400"/>
            <a:ext cx="155448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96112" y="2350008"/>
            <a:ext cx="530352" cy="53035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Problem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83280"/>
            <a:ext cx="1225296" cy="1280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 dirty="0">
                <a:solidFill>
                  <a:srgbClr val="B8D0EC"/>
                </a:solidFill>
                <a:latin typeface="Segoe UI"/>
              </a:rPr>
              <a:t>Fragmented PRD, Jira, Confluence, GitHub, QA and hardware evidence slow PG1-to-PG5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982419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0802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03362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103120" y="2057400"/>
            <a:ext cx="1554480" cy="39565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103120" y="2057400"/>
            <a:ext cx="155448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615184" y="2350008"/>
            <a:ext cx="530352" cy="53035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15184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383280"/>
            <a:ext cx="1225296" cy="12801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1136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 dirty="0">
                <a:solidFill>
                  <a:srgbClr val="B8D0EC"/>
                </a:solidFill>
                <a:latin typeface="Segoe UI"/>
              </a:rPr>
              <a:t>AEPLO connects inputs into a knowledge graph, orchestration core, automation and release-gate outcomes.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7588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701491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727094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752697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822191" y="2057400"/>
            <a:ext cx="1554480" cy="39565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822191" y="2057400"/>
            <a:ext cx="155448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334255" y="2350008"/>
            <a:ext cx="530352" cy="53035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34255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19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A89A"/>
                </a:solidFill>
                <a:latin typeface="Segoe UI"/>
              </a:rPr>
              <a:t>PRD -&gt; Stories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86783" y="3383280"/>
            <a:ext cx="1225296" cy="12801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950207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 dirty="0">
                <a:solidFill>
                  <a:srgbClr val="B8D0EC"/>
                </a:solidFill>
                <a:latin typeface="Segoe UI"/>
              </a:rPr>
              <a:t>Confluence PRD guided by SDE Elements and PSJIRA creates epics/stories for users to pick and branch.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2056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44616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7176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41264" y="2057400"/>
            <a:ext cx="1554480" cy="39565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541264" y="2057400"/>
            <a:ext cx="155448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053328" y="2350008"/>
            <a:ext cx="530352" cy="53035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053328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0992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PG3 Firmware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05856" y="3383280"/>
            <a:ext cx="1225296" cy="12801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669280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 dirty="0">
                <a:solidFill>
                  <a:srgbClr val="B8D0EC"/>
                </a:solidFill>
                <a:latin typeface="Segoe UI"/>
              </a:rPr>
              <a:t>Datasheet + PRD + SDK/BSP + OS/RTOS context generate and validate firmware/code.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1403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13963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16523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190841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7260336" y="2057400"/>
            <a:ext cx="1554480" cy="39565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260336" y="2057400"/>
            <a:ext cx="155448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7772400" y="2350008"/>
            <a:ext cx="530352" cy="53035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772400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064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QA Closed Loop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24928" y="3383280"/>
            <a:ext cx="1225296" cy="12801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388352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 dirty="0">
                <a:solidFill>
                  <a:srgbClr val="B8D0EC"/>
                </a:solidFill>
                <a:latin typeface="Segoe UI"/>
              </a:rPr>
              <a:t>QA inputs, PRD and JTAG evidence produce READY / NOT_READY; gaps become next-release priorities.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040" y="6144768"/>
            <a:ext cx="8503920" cy="310896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20040" y="6144768"/>
            <a:ext cx="45720" cy="31089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2920" y="6144768"/>
            <a:ext cx="8229600" cy="180049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930" b="1" i="0" dirty="0">
                <a:solidFill>
                  <a:srgbClr val="FF0000"/>
                </a:solidFill>
                <a:latin typeface="Segoe UI"/>
              </a:rPr>
              <a:t>Output: users pick traceable work, create feature branches, validate PG3 firmware with JTAG evidence, and loop through QA until READY.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75320" y="6565392"/>
            <a:ext cx="411480" cy="14630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2  /  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6565392"/>
            <a:ext cx="777240" cy="14630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736C5EC2-5F03-ADF0-4C98-7106E39AC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23" y="3947160"/>
            <a:ext cx="1588010" cy="2316480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F0093035-7103-B912-686B-7258370607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754" b="13353"/>
          <a:stretch>
            <a:fillRect/>
          </a:stretch>
        </p:blipFill>
        <p:spPr>
          <a:xfrm>
            <a:off x="2142743" y="4655034"/>
            <a:ext cx="1463043" cy="1078992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247A8178-6802-7980-170C-93352A70C0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3903" y="4432489"/>
            <a:ext cx="1565605" cy="1409045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8E379904-43F8-A083-C242-5827CE0CB7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2624" y="4407408"/>
            <a:ext cx="1655449" cy="1489904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CA5177CC-3CD2-D377-130C-CD3253CC25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6094" y="4459429"/>
            <a:ext cx="1711758" cy="154058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2D8061-83FF-F6D6-213C-9F2AAC88A830}"/>
              </a:ext>
            </a:extLst>
          </p:cNvPr>
          <p:cNvSpPr/>
          <p:nvPr/>
        </p:nvSpPr>
        <p:spPr>
          <a:xfrm>
            <a:off x="-9625" y="-51150"/>
            <a:ext cx="9249878" cy="6909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44508EDA-6F7F-0843-A945-1A6F700F785F}"/>
              </a:ext>
            </a:extLst>
          </p:cNvPr>
          <p:cNvSpPr/>
          <p:nvPr/>
        </p:nvSpPr>
        <p:spPr>
          <a:xfrm>
            <a:off x="217504" y="94148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6F6EA4-7B1C-7E2E-B757-04C4697C55E8}"/>
              </a:ext>
            </a:extLst>
          </p:cNvPr>
          <p:cNvSpPr txBox="1"/>
          <p:nvPr/>
        </p:nvSpPr>
        <p:spPr>
          <a:xfrm>
            <a:off x="51648" y="87396"/>
            <a:ext cx="2011680" cy="24622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1000" b="1" i="0" dirty="0">
                <a:solidFill>
                  <a:srgbClr val="FFFFFF"/>
                </a:solidFill>
                <a:latin typeface="Honeywell Sans TT Medium" panose="02010603040101060203" pitchFamily="2" charset="0"/>
              </a:rPr>
              <a:t>JTAG DEBU</a:t>
            </a:r>
            <a:r>
              <a:rPr lang="en-US" sz="1000" b="1" i="0" dirty="0">
                <a:solidFill>
                  <a:srgbClr val="FFFFFF"/>
                </a:solidFill>
                <a:latin typeface="Honeywell Sans TT Medium" panose="02010603040101060203" pitchFamily="2" charset="0"/>
              </a:rPr>
              <a:t>GGING AGENT</a:t>
            </a:r>
            <a:endParaRPr sz="1000" b="1" i="0" dirty="0">
              <a:solidFill>
                <a:srgbClr val="FFFFFF"/>
              </a:solidFill>
              <a:latin typeface="Honeywell Sans TT Medium" panose="02010603040101060203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41E21-6281-FB0C-59C2-1F0327964FEC}"/>
              </a:ext>
            </a:extLst>
          </p:cNvPr>
          <p:cNvSpPr txBox="1"/>
          <p:nvPr/>
        </p:nvSpPr>
        <p:spPr>
          <a:xfrm>
            <a:off x="169498" y="380619"/>
            <a:ext cx="8229600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000" b="1" i="0" dirty="0">
                <a:solidFill>
                  <a:srgbClr val="FFFFFF"/>
                </a:solidFill>
                <a:latin typeface="Honeywell Sans TT Extrabold" panose="02010903040101060203" pitchFamily="2" charset="0"/>
              </a:rPr>
              <a:t>From Days to Hours - </a:t>
            </a:r>
            <a:r>
              <a:rPr lang="en-US" sz="2000" b="1" i="0" dirty="0">
                <a:solidFill>
                  <a:srgbClr val="FF0000"/>
                </a:solidFill>
                <a:latin typeface="Honeywell Sans TT Extrabold" panose="02010903040101060203" pitchFamily="2" charset="0"/>
              </a:rPr>
              <a:t>Autonomous Firmware </a:t>
            </a:r>
            <a:r>
              <a:rPr lang="en-US" sz="2000" b="1" i="0" dirty="0">
                <a:solidFill>
                  <a:srgbClr val="FFFFFF"/>
                </a:solidFill>
                <a:latin typeface="Honeywell Sans TT Extrabold" panose="02010903040101060203" pitchFamily="2" charset="0"/>
              </a:rPr>
              <a:t>Debugging</a:t>
            </a:r>
            <a:endParaRPr sz="2000" b="1" i="0" dirty="0">
              <a:solidFill>
                <a:srgbClr val="FFFFFF"/>
              </a:solidFill>
              <a:latin typeface="Honeywell Sans TT Extrabold" panose="02010903040101060203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0CC646-A602-35B2-7936-23B8E7707CD1}"/>
              </a:ext>
            </a:extLst>
          </p:cNvPr>
          <p:cNvSpPr/>
          <p:nvPr/>
        </p:nvSpPr>
        <p:spPr>
          <a:xfrm>
            <a:off x="295962" y="925887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86503D-F62C-5293-3A2C-A3F7F2B45F35}"/>
              </a:ext>
            </a:extLst>
          </p:cNvPr>
          <p:cNvSpPr/>
          <p:nvPr/>
        </p:nvSpPr>
        <p:spPr>
          <a:xfrm>
            <a:off x="0" y="6477380"/>
            <a:ext cx="9144000" cy="380619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JTAG Agentic Workflow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B97755-27E8-AE9F-C195-BFED5EA7B8AC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FBDAC2C-9942-2866-6516-9717CCCDB49B}"/>
              </a:ext>
            </a:extLst>
          </p:cNvPr>
          <p:cNvSpPr/>
          <p:nvPr/>
        </p:nvSpPr>
        <p:spPr>
          <a:xfrm>
            <a:off x="0" y="9525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2CD561-351E-49A6-DFBC-D4F4E44A973F}"/>
              </a:ext>
            </a:extLst>
          </p:cNvPr>
          <p:cNvSpPr txBox="1"/>
          <p:nvPr/>
        </p:nvSpPr>
        <p:spPr>
          <a:xfrm>
            <a:off x="8086442" y="80772"/>
            <a:ext cx="84991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000" b="1" dirty="0">
                <a:solidFill>
                  <a:srgbClr val="D71920"/>
                </a:solidFill>
                <a:latin typeface="Honeywell Sans TT Extrabold" panose="02010903040101060203" pitchFamily="2" charset="0"/>
              </a:rPr>
              <a:t>Honeywell</a:t>
            </a:r>
            <a:endParaRPr sz="1000" b="1" dirty="0">
              <a:solidFill>
                <a:srgbClr val="D71920"/>
              </a:solidFill>
              <a:latin typeface="Honeywell Sans TT Extrabold" panose="02010903040101060203" pitchFamily="2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F31F4E3-D91E-2732-9939-F178CFD5BF60}"/>
              </a:ext>
            </a:extLst>
          </p:cNvPr>
          <p:cNvSpPr/>
          <p:nvPr/>
        </p:nvSpPr>
        <p:spPr>
          <a:xfrm>
            <a:off x="108637" y="6002671"/>
            <a:ext cx="1360118" cy="347472"/>
          </a:xfrm>
          <a:prstGeom prst="roundRect">
            <a:avLst>
              <a:gd name="adj" fmla="val 31287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Jira Ticket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C4748C2-4CE7-F9BD-0668-BF40955DBBB2}"/>
              </a:ext>
            </a:extLst>
          </p:cNvPr>
          <p:cNvSpPr/>
          <p:nvPr/>
        </p:nvSpPr>
        <p:spPr>
          <a:xfrm>
            <a:off x="1821561" y="5991862"/>
            <a:ext cx="2138019" cy="359319"/>
          </a:xfrm>
          <a:prstGeom prst="roundRect">
            <a:avLst>
              <a:gd name="adj" fmla="val 31287"/>
            </a:avLst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oneywell Sans TT Medium" panose="02010603040101060203" pitchFamily="2" charset="0"/>
              </a:rPr>
              <a:t>JTAG Orchestrator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6DC9CF0-0F4B-5230-27D7-FE77EFA90347}"/>
              </a:ext>
            </a:extLst>
          </p:cNvPr>
          <p:cNvSpPr/>
          <p:nvPr/>
        </p:nvSpPr>
        <p:spPr>
          <a:xfrm>
            <a:off x="4156419" y="5990243"/>
            <a:ext cx="1360118" cy="359319"/>
          </a:xfrm>
          <a:prstGeom prst="roundRect">
            <a:avLst>
              <a:gd name="adj" fmla="val 31287"/>
            </a:avLst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oneywell Sans TT Medium" panose="02010603040101060203" pitchFamily="2" charset="0"/>
              </a:rPr>
              <a:t>Sub Agents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C5667B9-38FA-C6BC-7945-9148346B09CE}"/>
              </a:ext>
            </a:extLst>
          </p:cNvPr>
          <p:cNvSpPr/>
          <p:nvPr/>
        </p:nvSpPr>
        <p:spPr>
          <a:xfrm>
            <a:off x="5713377" y="6002671"/>
            <a:ext cx="1360118" cy="347472"/>
          </a:xfrm>
          <a:prstGeom prst="roundRect">
            <a:avLst>
              <a:gd name="adj" fmla="val 31287"/>
            </a:avLst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Hardware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CBD9960-1A2F-34B2-AD2A-76B0D5615B81}"/>
              </a:ext>
            </a:extLst>
          </p:cNvPr>
          <p:cNvSpPr/>
          <p:nvPr/>
        </p:nvSpPr>
        <p:spPr>
          <a:xfrm>
            <a:off x="7576237" y="5966461"/>
            <a:ext cx="1360118" cy="347472"/>
          </a:xfrm>
          <a:prstGeom prst="roundRect">
            <a:avLst>
              <a:gd name="adj" fmla="val 31287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 + Jira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C1DDACA-7A4D-FF53-6FF4-193C01AB5B54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 flipV="1">
            <a:off x="3959580" y="6169903"/>
            <a:ext cx="196839" cy="161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8DC922B-8A14-DA7D-F812-A0B1DFBCBA57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5516537" y="6176407"/>
            <a:ext cx="19684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732BDB33-901F-0D46-FD45-2AA039A17E75}"/>
              </a:ext>
            </a:extLst>
          </p:cNvPr>
          <p:cNvSpPr/>
          <p:nvPr/>
        </p:nvSpPr>
        <p:spPr>
          <a:xfrm>
            <a:off x="1676400" y="5915129"/>
            <a:ext cx="5646039" cy="518360"/>
          </a:xfrm>
          <a:prstGeom prst="round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lg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50998B-E107-2C8C-AF4C-1FAB81C6F3A9}"/>
              </a:ext>
            </a:extLst>
          </p:cNvPr>
          <p:cNvCxnSpPr>
            <a:stCxn id="42" idx="3"/>
            <a:endCxn id="58" idx="1"/>
          </p:cNvCxnSpPr>
          <p:nvPr/>
        </p:nvCxnSpPr>
        <p:spPr>
          <a:xfrm flipV="1">
            <a:off x="1468755" y="6174309"/>
            <a:ext cx="207645" cy="20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BB16290-2204-9E11-ACDF-EB5CFC496409}"/>
              </a:ext>
            </a:extLst>
          </p:cNvPr>
          <p:cNvCxnSpPr>
            <a:stCxn id="58" idx="3"/>
          </p:cNvCxnSpPr>
          <p:nvPr/>
        </p:nvCxnSpPr>
        <p:spPr>
          <a:xfrm flipV="1">
            <a:off x="7322439" y="6169902"/>
            <a:ext cx="253798" cy="440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9">
            <a:extLst>
              <a:ext uri="{FF2B5EF4-FFF2-40B4-BE49-F238E27FC236}">
                <a16:creationId xmlns:a16="http://schemas.microsoft.com/office/drawing/2014/main" id="{83FC21B8-1D6A-0E10-640A-FBFD317EA131}"/>
              </a:ext>
            </a:extLst>
          </p:cNvPr>
          <p:cNvSpPr/>
          <p:nvPr/>
        </p:nvSpPr>
        <p:spPr>
          <a:xfrm>
            <a:off x="228226" y="1163037"/>
            <a:ext cx="4777830" cy="602300"/>
          </a:xfrm>
          <a:prstGeom prst="roundRect">
            <a:avLst>
              <a:gd name="adj" fmla="val 8519"/>
            </a:avLst>
          </a:prstGeom>
          <a:solidFill>
            <a:schemeClr val="tx1">
              <a:lumMod val="75000"/>
              <a:lumOff val="25000"/>
              <a:alpha val="25000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  <a:softEdge rad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Honeywell Sans TT Extrabold" panose="02010903040101060203" pitchFamily="2" charset="0"/>
              </a:rPr>
              <a:t>We didn’t theorize , we </a:t>
            </a:r>
            <a:r>
              <a:rPr lang="en-US" dirty="0">
                <a:solidFill>
                  <a:srgbClr val="D71920"/>
                </a:solidFill>
                <a:latin typeface="Honeywell Sans TT Extrabold" panose="02010903040101060203" pitchFamily="2" charset="0"/>
              </a:rPr>
              <a:t>debugged</a:t>
            </a:r>
            <a:r>
              <a:rPr lang="en-US" dirty="0">
                <a:solidFill>
                  <a:schemeClr val="bg1"/>
                </a:solidFill>
                <a:latin typeface="Honeywell Sans TT Extrabold" panose="02010903040101060203" pitchFamily="2" charset="0"/>
              </a:rPr>
              <a:t> it</a:t>
            </a:r>
          </a:p>
          <a:p>
            <a:r>
              <a:rPr lang="en-US" sz="1200" dirty="0">
                <a:solidFill>
                  <a:schemeClr val="bg1"/>
                </a:solidFill>
                <a:latin typeface="Honeywell Sans TT Extrabold" panose="02010903040101060203" pitchFamily="2" charset="0"/>
              </a:rPr>
              <a:t>Real Bugs. Real Hardware. Real Results</a:t>
            </a:r>
            <a:endParaRPr sz="1200" dirty="0">
              <a:solidFill>
                <a:schemeClr val="bg1"/>
              </a:solidFill>
              <a:latin typeface="Honeywell Sans TT Extrabold" panose="02010903040101060203" pitchFamily="2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9BB5D-811C-C1CD-B5AB-2567EB8F428C}"/>
              </a:ext>
            </a:extLst>
          </p:cNvPr>
          <p:cNvSpPr/>
          <p:nvPr/>
        </p:nvSpPr>
        <p:spPr>
          <a:xfrm rot="5400000">
            <a:off x="-48329" y="1439592"/>
            <a:ext cx="602300" cy="4919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5EBAF0D-3B30-7929-6CE8-8F565E34C2DF}"/>
              </a:ext>
            </a:extLst>
          </p:cNvPr>
          <p:cNvGrpSpPr/>
          <p:nvPr/>
        </p:nvGrpSpPr>
        <p:grpSpPr>
          <a:xfrm>
            <a:off x="217504" y="1964688"/>
            <a:ext cx="4777830" cy="1966216"/>
            <a:chOff x="217504" y="2060938"/>
            <a:chExt cx="4777830" cy="1966216"/>
          </a:xfrm>
        </p:grpSpPr>
        <p:sp>
          <p:nvSpPr>
            <p:cNvPr id="68" name="Rounded Rectangle 9">
              <a:extLst>
                <a:ext uri="{FF2B5EF4-FFF2-40B4-BE49-F238E27FC236}">
                  <a16:creationId xmlns:a16="http://schemas.microsoft.com/office/drawing/2014/main" id="{D9755412-6571-0005-3B88-EF575BBE41A4}"/>
                </a:ext>
              </a:extLst>
            </p:cNvPr>
            <p:cNvSpPr/>
            <p:nvPr/>
          </p:nvSpPr>
          <p:spPr>
            <a:xfrm>
              <a:off x="217504" y="2060938"/>
              <a:ext cx="4777830" cy="1966216"/>
            </a:xfrm>
            <a:prstGeom prst="roundRect">
              <a:avLst>
                <a:gd name="adj" fmla="val 7658"/>
              </a:avLst>
            </a:prstGeom>
            <a:solidFill>
              <a:schemeClr val="tx1">
                <a:lumMod val="75000"/>
                <a:lumOff val="25000"/>
                <a:alpha val="2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>
                <a:solidFill>
                  <a:schemeClr val="accent1">
                    <a:lumMod val="20000"/>
                    <a:lumOff val="80000"/>
                  </a:schemeClr>
                </a:solidFill>
                <a:latin typeface="Honeywell Sans TT Extrabold" panose="020F0502020204030204" pitchFamily="2" charset="0"/>
              </a:endParaRPr>
            </a:p>
            <a:p>
              <a:r>
                <a: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Honeywell Sans TT Extrabold" panose="020F0502020204030204" pitchFamily="2" charset="0"/>
                </a:rPr>
                <a:t>Case 1 </a:t>
              </a:r>
              <a:r>
                <a:rPr lang="en-US" dirty="0">
                  <a:solidFill>
                    <a:schemeClr val="bg2"/>
                  </a:solidFill>
                  <a:latin typeface="Honeywell Sans TT Extrabold" panose="020F0502020204030204" pitchFamily="2" charset="0"/>
                </a:rPr>
                <a:t>–</a:t>
              </a:r>
              <a:r>
                <a:rPr lang="en-US" dirty="0">
                  <a:solidFill>
                    <a:srgbClr val="FF0000"/>
                  </a:solidFill>
                  <a:latin typeface="Honeywell Sans TT Extrabold" panose="020F0502020204030204" pitchFamily="2" charset="0"/>
                </a:rPr>
                <a:t> The Integration Mystery</a:t>
              </a:r>
            </a:p>
            <a:p>
              <a:endParaRPr lang="en-US" dirty="0">
                <a:solidFill>
                  <a:srgbClr val="FF0000"/>
                </a:solidFill>
                <a:latin typeface="Honeywell Sans TT Extrabold" panose="020F0502020204030204" pitchFamily="2" charset="0"/>
              </a:endParaRPr>
            </a:p>
            <a:p>
              <a:r>
                <a:rPr lang="en-US" sz="1400" dirty="0">
                  <a:solidFill>
                    <a:schemeClr val="bg1"/>
                  </a:solidFill>
                  <a:latin typeface="Honeywell Sans TT Medium" panose="02010603040101060203" pitchFamily="2" charset="0"/>
                </a:rPr>
                <a:t>Two components. Work separately. Combined, ends up with crash.</a:t>
              </a:r>
            </a:p>
            <a:p>
              <a:r>
                <a:rPr lang="en-US" sz="1400" b="1" dirty="0">
                  <a:solidFill>
                    <a:srgbClr val="FF0000"/>
                  </a:solidFill>
                  <a:latin typeface="Honeywell Sans TT Medium" panose="02010603040101060203" pitchFamily="2" charset="0"/>
                </a:rPr>
                <a:t>Agent</a:t>
              </a:r>
              <a:r>
                <a:rPr lang="en-US" sz="1400" dirty="0">
                  <a:solidFill>
                    <a:schemeClr val="bg1"/>
                  </a:solidFill>
                  <a:latin typeface="Honeywell Sans TT Medium" panose="02010603040101060203" pitchFamily="2" charset="0"/>
                </a:rPr>
                <a:t> identified root cause </a:t>
              </a:r>
              <a:r>
                <a:rPr lang="en-US" sz="1400" dirty="0">
                  <a:solidFill>
                    <a:schemeClr val="bg2"/>
                  </a:solidFill>
                  <a:latin typeface="Honeywell Sans TT Medium" panose="02010603040101060203" pitchFamily="2" charset="0"/>
                </a:rPr>
                <a:t>in 1 hour</a:t>
              </a:r>
              <a:r>
                <a:rPr lang="en-US" sz="1400" dirty="0">
                  <a:solidFill>
                    <a:schemeClr val="bg1"/>
                  </a:solidFill>
                  <a:latin typeface="Honeywell Sans TT Medium" panose="02010603040101060203" pitchFamily="2" charset="0"/>
                </a:rPr>
                <a:t>.</a:t>
              </a:r>
            </a:p>
            <a:p>
              <a:r>
                <a:rPr lang="en-US" sz="1400" dirty="0">
                  <a:solidFill>
                    <a:schemeClr val="bg1"/>
                  </a:solidFill>
                  <a:latin typeface="Honeywell Sans TT Medium" panose="02010603040101060203" pitchFamily="2" charset="0"/>
                </a:rPr>
                <a:t>Estimated Story Time for investigated reduced from 3 Days to 1 Day with actual working fix , that’s 66 %-time reduction</a:t>
              </a:r>
            </a:p>
            <a:p>
              <a:endParaRPr sz="1400" dirty="0">
                <a:solidFill>
                  <a:schemeClr val="bg1"/>
                </a:solidFill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2289228-479E-E409-22E9-F8FE212D57AC}"/>
                </a:ext>
              </a:extLst>
            </p:cNvPr>
            <p:cNvSpPr/>
            <p:nvPr/>
          </p:nvSpPr>
          <p:spPr>
            <a:xfrm rot="5400000" flipV="1">
              <a:off x="-704429" y="2982872"/>
              <a:ext cx="1922325" cy="7845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FA79526-D9AC-DEBB-F1EF-17013E0C5193}"/>
              </a:ext>
            </a:extLst>
          </p:cNvPr>
          <p:cNvGrpSpPr/>
          <p:nvPr/>
        </p:nvGrpSpPr>
        <p:grpSpPr>
          <a:xfrm>
            <a:off x="217504" y="4179994"/>
            <a:ext cx="4777830" cy="1486044"/>
            <a:chOff x="196678" y="4102268"/>
            <a:chExt cx="4777830" cy="1966216"/>
          </a:xfrm>
        </p:grpSpPr>
        <p:sp>
          <p:nvSpPr>
            <p:cNvPr id="70" name="Rounded Rectangle 9">
              <a:extLst>
                <a:ext uri="{FF2B5EF4-FFF2-40B4-BE49-F238E27FC236}">
                  <a16:creationId xmlns:a16="http://schemas.microsoft.com/office/drawing/2014/main" id="{5EC96128-9D56-1019-6428-5E08FCF66A00}"/>
                </a:ext>
              </a:extLst>
            </p:cNvPr>
            <p:cNvSpPr/>
            <p:nvPr/>
          </p:nvSpPr>
          <p:spPr>
            <a:xfrm>
              <a:off x="196678" y="4102268"/>
              <a:ext cx="4777830" cy="1966216"/>
            </a:xfrm>
            <a:prstGeom prst="roundRect">
              <a:avLst>
                <a:gd name="adj" fmla="val 8519"/>
              </a:avLst>
            </a:prstGeom>
            <a:solidFill>
              <a:schemeClr val="tx1">
                <a:lumMod val="75000"/>
                <a:lumOff val="25000"/>
                <a:alpha val="2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Honeywell Sans TT Extrabold" panose="020F0502020204030204" pitchFamily="2" charset="0"/>
                </a:rPr>
                <a:t>Case 2 </a:t>
              </a:r>
              <a:r>
                <a:rPr lang="en-US" dirty="0">
                  <a:solidFill>
                    <a:schemeClr val="bg2"/>
                  </a:solidFill>
                  <a:latin typeface="Honeywell Sans TT Extrabold" panose="020F0502020204030204" pitchFamily="2" charset="0"/>
                </a:rPr>
                <a:t>–</a:t>
              </a:r>
              <a:r>
                <a:rPr lang="en-US" dirty="0">
                  <a:solidFill>
                    <a:srgbClr val="FF0000"/>
                  </a:solidFill>
                  <a:latin typeface="Honeywell Sans TT Extrabold" panose="020F0502020204030204" pitchFamily="2" charset="0"/>
                </a:rPr>
                <a:t> The Temperature Bug</a:t>
              </a:r>
            </a:p>
            <a:p>
              <a:endParaRPr lang="en-US" dirty="0">
                <a:solidFill>
                  <a:srgbClr val="FF0000"/>
                </a:solidFill>
                <a:latin typeface="Honeywell Sans TT Extrabold" panose="020F0502020204030204" pitchFamily="2" charset="0"/>
              </a:endParaRPr>
            </a:p>
            <a:p>
              <a:r>
                <a:rPr lang="en-US" sz="1400" dirty="0">
                  <a:solidFill>
                    <a:srgbClr val="FF0000"/>
                  </a:solidFill>
                  <a:latin typeface="Honeywell Sans TT Medium" panose="02010603040101060203" pitchFamily="2" charset="0"/>
                </a:rPr>
                <a:t>ADC fails</a:t>
              </a:r>
              <a:r>
                <a:rPr lang="en-US" sz="1400" dirty="0">
                  <a:solidFill>
                    <a:schemeClr val="bg1"/>
                  </a:solidFill>
                  <a:latin typeface="Honeywell Sans TT Medium" panose="02010603040101060203" pitchFamily="2" charset="0"/>
                </a:rPr>
                <a:t> only in cold. Needs thermal chamber to test.</a:t>
              </a:r>
            </a:p>
            <a:p>
              <a:r>
                <a:rPr lang="en-US" sz="1400" dirty="0">
                  <a:solidFill>
                    <a:schemeClr val="bg1"/>
                  </a:solidFill>
                  <a:latin typeface="Honeywell Sans TT Medium" panose="02010603040101060203" pitchFamily="2" charset="0"/>
                </a:rPr>
                <a:t>Agent simulated the failure at room temperature.</a:t>
              </a:r>
            </a:p>
            <a:p>
              <a:r>
                <a:rPr lang="en-US" sz="1400" dirty="0">
                  <a:solidFill>
                    <a:schemeClr val="bg1"/>
                  </a:solidFill>
                  <a:latin typeface="Honeywell Sans TT Medium" panose="02010603040101060203" pitchFamily="2" charset="0"/>
                </a:rPr>
                <a:t>Removed Chamber dependency for development</a:t>
              </a:r>
              <a:endParaRPr sz="1400" dirty="0">
                <a:solidFill>
                  <a:schemeClr val="bg1"/>
                </a:solidFill>
                <a:latin typeface="Honeywell Sans TT Medium" panose="02010603040101060203" pitchFamily="2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5DB85A0-F603-451D-9F3F-708C2034FD3A}"/>
                </a:ext>
              </a:extLst>
            </p:cNvPr>
            <p:cNvSpPr/>
            <p:nvPr/>
          </p:nvSpPr>
          <p:spPr>
            <a:xfrm rot="5400000" flipV="1">
              <a:off x="-725255" y="5024202"/>
              <a:ext cx="1922325" cy="7845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4" name="Rounded Rectangle 30">
            <a:extLst>
              <a:ext uri="{FF2B5EF4-FFF2-40B4-BE49-F238E27FC236}">
                <a16:creationId xmlns:a16="http://schemas.microsoft.com/office/drawing/2014/main" id="{2C01BD37-DF1C-2378-617E-46A879769956}"/>
              </a:ext>
            </a:extLst>
          </p:cNvPr>
          <p:cNvSpPr/>
          <p:nvPr/>
        </p:nvSpPr>
        <p:spPr>
          <a:xfrm>
            <a:off x="5516537" y="4251020"/>
            <a:ext cx="3511296" cy="1475635"/>
          </a:xfrm>
          <a:prstGeom prst="roundRect">
            <a:avLst/>
          </a:prstGeom>
          <a:solidFill>
            <a:srgbClr val="2B2B2B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FF0000"/>
                </a:solidFill>
                <a:latin typeface="Honeywell Sans TT Extrabold" panose="02010903040101060203" pitchFamily="2" charset="0"/>
              </a:rPr>
              <a:t>Token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  <a:latin typeface="Honeywell Sans TT Light" panose="02010303040101060203" pitchFamily="2" charset="0"/>
              </a:rPr>
              <a:t>Not every task needs intelligence , agent has built in </a:t>
            </a:r>
            <a:r>
              <a:rPr lang="en-US" sz="1200" b="1" dirty="0">
                <a:solidFill>
                  <a:srgbClr val="FF0000"/>
                </a:solidFill>
                <a:latin typeface="Honeywell Sans TT Light" panose="02010303040101060203" pitchFamily="2" charset="0"/>
              </a:rPr>
              <a:t>smart routing </a:t>
            </a:r>
            <a:r>
              <a:rPr lang="en-US" sz="1200" dirty="0">
                <a:solidFill>
                  <a:schemeClr val="bg1"/>
                </a:solidFill>
                <a:latin typeface="Honeywell Sans TT Light" panose="02010303040101060203" pitchFamily="2" charset="0"/>
              </a:rPr>
              <a:t>that cuts cost by 95% on routine operations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  <a:latin typeface="Honeywell Sans TT Light" panose="02010303040101060203" pitchFamily="2" charset="0"/>
              </a:rPr>
              <a:t>Multi Agent System , Pre-loaded Instruction and lower </a:t>
            </a:r>
            <a:r>
              <a:rPr lang="en-US" sz="1200" b="1" dirty="0">
                <a:solidFill>
                  <a:srgbClr val="FF0000"/>
                </a:solidFill>
                <a:latin typeface="Honeywell Sans TT Light" panose="02010303040101060203" pitchFamily="2" charset="0"/>
              </a:rPr>
              <a:t>temperature</a:t>
            </a:r>
            <a:r>
              <a:rPr lang="en-US" sz="1200" dirty="0">
                <a:solidFill>
                  <a:schemeClr val="bg1"/>
                </a:solidFill>
                <a:latin typeface="Honeywell Sans TT Light" panose="02010303040101060203" pitchFamily="2" charset="0"/>
              </a:rPr>
              <a:t>  all contribute to effective token usage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8DFF0E5-BD69-28E5-638D-900BBF115C16}"/>
              </a:ext>
            </a:extLst>
          </p:cNvPr>
          <p:cNvSpPr/>
          <p:nvPr/>
        </p:nvSpPr>
        <p:spPr>
          <a:xfrm>
            <a:off x="5516537" y="4259488"/>
            <a:ext cx="3511296" cy="4571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18FC13-41D1-9C84-44EB-76BF778FF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446997" y="319492"/>
            <a:ext cx="3157604" cy="442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397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57400" cy="27432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84632"/>
            <a:ext cx="2057400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45820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Segoe UI"/>
              </a:rPr>
              <a:t>STQC Agent: Memory, Indexing and Certification Evidence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25880"/>
            <a:ext cx="8449056" cy="1463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 i="1">
                <a:solidFill>
                  <a:srgbClr val="B8D0EC"/>
                </a:solidFill>
                <a:latin typeface="Segoe UI"/>
              </a:rPr>
              <a:t>Extends PG5 beyond evidence generation: agents preserve task memory, execute Jira plans through Q&amp;A, index the codebase, and produce STQC-ready TCF/compliance artifacts.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1993392"/>
            <a:ext cx="2029968" cy="1664208"/>
          </a:xfrm>
          <a:prstGeom prst="roundRect">
            <a:avLst/>
          </a:prstGeom>
          <a:solidFill>
            <a:srgbClr val="0F2845"/>
          </a:solidFill>
          <a:ln>
            <a:solidFill>
              <a:srgbClr val="14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93392"/>
            <a:ext cx="2029968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" y="2176272"/>
            <a:ext cx="384048" cy="384048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76856"/>
            <a:ext cx="384048" cy="91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103120"/>
            <a:ext cx="1335024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00C8F0"/>
                </a:solidFill>
                <a:latin typeface="Segoe UI"/>
              </a:rPr>
              <a:t>Task Memory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" y="2615184"/>
            <a:ext cx="1737360" cy="1097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27432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Agents auto-generate context dump files after each task so future agents resume with full awareness.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0320" y="1993392"/>
            <a:ext cx="2029968" cy="1664208"/>
          </a:xfrm>
          <a:prstGeom prst="roundRect">
            <a:avLst/>
          </a:prstGeom>
          <a:solidFill>
            <a:srgbClr val="0F2845"/>
          </a:solidFill>
          <a:ln>
            <a:solidFill>
              <a:srgbClr val="14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0" y="1993392"/>
            <a:ext cx="2029968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670048" y="2176272"/>
            <a:ext cx="384048" cy="384048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2276856"/>
            <a:ext cx="384048" cy="91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2103120"/>
            <a:ext cx="1335024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0072C6"/>
                </a:solidFill>
                <a:latin typeface="Segoe UI"/>
              </a:rPr>
              <a:t>Plan-Driven Execution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06624" y="2615184"/>
            <a:ext cx="1737360" cy="1097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27432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Jira stories run through interactive Q&amp;A to refine scope and ensure precise definition.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73168" y="1993392"/>
            <a:ext cx="2029968" cy="1664208"/>
          </a:xfrm>
          <a:prstGeom prst="roundRect">
            <a:avLst/>
          </a:prstGeom>
          <a:solidFill>
            <a:srgbClr val="0F2845"/>
          </a:solidFill>
          <a:ln>
            <a:solidFill>
              <a:srgbClr val="14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73168" y="1993392"/>
            <a:ext cx="2029968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82896" y="2176272"/>
            <a:ext cx="384048" cy="384048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82896" y="2276856"/>
            <a:ext cx="384048" cy="91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0096" y="2103120"/>
            <a:ext cx="1335024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00A89A"/>
                </a:solidFill>
                <a:latin typeface="Segoe UI"/>
              </a:rPr>
              <a:t>Codebase Indexer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19472" y="2615184"/>
            <a:ext cx="1737360" cy="1097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27432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Rust backend generates knowledge, indexing and analysis across the codebase.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86016" y="1993392"/>
            <a:ext cx="2029968" cy="1664208"/>
          </a:xfrm>
          <a:prstGeom prst="roundRect">
            <a:avLst/>
          </a:prstGeom>
          <a:solidFill>
            <a:srgbClr val="0F2845"/>
          </a:solidFill>
          <a:ln>
            <a:solidFill>
              <a:srgbClr val="14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86016" y="1993392"/>
            <a:ext cx="2029968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95744" y="2176272"/>
            <a:ext cx="384048" cy="38404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95744" y="2276856"/>
            <a:ext cx="384048" cy="91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2944" y="2103120"/>
            <a:ext cx="1335024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Segoe UI"/>
              </a:rPr>
              <a:t>Agent Index Files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615184"/>
            <a:ext cx="1737360" cy="109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27432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Agents create index files during execution to improve codebase structural understanding.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7472" y="3913632"/>
            <a:ext cx="2029968" cy="1664208"/>
          </a:xfrm>
          <a:prstGeom prst="roundRect">
            <a:avLst/>
          </a:prstGeom>
          <a:solidFill>
            <a:srgbClr val="0F2845"/>
          </a:solidFill>
          <a:ln>
            <a:solidFill>
              <a:srgbClr val="14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472" y="3913632"/>
            <a:ext cx="2029968" cy="502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096512"/>
            <a:ext cx="384048" cy="384048"/>
          </a:xfrm>
          <a:prstGeom prst="ellipse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197096"/>
            <a:ext cx="384048" cy="91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4023360"/>
            <a:ext cx="1335024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F5C518"/>
                </a:solidFill>
                <a:latin typeface="Segoe UI"/>
              </a:rPr>
              <a:t>Certification Module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4535424"/>
            <a:ext cx="1737360" cy="1097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3776" y="46634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Pluggable framework extendible beyond STQC to certifications such as DO178C.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60320" y="3913632"/>
            <a:ext cx="2029968" cy="1664208"/>
          </a:xfrm>
          <a:prstGeom prst="roundRect">
            <a:avLst/>
          </a:prstGeom>
          <a:solidFill>
            <a:srgbClr val="0F2845"/>
          </a:solidFill>
          <a:ln>
            <a:solidFill>
              <a:srgbClr val="14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60320" y="3913632"/>
            <a:ext cx="2029968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670048" y="4096512"/>
            <a:ext cx="384048" cy="384048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0048" y="4197096"/>
            <a:ext cx="384048" cy="91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27248" y="4023360"/>
            <a:ext cx="1335024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00D48A"/>
                </a:solidFill>
                <a:latin typeface="Segoe UI"/>
              </a:rPr>
              <a:t>STQC Evidence Docs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06624" y="4535424"/>
            <a:ext cx="1737360" cy="1097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6624" y="46634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Reads the codebase and produces evidence in ready-to-use document format.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73168" y="3913632"/>
            <a:ext cx="2029968" cy="1664208"/>
          </a:xfrm>
          <a:prstGeom prst="roundRect">
            <a:avLst/>
          </a:prstGeom>
          <a:solidFill>
            <a:srgbClr val="0F2845"/>
          </a:solidFill>
          <a:ln>
            <a:solidFill>
              <a:srgbClr val="14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773168" y="3913632"/>
            <a:ext cx="2029968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82896" y="4096512"/>
            <a:ext cx="384048" cy="384048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82896" y="4197096"/>
            <a:ext cx="384048" cy="91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40096" y="4023360"/>
            <a:ext cx="1335024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  <a:latin typeface="Segoe UI"/>
              </a:rPr>
              <a:t>TCF + Compliance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19472" y="4535424"/>
            <a:ext cx="1737360" cy="1097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19472" y="46634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Generates TCF and validates collected evidence against compliance expectations.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986016" y="3913632"/>
            <a:ext cx="2029968" cy="1664208"/>
          </a:xfrm>
          <a:prstGeom prst="roundRect">
            <a:avLst/>
          </a:prstGeom>
          <a:solidFill>
            <a:srgbClr val="0F2845"/>
          </a:solidFill>
          <a:ln>
            <a:solidFill>
              <a:srgbClr val="14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986016" y="3913632"/>
            <a:ext cx="2029968" cy="50292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095744" y="4096512"/>
            <a:ext cx="384048" cy="384048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95744" y="4197096"/>
            <a:ext cx="384048" cy="91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52944" y="4023360"/>
            <a:ext cx="1335024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FF3A3A"/>
                </a:solidFill>
                <a:latin typeface="Segoe UI"/>
              </a:rPr>
              <a:t>First-Time Setup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4535424"/>
            <a:ext cx="1737360" cy="10972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32320" y="46634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Optionally use GitHub CLI during setup when available instead of PAT tokens.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7472" y="5925312"/>
            <a:ext cx="8449056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47472" y="5925312"/>
            <a:ext cx="50292" cy="43891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0352" y="6053328"/>
            <a:ext cx="8046720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19" b="1" i="0">
                <a:solidFill>
                  <a:srgbClr val="F5C518"/>
                </a:solidFill>
                <a:latin typeface="Segoe UI"/>
              </a:rPr>
              <a:t>STQC integration: codebase -&gt; evidence documents -&gt; TCF -&gt; compliance validation -&gt; READY / NOT_READY remediation.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75320" y="6565392"/>
            <a:ext cx="411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4  / 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06640" y="656539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2992446"/>
            <a:ext cx="5056632" cy="60939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12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-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1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5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months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 -&gt;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8-10 months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
- Faster first loop: 45-60%
- Context injected: datasheet, PRD, SDK, BSP, OS/RTOS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" y="6234869"/>
            <a:ext cx="8138160" cy="276999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0000"/>
                </a:solidFill>
                <a:latin typeface="Arial"/>
              </a:rPr>
              <a:t>FOCUS: AEPLO loops across PRD, PG3 firmware, JTAG, QA and STQC until READY.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049F5-D881-4A27-9198-FB7AEB41FA35}">
  <ds:schemaRefs>
    <ds:schemaRef ds:uri="http://schemas.microsoft.com/office/infopath/2007/PartnerControls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e94ddfc3-4734-4b9a-ae26-16534f892664"/>
  </ds:schemaRefs>
</ds:datastoreItem>
</file>

<file path=customXml/itemProps3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872</TotalTime>
  <Words>1068</Words>
  <Application>Microsoft Office PowerPoint</Application>
  <PresentationFormat>On-screen Show (4:3)</PresentationFormat>
  <Paragraphs>129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Calibri</vt:lpstr>
      <vt:lpstr>Honeywell Sans TT Extrabold</vt:lpstr>
      <vt:lpstr>Honeywell Sans TT Light</vt:lpstr>
      <vt:lpstr>Honeywell Sans TT Medium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18</cp:revision>
  <dcterms:created xsi:type="dcterms:W3CDTF">2013-01-27T09:14:16Z</dcterms:created>
  <dcterms:modified xsi:type="dcterms:W3CDTF">2026-06-18T05:42:01Z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