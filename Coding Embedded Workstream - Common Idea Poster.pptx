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78992"/>
            <a:ext cx="12191695" cy="36576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1600200"/>
            <a:ext cx="12191695" cy="18288"/>
          </a:xfrm>
          <a:prstGeom prst="rect">
            <a:avLst/>
          </a:prstGeom>
          <a:solidFill>
            <a:srgbClr val="113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955279" y="137160"/>
            <a:ext cx="3977639" cy="5486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955279" y="429768"/>
            <a:ext cx="3977639" cy="5486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955279" y="722376"/>
            <a:ext cx="3977639" cy="5486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55279" y="1014983"/>
            <a:ext cx="3977639" cy="5486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55279" y="1307592"/>
            <a:ext cx="3977639" cy="5486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55279" y="1600200"/>
            <a:ext cx="3977639" cy="5486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55279" y="1892807"/>
            <a:ext cx="3977639" cy="5486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55279" y="2185416"/>
            <a:ext cx="3977639" cy="5486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55279" y="2478024"/>
            <a:ext cx="3977639" cy="5486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55279" y="2770632"/>
            <a:ext cx="3977639" cy="5486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55279" y="3063240"/>
            <a:ext cx="3977639" cy="5486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55279" y="3355848"/>
            <a:ext cx="3977639" cy="5486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55279" y="3648456"/>
            <a:ext cx="3977639" cy="5486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55279" y="3941064"/>
            <a:ext cx="3977639" cy="5486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955279" y="4233672"/>
            <a:ext cx="3977639" cy="5486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55279" y="4526280"/>
            <a:ext cx="3977639" cy="5486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55279" y="4818888"/>
            <a:ext cx="3977639" cy="5486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955279" y="5111496"/>
            <a:ext cx="3977639" cy="5486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955279" y="5404104"/>
            <a:ext cx="3977639" cy="5486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73568" y="137160"/>
            <a:ext cx="5486" cy="6263640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302752" y="137160"/>
            <a:ext cx="5486" cy="6263640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631936" y="137160"/>
            <a:ext cx="5486" cy="6263640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961120" y="137160"/>
            <a:ext cx="5486" cy="6263640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290304" y="137160"/>
            <a:ext cx="5486" cy="6263640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619488" y="137160"/>
            <a:ext cx="5486" cy="6263640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948672" y="137160"/>
            <a:ext cx="5486" cy="6263640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277856" y="137160"/>
            <a:ext cx="5486" cy="6263640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607040" y="137160"/>
            <a:ext cx="5486" cy="6263640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936224" y="137160"/>
            <a:ext cx="5486" cy="6263640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1265408" y="137160"/>
            <a:ext cx="5486" cy="6263640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1594592" y="137160"/>
            <a:ext cx="5486" cy="6263640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716768" y="128016"/>
            <a:ext cx="457200" cy="45720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844784" y="256032"/>
            <a:ext cx="201168" cy="20116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01752" y="155448"/>
            <a:ext cx="795527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Segoe UI"/>
              </a:rPr>
              <a:t>CONNECTED EMBEDDED DATA. INTELLIGENT PDLC ACTION.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01752" y="502920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00C8F0"/>
                </a:solidFill>
                <a:latin typeface="Segoe UI"/>
              </a:rPr>
              <a:t>REAL NPI IMPACT.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0040" y="896112"/>
            <a:ext cx="7223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80" b="0" i="0">
                <a:solidFill>
                  <a:srgbClr val="B8D0EC"/>
                </a:solidFill>
                <a:latin typeface="Segoe UI"/>
              </a:rPr>
              <a:t>AEPLO unifies Jira, Confluence, GitHub, Copilot, ROVO Studio and JTAG/SWD evidence to optimise embedded PDLC decisions across PG1, PG3 and PG5.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092440" y="109728"/>
            <a:ext cx="3794760" cy="896112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12480" y="246888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8A"/>
                </a:solidFill>
                <a:latin typeface="Segoe UI"/>
              </a:rPr>
              <a:t>ONE AEPLO PLATFORM.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12480" y="502920"/>
            <a:ext cx="3063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C8F0"/>
                </a:solidFill>
                <a:latin typeface="Segoe UI"/>
              </a:rPr>
              <a:t>EMBEDDED. PDLC. AI OPTIMISATION.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12480" y="758952"/>
            <a:ext cx="3017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30" b="0" i="0">
                <a:solidFill>
                  <a:srgbClr val="B8D0EC"/>
                </a:solidFill>
                <a:latin typeface="Segoe UI"/>
              </a:rPr>
              <a:t>Honeywell BA Buildathon | 17 Jun 2026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56032" y="1225296"/>
            <a:ext cx="1664208" cy="310896"/>
          </a:xfrm>
          <a:prstGeom prst="roundRect">
            <a:avLst/>
          </a:prstGeom>
          <a:solidFill>
            <a:srgbClr val="051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56032" y="1225296"/>
            <a:ext cx="36576" cy="31089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65760" y="1298448"/>
            <a:ext cx="141732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40" b="1" i="0">
                <a:solidFill>
                  <a:srgbClr val="FFFFFF"/>
                </a:solidFill>
                <a:latin typeface="Segoe UI"/>
              </a:rPr>
              <a:t>ROVO Studio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139696" y="1225296"/>
            <a:ext cx="1664208" cy="310896"/>
          </a:xfrm>
          <a:prstGeom prst="roundRect">
            <a:avLst/>
          </a:prstGeom>
          <a:solidFill>
            <a:srgbClr val="051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139696" y="1225296"/>
            <a:ext cx="36576" cy="310896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249424" y="1298448"/>
            <a:ext cx="141732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40" b="1" i="0">
                <a:solidFill>
                  <a:srgbClr val="FFFFFF"/>
                </a:solidFill>
                <a:latin typeface="Segoe UI"/>
              </a:rPr>
              <a:t>Copilot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023360" y="1225296"/>
            <a:ext cx="1664208" cy="310896"/>
          </a:xfrm>
          <a:prstGeom prst="roundRect">
            <a:avLst/>
          </a:prstGeom>
          <a:solidFill>
            <a:srgbClr val="051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023360" y="1225296"/>
            <a:ext cx="36576" cy="31089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133088" y="1298448"/>
            <a:ext cx="141732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40" b="1" i="0">
                <a:solidFill>
                  <a:srgbClr val="FFFFFF"/>
                </a:solidFill>
                <a:latin typeface="Segoe UI"/>
              </a:rPr>
              <a:t>Atlassian MCP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907024" y="1225296"/>
            <a:ext cx="1664208" cy="310896"/>
          </a:xfrm>
          <a:prstGeom prst="roundRect">
            <a:avLst/>
          </a:prstGeom>
          <a:solidFill>
            <a:srgbClr val="051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907024" y="1225296"/>
            <a:ext cx="36576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016752" y="1298448"/>
            <a:ext cx="141732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40" b="1" i="0">
                <a:solidFill>
                  <a:srgbClr val="FFFFFF"/>
                </a:solidFill>
                <a:latin typeface="Segoe UI"/>
              </a:rPr>
              <a:t>GitHub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790688" y="1225296"/>
            <a:ext cx="1664208" cy="310896"/>
          </a:xfrm>
          <a:prstGeom prst="roundRect">
            <a:avLst/>
          </a:prstGeom>
          <a:solidFill>
            <a:srgbClr val="051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790688" y="1225296"/>
            <a:ext cx="36576" cy="310896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900416" y="1298448"/>
            <a:ext cx="141732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40" b="1" i="0">
                <a:solidFill>
                  <a:srgbClr val="FFFFFF"/>
                </a:solidFill>
                <a:latin typeface="Segoe UI"/>
              </a:rPr>
              <a:t>Jira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674352" y="1225296"/>
            <a:ext cx="1664208" cy="310896"/>
          </a:xfrm>
          <a:prstGeom prst="roundRect">
            <a:avLst/>
          </a:prstGeom>
          <a:solidFill>
            <a:srgbClr val="051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9674352" y="1225296"/>
            <a:ext cx="36576" cy="310896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784080" y="1298448"/>
            <a:ext cx="141732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40" b="1" i="0">
                <a:solidFill>
                  <a:srgbClr val="FFFFFF"/>
                </a:solidFill>
                <a:latin typeface="Segoe UI"/>
              </a:rPr>
              <a:t>Confluence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19456" y="1755648"/>
            <a:ext cx="1664208" cy="333756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19456" y="1755648"/>
            <a:ext cx="1664208" cy="54864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92608" y="1865376"/>
            <a:ext cx="151790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40" b="1" i="0">
                <a:solidFill>
                  <a:srgbClr val="FFFFFF"/>
                </a:solidFill>
                <a:latin typeface="Segoe UI"/>
              </a:rPr>
              <a:t>1. EMBEDDED DATA SOURCES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29184" y="2139696"/>
            <a:ext cx="1444752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30" b="0" i="0">
                <a:solidFill>
                  <a:srgbClr val="00D48A"/>
                </a:solidFill>
                <a:latin typeface="Segoe UI"/>
              </a:rPr>
              <a:t>Discovery + engineering context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329184" y="2505456"/>
            <a:ext cx="1444752" cy="438912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20624" y="2642616"/>
            <a:ext cx="164592" cy="164592"/>
          </a:xfrm>
          <a:prstGeom prst="ellipse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40080" y="2578608"/>
            <a:ext cx="109728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40" b="1" i="0">
                <a:solidFill>
                  <a:srgbClr val="FFFFFF"/>
                </a:solidFill>
                <a:latin typeface="Segoe UI"/>
              </a:rPr>
              <a:t>Jira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40080" y="2734056"/>
            <a:ext cx="109728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" b="0" i="0">
                <a:solidFill>
                  <a:srgbClr val="B8D0EC"/>
                </a:solidFill>
                <a:latin typeface="Segoe UI"/>
              </a:rPr>
              <a:t>NPI epics, defects, decisions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29184" y="3108960"/>
            <a:ext cx="1444752" cy="438912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420624" y="3246120"/>
            <a:ext cx="164592" cy="164592"/>
          </a:xfrm>
          <a:prstGeom prst="ellipse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40080" y="3182112"/>
            <a:ext cx="109728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40" b="1" i="0">
                <a:solidFill>
                  <a:srgbClr val="FFFFFF"/>
                </a:solidFill>
                <a:latin typeface="Segoe UI"/>
              </a:rPr>
              <a:t>Confluence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40080" y="3337560"/>
            <a:ext cx="109728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" b="0" i="0">
                <a:solidFill>
                  <a:srgbClr val="B8D0EC"/>
                </a:solidFill>
                <a:latin typeface="Segoe UI"/>
              </a:rPr>
              <a:t>PRD, architecture, lessons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329184" y="3712464"/>
            <a:ext cx="1444752" cy="438912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420624" y="3849624"/>
            <a:ext cx="164592" cy="164592"/>
          </a:xfrm>
          <a:prstGeom prst="ellipse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40080" y="3785616"/>
            <a:ext cx="109728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40" b="1" i="0">
                <a:solidFill>
                  <a:srgbClr val="FFFFFF"/>
                </a:solidFill>
                <a:latin typeface="Segoe UI"/>
              </a:rPr>
              <a:t>GitHub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40080" y="3941064"/>
            <a:ext cx="109728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" b="0" i="0">
                <a:solidFill>
                  <a:srgbClr val="B8D0EC"/>
                </a:solidFill>
                <a:latin typeface="Segoe UI"/>
              </a:rPr>
              <a:t>Code, PRs, branches, reviews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29184" y="4315968"/>
            <a:ext cx="1444752" cy="438912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420624" y="4453128"/>
            <a:ext cx="164592" cy="164592"/>
          </a:xfrm>
          <a:prstGeom prst="ellipse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40080" y="4389120"/>
            <a:ext cx="109728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40" b="1" i="0">
                <a:solidFill>
                  <a:srgbClr val="FFFFFF"/>
                </a:solidFill>
                <a:latin typeface="Segoe UI"/>
              </a:rPr>
              <a:t>JTAG/SWD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40080" y="4544568"/>
            <a:ext cx="109728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" b="0" i="0">
                <a:solidFill>
                  <a:srgbClr val="B8D0EC"/>
                </a:solidFill>
                <a:latin typeface="Segoe UI"/>
              </a:rPr>
              <a:t>MCU registers, memory, traces</a:t>
            </a:r>
          </a:p>
        </p:txBody>
      </p:sp>
      <p:sp>
        <p:nvSpPr>
          <p:cNvPr id="85" name="Right Arrow 84"/>
          <p:cNvSpPr/>
          <p:nvPr/>
        </p:nvSpPr>
        <p:spPr>
          <a:xfrm>
            <a:off x="1911096" y="3355848"/>
            <a:ext cx="274320" cy="182880"/>
          </a:xfrm>
          <a:prstGeom prst="rightArrow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2075688" y="1755648"/>
            <a:ext cx="1847088" cy="333756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2075688" y="1755648"/>
            <a:ext cx="1847088" cy="54864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2148840" y="1865376"/>
            <a:ext cx="170078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40" b="1" i="0">
                <a:solidFill>
                  <a:srgbClr val="FFFFFF"/>
                </a:solidFill>
                <a:latin typeface="Segoe UI"/>
              </a:rPr>
              <a:t>2. UNIFIED PDLC FOUNDATION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185416" y="2139696"/>
            <a:ext cx="1627632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30" b="0" i="0">
                <a:solidFill>
                  <a:srgbClr val="0072C6"/>
                </a:solidFill>
                <a:latin typeface="Segoe UI"/>
              </a:rPr>
              <a:t>Single source of truth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2185416" y="2505456"/>
            <a:ext cx="1627632" cy="438912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2276856" y="2642616"/>
            <a:ext cx="164592" cy="164592"/>
          </a:xfrm>
          <a:prstGeom prst="ellipse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496312" y="2578608"/>
            <a:ext cx="128016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40" b="1" i="0">
                <a:solidFill>
                  <a:srgbClr val="FFFFFF"/>
                </a:solidFill>
                <a:latin typeface="Segoe UI"/>
              </a:rPr>
              <a:t>Traceability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496312" y="2734056"/>
            <a:ext cx="128016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" b="0" i="0">
                <a:solidFill>
                  <a:srgbClr val="B8D0EC"/>
                </a:solidFill>
                <a:latin typeface="Segoe UI"/>
              </a:rPr>
              <a:t>Requirements -&gt; code -&gt; test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2185416" y="3108960"/>
            <a:ext cx="1627632" cy="438912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2276856" y="3246120"/>
            <a:ext cx="164592" cy="164592"/>
          </a:xfrm>
          <a:prstGeom prst="ellipse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2496312" y="3182112"/>
            <a:ext cx="128016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40" b="1" i="0">
                <a:solidFill>
                  <a:srgbClr val="FFFFFF"/>
                </a:solidFill>
                <a:latin typeface="Segoe UI"/>
              </a:rPr>
              <a:t>Knowledge Graph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496312" y="3337560"/>
            <a:ext cx="128016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" b="0" i="0">
                <a:solidFill>
                  <a:srgbClr val="B8D0EC"/>
                </a:solidFill>
                <a:latin typeface="Segoe UI"/>
              </a:rPr>
              <a:t>Board, firmware, defect links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2185416" y="3712464"/>
            <a:ext cx="1627632" cy="438912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2276856" y="3849624"/>
            <a:ext cx="164592" cy="164592"/>
          </a:xfrm>
          <a:prstGeom prst="ellipse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2496312" y="3785616"/>
            <a:ext cx="128016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40" b="1" i="0">
                <a:solidFill>
                  <a:srgbClr val="FFFFFF"/>
                </a:solidFill>
                <a:latin typeface="Segoe UI"/>
              </a:rPr>
              <a:t>Evidence Lake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496312" y="3941064"/>
            <a:ext cx="128016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" b="0" i="0">
                <a:solidFill>
                  <a:srgbClr val="B8D0EC"/>
                </a:solidFill>
                <a:latin typeface="Segoe UI"/>
              </a:rPr>
              <a:t>Logs, dumps, probe sessions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2185416" y="4315968"/>
            <a:ext cx="1627632" cy="438912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2276856" y="4453128"/>
            <a:ext cx="164592" cy="164592"/>
          </a:xfrm>
          <a:prstGeom prst="ellipse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2496312" y="4389120"/>
            <a:ext cx="128016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40" b="1" i="0">
                <a:solidFill>
                  <a:srgbClr val="FFFFFF"/>
                </a:solidFill>
                <a:latin typeface="Segoe UI"/>
              </a:rPr>
              <a:t>NPI Context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496312" y="4544568"/>
            <a:ext cx="128016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" b="0" i="0">
                <a:solidFill>
                  <a:srgbClr val="B8D0EC"/>
                </a:solidFill>
                <a:latin typeface="Segoe UI"/>
              </a:rPr>
              <a:t>PG1 / PG3 / PG5 gates</a:t>
            </a:r>
          </a:p>
        </p:txBody>
      </p:sp>
      <p:sp>
        <p:nvSpPr>
          <p:cNvPr id="106" name="Right Arrow 105"/>
          <p:cNvSpPr/>
          <p:nvPr/>
        </p:nvSpPr>
        <p:spPr>
          <a:xfrm>
            <a:off x="3950208" y="3355848"/>
            <a:ext cx="274320" cy="182880"/>
          </a:xfrm>
          <a:prstGeom prst="rightArrow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ounded Rectangle 106"/>
          <p:cNvSpPr/>
          <p:nvPr/>
        </p:nvSpPr>
        <p:spPr>
          <a:xfrm>
            <a:off x="4114800" y="1755648"/>
            <a:ext cx="1847088" cy="333756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4114800" y="1755648"/>
            <a:ext cx="1847088" cy="5486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4187952" y="1865376"/>
            <a:ext cx="170078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40" b="1" i="0">
                <a:solidFill>
                  <a:srgbClr val="FFFFFF"/>
                </a:solidFill>
                <a:latin typeface="Segoe UI"/>
              </a:rPr>
              <a:t>3. AEPLO ORCHESTRATION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224528" y="2139696"/>
            <a:ext cx="1627632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30" b="0" i="0">
                <a:solidFill>
                  <a:srgbClr val="FF8C00"/>
                </a:solidFill>
                <a:latin typeface="Segoe UI"/>
              </a:rPr>
              <a:t>Work that flows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4224528" y="2505456"/>
            <a:ext cx="1627632" cy="438912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4315968" y="2642616"/>
            <a:ext cx="164592" cy="164592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4535424" y="2578608"/>
            <a:ext cx="128016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40" b="1" i="0">
                <a:solidFill>
                  <a:srgbClr val="FFFFFF"/>
                </a:solidFill>
                <a:latin typeface="Segoe UI"/>
              </a:rPr>
              <a:t>Atlassian MCP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535424" y="2734056"/>
            <a:ext cx="128016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" b="0" i="0">
                <a:solidFill>
                  <a:srgbClr val="B8D0EC"/>
                </a:solidFill>
                <a:latin typeface="Segoe UI"/>
              </a:rPr>
              <a:t>Jira + Confluence actions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4224528" y="3108960"/>
            <a:ext cx="1627632" cy="438912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4315968" y="3246120"/>
            <a:ext cx="164592" cy="164592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4535424" y="3182112"/>
            <a:ext cx="128016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40" b="1" i="0">
                <a:solidFill>
                  <a:srgbClr val="FFFFFF"/>
                </a:solidFill>
                <a:latin typeface="Segoe UI"/>
              </a:rPr>
              <a:t>JTAG Accelerator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535424" y="3337560"/>
            <a:ext cx="128016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" b="0" i="0">
                <a:solidFill>
                  <a:srgbClr val="B8D0EC"/>
                </a:solidFill>
                <a:latin typeface="Segoe UI"/>
              </a:rPr>
              <a:t>Hardware-backed RCA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4224528" y="3712464"/>
            <a:ext cx="1627632" cy="438912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4315968" y="3849624"/>
            <a:ext cx="164592" cy="164592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4535424" y="3785616"/>
            <a:ext cx="128016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40" b="1" i="0">
                <a:solidFill>
                  <a:srgbClr val="FFFFFF"/>
                </a:solidFill>
                <a:latin typeface="Segoe UI"/>
              </a:rPr>
              <a:t>Release Gate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535424" y="3941064"/>
            <a:ext cx="128016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" b="0" i="0">
                <a:solidFill>
                  <a:srgbClr val="B8D0EC"/>
                </a:solidFill>
                <a:latin typeface="Segoe UI"/>
              </a:rPr>
              <a:t>READY / NOT_READY verdict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4224528" y="4315968"/>
            <a:ext cx="1627632" cy="438912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4315968" y="4453128"/>
            <a:ext cx="164592" cy="164592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535424" y="4389120"/>
            <a:ext cx="128016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40" b="1" i="0">
                <a:solidFill>
                  <a:srgbClr val="FFFFFF"/>
                </a:solidFill>
                <a:latin typeface="Segoe UI"/>
              </a:rPr>
              <a:t>GitHub Automation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535424" y="4544568"/>
            <a:ext cx="128016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" b="0" i="0">
                <a:solidFill>
                  <a:srgbClr val="B8D0EC"/>
                </a:solidFill>
                <a:latin typeface="Segoe UI"/>
              </a:rPr>
              <a:t>Branch, PR, review evidence</a:t>
            </a:r>
          </a:p>
        </p:txBody>
      </p:sp>
      <p:sp>
        <p:nvSpPr>
          <p:cNvPr id="127" name="Right Arrow 126"/>
          <p:cNvSpPr/>
          <p:nvPr/>
        </p:nvSpPr>
        <p:spPr>
          <a:xfrm>
            <a:off x="5989320" y="3355848"/>
            <a:ext cx="274320" cy="182880"/>
          </a:xfrm>
          <a:prstGeom prst="rightArrow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ounded Rectangle 127"/>
          <p:cNvSpPr/>
          <p:nvPr/>
        </p:nvSpPr>
        <p:spPr>
          <a:xfrm>
            <a:off x="6153912" y="1755648"/>
            <a:ext cx="1847088" cy="333756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6153912" y="1755648"/>
            <a:ext cx="1847088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6227064" y="1865376"/>
            <a:ext cx="170078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40" b="1" i="0">
                <a:solidFill>
                  <a:srgbClr val="FFFFFF"/>
                </a:solidFill>
                <a:latin typeface="Segoe UI"/>
              </a:rPr>
              <a:t>4. AI-POWERED EXPERIENCES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6263640" y="2139696"/>
            <a:ext cx="1627632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30" b="0" i="0">
                <a:solidFill>
                  <a:srgbClr val="8B5CF6"/>
                </a:solidFill>
                <a:latin typeface="Segoe UI"/>
              </a:rPr>
              <a:t>Actionable intelligence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6263640" y="2505456"/>
            <a:ext cx="1627632" cy="438912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6355080" y="2642616"/>
            <a:ext cx="164592" cy="16459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574536" y="2578608"/>
            <a:ext cx="128016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40" b="1" i="0">
                <a:solidFill>
                  <a:srgbClr val="FFFFFF"/>
                </a:solidFill>
                <a:latin typeface="Segoe UI"/>
              </a:rPr>
              <a:t>ROVO Studio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6574536" y="2734056"/>
            <a:ext cx="128016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" b="0" i="0">
                <a:solidFill>
                  <a:srgbClr val="B8D0EC"/>
                </a:solidFill>
                <a:latin typeface="Segoe UI"/>
              </a:rPr>
              <a:t>NPI demo cockpit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6263640" y="3108960"/>
            <a:ext cx="1627632" cy="438912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6355080" y="3246120"/>
            <a:ext cx="164592" cy="16459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6574536" y="3182112"/>
            <a:ext cx="128016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40" b="1" i="0">
                <a:solidFill>
                  <a:srgbClr val="FFFFFF"/>
                </a:solidFill>
                <a:latin typeface="Segoe UI"/>
              </a:rPr>
              <a:t>Copilot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6574536" y="3337560"/>
            <a:ext cx="128016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" b="0" i="0">
                <a:solidFill>
                  <a:srgbClr val="B8D0EC"/>
                </a:solidFill>
                <a:latin typeface="Segoe UI"/>
              </a:rPr>
              <a:t>Code fix and explanation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6263640" y="3712464"/>
            <a:ext cx="1627632" cy="438912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6355080" y="3849624"/>
            <a:ext cx="164592" cy="16459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574536" y="3785616"/>
            <a:ext cx="128016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40" b="1" i="0">
                <a:solidFill>
                  <a:srgbClr val="FFFFFF"/>
                </a:solidFill>
                <a:latin typeface="Segoe UI"/>
              </a:rPr>
              <a:t>AI Agents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574536" y="3941064"/>
            <a:ext cx="128016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" b="0" i="0">
                <a:solidFill>
                  <a:srgbClr val="B8D0EC"/>
                </a:solidFill>
                <a:latin typeface="Segoe UI"/>
              </a:rPr>
              <a:t>Fault, variable, peripheral RCA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6263640" y="4315968"/>
            <a:ext cx="1627632" cy="438912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6355080" y="4453128"/>
            <a:ext cx="164592" cy="16459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574536" y="4389120"/>
            <a:ext cx="128016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40" b="1" i="0">
                <a:solidFill>
                  <a:srgbClr val="FFFFFF"/>
                </a:solidFill>
                <a:latin typeface="Segoe UI"/>
              </a:rPr>
              <a:t>AI Optimisation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574536" y="4544568"/>
            <a:ext cx="128016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" b="0" i="0">
                <a:solidFill>
                  <a:srgbClr val="B8D0EC"/>
                </a:solidFill>
                <a:latin typeface="Segoe UI"/>
              </a:rPr>
              <a:t>Risk, tests, fixes, readiness</a:t>
            </a:r>
          </a:p>
        </p:txBody>
      </p:sp>
      <p:sp>
        <p:nvSpPr>
          <p:cNvPr id="148" name="Right Arrow 147"/>
          <p:cNvSpPr/>
          <p:nvPr/>
        </p:nvSpPr>
        <p:spPr>
          <a:xfrm>
            <a:off x="8028432" y="3355848"/>
            <a:ext cx="274320" cy="182880"/>
          </a:xfrm>
          <a:prstGeom prst="rightArrow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ounded Rectangle 148"/>
          <p:cNvSpPr/>
          <p:nvPr/>
        </p:nvSpPr>
        <p:spPr>
          <a:xfrm>
            <a:off x="8193024" y="1755648"/>
            <a:ext cx="1755648" cy="333756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8193024" y="1755648"/>
            <a:ext cx="1755648" cy="54864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8266176" y="1865376"/>
            <a:ext cx="160934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40" b="1" i="0">
                <a:solidFill>
                  <a:srgbClr val="FFFFFF"/>
                </a:solidFill>
                <a:latin typeface="Segoe UI"/>
              </a:rPr>
              <a:t>5. NPI GATE OUTCOMES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302752" y="2139696"/>
            <a:ext cx="1536192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30" b="0" i="0">
                <a:solidFill>
                  <a:srgbClr val="00A89A"/>
                </a:solidFill>
                <a:latin typeface="Segoe UI"/>
              </a:rPr>
              <a:t>Demo aligned to phases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8302752" y="2505456"/>
            <a:ext cx="1536192" cy="438912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8394192" y="2642616"/>
            <a:ext cx="164592" cy="164592"/>
          </a:xfrm>
          <a:prstGeom prst="ellipse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8613648" y="2578608"/>
            <a:ext cx="118872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40" b="1" i="0">
                <a:solidFill>
                  <a:srgbClr val="FFFFFF"/>
                </a:solidFill>
                <a:latin typeface="Segoe UI"/>
              </a:rPr>
              <a:t>PG1 Discovery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8613648" y="2734056"/>
            <a:ext cx="118872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" b="0" i="0">
                <a:solidFill>
                  <a:srgbClr val="B8D0EC"/>
                </a:solidFill>
                <a:latin typeface="Segoe UI"/>
              </a:rPr>
              <a:t>Risk-backed scope and plan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8302752" y="3108960"/>
            <a:ext cx="1536192" cy="438912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8394192" y="3246120"/>
            <a:ext cx="164592" cy="164592"/>
          </a:xfrm>
          <a:prstGeom prst="ellipse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8613648" y="3182112"/>
            <a:ext cx="118872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40" b="1" i="0">
                <a:solidFill>
                  <a:srgbClr val="FFFFFF"/>
                </a:solidFill>
                <a:latin typeface="Segoe UI"/>
              </a:rPr>
              <a:t>PG3 Development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13648" y="3337560"/>
            <a:ext cx="118872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" b="0" i="0">
                <a:solidFill>
                  <a:srgbClr val="B8D0EC"/>
                </a:solidFill>
                <a:latin typeface="Segoe UI"/>
              </a:rPr>
              <a:t>RCA, patch, PR, evidence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8302752" y="3712464"/>
            <a:ext cx="1536192" cy="438912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8394192" y="3849624"/>
            <a:ext cx="164592" cy="164592"/>
          </a:xfrm>
          <a:prstGeom prst="ellipse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8613648" y="3785616"/>
            <a:ext cx="118872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40" b="1" i="0">
                <a:solidFill>
                  <a:srgbClr val="FFFFFF"/>
                </a:solidFill>
                <a:latin typeface="Segoe UI"/>
              </a:rPr>
              <a:t>PG5 Validation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8613648" y="3941064"/>
            <a:ext cx="118872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" b="0" i="0">
                <a:solidFill>
                  <a:srgbClr val="B8D0EC"/>
                </a:solidFill>
                <a:latin typeface="Segoe UI"/>
              </a:rPr>
              <a:t>Launch readiness action list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8302752" y="4315968"/>
            <a:ext cx="1536192" cy="438912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8394192" y="4453128"/>
            <a:ext cx="164592" cy="164592"/>
          </a:xfrm>
          <a:prstGeom prst="ellipse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8613648" y="4389120"/>
            <a:ext cx="118872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40" b="1" i="0">
                <a:solidFill>
                  <a:srgbClr val="FFFFFF"/>
                </a:solidFill>
                <a:latin typeface="Segoe UI"/>
              </a:rPr>
              <a:t>PDLC Impact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13648" y="4544568"/>
            <a:ext cx="118872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" b="0" i="0">
                <a:solidFill>
                  <a:srgbClr val="B8D0EC"/>
                </a:solidFill>
                <a:latin typeface="Segoe UI"/>
              </a:rPr>
              <a:t>Faster debug, better decisions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10149840" y="1572768"/>
            <a:ext cx="1847088" cy="3584448"/>
          </a:xfrm>
          <a:prstGeom prst="roundRect">
            <a:avLst/>
          </a:prstGeom>
          <a:solidFill>
            <a:srgbClr val="12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10149840" y="1572768"/>
            <a:ext cx="1847088" cy="4572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10259568" y="1719072"/>
            <a:ext cx="15727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20" b="1" i="0">
                <a:solidFill>
                  <a:srgbClr val="FFFFFF"/>
                </a:solidFill>
                <a:latin typeface="Segoe UI"/>
              </a:rPr>
              <a:t>BUSINESS VALUE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0277856" y="1956816"/>
            <a:ext cx="1536192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70" b="1" i="0">
                <a:solidFill>
                  <a:srgbClr val="B8D0EC"/>
                </a:solidFill>
                <a:latin typeface="Segoe UI"/>
              </a:rPr>
              <a:t>THAT EMBEDDED TEAMS CARE ABOUT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10287000" y="2331720"/>
            <a:ext cx="1572768" cy="457200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10405872" y="2450592"/>
            <a:ext cx="219456" cy="219456"/>
          </a:xfrm>
          <a:prstGeom prst="ellipse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10716768" y="2404872"/>
            <a:ext cx="987552" cy="100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00D48A"/>
                </a:solidFill>
                <a:latin typeface="Segoe UI"/>
              </a:rPr>
              <a:t>ACCELERATE NPI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16768" y="2551176"/>
            <a:ext cx="987552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30" b="0" i="0">
                <a:solidFill>
                  <a:srgbClr val="B8D0EC"/>
                </a:solidFill>
                <a:latin typeface="Segoe UI"/>
              </a:rPr>
              <a:t>PG1 risk to PG5 launch evidence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10287000" y="2953512"/>
            <a:ext cx="1572768" cy="457200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10405872" y="3072384"/>
            <a:ext cx="219456" cy="219456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10716768" y="3026664"/>
            <a:ext cx="987552" cy="100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FF8C00"/>
                </a:solidFill>
                <a:latin typeface="Segoe UI"/>
              </a:rPr>
              <a:t>REDUCE DEBUG CYCLE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0716768" y="3172968"/>
            <a:ext cx="987552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30" b="0" i="0">
                <a:solidFill>
                  <a:srgbClr val="B8D0EC"/>
                </a:solidFill>
                <a:latin typeface="Segoe UI"/>
              </a:rPr>
              <a:t>JTAG-backed RCA and patches</a:t>
            </a:r>
          </a:p>
        </p:txBody>
      </p:sp>
      <p:sp>
        <p:nvSpPr>
          <p:cNvPr id="181" name="Rounded Rectangle 180"/>
          <p:cNvSpPr/>
          <p:nvPr/>
        </p:nvSpPr>
        <p:spPr>
          <a:xfrm>
            <a:off x="10287000" y="3575304"/>
            <a:ext cx="1572768" cy="457200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10405872" y="3694176"/>
            <a:ext cx="219456" cy="219456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10716768" y="3648456"/>
            <a:ext cx="987552" cy="100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8B5CF6"/>
                </a:solidFill>
                <a:latin typeface="Segoe UI"/>
              </a:rPr>
              <a:t>IMPROVE QUALITY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0716768" y="3794760"/>
            <a:ext cx="987552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30" b="0" i="0">
                <a:solidFill>
                  <a:srgbClr val="B8D0EC"/>
                </a:solidFill>
                <a:latin typeface="Segoe UI"/>
              </a:rPr>
              <a:t>AI-focused tests and gates</a:t>
            </a:r>
          </a:p>
        </p:txBody>
      </p:sp>
      <p:sp>
        <p:nvSpPr>
          <p:cNvPr id="185" name="Rounded Rectangle 184"/>
          <p:cNvSpPr/>
          <p:nvPr/>
        </p:nvSpPr>
        <p:spPr>
          <a:xfrm>
            <a:off x="10287000" y="4197096"/>
            <a:ext cx="1572768" cy="457200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10405872" y="4315968"/>
            <a:ext cx="219456" cy="21945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10716768" y="4270248"/>
            <a:ext cx="987552" cy="100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00C8F0"/>
                </a:solidFill>
                <a:latin typeface="Segoe UI"/>
              </a:rPr>
              <a:t>STRENGTHEN GOVERNANCE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716768" y="4416552"/>
            <a:ext cx="987552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30" b="0" i="0">
                <a:solidFill>
                  <a:srgbClr val="B8D0EC"/>
                </a:solidFill>
                <a:latin typeface="Segoe UI"/>
              </a:rPr>
              <a:t>Traceability and proof in Jira</a:t>
            </a:r>
          </a:p>
        </p:txBody>
      </p:sp>
      <p:sp>
        <p:nvSpPr>
          <p:cNvPr id="189" name="Rounded Rectangle 188"/>
          <p:cNvSpPr/>
          <p:nvPr/>
        </p:nvSpPr>
        <p:spPr>
          <a:xfrm>
            <a:off x="256032" y="5358384"/>
            <a:ext cx="6629400" cy="713232"/>
          </a:xfrm>
          <a:prstGeom prst="roundRect">
            <a:avLst/>
          </a:prstGeom>
          <a:solidFill>
            <a:srgbClr val="051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75488" y="5449824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Segoe UI"/>
              </a:rPr>
              <a:t>FROM NPI DATA TO EMBEDDED IMPACT</a:t>
            </a:r>
          </a:p>
        </p:txBody>
      </p:sp>
      <p:sp>
        <p:nvSpPr>
          <p:cNvPr id="191" name="Oval 190"/>
          <p:cNvSpPr/>
          <p:nvPr/>
        </p:nvSpPr>
        <p:spPr>
          <a:xfrm>
            <a:off x="685800" y="5687568"/>
            <a:ext cx="310896" cy="310896"/>
          </a:xfrm>
          <a:prstGeom prst="ellipse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685800" y="5751576"/>
            <a:ext cx="310896" cy="73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84632" y="6044184"/>
            <a:ext cx="713232" cy="100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30" b="1" i="0">
                <a:solidFill>
                  <a:srgbClr val="FFFFFF"/>
                </a:solidFill>
                <a:latin typeface="Segoe UI"/>
              </a:rPr>
              <a:t>Collect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411480" y="6163056"/>
            <a:ext cx="868680" cy="100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90" b="0" i="0">
                <a:solidFill>
                  <a:srgbClr val="B8D0EC"/>
                </a:solidFill>
                <a:latin typeface="Segoe UI"/>
              </a:rPr>
              <a:t>Jira + Confluence</a:t>
            </a:r>
          </a:p>
        </p:txBody>
      </p:sp>
      <p:sp>
        <p:nvSpPr>
          <p:cNvPr id="195" name="Right Arrow 194"/>
          <p:cNvSpPr/>
          <p:nvPr/>
        </p:nvSpPr>
        <p:spPr>
          <a:xfrm>
            <a:off x="1088136" y="5742432"/>
            <a:ext cx="320040" cy="182880"/>
          </a:xfrm>
          <a:prstGeom prst="rightArrow">
            <a:avLst/>
          </a:prstGeom>
          <a:solidFill>
            <a:srgbClr val="B8D0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1691640" y="5687568"/>
            <a:ext cx="310896" cy="310896"/>
          </a:xfrm>
          <a:prstGeom prst="ellipse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TextBox 196"/>
          <p:cNvSpPr txBox="1"/>
          <p:nvPr/>
        </p:nvSpPr>
        <p:spPr>
          <a:xfrm>
            <a:off x="1691640" y="5751576"/>
            <a:ext cx="310896" cy="73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490472" y="6044184"/>
            <a:ext cx="713232" cy="100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30" b="1" i="0">
                <a:solidFill>
                  <a:srgbClr val="FFFFFF"/>
                </a:solidFill>
                <a:latin typeface="Segoe UI"/>
              </a:rPr>
              <a:t>Unify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417320" y="6163056"/>
            <a:ext cx="868680" cy="100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90" b="0" i="0">
                <a:solidFill>
                  <a:srgbClr val="B8D0EC"/>
                </a:solidFill>
                <a:latin typeface="Segoe UI"/>
              </a:rPr>
              <a:t>AEPLO PDLC graph</a:t>
            </a:r>
          </a:p>
        </p:txBody>
      </p:sp>
      <p:sp>
        <p:nvSpPr>
          <p:cNvPr id="200" name="Right Arrow 199"/>
          <p:cNvSpPr/>
          <p:nvPr/>
        </p:nvSpPr>
        <p:spPr>
          <a:xfrm>
            <a:off x="2093976" y="5742432"/>
            <a:ext cx="320040" cy="182880"/>
          </a:xfrm>
          <a:prstGeom prst="rightArrow">
            <a:avLst/>
          </a:prstGeom>
          <a:solidFill>
            <a:srgbClr val="B8D0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2697480" y="5687568"/>
            <a:ext cx="310896" cy="310896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2697480" y="5751576"/>
            <a:ext cx="310896" cy="73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2496312" y="6044184"/>
            <a:ext cx="713232" cy="100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30" b="1" i="0">
                <a:solidFill>
                  <a:srgbClr val="FFFFFF"/>
                </a:solidFill>
                <a:latin typeface="Segoe UI"/>
              </a:rPr>
              <a:t>Orchestrate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2423160" y="6163056"/>
            <a:ext cx="868680" cy="100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90" b="0" i="0">
                <a:solidFill>
                  <a:srgbClr val="B8D0EC"/>
                </a:solidFill>
                <a:latin typeface="Segoe UI"/>
              </a:rPr>
              <a:t>Atlassian MCP</a:t>
            </a:r>
          </a:p>
        </p:txBody>
      </p:sp>
      <p:sp>
        <p:nvSpPr>
          <p:cNvPr id="205" name="Right Arrow 204"/>
          <p:cNvSpPr/>
          <p:nvPr/>
        </p:nvSpPr>
        <p:spPr>
          <a:xfrm>
            <a:off x="3099816" y="5742432"/>
            <a:ext cx="320040" cy="182880"/>
          </a:xfrm>
          <a:prstGeom prst="rightArrow">
            <a:avLst/>
          </a:prstGeom>
          <a:solidFill>
            <a:srgbClr val="B8D0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3703320" y="5687568"/>
            <a:ext cx="310896" cy="310896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TextBox 206"/>
          <p:cNvSpPr txBox="1"/>
          <p:nvPr/>
        </p:nvSpPr>
        <p:spPr>
          <a:xfrm>
            <a:off x="3703320" y="5751576"/>
            <a:ext cx="310896" cy="73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3502152" y="6044184"/>
            <a:ext cx="713232" cy="100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30" b="1" i="0">
                <a:solidFill>
                  <a:srgbClr val="FFFFFF"/>
                </a:solidFill>
                <a:latin typeface="Segoe UI"/>
              </a:rPr>
              <a:t>Diagnose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3429000" y="6163056"/>
            <a:ext cx="868680" cy="100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90" b="0" i="0">
                <a:solidFill>
                  <a:srgbClr val="B8D0EC"/>
                </a:solidFill>
                <a:latin typeface="Segoe UI"/>
              </a:rPr>
              <a:t>JTAG Accelerator</a:t>
            </a:r>
          </a:p>
        </p:txBody>
      </p:sp>
      <p:sp>
        <p:nvSpPr>
          <p:cNvPr id="210" name="Right Arrow 209"/>
          <p:cNvSpPr/>
          <p:nvPr/>
        </p:nvSpPr>
        <p:spPr>
          <a:xfrm>
            <a:off x="4105656" y="5742432"/>
            <a:ext cx="320040" cy="182880"/>
          </a:xfrm>
          <a:prstGeom prst="rightArrow">
            <a:avLst/>
          </a:prstGeom>
          <a:solidFill>
            <a:srgbClr val="B8D0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4709160" y="5687568"/>
            <a:ext cx="310896" cy="31089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4709160" y="5751576"/>
            <a:ext cx="310896" cy="73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4507992" y="6044184"/>
            <a:ext cx="713232" cy="100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30" b="1" i="0">
                <a:solidFill>
                  <a:srgbClr val="FFFFFF"/>
                </a:solidFill>
                <a:latin typeface="Segoe UI"/>
              </a:rPr>
              <a:t>Optimise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4434840" y="6163056"/>
            <a:ext cx="868680" cy="100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90" b="0" i="0">
                <a:solidFill>
                  <a:srgbClr val="B8D0EC"/>
                </a:solidFill>
                <a:latin typeface="Segoe UI"/>
              </a:rPr>
              <a:t>ROVO + Copilot</a:t>
            </a:r>
          </a:p>
        </p:txBody>
      </p:sp>
      <p:sp>
        <p:nvSpPr>
          <p:cNvPr id="215" name="Right Arrow 214"/>
          <p:cNvSpPr/>
          <p:nvPr/>
        </p:nvSpPr>
        <p:spPr>
          <a:xfrm>
            <a:off x="5111496" y="5742432"/>
            <a:ext cx="320040" cy="182880"/>
          </a:xfrm>
          <a:prstGeom prst="rightArrow">
            <a:avLst/>
          </a:prstGeom>
          <a:solidFill>
            <a:srgbClr val="B8D0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5715000" y="5687568"/>
            <a:ext cx="310896" cy="310896"/>
          </a:xfrm>
          <a:prstGeom prst="ellipse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TextBox 216"/>
          <p:cNvSpPr txBox="1"/>
          <p:nvPr/>
        </p:nvSpPr>
        <p:spPr>
          <a:xfrm>
            <a:off x="5715000" y="5751576"/>
            <a:ext cx="310896" cy="73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5513832" y="6044184"/>
            <a:ext cx="713232" cy="100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30" b="1" i="0">
                <a:solidFill>
                  <a:srgbClr val="FFFFFF"/>
                </a:solidFill>
                <a:latin typeface="Segoe UI"/>
              </a:rPr>
              <a:t>Impact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5440680" y="6163056"/>
            <a:ext cx="868680" cy="100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90" b="0" i="0">
                <a:solidFill>
                  <a:srgbClr val="B8D0EC"/>
                </a:solidFill>
                <a:latin typeface="Segoe UI"/>
              </a:rPr>
              <a:t>PG5 launch</a:t>
            </a:r>
          </a:p>
        </p:txBody>
      </p:sp>
      <p:sp>
        <p:nvSpPr>
          <p:cNvPr id="220" name="Rounded Rectangle 219"/>
          <p:cNvSpPr/>
          <p:nvPr/>
        </p:nvSpPr>
        <p:spPr>
          <a:xfrm>
            <a:off x="7114032" y="5358384"/>
            <a:ext cx="4736592" cy="713232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TextBox 220"/>
          <p:cNvSpPr txBox="1"/>
          <p:nvPr/>
        </p:nvSpPr>
        <p:spPr>
          <a:xfrm>
            <a:off x="7296912" y="5468112"/>
            <a:ext cx="100584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00C8F0"/>
                </a:solidFill>
                <a:latin typeface="Segoe UI"/>
              </a:rPr>
              <a:t>DEMO PHASES</a:t>
            </a:r>
          </a:p>
        </p:txBody>
      </p:sp>
      <p:sp>
        <p:nvSpPr>
          <p:cNvPr id="222" name="Rounded Rectangle 221"/>
          <p:cNvSpPr/>
          <p:nvPr/>
        </p:nvSpPr>
        <p:spPr>
          <a:xfrm>
            <a:off x="7315200" y="5715000"/>
            <a:ext cx="1298448" cy="256032"/>
          </a:xfrm>
          <a:prstGeom prst="round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TextBox 222"/>
          <p:cNvSpPr txBox="1"/>
          <p:nvPr/>
        </p:nvSpPr>
        <p:spPr>
          <a:xfrm>
            <a:off x="7315200" y="5769864"/>
            <a:ext cx="1298448" cy="73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FFFFFF"/>
                </a:solidFill>
                <a:latin typeface="Segoe UI"/>
              </a:rPr>
              <a:t>PG1  Discovery</a:t>
            </a:r>
          </a:p>
        </p:txBody>
      </p:sp>
      <p:sp>
        <p:nvSpPr>
          <p:cNvPr id="224" name="Rounded Rectangle 223"/>
          <p:cNvSpPr/>
          <p:nvPr/>
        </p:nvSpPr>
        <p:spPr>
          <a:xfrm>
            <a:off x="8796528" y="5715000"/>
            <a:ext cx="1298448" cy="256032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TextBox 224"/>
          <p:cNvSpPr txBox="1"/>
          <p:nvPr/>
        </p:nvSpPr>
        <p:spPr>
          <a:xfrm>
            <a:off x="8796528" y="5769864"/>
            <a:ext cx="1298448" cy="73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FFFFFF"/>
                </a:solidFill>
                <a:latin typeface="Segoe UI"/>
              </a:rPr>
              <a:t>PG3  Development</a:t>
            </a:r>
          </a:p>
        </p:txBody>
      </p:sp>
      <p:sp>
        <p:nvSpPr>
          <p:cNvPr id="226" name="Rounded Rectangle 225"/>
          <p:cNvSpPr/>
          <p:nvPr/>
        </p:nvSpPr>
        <p:spPr>
          <a:xfrm>
            <a:off x="10277856" y="5715000"/>
            <a:ext cx="1298448" cy="256032"/>
          </a:xfrm>
          <a:prstGeom prst="round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10277856" y="5769864"/>
            <a:ext cx="1298448" cy="73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FFFFFF"/>
                </a:solidFill>
                <a:latin typeface="Segoe UI"/>
              </a:rPr>
              <a:t>PG5  Validation &amp; Launch Prep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0" y="6419088"/>
            <a:ext cx="12191695" cy="365760"/>
          </a:xfrm>
          <a:prstGeom prst="rect">
            <a:avLst/>
          </a:prstGeom>
          <a:solidFill>
            <a:srgbClr val="D7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256032" y="6510528"/>
            <a:ext cx="301752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5142E"/>
                </a:solidFill>
                <a:latin typeface="Segoe UI"/>
              </a:rPr>
              <a:t>Honeywell BA Buildathon. Built for Embedded PDLC Impact.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3429000" y="6483096"/>
            <a:ext cx="8366760" cy="100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80" b="1" i="0">
                <a:solidFill>
                  <a:srgbClr val="05142E"/>
                </a:solidFill>
                <a:latin typeface="Segoe UI"/>
              </a:rPr>
              <a:t>Presenter: Shyam Shrivastava, Project Lead | Team: Atharva, Manas, Sheraaz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3429000" y="6629400"/>
            <a:ext cx="836676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20" b="0" i="0">
                <a:solidFill>
                  <a:srgbClr val="05142E"/>
                </a:solidFill>
                <a:latin typeface="Segoe UI"/>
              </a:rPr>
              <a:t>ROVO Studio | Copilot | Atlassian MCP | GitHub | Jira | Confluence | AEPLO JTAG Accelerator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