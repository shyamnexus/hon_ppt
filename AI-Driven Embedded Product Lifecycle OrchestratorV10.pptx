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Relationship Id="rId4" Type="http://schemas.openxmlformats.org/officeDocument/2006/relationships/custom-properties" Target="docProps/custom.xml"/><Relationship Id="rId5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4"/>
  </p:notesMasterIdLst>
  <p:handoutMasterIdLst>
    <p:handoutMasterId r:id="rId15"/>
  </p:handoutMasterIdLst>
  <p:sldIdLst>
    <p:sldId id="268" r:id="rId5"/>
    <p:sldId id="257" r:id="rId6"/>
    <p:sldId id="270" r:id="rId10"/>
    <p:sldId id="263" r:id="rId12"/>
    <p:sldId id="269" r:id="rId13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FFFF"/>
    <a:srgbClr val="6B6B6B"/>
    <a:srgbClr val="D7192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D34CE74-0792-4501-A99F-2CF3CFA1166E}" v="107" dt="2026-06-15T13:19:31.730"/>
    <p1510:client id="{14B4AA2C-2FF3-3A7D-B1B7-20FF86D16280}" v="2" dt="2026-06-15T12:34:32.869"/>
    <p1510:client id="{7F5A5EC7-A3F4-41AD-9141-CF10EA960EAA}" v="100" dt="2026-06-16T07:29:49.578"/>
    <p1510:client id="{CB6C0A9B-3727-4295-98CD-6FB636046EBB}" v="2" dt="2026-06-16T07:27:29.801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80535" autoAdjust="0"/>
  </p:normalViewPr>
  <p:slideViewPr>
    <p:cSldViewPr snapToGrid="0">
      <p:cViewPr>
        <p:scale>
          <a:sx n="125" d="100"/>
          <a:sy n="125" d="100"/>
        </p:scale>
        <p:origin x="474" y="-155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10" Type="http://schemas.openxmlformats.org/officeDocument/2006/relationships/slide" Target="slides/slide3.xml"/><Relationship Id="rId12" Type="http://schemas.openxmlformats.org/officeDocument/2006/relationships/slide" Target="slides/slide4.xml"/><Relationship Id="rId13" Type="http://schemas.openxmlformats.org/officeDocument/2006/relationships/slide" Target="slides/slide5.xml"/><Relationship Id="rId14" Type="http://schemas.openxmlformats.org/officeDocument/2006/relationships/notesMaster" Target="notesMasters/notesMaster1.xml"/><Relationship Id="rId15" Type="http://schemas.openxmlformats.org/officeDocument/2006/relationships/handoutMaster" Target="handoutMasters/handout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microsoft.com/office/2015/10/relationships/revisionInfo" Target="revisionInfo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>
            <a:extLst>
              <a:ext uri="{FF2B5EF4-FFF2-40B4-BE49-F238E27FC236}">
                <a16:creationId xmlns:a16="http://schemas.microsoft.com/office/drawing/2014/main" id="{7544E3D8-A955-9E63-0E7D-EED82BC9D221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74E6C963-9598-4857-33EC-EC247C74CFDD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DFAB91F-961D-4A07-BD14-A68507151E78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CBB287B-2CEB-664E-026B-0B714746E6AE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F8E3EBC-5078-7A91-7401-F292C1911C7C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6BCF262-CA4D-493A-BF7B-3F5A47362AB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7911399"/>
      </p:ext>
    </p:extLst>
  </p:cSld>
  <p:clrMap bg1="lt1" tx1="dk1" bg2="lt2" tx2="dk2" accent1="accent1" accent2="accent2" accent3="accent3" accent4="accent4" accent5="accent5" accent6="accent6" hlink="hlink" folHlink="folHlink"/>
  <p:hf hdr="0" dt="0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4F9780D-A041-4638-B6BA-87BB754D206F}" type="datetimeFigureOut">
              <a:rPr lang="en-US" smtClean="0"/>
              <a:t>6/17/2026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r>
              <a:rPr lang="en-US"/>
              <a:t>Honeywell</a:t>
            </a:r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99C4E8-DCB7-4C66-B47F-361D1DFDA22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6302352"/>
      </p:ext>
    </p:extLst>
  </p:cSld>
  <p:clrMap bg1="lt1" tx1="dk1" bg2="lt2" tx2="dk2" accent1="accent1" accent2="accent2" accent3="accent3" accent4="accent4" accent5="accent5" accent6="accent6" hlink="hlink" folHlink="folHlink"/>
  <p:hf hd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Today we are presenting the AEPLO JTAG Accelerator for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Embedded PDLC AI Optimization. The story is simple: connect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planning data, code, AI assistance, and JTAG evidence so we</a:t>
            </a:r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can move faster from discovery to validated launch readiness.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6076E56-C255-4CAD-BA1A-93AA2E49E013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28AB7C5-5590-7BCB-C58B-AC5F2E7F6A34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618791858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Problem :</a:t>
            </a:r>
            <a:br>
              <a:rPr lang="en-US"/>
            </a:br>
            <a:r>
              <a:rPr lang="en-US"/>
              <a:t>Embedded PDLC data is fragmented. Jira, Confluence, GitHub,</a:t>
            </a:r>
          </a:p>
          <a:p>
            <a:r>
              <a:rPr lang="en-US"/>
              <a:t>QA results, and JTAG/SWD hardware evidence often sit in</a:t>
            </a:r>
          </a:p>
          <a:p>
            <a:r>
              <a:rPr lang="en-US"/>
              <a:t>separate places. That slows decisions across PG1, PG3, and PG5</a:t>
            </a:r>
          </a:p>
          <a:p>
            <a:r>
              <a:rPr lang="en-US"/>
              <a:t>and makes launch readiness harder to prove.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52869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"This slide shows three real-time use cases for the JTAG agent.</a:t>
            </a:r>
          </a:p>
          <a:p>
            <a:r>
              <a:rPr lang="en-US" dirty="0"/>
              <a:t>First, a bootloader-to-application handoff caused a </a:t>
            </a:r>
            <a:r>
              <a:rPr lang="en-US" dirty="0" err="1"/>
              <a:t>HardFault</a:t>
            </a:r>
            <a:endParaRPr lang="en-US" dirty="0"/>
          </a:p>
          <a:p>
            <a:r>
              <a:rPr lang="en-US" dirty="0"/>
              <a:t>because </a:t>
            </a:r>
            <a:r>
              <a:rPr lang="en-US" dirty="0" err="1"/>
              <a:t>SysTick</a:t>
            </a:r>
            <a:r>
              <a:rPr lang="en-US" dirty="0"/>
              <a:t> was enabled but the application vector table had</a:t>
            </a:r>
          </a:p>
          <a:p>
            <a:r>
              <a:rPr lang="en-US" dirty="0"/>
              <a:t>no </a:t>
            </a:r>
            <a:r>
              <a:rPr lang="en-US" dirty="0" err="1"/>
              <a:t>SysTick</a:t>
            </a:r>
            <a:r>
              <a:rPr lang="en-US" dirty="0"/>
              <a:t> handler. The agent correlated the PC, vector table,</a:t>
            </a:r>
          </a:p>
          <a:p>
            <a:r>
              <a:rPr lang="en-US" dirty="0"/>
              <a:t>and peripheral state and reduced diagnosis from days to about</a:t>
            </a:r>
          </a:p>
          <a:p>
            <a:r>
              <a:rPr lang="en-US" dirty="0"/>
              <a:t>45 minutes.</a:t>
            </a:r>
          </a:p>
          <a:p>
            <a:endParaRPr lang="en-US" dirty="0"/>
          </a:p>
          <a:p>
            <a:r>
              <a:rPr lang="en-US" dirty="0"/>
              <a:t>Second, the agent emulated a sub-zero ADC condition at room</a:t>
            </a:r>
          </a:p>
          <a:p>
            <a:r>
              <a:rPr lang="en-US" dirty="0"/>
              <a:t>temperature. That allowed driver </a:t>
            </a:r>
            <a:r>
              <a:rPr lang="en-US" dirty="0" err="1"/>
              <a:t>reinitialisation</a:t>
            </a:r>
            <a:r>
              <a:rPr lang="en-US" dirty="0"/>
              <a:t> and gain</a:t>
            </a:r>
          </a:p>
          <a:p>
            <a:r>
              <a:rPr lang="en-US" dirty="0"/>
              <a:t>adjustment to be validated without waiting for thermal chamber</a:t>
            </a:r>
          </a:p>
          <a:p>
            <a:r>
              <a:rPr lang="en-US" dirty="0"/>
              <a:t>cycling.</a:t>
            </a:r>
          </a:p>
          <a:p>
            <a:endParaRPr lang="en-US" dirty="0"/>
          </a:p>
          <a:p>
            <a:r>
              <a:rPr lang="en-US" dirty="0"/>
              <a:t>Third, for a boot failure after flashing a new build, the agent</a:t>
            </a:r>
          </a:p>
          <a:p>
            <a:r>
              <a:rPr lang="en-US" dirty="0"/>
              <a:t>traced the Program Counter and identified execution going to</a:t>
            </a:r>
          </a:p>
          <a:p>
            <a:r>
              <a:rPr lang="en-US" dirty="0"/>
              <a:t>system ROM instead of internal flash. The key message is that</a:t>
            </a:r>
          </a:p>
          <a:p>
            <a:r>
              <a:rPr lang="en-US" dirty="0"/>
              <a:t>JTAG evidence becomes actionable AI context, not just a debug</a:t>
            </a:r>
          </a:p>
          <a:p>
            <a:r>
              <a:rPr lang="en-US" dirty="0"/>
              <a:t>artifact."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4FA84156-8AE9-4423-952A-88BA8F9A5A49}" type="slidenum">
              <a:rPr lang="en-US" smtClean="0"/>
              <a:t>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94013F-CC9D-DB38-4883-8B125F1E99B3}"/>
              </a:ext>
            </a:extLst>
          </p:cNvPr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</p:spTree>
    <p:extLst>
      <p:ext uri="{BB962C8B-B14F-4D97-AF65-F5344CB8AC3E}">
        <p14:creationId xmlns:p14="http://schemas.microsoft.com/office/powerpoint/2010/main" val="1259615538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"At PG5, AEPLO evaluates code, QA results, traceability, and</a:t>
            </a:r>
          </a:p>
          <a:p>
            <a:r>
              <a:rPr lang="en-US"/>
              <a:t>JTAG/SWD evidence together. The gatekeeper produces a clear</a:t>
            </a:r>
          </a:p>
          <a:p>
            <a:r>
              <a:rPr lang="en-US"/>
              <a:t>READY or NOT_READY verdict, plus a prioritized remediation list</a:t>
            </a:r>
          </a:p>
          <a:p>
            <a:r>
              <a:rPr lang="en-US"/>
              <a:t>for validation and launch preparation.“</a:t>
            </a:r>
          </a:p>
          <a:p>
            <a:r>
              <a:rPr lang="en-US"/>
              <a:t>We also Plan to demo a STQC Agent as part of PG5 , All IOT based Surveillance devices (Cameras and NVRs) need to be BIS certified and in order to do so , need to go through a very strict STQC audit.</a:t>
            </a:r>
          </a:p>
          <a:p>
            <a:r>
              <a:rPr lang="en-US"/>
              <a:t>The STQC team updates the Guidelines from time to time, tightening the security norms a little further at each revision.</a:t>
            </a:r>
          </a:p>
          <a:p>
            <a:endParaRPr lang="en-US"/>
          </a:p>
          <a:p>
            <a:r>
              <a:rPr lang="en-US"/>
              <a:t>Developers take  months to traverse through the code, and Create evidences, Validate them and do a thorough Code/Hardware Review.</a:t>
            </a:r>
          </a:p>
          <a:p>
            <a:r>
              <a:rPr lang="en-US"/>
              <a:t>AEPLO’s STQC feature reduces this time frame to Days.</a:t>
            </a:r>
          </a:p>
          <a:p>
            <a:endParaRPr lang="en-US"/>
          </a:p>
          <a:p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0381665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"The matrix connects the demo to measurable judging criteria.</a:t>
            </a:r>
          </a:p>
          <a:p>
            <a:r>
              <a:rPr lang="en-US" dirty="0"/>
              <a:t>We show a 41 percent lead-time drop, 60 percent fewer projected</a:t>
            </a:r>
          </a:p>
          <a:p>
            <a:r>
              <a:rPr lang="en-US" dirty="0"/>
              <a:t>defect escapes, 85 percent BA hosting readiness, and measurable</a:t>
            </a:r>
          </a:p>
          <a:p>
            <a:r>
              <a:rPr lang="en-US" dirty="0"/>
              <a:t>agentic AI execution metrics including handoff success, tool</a:t>
            </a:r>
          </a:p>
          <a:p>
            <a:r>
              <a:rPr lang="en-US" dirty="0"/>
              <a:t>calling accuracy, and prompt caching </a:t>
            </a:r>
            <a:r>
              <a:rPr lang="en-US" dirty="0" err="1"/>
              <a:t>utilisation</a:t>
            </a:r>
            <a:r>
              <a:rPr lang="en-US" dirty="0"/>
              <a:t>."</a:t>
            </a: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4"/>
          </p:nvPr>
        </p:nvSpPr>
        <p:spPr/>
        <p:txBody>
          <a:bodyPr/>
          <a:lstStyle/>
          <a:p>
            <a:r>
              <a:rPr lang="en-US"/>
              <a:t>Honeywell</a:t>
            </a: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BB99C4E8-DCB7-4C66-B47F-361D1DFDA228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8823309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437CD1-81F4-4E54-BFDF-E16D2184C663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B1C3EB2-E1A6-47BA-8593-B34734AEB315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81C4CBE-979D-4D21-8390-5BC5AB12AD11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2F095C7-9F5A-4A6C-9FA1-9161E0A3FFB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C1AA869-C9B3-402C-B5B3-1BFF8B6EA432}" type="datetime1">
              <a:rPr lang="en-US" smtClean="0"/>
              <a:t>6/17/2026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7DB0153-82DD-487D-96F5-1F203E6321BD}" type="datetime1">
              <a:rPr lang="en-US" smtClean="0"/>
              <a:t>6/17/2026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0ED799-78FF-416B-8AA1-69E05E041B9D}" type="datetime1">
              <a:rPr lang="en-US" smtClean="0"/>
              <a:t>6/17/2026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1A9602E-1BB0-4F2C-9C65-984B82A5027C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4FEBBC4-B7AA-4360-AFB8-953CB36DF14B}" type="datetime1">
              <a:rPr lang="en-US" smtClean="0"/>
              <a:t>6/17/2026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C61A519-C67A-420F-A0A0-AFE7A3A0FAF9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2A29E2E-F8F7-42F4-AD5C-445F524D0C4A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9954EFD-6F0B-4429-9B43-F009676198DC}" type="datetime1">
              <a:rPr lang="en-US" smtClean="0"/>
              <a:t>6/17/2026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sldNum="0" hdr="0" ftr="0" dt="0"/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Relationship Id="rId5" Type="http://schemas.openxmlformats.org/officeDocument/2006/relationships/image" Target="../media/image3.png"/><Relationship Id="rId6" Type="http://schemas.openxmlformats.org/officeDocument/2006/relationships/image" Target="../media/image4.png"/><Relationship Id="rId7" Type="http://schemas.openxmlformats.org/officeDocument/2006/relationships/image" Target="../media/image5.png"/><Relationship Id="rId8" Type="http://schemas.openxmlformats.org/officeDocument/2006/relationships/image" Target="../media/image6.png"/><Relationship Id="rId9" Type="http://schemas.openxmlformats.org/officeDocument/2006/relationships/image" Target="../media/image7.png"/><Relationship Id="rId10" Type="http://schemas.openxmlformats.org/officeDocument/2006/relationships/image" Target="../media/image8.png"/><Relationship Id="rId11" Type="http://schemas.openxmlformats.org/officeDocument/2006/relationships/image" Target="../media/image9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6858000"/>
          </a:xfrm>
          <a:prstGeom prst="rect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" name="Rectangle 3"/>
          <p:cNvSpPr/>
          <p:nvPr/>
        </p:nvSpPr>
        <p:spPr>
          <a:xfrm>
            <a:off x="0" y="0"/>
            <a:ext cx="64008" cy="68580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" name="Rectangle 4"/>
          <p:cNvSpPr/>
          <p:nvPr/>
        </p:nvSpPr>
        <p:spPr>
          <a:xfrm>
            <a:off x="5303520" y="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" name="Rectangle 5"/>
          <p:cNvSpPr/>
          <p:nvPr/>
        </p:nvSpPr>
        <p:spPr>
          <a:xfrm>
            <a:off x="5303520" y="38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" name="Rectangle 6"/>
          <p:cNvSpPr/>
          <p:nvPr/>
        </p:nvSpPr>
        <p:spPr>
          <a:xfrm>
            <a:off x="5303520" y="76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" name="Rectangle 7"/>
          <p:cNvSpPr/>
          <p:nvPr/>
        </p:nvSpPr>
        <p:spPr>
          <a:xfrm>
            <a:off x="5303520" y="114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" name="Rectangle 8"/>
          <p:cNvSpPr/>
          <p:nvPr/>
        </p:nvSpPr>
        <p:spPr>
          <a:xfrm>
            <a:off x="5303520" y="152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" name="Rectangle 9"/>
          <p:cNvSpPr/>
          <p:nvPr/>
        </p:nvSpPr>
        <p:spPr>
          <a:xfrm>
            <a:off x="5303520" y="190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" name="Rectangle 10"/>
          <p:cNvSpPr/>
          <p:nvPr/>
        </p:nvSpPr>
        <p:spPr>
          <a:xfrm>
            <a:off x="5303520" y="228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5303520" y="266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" name="Rectangle 12"/>
          <p:cNvSpPr/>
          <p:nvPr/>
        </p:nvSpPr>
        <p:spPr>
          <a:xfrm>
            <a:off x="5303520" y="3048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" name="Rectangle 13"/>
          <p:cNvSpPr/>
          <p:nvPr/>
        </p:nvSpPr>
        <p:spPr>
          <a:xfrm>
            <a:off x="5303520" y="3429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" name="Rectangle 14"/>
          <p:cNvSpPr/>
          <p:nvPr/>
        </p:nvSpPr>
        <p:spPr>
          <a:xfrm>
            <a:off x="5303520" y="3810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" name="Rectangle 15"/>
          <p:cNvSpPr/>
          <p:nvPr/>
        </p:nvSpPr>
        <p:spPr>
          <a:xfrm>
            <a:off x="5303520" y="4191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" name="Rectangle 16"/>
          <p:cNvSpPr/>
          <p:nvPr/>
        </p:nvSpPr>
        <p:spPr>
          <a:xfrm>
            <a:off x="5303520" y="4572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" name="Rectangle 17"/>
          <p:cNvSpPr/>
          <p:nvPr/>
        </p:nvSpPr>
        <p:spPr>
          <a:xfrm>
            <a:off x="5303520" y="4953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" name="Rectangle 18"/>
          <p:cNvSpPr/>
          <p:nvPr/>
        </p:nvSpPr>
        <p:spPr>
          <a:xfrm>
            <a:off x="5303520" y="5334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" name="Rectangle 19"/>
          <p:cNvSpPr/>
          <p:nvPr/>
        </p:nvSpPr>
        <p:spPr>
          <a:xfrm>
            <a:off x="5303520" y="5715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" name="Rectangle 20"/>
          <p:cNvSpPr/>
          <p:nvPr/>
        </p:nvSpPr>
        <p:spPr>
          <a:xfrm>
            <a:off x="5303520" y="6096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5303520" y="6477000"/>
            <a:ext cx="3840480" cy="10972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" name="Rectangle 22"/>
          <p:cNvSpPr/>
          <p:nvPr/>
        </p:nvSpPr>
        <p:spPr>
          <a:xfrm>
            <a:off x="53035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4" name="Rectangle 23"/>
          <p:cNvSpPr/>
          <p:nvPr/>
        </p:nvSpPr>
        <p:spPr>
          <a:xfrm>
            <a:off x="56235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5" name="Rectangle 24"/>
          <p:cNvSpPr/>
          <p:nvPr/>
        </p:nvSpPr>
        <p:spPr>
          <a:xfrm>
            <a:off x="59436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6" name="Rectangle 25"/>
          <p:cNvSpPr/>
          <p:nvPr/>
        </p:nvSpPr>
        <p:spPr>
          <a:xfrm>
            <a:off x="62636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7" name="Rectangle 26"/>
          <p:cNvSpPr/>
          <p:nvPr/>
        </p:nvSpPr>
        <p:spPr>
          <a:xfrm>
            <a:off x="65836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8" name="Rectangle 27"/>
          <p:cNvSpPr/>
          <p:nvPr/>
        </p:nvSpPr>
        <p:spPr>
          <a:xfrm>
            <a:off x="69037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72237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0" name="Rectangle 29"/>
          <p:cNvSpPr/>
          <p:nvPr/>
        </p:nvSpPr>
        <p:spPr>
          <a:xfrm>
            <a:off x="754380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1" name="Rectangle 30"/>
          <p:cNvSpPr/>
          <p:nvPr/>
        </p:nvSpPr>
        <p:spPr>
          <a:xfrm>
            <a:off x="786384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2" name="Rectangle 31"/>
          <p:cNvSpPr/>
          <p:nvPr/>
        </p:nvSpPr>
        <p:spPr>
          <a:xfrm>
            <a:off x="818388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3" name="Rectangle 32"/>
          <p:cNvSpPr/>
          <p:nvPr/>
        </p:nvSpPr>
        <p:spPr>
          <a:xfrm>
            <a:off x="850392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4" name="Rectangle 33"/>
          <p:cNvSpPr/>
          <p:nvPr/>
        </p:nvSpPr>
        <p:spPr>
          <a:xfrm>
            <a:off x="8823960" y="0"/>
            <a:ext cx="10972" cy="6858000"/>
          </a:xfrm>
          <a:prstGeom prst="rect">
            <a:avLst/>
          </a:prstGeom>
          <a:solidFill>
            <a:srgbClr val="3D3D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5" name="Oval 34"/>
          <p:cNvSpPr/>
          <p:nvPr/>
        </p:nvSpPr>
        <p:spPr>
          <a:xfrm>
            <a:off x="4297680" y="297180"/>
            <a:ext cx="5852160" cy="5852160"/>
          </a:xfrm>
          <a:prstGeom prst="ellipse">
            <a:avLst/>
          </a:prstGeom>
          <a:solidFill>
            <a:srgbClr val="1F1F1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6" name="Oval 35"/>
          <p:cNvSpPr/>
          <p:nvPr/>
        </p:nvSpPr>
        <p:spPr>
          <a:xfrm>
            <a:off x="4754880" y="754380"/>
            <a:ext cx="4937760" cy="493776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7" name="Oval 36"/>
          <p:cNvSpPr/>
          <p:nvPr/>
        </p:nvSpPr>
        <p:spPr>
          <a:xfrm>
            <a:off x="5303520" y="1303020"/>
            <a:ext cx="3840480" cy="3840480"/>
          </a:xfrm>
          <a:prstGeom prst="ellipse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8" name="Oval 37"/>
          <p:cNvSpPr/>
          <p:nvPr/>
        </p:nvSpPr>
        <p:spPr>
          <a:xfrm>
            <a:off x="5943600" y="1943100"/>
            <a:ext cx="2560320" cy="256032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39" name="Oval 38"/>
          <p:cNvSpPr/>
          <p:nvPr/>
        </p:nvSpPr>
        <p:spPr>
          <a:xfrm>
            <a:off x="6537960" y="2537460"/>
            <a:ext cx="1371600" cy="1371600"/>
          </a:xfrm>
          <a:prstGeom prst="ellipse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0" name="Oval 39"/>
          <p:cNvSpPr/>
          <p:nvPr/>
        </p:nvSpPr>
        <p:spPr>
          <a:xfrm>
            <a:off x="9112666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1" name="Oval 40"/>
          <p:cNvSpPr/>
          <p:nvPr/>
        </p:nvSpPr>
        <p:spPr>
          <a:xfrm>
            <a:off x="8932236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2" name="Oval 41"/>
          <p:cNvSpPr/>
          <p:nvPr/>
        </p:nvSpPr>
        <p:spPr>
          <a:xfrm>
            <a:off x="8741202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3" name="Oval 42"/>
          <p:cNvSpPr/>
          <p:nvPr/>
        </p:nvSpPr>
        <p:spPr>
          <a:xfrm>
            <a:off x="8540742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4" name="Oval 43"/>
          <p:cNvSpPr/>
          <p:nvPr/>
        </p:nvSpPr>
        <p:spPr>
          <a:xfrm>
            <a:off x="8332092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5" name="Oval 44"/>
          <p:cNvSpPr/>
          <p:nvPr/>
        </p:nvSpPr>
        <p:spPr>
          <a:xfrm>
            <a:off x="8116538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6" name="Oval 45"/>
          <p:cNvSpPr/>
          <p:nvPr/>
        </p:nvSpPr>
        <p:spPr>
          <a:xfrm>
            <a:off x="7895409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7" name="Oval 46"/>
          <p:cNvSpPr/>
          <p:nvPr/>
        </p:nvSpPr>
        <p:spPr>
          <a:xfrm>
            <a:off x="7670069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8" name="Oval 47"/>
          <p:cNvSpPr/>
          <p:nvPr/>
        </p:nvSpPr>
        <p:spPr>
          <a:xfrm>
            <a:off x="7441907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49" name="Oval 48"/>
          <p:cNvSpPr/>
          <p:nvPr/>
        </p:nvSpPr>
        <p:spPr>
          <a:xfrm>
            <a:off x="7212330" y="613791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0" name="Oval 49"/>
          <p:cNvSpPr/>
          <p:nvPr/>
        </p:nvSpPr>
        <p:spPr>
          <a:xfrm>
            <a:off x="6982752" y="6128889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1" name="Oval 50"/>
          <p:cNvSpPr/>
          <p:nvPr/>
        </p:nvSpPr>
        <p:spPr>
          <a:xfrm>
            <a:off x="6754590" y="610188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2" name="Oval 51"/>
          <p:cNvSpPr/>
          <p:nvPr/>
        </p:nvSpPr>
        <p:spPr>
          <a:xfrm>
            <a:off x="6529250" y="60570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3" name="Oval 52"/>
          <p:cNvSpPr/>
          <p:nvPr/>
        </p:nvSpPr>
        <p:spPr>
          <a:xfrm>
            <a:off x="6308121" y="59946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4" name="Oval 53"/>
          <p:cNvSpPr/>
          <p:nvPr/>
        </p:nvSpPr>
        <p:spPr>
          <a:xfrm>
            <a:off x="6092567" y="5915175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5" name="Oval 54"/>
          <p:cNvSpPr/>
          <p:nvPr/>
        </p:nvSpPr>
        <p:spPr>
          <a:xfrm>
            <a:off x="5883917" y="581898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6" name="Oval 55"/>
          <p:cNvSpPr/>
          <p:nvPr/>
        </p:nvSpPr>
        <p:spPr>
          <a:xfrm>
            <a:off x="5683457" y="570672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7" name="Oval 56"/>
          <p:cNvSpPr/>
          <p:nvPr/>
        </p:nvSpPr>
        <p:spPr>
          <a:xfrm>
            <a:off x="5492423" y="55790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8" name="Oval 57"/>
          <p:cNvSpPr/>
          <p:nvPr/>
        </p:nvSpPr>
        <p:spPr>
          <a:xfrm>
            <a:off x="5311993" y="543683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59" name="Oval 58"/>
          <p:cNvSpPr/>
          <p:nvPr/>
        </p:nvSpPr>
        <p:spPr>
          <a:xfrm>
            <a:off x="5143278" y="52808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0" name="Oval 59"/>
          <p:cNvSpPr/>
          <p:nvPr/>
        </p:nvSpPr>
        <p:spPr>
          <a:xfrm>
            <a:off x="5143278" y="1142778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1" name="Oval 60"/>
          <p:cNvSpPr/>
          <p:nvPr/>
        </p:nvSpPr>
        <p:spPr>
          <a:xfrm>
            <a:off x="5311993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2" name="Oval 61"/>
          <p:cNvSpPr/>
          <p:nvPr/>
        </p:nvSpPr>
        <p:spPr>
          <a:xfrm>
            <a:off x="5492423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3" name="Oval 62"/>
          <p:cNvSpPr/>
          <p:nvPr/>
        </p:nvSpPr>
        <p:spPr>
          <a:xfrm>
            <a:off x="5683457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4" name="Oval 63"/>
          <p:cNvSpPr/>
          <p:nvPr/>
        </p:nvSpPr>
        <p:spPr>
          <a:xfrm>
            <a:off x="5883917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5" name="Oval 64"/>
          <p:cNvSpPr/>
          <p:nvPr/>
        </p:nvSpPr>
        <p:spPr>
          <a:xfrm>
            <a:off x="6092567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6" name="Oval 65"/>
          <p:cNvSpPr/>
          <p:nvPr/>
        </p:nvSpPr>
        <p:spPr>
          <a:xfrm>
            <a:off x="6308121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7" name="Oval 66"/>
          <p:cNvSpPr/>
          <p:nvPr/>
        </p:nvSpPr>
        <p:spPr>
          <a:xfrm>
            <a:off x="6529250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8" name="Oval 67"/>
          <p:cNvSpPr/>
          <p:nvPr/>
        </p:nvSpPr>
        <p:spPr>
          <a:xfrm>
            <a:off x="6754590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69" name="Oval 68"/>
          <p:cNvSpPr/>
          <p:nvPr/>
        </p:nvSpPr>
        <p:spPr>
          <a:xfrm>
            <a:off x="6982752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0" name="Oval 69"/>
          <p:cNvSpPr/>
          <p:nvPr/>
        </p:nvSpPr>
        <p:spPr>
          <a:xfrm>
            <a:off x="7212329" y="28575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1" name="Oval 70"/>
          <p:cNvSpPr/>
          <p:nvPr/>
        </p:nvSpPr>
        <p:spPr>
          <a:xfrm>
            <a:off x="7441907" y="294770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2" name="Oval 71"/>
          <p:cNvSpPr/>
          <p:nvPr/>
        </p:nvSpPr>
        <p:spPr>
          <a:xfrm>
            <a:off x="7670069" y="32177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3" name="Oval 72"/>
          <p:cNvSpPr/>
          <p:nvPr/>
        </p:nvSpPr>
        <p:spPr>
          <a:xfrm>
            <a:off x="7895409" y="366597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4" name="Oval 73"/>
          <p:cNvSpPr/>
          <p:nvPr/>
        </p:nvSpPr>
        <p:spPr>
          <a:xfrm>
            <a:off x="8116538" y="428962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5" name="Oval 74"/>
          <p:cNvSpPr/>
          <p:nvPr/>
        </p:nvSpPr>
        <p:spPr>
          <a:xfrm>
            <a:off x="8332092" y="508484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6" name="Oval 75"/>
          <p:cNvSpPr/>
          <p:nvPr/>
        </p:nvSpPr>
        <p:spPr>
          <a:xfrm>
            <a:off x="8540742" y="604673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7" name="Oval 76"/>
          <p:cNvSpPr/>
          <p:nvPr/>
        </p:nvSpPr>
        <p:spPr>
          <a:xfrm>
            <a:off x="8741202" y="716936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8" name="Oval 77"/>
          <p:cNvSpPr/>
          <p:nvPr/>
        </p:nvSpPr>
        <p:spPr>
          <a:xfrm>
            <a:off x="8932236" y="84458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79" name="Oval 78"/>
          <p:cNvSpPr/>
          <p:nvPr/>
        </p:nvSpPr>
        <p:spPr>
          <a:xfrm>
            <a:off x="9112666" y="986821"/>
            <a:ext cx="22860" cy="22860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0" name="Oval 79"/>
          <p:cNvSpPr/>
          <p:nvPr/>
        </p:nvSpPr>
        <p:spPr>
          <a:xfrm>
            <a:off x="848563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1" name="Oval 80"/>
          <p:cNvSpPr/>
          <p:nvPr/>
        </p:nvSpPr>
        <p:spPr>
          <a:xfrm>
            <a:off x="8481685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2" name="Oval 81"/>
          <p:cNvSpPr/>
          <p:nvPr/>
        </p:nvSpPr>
        <p:spPr>
          <a:xfrm>
            <a:off x="8469871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3" name="Oval 82"/>
          <p:cNvSpPr/>
          <p:nvPr/>
        </p:nvSpPr>
        <p:spPr>
          <a:xfrm>
            <a:off x="8450261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4" name="Oval 83"/>
          <p:cNvSpPr/>
          <p:nvPr/>
        </p:nvSpPr>
        <p:spPr>
          <a:xfrm>
            <a:off x="8422976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5" name="Oval 84"/>
          <p:cNvSpPr/>
          <p:nvPr/>
        </p:nvSpPr>
        <p:spPr>
          <a:xfrm>
            <a:off x="8388185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6" name="Oval 85"/>
          <p:cNvSpPr/>
          <p:nvPr/>
        </p:nvSpPr>
        <p:spPr>
          <a:xfrm>
            <a:off x="8346102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7" name="Oval 86"/>
          <p:cNvSpPr/>
          <p:nvPr/>
        </p:nvSpPr>
        <p:spPr>
          <a:xfrm>
            <a:off x="8296987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8" name="Oval 87"/>
          <p:cNvSpPr/>
          <p:nvPr/>
        </p:nvSpPr>
        <p:spPr>
          <a:xfrm>
            <a:off x="8241143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89" name="Oval 88"/>
          <p:cNvSpPr/>
          <p:nvPr/>
        </p:nvSpPr>
        <p:spPr>
          <a:xfrm>
            <a:off x="8178913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0" name="Oval 89"/>
          <p:cNvSpPr/>
          <p:nvPr/>
        </p:nvSpPr>
        <p:spPr>
          <a:xfrm>
            <a:off x="8110681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1" name="Oval 90"/>
          <p:cNvSpPr/>
          <p:nvPr/>
        </p:nvSpPr>
        <p:spPr>
          <a:xfrm>
            <a:off x="8036869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2" name="Oval 91"/>
          <p:cNvSpPr/>
          <p:nvPr/>
        </p:nvSpPr>
        <p:spPr>
          <a:xfrm>
            <a:off x="7957931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3" name="Oval 92"/>
          <p:cNvSpPr/>
          <p:nvPr/>
        </p:nvSpPr>
        <p:spPr>
          <a:xfrm>
            <a:off x="7874353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4" name="Oval 93"/>
          <p:cNvSpPr/>
          <p:nvPr/>
        </p:nvSpPr>
        <p:spPr>
          <a:xfrm>
            <a:off x="7786652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5" name="Oval 94"/>
          <p:cNvSpPr/>
          <p:nvPr/>
        </p:nvSpPr>
        <p:spPr>
          <a:xfrm>
            <a:off x="7695368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6" name="Oval 95"/>
          <p:cNvSpPr/>
          <p:nvPr/>
        </p:nvSpPr>
        <p:spPr>
          <a:xfrm>
            <a:off x="7601063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7" name="Oval 96"/>
          <p:cNvSpPr/>
          <p:nvPr/>
        </p:nvSpPr>
        <p:spPr>
          <a:xfrm>
            <a:off x="7504319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8" name="Oval 97"/>
          <p:cNvSpPr/>
          <p:nvPr/>
        </p:nvSpPr>
        <p:spPr>
          <a:xfrm>
            <a:off x="7405733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99" name="Oval 98"/>
          <p:cNvSpPr/>
          <p:nvPr/>
        </p:nvSpPr>
        <p:spPr>
          <a:xfrm>
            <a:off x="7305912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0" name="Oval 99"/>
          <p:cNvSpPr/>
          <p:nvPr/>
        </p:nvSpPr>
        <p:spPr>
          <a:xfrm>
            <a:off x="7205472" y="448513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1" name="Oval 100"/>
          <p:cNvSpPr/>
          <p:nvPr/>
        </p:nvSpPr>
        <p:spPr>
          <a:xfrm>
            <a:off x="7105031" y="44811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2" name="Oval 101"/>
          <p:cNvSpPr/>
          <p:nvPr/>
        </p:nvSpPr>
        <p:spPr>
          <a:xfrm>
            <a:off x="7005210" y="446937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3" name="Oval 102"/>
          <p:cNvSpPr/>
          <p:nvPr/>
        </p:nvSpPr>
        <p:spPr>
          <a:xfrm>
            <a:off x="6906624" y="444976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4" name="Oval 103"/>
          <p:cNvSpPr/>
          <p:nvPr/>
        </p:nvSpPr>
        <p:spPr>
          <a:xfrm>
            <a:off x="6809880" y="442247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5" name="Oval 104"/>
          <p:cNvSpPr/>
          <p:nvPr/>
        </p:nvSpPr>
        <p:spPr>
          <a:xfrm>
            <a:off x="6715575" y="438768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6" name="Oval 105"/>
          <p:cNvSpPr/>
          <p:nvPr/>
        </p:nvSpPr>
        <p:spPr>
          <a:xfrm>
            <a:off x="6624291" y="434560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7" name="Oval 106"/>
          <p:cNvSpPr/>
          <p:nvPr/>
        </p:nvSpPr>
        <p:spPr>
          <a:xfrm>
            <a:off x="6536590" y="429648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8" name="Oval 107"/>
          <p:cNvSpPr/>
          <p:nvPr/>
        </p:nvSpPr>
        <p:spPr>
          <a:xfrm>
            <a:off x="6453012" y="424064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09" name="Oval 108"/>
          <p:cNvSpPr/>
          <p:nvPr/>
        </p:nvSpPr>
        <p:spPr>
          <a:xfrm>
            <a:off x="6374074" y="417841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0" name="Oval 109"/>
          <p:cNvSpPr/>
          <p:nvPr/>
        </p:nvSpPr>
        <p:spPr>
          <a:xfrm>
            <a:off x="6300262" y="411018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1" name="Oval 110"/>
          <p:cNvSpPr/>
          <p:nvPr/>
        </p:nvSpPr>
        <p:spPr>
          <a:xfrm>
            <a:off x="6232030" y="403636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2" name="Oval 111"/>
          <p:cNvSpPr/>
          <p:nvPr/>
        </p:nvSpPr>
        <p:spPr>
          <a:xfrm>
            <a:off x="6169800" y="39574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3" name="Oval 112"/>
          <p:cNvSpPr/>
          <p:nvPr/>
        </p:nvSpPr>
        <p:spPr>
          <a:xfrm>
            <a:off x="6113956" y="387385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4" name="Oval 113"/>
          <p:cNvSpPr/>
          <p:nvPr/>
        </p:nvSpPr>
        <p:spPr>
          <a:xfrm>
            <a:off x="6064841" y="378615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5" name="Oval 114"/>
          <p:cNvSpPr/>
          <p:nvPr/>
        </p:nvSpPr>
        <p:spPr>
          <a:xfrm>
            <a:off x="6022758" y="369486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6" name="Oval 115"/>
          <p:cNvSpPr/>
          <p:nvPr/>
        </p:nvSpPr>
        <p:spPr>
          <a:xfrm>
            <a:off x="5987967" y="360056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7" name="Oval 116"/>
          <p:cNvSpPr/>
          <p:nvPr/>
        </p:nvSpPr>
        <p:spPr>
          <a:xfrm>
            <a:off x="5960682" y="3503819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8" name="Oval 117"/>
          <p:cNvSpPr/>
          <p:nvPr/>
        </p:nvSpPr>
        <p:spPr>
          <a:xfrm>
            <a:off x="5941072" y="3405233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19" name="Oval 118"/>
          <p:cNvSpPr/>
          <p:nvPr/>
        </p:nvSpPr>
        <p:spPr>
          <a:xfrm>
            <a:off x="5929258" y="33054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0" name="Oval 119"/>
          <p:cNvSpPr/>
          <p:nvPr/>
        </p:nvSpPr>
        <p:spPr>
          <a:xfrm>
            <a:off x="5925312" y="32049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1" name="Oval 120"/>
          <p:cNvSpPr/>
          <p:nvPr/>
        </p:nvSpPr>
        <p:spPr>
          <a:xfrm>
            <a:off x="5929258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2" name="Oval 121"/>
          <p:cNvSpPr/>
          <p:nvPr/>
        </p:nvSpPr>
        <p:spPr>
          <a:xfrm>
            <a:off x="5941072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3" name="Oval 122"/>
          <p:cNvSpPr/>
          <p:nvPr/>
        </p:nvSpPr>
        <p:spPr>
          <a:xfrm>
            <a:off x="5960682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4" name="Oval 123"/>
          <p:cNvSpPr/>
          <p:nvPr/>
        </p:nvSpPr>
        <p:spPr>
          <a:xfrm>
            <a:off x="5987967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5" name="Oval 124"/>
          <p:cNvSpPr/>
          <p:nvPr/>
        </p:nvSpPr>
        <p:spPr>
          <a:xfrm>
            <a:off x="6022758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6" name="Oval 125"/>
          <p:cNvSpPr/>
          <p:nvPr/>
        </p:nvSpPr>
        <p:spPr>
          <a:xfrm>
            <a:off x="6064841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7" name="Oval 126"/>
          <p:cNvSpPr/>
          <p:nvPr/>
        </p:nvSpPr>
        <p:spPr>
          <a:xfrm>
            <a:off x="6113956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8" name="Oval 127"/>
          <p:cNvSpPr/>
          <p:nvPr/>
        </p:nvSpPr>
        <p:spPr>
          <a:xfrm>
            <a:off x="6169800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29" name="Oval 128"/>
          <p:cNvSpPr/>
          <p:nvPr/>
        </p:nvSpPr>
        <p:spPr>
          <a:xfrm>
            <a:off x="6232030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0" name="Oval 129"/>
          <p:cNvSpPr/>
          <p:nvPr/>
        </p:nvSpPr>
        <p:spPr>
          <a:xfrm>
            <a:off x="6300262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1" name="Oval 130"/>
          <p:cNvSpPr/>
          <p:nvPr/>
        </p:nvSpPr>
        <p:spPr>
          <a:xfrm>
            <a:off x="6374074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2" name="Oval 131"/>
          <p:cNvSpPr/>
          <p:nvPr/>
        </p:nvSpPr>
        <p:spPr>
          <a:xfrm>
            <a:off x="6453012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3" name="Oval 132"/>
          <p:cNvSpPr/>
          <p:nvPr/>
        </p:nvSpPr>
        <p:spPr>
          <a:xfrm>
            <a:off x="6536590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4" name="Oval 133"/>
          <p:cNvSpPr/>
          <p:nvPr/>
        </p:nvSpPr>
        <p:spPr>
          <a:xfrm>
            <a:off x="6624291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5" name="Oval 134"/>
          <p:cNvSpPr/>
          <p:nvPr/>
        </p:nvSpPr>
        <p:spPr>
          <a:xfrm>
            <a:off x="6715575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6" name="Oval 135"/>
          <p:cNvSpPr/>
          <p:nvPr/>
        </p:nvSpPr>
        <p:spPr>
          <a:xfrm>
            <a:off x="6809880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7" name="Oval 136"/>
          <p:cNvSpPr/>
          <p:nvPr/>
        </p:nvSpPr>
        <p:spPr>
          <a:xfrm>
            <a:off x="6906624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8" name="Oval 137"/>
          <p:cNvSpPr/>
          <p:nvPr/>
        </p:nvSpPr>
        <p:spPr>
          <a:xfrm>
            <a:off x="7005210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39" name="Oval 138"/>
          <p:cNvSpPr/>
          <p:nvPr/>
        </p:nvSpPr>
        <p:spPr>
          <a:xfrm>
            <a:off x="7105031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0" name="Oval 139"/>
          <p:cNvSpPr/>
          <p:nvPr/>
        </p:nvSpPr>
        <p:spPr>
          <a:xfrm>
            <a:off x="7205472" y="19248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1" name="Oval 140"/>
          <p:cNvSpPr/>
          <p:nvPr/>
        </p:nvSpPr>
        <p:spPr>
          <a:xfrm>
            <a:off x="7305912" y="19287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2" name="Oval 141"/>
          <p:cNvSpPr/>
          <p:nvPr/>
        </p:nvSpPr>
        <p:spPr>
          <a:xfrm>
            <a:off x="7405733" y="194057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3" name="Oval 142"/>
          <p:cNvSpPr/>
          <p:nvPr/>
        </p:nvSpPr>
        <p:spPr>
          <a:xfrm>
            <a:off x="7504319" y="196018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4" name="Oval 143"/>
          <p:cNvSpPr/>
          <p:nvPr/>
        </p:nvSpPr>
        <p:spPr>
          <a:xfrm>
            <a:off x="7601063" y="1987467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5" name="Oval 144"/>
          <p:cNvSpPr/>
          <p:nvPr/>
        </p:nvSpPr>
        <p:spPr>
          <a:xfrm>
            <a:off x="7695368" y="2022258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6" name="Oval 145"/>
          <p:cNvSpPr/>
          <p:nvPr/>
        </p:nvSpPr>
        <p:spPr>
          <a:xfrm>
            <a:off x="7786652" y="206434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7" name="Oval 146"/>
          <p:cNvSpPr/>
          <p:nvPr/>
        </p:nvSpPr>
        <p:spPr>
          <a:xfrm>
            <a:off x="7874353" y="2113456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8" name="Oval 147"/>
          <p:cNvSpPr/>
          <p:nvPr/>
        </p:nvSpPr>
        <p:spPr>
          <a:xfrm>
            <a:off x="7957931" y="216930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49" name="Oval 148"/>
          <p:cNvSpPr/>
          <p:nvPr/>
        </p:nvSpPr>
        <p:spPr>
          <a:xfrm>
            <a:off x="8036869" y="223153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0" name="Oval 149"/>
          <p:cNvSpPr/>
          <p:nvPr/>
        </p:nvSpPr>
        <p:spPr>
          <a:xfrm>
            <a:off x="8110681" y="229976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1" name="Oval 150"/>
          <p:cNvSpPr/>
          <p:nvPr/>
        </p:nvSpPr>
        <p:spPr>
          <a:xfrm>
            <a:off x="8178913" y="237357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2" name="Oval 151"/>
          <p:cNvSpPr/>
          <p:nvPr/>
        </p:nvSpPr>
        <p:spPr>
          <a:xfrm>
            <a:off x="8241143" y="2452512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3" name="Oval 152"/>
          <p:cNvSpPr/>
          <p:nvPr/>
        </p:nvSpPr>
        <p:spPr>
          <a:xfrm>
            <a:off x="8296987" y="253609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4" name="Oval 153"/>
          <p:cNvSpPr/>
          <p:nvPr/>
        </p:nvSpPr>
        <p:spPr>
          <a:xfrm>
            <a:off x="8346102" y="262379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5" name="Oval 154"/>
          <p:cNvSpPr/>
          <p:nvPr/>
        </p:nvSpPr>
        <p:spPr>
          <a:xfrm>
            <a:off x="8388185" y="2715075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6" name="Oval 155"/>
          <p:cNvSpPr/>
          <p:nvPr/>
        </p:nvSpPr>
        <p:spPr>
          <a:xfrm>
            <a:off x="8422976" y="280938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7" name="Oval 156"/>
          <p:cNvSpPr/>
          <p:nvPr/>
        </p:nvSpPr>
        <p:spPr>
          <a:xfrm>
            <a:off x="8450261" y="2906124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8" name="Oval 157"/>
          <p:cNvSpPr/>
          <p:nvPr/>
        </p:nvSpPr>
        <p:spPr>
          <a:xfrm>
            <a:off x="8469871" y="3004710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59" name="Oval 158"/>
          <p:cNvSpPr/>
          <p:nvPr/>
        </p:nvSpPr>
        <p:spPr>
          <a:xfrm>
            <a:off x="8481685" y="3104531"/>
            <a:ext cx="36576" cy="36576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0" name="Oval 159"/>
          <p:cNvSpPr/>
          <p:nvPr/>
        </p:nvSpPr>
        <p:spPr>
          <a:xfrm>
            <a:off x="719861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1" name="Oval 160"/>
          <p:cNvSpPr/>
          <p:nvPr/>
        </p:nvSpPr>
        <p:spPr>
          <a:xfrm>
            <a:off x="742034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2" name="Oval 161"/>
          <p:cNvSpPr/>
          <p:nvPr/>
        </p:nvSpPr>
        <p:spPr>
          <a:xfrm>
            <a:off x="719861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3" name="Oval 162"/>
          <p:cNvSpPr/>
          <p:nvPr/>
        </p:nvSpPr>
        <p:spPr>
          <a:xfrm>
            <a:off x="697688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4" name="Oval 163"/>
          <p:cNvSpPr/>
          <p:nvPr/>
        </p:nvSpPr>
        <p:spPr>
          <a:xfrm>
            <a:off x="697688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5" name="Oval 164"/>
          <p:cNvSpPr/>
          <p:nvPr/>
        </p:nvSpPr>
        <p:spPr>
          <a:xfrm>
            <a:off x="719861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6" name="Oval 165"/>
          <p:cNvSpPr/>
          <p:nvPr/>
        </p:nvSpPr>
        <p:spPr>
          <a:xfrm>
            <a:off x="742034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7" name="Oval 166"/>
          <p:cNvSpPr/>
          <p:nvPr/>
        </p:nvSpPr>
        <p:spPr>
          <a:xfrm>
            <a:off x="764207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8" name="Oval 167"/>
          <p:cNvSpPr/>
          <p:nvPr/>
        </p:nvSpPr>
        <p:spPr>
          <a:xfrm>
            <a:off x="742034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69" name="Oval 168"/>
          <p:cNvSpPr/>
          <p:nvPr/>
        </p:nvSpPr>
        <p:spPr>
          <a:xfrm>
            <a:off x="719861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0" name="Oval 169"/>
          <p:cNvSpPr/>
          <p:nvPr/>
        </p:nvSpPr>
        <p:spPr>
          <a:xfrm>
            <a:off x="697688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1" name="Oval 170"/>
          <p:cNvSpPr/>
          <p:nvPr/>
        </p:nvSpPr>
        <p:spPr>
          <a:xfrm>
            <a:off x="675515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2" name="Oval 171"/>
          <p:cNvSpPr/>
          <p:nvPr/>
        </p:nvSpPr>
        <p:spPr>
          <a:xfrm>
            <a:off x="675515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3" name="Oval 172"/>
          <p:cNvSpPr/>
          <p:nvPr/>
        </p:nvSpPr>
        <p:spPr>
          <a:xfrm>
            <a:off x="675515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4" name="Oval 173"/>
          <p:cNvSpPr/>
          <p:nvPr/>
        </p:nvSpPr>
        <p:spPr>
          <a:xfrm>
            <a:off x="697688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5" name="Oval 174"/>
          <p:cNvSpPr/>
          <p:nvPr/>
        </p:nvSpPr>
        <p:spPr>
          <a:xfrm>
            <a:off x="719861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6" name="Oval 175"/>
          <p:cNvSpPr/>
          <p:nvPr/>
        </p:nvSpPr>
        <p:spPr>
          <a:xfrm>
            <a:off x="742034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7" name="Oval 176"/>
          <p:cNvSpPr/>
          <p:nvPr/>
        </p:nvSpPr>
        <p:spPr>
          <a:xfrm>
            <a:off x="764207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8" name="Oval 177"/>
          <p:cNvSpPr/>
          <p:nvPr/>
        </p:nvSpPr>
        <p:spPr>
          <a:xfrm>
            <a:off x="764207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79" name="Oval 178"/>
          <p:cNvSpPr/>
          <p:nvPr/>
        </p:nvSpPr>
        <p:spPr>
          <a:xfrm>
            <a:off x="7863804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0" name="Oval 179"/>
          <p:cNvSpPr/>
          <p:nvPr/>
        </p:nvSpPr>
        <p:spPr>
          <a:xfrm>
            <a:off x="764207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1" name="Oval 180"/>
          <p:cNvSpPr/>
          <p:nvPr/>
        </p:nvSpPr>
        <p:spPr>
          <a:xfrm>
            <a:off x="742034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2" name="Oval 181"/>
          <p:cNvSpPr/>
          <p:nvPr/>
        </p:nvSpPr>
        <p:spPr>
          <a:xfrm>
            <a:off x="719861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3" name="Oval 182"/>
          <p:cNvSpPr/>
          <p:nvPr/>
        </p:nvSpPr>
        <p:spPr>
          <a:xfrm>
            <a:off x="697688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4" name="Oval 183"/>
          <p:cNvSpPr/>
          <p:nvPr/>
        </p:nvSpPr>
        <p:spPr>
          <a:xfrm>
            <a:off x="675515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5" name="Oval 184"/>
          <p:cNvSpPr/>
          <p:nvPr/>
        </p:nvSpPr>
        <p:spPr>
          <a:xfrm>
            <a:off x="6533423" y="358216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6" name="Oval 185"/>
          <p:cNvSpPr/>
          <p:nvPr/>
        </p:nvSpPr>
        <p:spPr>
          <a:xfrm>
            <a:off x="6533423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7" name="Oval 186"/>
          <p:cNvSpPr/>
          <p:nvPr/>
        </p:nvSpPr>
        <p:spPr>
          <a:xfrm>
            <a:off x="6533423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8" name="Oval 187"/>
          <p:cNvSpPr/>
          <p:nvPr/>
        </p:nvSpPr>
        <p:spPr>
          <a:xfrm>
            <a:off x="6533423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89" name="Oval 188"/>
          <p:cNvSpPr/>
          <p:nvPr/>
        </p:nvSpPr>
        <p:spPr>
          <a:xfrm>
            <a:off x="675515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0" name="Oval 189"/>
          <p:cNvSpPr/>
          <p:nvPr/>
        </p:nvSpPr>
        <p:spPr>
          <a:xfrm>
            <a:off x="697688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1" name="Oval 190"/>
          <p:cNvSpPr/>
          <p:nvPr/>
        </p:nvSpPr>
        <p:spPr>
          <a:xfrm>
            <a:off x="7198614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2" name="Oval 191"/>
          <p:cNvSpPr/>
          <p:nvPr/>
        </p:nvSpPr>
        <p:spPr>
          <a:xfrm>
            <a:off x="7420344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3" name="Oval 192"/>
          <p:cNvSpPr/>
          <p:nvPr/>
        </p:nvSpPr>
        <p:spPr>
          <a:xfrm>
            <a:off x="7642074" y="2686049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4" name="Oval 193"/>
          <p:cNvSpPr/>
          <p:nvPr/>
        </p:nvSpPr>
        <p:spPr>
          <a:xfrm>
            <a:off x="7863804" y="281406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5" name="Oval 194"/>
          <p:cNvSpPr/>
          <p:nvPr/>
        </p:nvSpPr>
        <p:spPr>
          <a:xfrm>
            <a:off x="7863804" y="307009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6" name="Oval 195"/>
          <p:cNvSpPr/>
          <p:nvPr/>
        </p:nvSpPr>
        <p:spPr>
          <a:xfrm>
            <a:off x="7863804" y="332613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7" name="Oval 196"/>
          <p:cNvSpPr/>
          <p:nvPr/>
        </p:nvSpPr>
        <p:spPr>
          <a:xfrm>
            <a:off x="8085534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8" name="Oval 197"/>
          <p:cNvSpPr/>
          <p:nvPr/>
        </p:nvSpPr>
        <p:spPr>
          <a:xfrm>
            <a:off x="7863804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199" name="Oval 198"/>
          <p:cNvSpPr/>
          <p:nvPr/>
        </p:nvSpPr>
        <p:spPr>
          <a:xfrm>
            <a:off x="7642074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0" name="Oval 199"/>
          <p:cNvSpPr/>
          <p:nvPr/>
        </p:nvSpPr>
        <p:spPr>
          <a:xfrm>
            <a:off x="7420344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1" name="Oval 200"/>
          <p:cNvSpPr/>
          <p:nvPr/>
        </p:nvSpPr>
        <p:spPr>
          <a:xfrm>
            <a:off x="7198614" y="422224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2" name="Oval 201"/>
          <p:cNvSpPr/>
          <p:nvPr/>
        </p:nvSpPr>
        <p:spPr>
          <a:xfrm>
            <a:off x="6976883" y="409422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3" name="Oval 202"/>
          <p:cNvSpPr/>
          <p:nvPr/>
        </p:nvSpPr>
        <p:spPr>
          <a:xfrm>
            <a:off x="6755153" y="396621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4" name="Oval 203"/>
          <p:cNvSpPr/>
          <p:nvPr/>
        </p:nvSpPr>
        <p:spPr>
          <a:xfrm>
            <a:off x="6533423" y="383819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5" name="Oval 204"/>
          <p:cNvSpPr/>
          <p:nvPr/>
        </p:nvSpPr>
        <p:spPr>
          <a:xfrm>
            <a:off x="6311693" y="371017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6" name="Oval 205"/>
          <p:cNvSpPr/>
          <p:nvPr/>
        </p:nvSpPr>
        <p:spPr>
          <a:xfrm>
            <a:off x="6311693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7" name="Oval 206"/>
          <p:cNvSpPr/>
          <p:nvPr/>
        </p:nvSpPr>
        <p:spPr>
          <a:xfrm>
            <a:off x="6311693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8" name="Oval 207"/>
          <p:cNvSpPr/>
          <p:nvPr/>
        </p:nvSpPr>
        <p:spPr>
          <a:xfrm>
            <a:off x="6311693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09" name="Oval 208"/>
          <p:cNvSpPr/>
          <p:nvPr/>
        </p:nvSpPr>
        <p:spPr>
          <a:xfrm>
            <a:off x="6311693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0" name="Oval 209"/>
          <p:cNvSpPr/>
          <p:nvPr/>
        </p:nvSpPr>
        <p:spPr>
          <a:xfrm>
            <a:off x="6533423" y="255803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1" name="Oval 210"/>
          <p:cNvSpPr/>
          <p:nvPr/>
        </p:nvSpPr>
        <p:spPr>
          <a:xfrm>
            <a:off x="6755153" y="2430018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2" name="Oval 211"/>
          <p:cNvSpPr/>
          <p:nvPr/>
        </p:nvSpPr>
        <p:spPr>
          <a:xfrm>
            <a:off x="6976883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3" name="Oval 212"/>
          <p:cNvSpPr/>
          <p:nvPr/>
        </p:nvSpPr>
        <p:spPr>
          <a:xfrm>
            <a:off x="7198614" y="217398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4" name="Oval 213"/>
          <p:cNvSpPr/>
          <p:nvPr/>
        </p:nvSpPr>
        <p:spPr>
          <a:xfrm>
            <a:off x="7420344" y="230200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5" name="Oval 214"/>
          <p:cNvSpPr/>
          <p:nvPr/>
        </p:nvSpPr>
        <p:spPr>
          <a:xfrm>
            <a:off x="7642074" y="2430017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6" name="Oval 215"/>
          <p:cNvSpPr/>
          <p:nvPr/>
        </p:nvSpPr>
        <p:spPr>
          <a:xfrm>
            <a:off x="7863804" y="2558033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7" name="Oval 216"/>
          <p:cNvSpPr/>
          <p:nvPr/>
        </p:nvSpPr>
        <p:spPr>
          <a:xfrm>
            <a:off x="8085534" y="2686050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8" name="Oval 217"/>
          <p:cNvSpPr/>
          <p:nvPr/>
        </p:nvSpPr>
        <p:spPr>
          <a:xfrm>
            <a:off x="8085534" y="2942082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19" name="Oval 218"/>
          <p:cNvSpPr/>
          <p:nvPr/>
        </p:nvSpPr>
        <p:spPr>
          <a:xfrm>
            <a:off x="8085534" y="3198114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0" name="Oval 219"/>
          <p:cNvSpPr/>
          <p:nvPr/>
        </p:nvSpPr>
        <p:spPr>
          <a:xfrm>
            <a:off x="8085534" y="3454146"/>
            <a:ext cx="50292" cy="50292"/>
          </a:xfrm>
          <a:prstGeom prst="ellipse">
            <a:avLst/>
          </a:prstGeom>
          <a:solidFill>
            <a:srgbClr val="A70E1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1" name="TextBox 220"/>
          <p:cNvSpPr txBox="1"/>
          <p:nvPr/>
        </p:nvSpPr>
        <p:spPr>
          <a:xfrm>
            <a:off x="256032" y="1051560"/>
            <a:ext cx="6398518" cy="6771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AI-DRIVEN EMBEDDED</a:t>
            </a:r>
          </a:p>
        </p:txBody>
      </p:sp>
      <p:sp>
        <p:nvSpPr>
          <p:cNvPr id="222" name="TextBox 221"/>
          <p:cNvSpPr txBox="1"/>
          <p:nvPr/>
        </p:nvSpPr>
        <p:spPr>
          <a:xfrm>
            <a:off x="256032" y="1755648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PRODUCT LIFECYCLE</a:t>
            </a:r>
          </a:p>
        </p:txBody>
      </p:sp>
      <p:sp>
        <p:nvSpPr>
          <p:cNvPr id="223" name="TextBox 222"/>
          <p:cNvSpPr txBox="1"/>
          <p:nvPr/>
        </p:nvSpPr>
        <p:spPr>
          <a:xfrm>
            <a:off x="256032" y="2450592"/>
            <a:ext cx="5486400" cy="74980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3800" b="1" i="0" u="none" strike="noStrike" kern="1200" cap="none" spc="0" normalizeH="0" baseline="0" noProof="0">
                <a:ln>
                  <a:noFill/>
                </a:ln>
                <a:solidFill>
                  <a:srgbClr val="D7192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ORCHESTRATOR</a:t>
            </a:r>
          </a:p>
        </p:txBody>
      </p:sp>
      <p:sp>
        <p:nvSpPr>
          <p:cNvPr id="224" name="Rounded Rectangle 223"/>
          <p:cNvSpPr/>
          <p:nvPr/>
        </p:nvSpPr>
        <p:spPr>
          <a:xfrm>
            <a:off x="256032" y="3291840"/>
            <a:ext cx="1280160" cy="347472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5" name="TextBox 224"/>
          <p:cNvSpPr txBox="1"/>
          <p:nvPr/>
        </p:nvSpPr>
        <p:spPr>
          <a:xfrm>
            <a:off x="256032" y="3291840"/>
            <a:ext cx="1280160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200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VERSION 10</a:t>
            </a:r>
          </a:p>
        </p:txBody>
      </p:sp>
      <p:sp>
        <p:nvSpPr>
          <p:cNvPr id="226" name="Rectangle 225"/>
          <p:cNvSpPr/>
          <p:nvPr/>
        </p:nvSpPr>
        <p:spPr>
          <a:xfrm>
            <a:off x="256032" y="3794760"/>
            <a:ext cx="50292" cy="82296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27" name="TextBox 226"/>
          <p:cNvSpPr txBox="1"/>
          <p:nvPr/>
        </p:nvSpPr>
        <p:spPr>
          <a:xfrm>
            <a:off x="420624" y="3822191"/>
            <a:ext cx="4937760" cy="830997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1600" b="0" i="1" u="none" strike="noStrike" kern="1200" cap="none" spc="0" normalizeH="0" baseline="0" noProof="0" dirty="0">
                <a:ln>
                  <a:noFill/>
                </a:ln>
                <a:solidFill>
                  <a:srgbClr val="E8E8E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Embedded Lifecycle Intelligence
PRD -&gt; PG3 Firmware -&gt; JTAG Evidence -&gt; QA Ready -&gt; STQC</a:t>
            </a:r>
          </a:p>
        </p:txBody>
      </p:sp>
      <p:sp>
        <p:nvSpPr>
          <p:cNvPr id="228" name="TextBox 227"/>
          <p:cNvSpPr txBox="1"/>
          <p:nvPr/>
        </p:nvSpPr>
        <p:spPr>
          <a:xfrm>
            <a:off x="256032" y="4892040"/>
            <a:ext cx="5486400" cy="26161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Atharva | Manas |</a:t>
            </a:r>
            <a:r>
              <a:rPr kumimoji="0" lang="en-US" sz="1100" b="1" i="0" u="none" strike="noStrike" kern="1200" cap="none" spc="0" normalizeH="0" baseline="0" noProof="0" err="1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Sheraaz</a:t>
            </a:r>
            <a:r>
              <a:rPr kumimoji="0" lang="en-US" sz="11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 |Shyam</a:t>
            </a:r>
            <a:endParaRPr kumimoji="0" sz="1100" b="1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Segoe UI"/>
              <a:ea typeface="+mn-ea"/>
              <a:cs typeface="+mn-cs"/>
            </a:endParaRPr>
          </a:p>
        </p:txBody>
      </p:sp>
      <p:sp>
        <p:nvSpPr>
          <p:cNvPr id="229" name="Rectangle 228"/>
          <p:cNvSpPr/>
          <p:nvPr/>
        </p:nvSpPr>
        <p:spPr>
          <a:xfrm>
            <a:off x="256032" y="5806440"/>
            <a:ext cx="22860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0" name="Rectangle 229"/>
          <p:cNvSpPr/>
          <p:nvPr/>
        </p:nvSpPr>
        <p:spPr>
          <a:xfrm>
            <a:off x="256032" y="5971031"/>
            <a:ext cx="1828800" cy="4114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1" name="Rectangle 230"/>
          <p:cNvSpPr/>
          <p:nvPr/>
        </p:nvSpPr>
        <p:spPr>
          <a:xfrm>
            <a:off x="256032" y="6135624"/>
            <a:ext cx="1371600" cy="41148"/>
          </a:xfrm>
          <a:prstGeom prst="rect">
            <a:avLst/>
          </a:prstGeom>
          <a:solidFill>
            <a:srgbClr val="0040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2" name="Rectangle 23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/>
              <a:ea typeface="+mn-ea"/>
              <a:cs typeface="+mn-cs"/>
            </a:endParaRPr>
          </a:p>
        </p:txBody>
      </p:sp>
      <p:sp>
        <p:nvSpPr>
          <p:cNvPr id="233" name="TextBox 23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sz="900" b="0" i="0" u="none" strike="noStrike" kern="1200" cap="none" spc="0" normalizeH="0" baseline="0" noProof="0">
                <a:ln>
                  <a:noFill/>
                </a:ln>
                <a:solidFill>
                  <a:srgbClr val="B8B8B8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1  /  9</a:t>
            </a:r>
          </a:p>
        </p:txBody>
      </p:sp>
      <p:pic>
        <p:nvPicPr>
          <p:cNvPr id="237" name="Picture 236">
            <a:extLst>
              <a:ext uri="{FF2B5EF4-FFF2-40B4-BE49-F238E27FC236}">
                <a16:creationId xmlns:a16="http://schemas.microsoft.com/office/drawing/2014/main" id="{67AC3E27-C892-3B9F-ED91-B1E734C4105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2545" y="1535563"/>
            <a:ext cx="3118134" cy="3118134"/>
          </a:xfrm>
          <a:prstGeom prst="rect">
            <a:avLst/>
          </a:prstGeom>
          <a:ln/>
        </p:spPr>
      </p:pic>
      <p:sp>
        <p:nvSpPr>
          <p:cNvPr id="238" name="Rectangle 237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9" name="TextBox 238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235" name="Picture 234">
            <a:extLst>
              <a:ext uri="{FF2B5EF4-FFF2-40B4-BE49-F238E27FC236}">
                <a16:creationId xmlns:a16="http://schemas.microsoft.com/office/drawing/2014/main" id="{70CCAC89-0190-A7D6-EBD7-D85BFF7A9C94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75063" y="5233683"/>
            <a:ext cx="492289" cy="492289"/>
          </a:xfrm>
          <a:prstGeom prst="rect">
            <a:avLst/>
          </a:prstGeom>
        </p:spPr>
      </p:pic>
      <p:pic>
        <p:nvPicPr>
          <p:cNvPr id="240" name="Picture 239">
            <a:extLst>
              <a:ext uri="{FF2B5EF4-FFF2-40B4-BE49-F238E27FC236}">
                <a16:creationId xmlns:a16="http://schemas.microsoft.com/office/drawing/2014/main" id="{5356E3C6-FA42-00A7-E46F-58DAAF6F685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8847" y="5206667"/>
            <a:ext cx="532273" cy="532273"/>
          </a:xfrm>
          <a:prstGeom prst="rect">
            <a:avLst/>
          </a:prstGeom>
        </p:spPr>
      </p:pic>
      <p:pic>
        <p:nvPicPr>
          <p:cNvPr id="242" name="Picture 241">
            <a:extLst>
              <a:ext uri="{FF2B5EF4-FFF2-40B4-BE49-F238E27FC236}">
                <a16:creationId xmlns:a16="http://schemas.microsoft.com/office/drawing/2014/main" id="{6F48DEC1-4565-2109-F0A2-0F0142F0A97D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48738" y="5204460"/>
            <a:ext cx="529558" cy="529558"/>
          </a:xfrm>
          <a:prstGeom prst="rect">
            <a:avLst/>
          </a:prstGeom>
        </p:spPr>
      </p:pic>
      <p:pic>
        <p:nvPicPr>
          <p:cNvPr id="244" name="Picture 243">
            <a:extLst>
              <a:ext uri="{FF2B5EF4-FFF2-40B4-BE49-F238E27FC236}">
                <a16:creationId xmlns:a16="http://schemas.microsoft.com/office/drawing/2014/main" id="{EF6490DE-0B74-8A98-78B6-FB573827738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412189" y="5179892"/>
            <a:ext cx="536751" cy="536751"/>
          </a:xfrm>
          <a:prstGeom prst="rect">
            <a:avLst/>
          </a:prstGeom>
        </p:spPr>
      </p:pic>
      <p:pic>
        <p:nvPicPr>
          <p:cNvPr id="246" name="Picture 245">
            <a:extLst>
              <a:ext uri="{FF2B5EF4-FFF2-40B4-BE49-F238E27FC236}">
                <a16:creationId xmlns:a16="http://schemas.microsoft.com/office/drawing/2014/main" id="{24F2EB3F-5139-8979-FA15-BDD0F43C813C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951121" y="5245897"/>
            <a:ext cx="460826" cy="460826"/>
          </a:xfrm>
          <a:prstGeom prst="rect">
            <a:avLst/>
          </a:prstGeom>
        </p:spPr>
      </p:pic>
      <p:pic>
        <p:nvPicPr>
          <p:cNvPr id="248" name="Picture 247">
            <a:extLst>
              <a:ext uri="{FF2B5EF4-FFF2-40B4-BE49-F238E27FC236}">
                <a16:creationId xmlns:a16="http://schemas.microsoft.com/office/drawing/2014/main" id="{0ECC60AA-6628-92F5-EFDD-CCFB4CD8B822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369672" y="5143500"/>
            <a:ext cx="599496" cy="599496"/>
          </a:xfrm>
          <a:prstGeom prst="rect">
            <a:avLst/>
          </a:prstGeom>
        </p:spPr>
      </p:pic>
      <p:pic>
        <p:nvPicPr>
          <p:cNvPr id="250" name="Picture 249">
            <a:extLst>
              <a:ext uri="{FF2B5EF4-FFF2-40B4-BE49-F238E27FC236}">
                <a16:creationId xmlns:a16="http://schemas.microsoft.com/office/drawing/2014/main" id="{42FA650A-973E-1A45-2080-4B8A53865025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864193" y="5143500"/>
            <a:ext cx="644557" cy="644557"/>
          </a:xfrm>
          <a:prstGeom prst="rect">
            <a:avLst/>
          </a:prstGeom>
        </p:spPr>
      </p:pic>
      <p:pic>
        <p:nvPicPr>
          <p:cNvPr id="251" name="Picture 250">
            <a:extLst>
              <a:ext uri="{FF2B5EF4-FFF2-40B4-BE49-F238E27FC236}">
                <a16:creationId xmlns:a16="http://schemas.microsoft.com/office/drawing/2014/main" id="{84610CBF-870A-A388-25E3-A00F41174520}"/>
              </a:ext>
            </a:extLst>
          </p:cNvPr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930452" y="5172946"/>
            <a:ext cx="477468" cy="573503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020A1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347472" y="484632"/>
            <a:ext cx="2011680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50" b="1" i="0">
                <a:solidFill>
                  <a:srgbClr val="FFFFFF"/>
                </a:solidFill>
                <a:latin typeface="Segoe UI"/>
              </a:rPr>
              <a:t>COMBINED FLOW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2300" b="1" i="0">
                <a:solidFill>
                  <a:srgbClr val="FFFFFF"/>
                </a:solidFill>
                <a:latin typeface="Segoe UI"/>
              </a:rPr>
              <a:t>One Slide Summary: Problem -&gt; Architecture -&gt; PRD -&gt; PG3 -&gt; QA Gate</a:t>
            </a:r>
          </a:p>
        </p:txBody>
      </p:sp>
      <p:sp>
        <p:nvSpPr>
          <p:cNvPr id="7" name="Rectangle 6"/>
          <p:cNvSpPr/>
          <p:nvPr/>
        </p:nvSpPr>
        <p:spPr>
          <a:xfrm>
            <a:off x="347472" y="1325880"/>
            <a:ext cx="8449056" cy="1463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l"/>
            <a:r>
              <a:rPr sz="1200" b="0" i="1">
                <a:solidFill>
                  <a:srgbClr val="B8D0EC"/>
                </a:solidFill>
                <a:latin typeface="Segoe UI"/>
              </a:rPr>
              <a:t>Combines original pages 2, 3, 4, 5 and 7 while preserving the requested V10 pages 1, 6, 8 and 9 unchanged.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" y="3584448"/>
            <a:ext cx="8375904" cy="32004"/>
          </a:xfrm>
          <a:prstGeom prst="rect">
            <a:avLst/>
          </a:prstGeom>
          <a:solidFill>
            <a:srgbClr val="08284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384048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84048" y="2057400"/>
            <a:ext cx="1554480" cy="50292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96112" y="2350008"/>
            <a:ext cx="530352" cy="530352"/>
          </a:xfrm>
          <a:prstGeom prst="ellipse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6112" y="2478024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93776" y="3017520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FF8C00"/>
                </a:solidFill>
                <a:latin typeface="Segoe UI"/>
              </a:rPr>
              <a:t>Problem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48640" y="3383280"/>
            <a:ext cx="1225296" cy="12801"/>
          </a:xfrm>
          <a:prstGeom prst="rect">
            <a:avLst/>
          </a:prstGeom>
          <a:solidFill>
            <a:srgbClr val="FF8C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" y="3538728"/>
            <a:ext cx="1298448" cy="10789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Fragmented PRD, Jira, Confluence, GitHub, QA and hardware evidence slow PG1-to-PG5 decisions.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956816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982419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00802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3362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2103120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03120" y="2057400"/>
            <a:ext cx="1554480" cy="50292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2615184" y="2350008"/>
            <a:ext cx="530352" cy="530352"/>
          </a:xfrm>
          <a:prstGeom prst="ellipse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615184" y="2478024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212848" y="3017520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0072C6"/>
                </a:solidFill>
                <a:latin typeface="Segoe UI"/>
              </a:rPr>
              <a:t>Architecture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267712" y="3383280"/>
            <a:ext cx="1225296" cy="12801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2231136" y="3538728"/>
            <a:ext cx="1298448" cy="10789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AEPLO connects inputs into a knowledge graph, orchestration core, automation and release-gate outcomes.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7588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701491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727094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752697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3822191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822191" y="2057400"/>
            <a:ext cx="1554480" cy="50292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Oval 33"/>
          <p:cNvSpPr/>
          <p:nvPr/>
        </p:nvSpPr>
        <p:spPr>
          <a:xfrm>
            <a:off x="4334255" y="2350008"/>
            <a:ext cx="530352" cy="530352"/>
          </a:xfrm>
          <a:prstGeom prst="ellipse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334255" y="2478024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931919" y="3017520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00A89A"/>
                </a:solidFill>
                <a:latin typeface="Segoe UI"/>
              </a:rPr>
              <a:t>PRD -&gt; Stories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3986783" y="3383280"/>
            <a:ext cx="1225296" cy="12801"/>
          </a:xfrm>
          <a:prstGeom prst="rect">
            <a:avLst/>
          </a:prstGeom>
          <a:solidFill>
            <a:srgbClr val="00A89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950207" y="3538728"/>
            <a:ext cx="1298448" cy="10789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Confluence PRD guided by SDE Elements and PSJIRA creates epics/stories for users to pick and branch.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394959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42056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44616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7176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5541264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541264" y="2057400"/>
            <a:ext cx="1554480" cy="50292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6053328" y="2350008"/>
            <a:ext cx="530352" cy="530352"/>
          </a:xfrm>
          <a:prstGeom prst="ellipse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53328" y="2478024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4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50992" y="3017520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8B5CF6"/>
                </a:solidFill>
                <a:latin typeface="Segoe UI"/>
              </a:rPr>
              <a:t>PG3 Firmware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705856" y="3383280"/>
            <a:ext cx="1225296" cy="12801"/>
          </a:xfrm>
          <a:prstGeom prst="rect">
            <a:avLst/>
          </a:prstGeom>
          <a:solidFill>
            <a:srgbClr val="8B5C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669280" y="3538728"/>
            <a:ext cx="1298448" cy="10789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Datasheet + PRD + SDK/BSP + OS/RTOS context generate and validate firmware/code.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7114032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7139635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7165238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7190841" y="3575304"/>
            <a:ext cx="16459" cy="29260"/>
          </a:xfrm>
          <a:prstGeom prst="rect">
            <a:avLst/>
          </a:prstGeom>
          <a:solidFill>
            <a:srgbClr val="00C8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ounded Rectangle 53"/>
          <p:cNvSpPr/>
          <p:nvPr/>
        </p:nvSpPr>
        <p:spPr>
          <a:xfrm>
            <a:off x="7260336" y="2057400"/>
            <a:ext cx="1554480" cy="3063240"/>
          </a:xfrm>
          <a:prstGeom prst="roundRect">
            <a:avLst/>
          </a:prstGeom>
          <a:solidFill>
            <a:srgbClr val="0F284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7260336" y="2057400"/>
            <a:ext cx="1554480" cy="50292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7772400" y="2350008"/>
            <a:ext cx="530352" cy="530352"/>
          </a:xfrm>
          <a:prstGeom prst="ellipse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7772400" y="2478024"/>
            <a:ext cx="530352" cy="109728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Segoe UI"/>
              </a:rPr>
              <a:t>5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7370064" y="3017520"/>
            <a:ext cx="1335024" cy="320040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1050" b="1" i="0">
                <a:solidFill>
                  <a:srgbClr val="00D48A"/>
                </a:solidFill>
                <a:latin typeface="Segoe UI"/>
              </a:rPr>
              <a:t>QA Closed Loop</a:t>
            </a:r>
          </a:p>
        </p:txBody>
      </p:sp>
      <p:sp>
        <p:nvSpPr>
          <p:cNvPr id="59" name="Rectangle 58"/>
          <p:cNvSpPr/>
          <p:nvPr/>
        </p:nvSpPr>
        <p:spPr>
          <a:xfrm>
            <a:off x="7424928" y="3383280"/>
            <a:ext cx="1225296" cy="12801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7388352" y="3538728"/>
            <a:ext cx="1298448" cy="1078992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840" b="0" i="0">
                <a:solidFill>
                  <a:srgbClr val="B8D0EC"/>
                </a:solidFill>
                <a:latin typeface="Segoe UI"/>
              </a:rPr>
              <a:t>QA inputs, PRD and JTAG evidence produce READY / NOT_READY; gaps become next-release priorities.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20040" y="6144768"/>
            <a:ext cx="8503920" cy="310896"/>
          </a:xfrm>
          <a:prstGeom prst="round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320040" y="6144768"/>
            <a:ext cx="45720" cy="310896"/>
          </a:xfrm>
          <a:prstGeom prst="rect">
            <a:avLst/>
          </a:prstGeom>
          <a:solidFill>
            <a:srgbClr val="0072C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02920" y="6144768"/>
            <a:ext cx="8229600" cy="310896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ctr"/>
            <a:r>
              <a:rPr sz="930" b="1" i="0">
                <a:solidFill>
                  <a:srgbClr val="00C8F0"/>
                </a:solidFill>
                <a:latin typeface="Segoe UI"/>
              </a:rPr>
              <a:t>Output: users pick traceable work, create feature branches, validate PG3 firmware with JTAG evidence, and loop through QA until READY.</a:t>
            </a:r>
          </a:p>
        </p:txBody>
      </p:sp>
      <p:sp>
        <p:nvSpPr>
          <p:cNvPr id="64" name="Rectangle 63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0E2A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8275320" y="6565392"/>
            <a:ext cx="41148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0" i="0">
                <a:solidFill>
                  <a:srgbClr val="6080A8"/>
                </a:solidFill>
                <a:latin typeface="Segoe UI"/>
              </a:rPr>
              <a:t>2  /  5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7406640" y="6565392"/>
            <a:ext cx="777240" cy="146304"/>
          </a:xfrm>
          <a:prstGeom prst="rect">
            <a:avLst/>
          </a:prstGeom>
          <a:noFill/>
        </p:spPr>
        <p:txBody>
          <a:bodyPr wrap="square" lIns="36576" rIns="36576" tIns="18288" bIns="18288">
            <a:spAutoFit/>
          </a:bodyPr>
          <a:lstStyle/>
          <a:p>
            <a:pPr algn="r"/>
            <a:r>
              <a:rPr sz="850" b="1" i="0">
                <a:solidFill>
                  <a:srgbClr val="6080A8"/>
                </a:solidFill>
                <a:latin typeface="Segoe UI"/>
              </a:rPr>
              <a:t>HONEYWELL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29AA3D-9E9D-0F14-F0DD-124AABEDB9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B494532-563A-EC02-1800-5D90A66210E7}"/>
              </a:ext>
            </a:extLst>
          </p:cNvPr>
          <p:cNvSpPr/>
          <p:nvPr/>
        </p:nvSpPr>
        <p:spPr>
          <a:xfrm>
            <a:off x="0" y="-338684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655DA41-095B-D3E1-3B4E-71A7755DB23C}"/>
              </a:ext>
            </a:extLst>
          </p:cNvPr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>
            <a:extLst>
              <a:ext uri="{FF2B5EF4-FFF2-40B4-BE49-F238E27FC236}">
                <a16:creationId xmlns:a16="http://schemas.microsoft.com/office/drawing/2014/main" id="{1B0703DB-49DE-3174-2D07-184ED8F20F0B}"/>
              </a:ext>
            </a:extLst>
          </p:cNvPr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660829D-C4FD-331E-BC12-68026E61127A}"/>
              </a:ext>
            </a:extLst>
          </p:cNvPr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JTAG DEBUG COPILOT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3D5E541-162F-9DB4-E1A2-5C72979D8E3F}"/>
              </a:ext>
            </a:extLst>
          </p:cNvPr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2800" b="1" i="0">
                <a:solidFill>
                  <a:srgbClr val="FFFFFF"/>
                </a:solidFill>
                <a:latin typeface="Arial"/>
              </a:rPr>
              <a:t>Agent JTAG Debugging: From Failure to Fix</a:t>
            </a:r>
            <a:endParaRPr sz="2800" b="1" i="0">
              <a:solidFill>
                <a:srgbClr val="FFFFFF"/>
              </a:solidFill>
              <a:latin typeface="Segoe UI"/>
            </a:endParaRP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1F2BAD0A-C1E0-C9D9-2574-7883A375CD20}"/>
              </a:ext>
            </a:extLst>
          </p:cNvPr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8" name="Rectangle 87">
            <a:extLst>
              <a:ext uri="{FF2B5EF4-FFF2-40B4-BE49-F238E27FC236}">
                <a16:creationId xmlns:a16="http://schemas.microsoft.com/office/drawing/2014/main" id="{5EC86AF2-44E5-04CC-ED51-AF652062FB84}"/>
              </a:ext>
            </a:extLst>
          </p:cNvPr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9" name="TextBox 88">
            <a:extLst>
              <a:ext uri="{FF2B5EF4-FFF2-40B4-BE49-F238E27FC236}">
                <a16:creationId xmlns:a16="http://schemas.microsoft.com/office/drawing/2014/main" id="{DD8309E7-BBF2-586F-5AB2-0A46BAECF76B}"/>
              </a:ext>
            </a:extLst>
          </p:cNvPr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6  /  9</a:t>
            </a:r>
          </a:p>
        </p:txBody>
      </p:sp>
      <p:sp>
        <p:nvSpPr>
          <p:cNvPr id="110" name="Rounded Rectangle 26">
            <a:extLst>
              <a:ext uri="{FF2B5EF4-FFF2-40B4-BE49-F238E27FC236}">
                <a16:creationId xmlns:a16="http://schemas.microsoft.com/office/drawing/2014/main" id="{2445ED3F-2AB1-3F8D-A939-B69AE27EBC13}"/>
              </a:ext>
            </a:extLst>
          </p:cNvPr>
          <p:cNvSpPr/>
          <p:nvPr/>
        </p:nvSpPr>
        <p:spPr>
          <a:xfrm>
            <a:off x="4502150" y="1490472"/>
            <a:ext cx="4568724" cy="4946904"/>
          </a:xfrm>
          <a:prstGeom prst="roundRect">
            <a:avLst>
              <a:gd name="adj" fmla="val 11746"/>
            </a:avLst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0" name="Rectangle 89">
            <a:extLst>
              <a:ext uri="{FF2B5EF4-FFF2-40B4-BE49-F238E27FC236}">
                <a16:creationId xmlns:a16="http://schemas.microsoft.com/office/drawing/2014/main" id="{444AC20B-5D09-003C-2025-C797143DE1F4}"/>
              </a:ext>
            </a:extLst>
          </p:cNvPr>
          <p:cNvSpPr/>
          <p:nvPr/>
        </p:nvSpPr>
        <p:spPr>
          <a:xfrm>
            <a:off x="4810753" y="2366569"/>
            <a:ext cx="4049046" cy="2858107"/>
          </a:xfrm>
          <a:prstGeom prst="rect">
            <a:avLst/>
          </a:prstGeom>
          <a:noFill/>
          <a:ln w="28575">
            <a:solidFill>
              <a:schemeClr val="bg1">
                <a:lumMod val="75000"/>
              </a:schemeClr>
            </a:solidFill>
            <a:prstDash val="dash"/>
            <a:round/>
          </a:ln>
          <a:effectLst>
            <a:outerShdw blurRad="50800" dist="38100" dir="16200000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rgbClr val="FF0000"/>
              </a:solidFill>
              <a:highlight>
                <a:srgbClr val="FFFF00"/>
              </a:highlight>
            </a:endParaRPr>
          </a:p>
        </p:txBody>
      </p:sp>
      <p:sp>
        <p:nvSpPr>
          <p:cNvPr id="91" name="TextBox 90">
            <a:extLst>
              <a:ext uri="{FF2B5EF4-FFF2-40B4-BE49-F238E27FC236}">
                <a16:creationId xmlns:a16="http://schemas.microsoft.com/office/drawing/2014/main" id="{0FB0001D-1A63-F1BE-E4E3-B66F768455B1}"/>
              </a:ext>
            </a:extLst>
          </p:cNvPr>
          <p:cNvSpPr txBox="1"/>
          <p:nvPr/>
        </p:nvSpPr>
        <p:spPr>
          <a:xfrm>
            <a:off x="6084349" y="1687471"/>
            <a:ext cx="3494399" cy="184666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1">
                <a:solidFill>
                  <a:srgbClr val="FF0000"/>
                </a:solidFill>
                <a:latin typeface="Segoe UI"/>
              </a:rPr>
              <a:t>JTAG - Agent Workflow </a:t>
            </a:r>
            <a:endParaRPr kumimoji="0" lang="en-US" sz="1050" b="1" i="0" u="none" strike="noStrike" kern="0" cap="none" spc="0" normalizeH="0" baseline="0" noProof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2" name="Rectangle 91">
            <a:extLst>
              <a:ext uri="{FF2B5EF4-FFF2-40B4-BE49-F238E27FC236}">
                <a16:creationId xmlns:a16="http://schemas.microsoft.com/office/drawing/2014/main" id="{ADE047CA-0461-A46B-6632-ACB3C62E2A2E}"/>
              </a:ext>
            </a:extLst>
          </p:cNvPr>
          <p:cNvSpPr/>
          <p:nvPr/>
        </p:nvSpPr>
        <p:spPr>
          <a:xfrm>
            <a:off x="4882531" y="1945289"/>
            <a:ext cx="3877804" cy="35850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Bug/Story Ticket</a:t>
            </a:r>
          </a:p>
        </p:txBody>
      </p:sp>
      <p:sp>
        <p:nvSpPr>
          <p:cNvPr id="93" name="Rectangle 92">
            <a:extLst>
              <a:ext uri="{FF2B5EF4-FFF2-40B4-BE49-F238E27FC236}">
                <a16:creationId xmlns:a16="http://schemas.microsoft.com/office/drawing/2014/main" id="{4A937C22-EAF7-2997-D9AE-17BBC2D64CFA}"/>
              </a:ext>
            </a:extLst>
          </p:cNvPr>
          <p:cNvSpPr/>
          <p:nvPr/>
        </p:nvSpPr>
        <p:spPr>
          <a:xfrm>
            <a:off x="4891575" y="2451696"/>
            <a:ext cx="3877804" cy="597404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400" b="1">
                <a:solidFill>
                  <a:schemeClr val="bg1"/>
                </a:solidFill>
              </a:rPr>
              <a:t>JTAG Orchestrator</a:t>
            </a:r>
          </a:p>
          <a:p>
            <a:pPr algn="ctr"/>
            <a:r>
              <a:rPr lang="en-US" sz="1200" b="1">
                <a:solidFill>
                  <a:schemeClr val="bg1"/>
                </a:solidFill>
              </a:rPr>
              <a:t>-Context Extraction                  -Tool / Agent Routing</a:t>
            </a:r>
          </a:p>
        </p:txBody>
      </p:sp>
      <p:sp>
        <p:nvSpPr>
          <p:cNvPr id="94" name="Rectangle 93">
            <a:extLst>
              <a:ext uri="{FF2B5EF4-FFF2-40B4-BE49-F238E27FC236}">
                <a16:creationId xmlns:a16="http://schemas.microsoft.com/office/drawing/2014/main" id="{592E2B0C-1C6C-CD74-1B82-7F74F73A6468}"/>
              </a:ext>
            </a:extLst>
          </p:cNvPr>
          <p:cNvSpPr/>
          <p:nvPr/>
        </p:nvSpPr>
        <p:spPr>
          <a:xfrm>
            <a:off x="4881976" y="4540287"/>
            <a:ext cx="3887402" cy="586257"/>
          </a:xfrm>
          <a:prstGeom prst="rect">
            <a:avLst/>
          </a:prstGeom>
          <a:solidFill>
            <a:srgbClr val="6B6B6B"/>
          </a:solidFill>
          <a:ln>
            <a:noFill/>
          </a:ln>
          <a:effectLst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Target MCU - Hardware</a:t>
            </a:r>
          </a:p>
          <a:p>
            <a:pPr algn="ctr"/>
            <a:r>
              <a:rPr lang="en-US" sz="1100" b="1">
                <a:solidFill>
                  <a:schemeClr val="bg1"/>
                </a:solidFill>
              </a:rPr>
              <a:t>(STM32 , Cortex-M)</a:t>
            </a:r>
          </a:p>
        </p:txBody>
      </p:sp>
      <p:sp>
        <p:nvSpPr>
          <p:cNvPr id="95" name="Rectangle 94">
            <a:extLst>
              <a:ext uri="{FF2B5EF4-FFF2-40B4-BE49-F238E27FC236}">
                <a16:creationId xmlns:a16="http://schemas.microsoft.com/office/drawing/2014/main" id="{EDAA72A7-4FAD-6747-6CD6-8FBB7F6216F7}"/>
              </a:ext>
            </a:extLst>
          </p:cNvPr>
          <p:cNvSpPr/>
          <p:nvPr/>
        </p:nvSpPr>
        <p:spPr>
          <a:xfrm>
            <a:off x="4891575" y="5321118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chemeClr val="bg1"/>
                </a:solidFill>
              </a:rPr>
              <a:t>Git Provider</a:t>
            </a:r>
          </a:p>
          <a:p>
            <a:pPr algn="ctr"/>
            <a:r>
              <a:rPr lang="en-US" sz="1200">
                <a:solidFill>
                  <a:schemeClr val="bg1"/>
                </a:solidFill>
              </a:rPr>
              <a:t>- Branch + PR Creation</a:t>
            </a:r>
          </a:p>
        </p:txBody>
      </p:sp>
      <p:sp>
        <p:nvSpPr>
          <p:cNvPr id="96" name="Rectangle 95">
            <a:extLst>
              <a:ext uri="{FF2B5EF4-FFF2-40B4-BE49-F238E27FC236}">
                <a16:creationId xmlns:a16="http://schemas.microsoft.com/office/drawing/2014/main" id="{D61C4652-5DCC-DC32-F083-E36A98C2F115}"/>
              </a:ext>
            </a:extLst>
          </p:cNvPr>
          <p:cNvSpPr/>
          <p:nvPr/>
        </p:nvSpPr>
        <p:spPr>
          <a:xfrm>
            <a:off x="4872932" y="5847457"/>
            <a:ext cx="3887402" cy="416183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200" b="1">
                <a:solidFill>
                  <a:srgbClr val="FFFFFF"/>
                </a:solidFill>
              </a:rPr>
              <a:t>Jira Ticket</a:t>
            </a:r>
          </a:p>
          <a:p>
            <a:pPr algn="ctr"/>
            <a:r>
              <a:rPr lang="en-US" sz="1200" b="1">
                <a:solidFill>
                  <a:srgbClr val="FFFFFF"/>
                </a:solidFill>
              </a:rPr>
              <a:t>RCA | Logs | Review</a:t>
            </a:r>
          </a:p>
        </p:txBody>
      </p:sp>
      <p:sp>
        <p:nvSpPr>
          <p:cNvPr id="97" name="Rectangle 96">
            <a:extLst>
              <a:ext uri="{FF2B5EF4-FFF2-40B4-BE49-F238E27FC236}">
                <a16:creationId xmlns:a16="http://schemas.microsoft.com/office/drawing/2014/main" id="{17C28E6D-2A93-4EDB-FFF6-E89C3D566DAE}"/>
              </a:ext>
            </a:extLst>
          </p:cNvPr>
          <p:cNvSpPr/>
          <p:nvPr/>
        </p:nvSpPr>
        <p:spPr>
          <a:xfrm>
            <a:off x="5794540" y="3318510"/>
            <a:ext cx="2234641" cy="187137"/>
          </a:xfrm>
          <a:prstGeom prst="rect">
            <a:avLst/>
          </a:prstGeom>
          <a:solidFill>
            <a:srgbClr val="A9A9A9">
              <a:alpha val="0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200" b="1">
              <a:solidFill>
                <a:schemeClr val="tx1"/>
              </a:solidFill>
            </a:endParaRPr>
          </a:p>
          <a:p>
            <a:r>
              <a:rPr lang="en-US" sz="1200" b="1">
                <a:solidFill>
                  <a:schemeClr val="tx1">
                    <a:lumMod val="50000"/>
                    <a:lumOff val="50000"/>
                  </a:schemeClr>
                </a:solidFill>
                <a:latin typeface="Segoe UI"/>
              </a:rPr>
              <a:t>Sub Agents (Multi-Agent)</a:t>
            </a:r>
          </a:p>
          <a:p>
            <a:pPr algn="ctr"/>
            <a:endParaRPr lang="en-US" sz="1200" b="1">
              <a:solidFill>
                <a:schemeClr val="tx1"/>
              </a:solidFill>
            </a:endParaRPr>
          </a:p>
        </p:txBody>
      </p:sp>
      <p:sp>
        <p:nvSpPr>
          <p:cNvPr id="98" name="Rectangle: Rounded Corners 97">
            <a:extLst>
              <a:ext uri="{FF2B5EF4-FFF2-40B4-BE49-F238E27FC236}">
                <a16:creationId xmlns:a16="http://schemas.microsoft.com/office/drawing/2014/main" id="{1D3F4EFE-E6F3-6BAB-B41A-48728434BB3A}"/>
              </a:ext>
            </a:extLst>
          </p:cNvPr>
          <p:cNvSpPr/>
          <p:nvPr/>
        </p:nvSpPr>
        <p:spPr>
          <a:xfrm>
            <a:off x="4572000" y="3547950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Fault Analyzer</a:t>
            </a:r>
          </a:p>
        </p:txBody>
      </p:sp>
      <p:sp>
        <p:nvSpPr>
          <p:cNvPr id="99" name="Rectangle: Rounded Corners 98">
            <a:extLst>
              <a:ext uri="{FF2B5EF4-FFF2-40B4-BE49-F238E27FC236}">
                <a16:creationId xmlns:a16="http://schemas.microsoft.com/office/drawing/2014/main" id="{AB6E3101-DB27-A0B5-C335-E935C3062232}"/>
              </a:ext>
            </a:extLst>
          </p:cNvPr>
          <p:cNvSpPr/>
          <p:nvPr/>
        </p:nvSpPr>
        <p:spPr>
          <a:xfrm>
            <a:off x="5405065" y="3546537"/>
            <a:ext cx="762730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Variable Tracer</a:t>
            </a:r>
          </a:p>
        </p:txBody>
      </p:sp>
      <p:sp>
        <p:nvSpPr>
          <p:cNvPr id="100" name="Rectangle: Rounded Corners 99">
            <a:extLst>
              <a:ext uri="{FF2B5EF4-FFF2-40B4-BE49-F238E27FC236}">
                <a16:creationId xmlns:a16="http://schemas.microsoft.com/office/drawing/2014/main" id="{9CACA3A9-BF1F-4F6E-92B2-781133C05EB0}"/>
              </a:ext>
            </a:extLst>
          </p:cNvPr>
          <p:cNvSpPr/>
          <p:nvPr/>
        </p:nvSpPr>
        <p:spPr>
          <a:xfrm>
            <a:off x="6223074" y="3544875"/>
            <a:ext cx="845379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Peripheral Inspector</a:t>
            </a:r>
          </a:p>
        </p:txBody>
      </p:sp>
      <p:sp>
        <p:nvSpPr>
          <p:cNvPr id="101" name="Rectangle: Rounded Corners 100">
            <a:extLst>
              <a:ext uri="{FF2B5EF4-FFF2-40B4-BE49-F238E27FC236}">
                <a16:creationId xmlns:a16="http://schemas.microsoft.com/office/drawing/2014/main" id="{164AD8DF-0DE4-748F-9A4D-87F4D4664363}"/>
              </a:ext>
            </a:extLst>
          </p:cNvPr>
          <p:cNvSpPr/>
          <p:nvPr/>
        </p:nvSpPr>
        <p:spPr>
          <a:xfrm>
            <a:off x="7131797" y="3558609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6B6B6B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Probing</a:t>
            </a:r>
          </a:p>
          <a:p>
            <a:pPr algn="ctr"/>
            <a:r>
              <a:rPr lang="en-US" sz="1100">
                <a:solidFill>
                  <a:schemeClr val="bg1"/>
                </a:solidFill>
              </a:rPr>
              <a:t>Agent</a:t>
            </a:r>
          </a:p>
        </p:txBody>
      </p:sp>
      <p:sp>
        <p:nvSpPr>
          <p:cNvPr id="102" name="Rectangle: Rounded Corners 101">
            <a:extLst>
              <a:ext uri="{FF2B5EF4-FFF2-40B4-BE49-F238E27FC236}">
                <a16:creationId xmlns:a16="http://schemas.microsoft.com/office/drawing/2014/main" id="{3D646080-BE49-03D2-A2BE-303A231C5BCF}"/>
              </a:ext>
            </a:extLst>
          </p:cNvPr>
          <p:cNvSpPr/>
          <p:nvPr/>
        </p:nvSpPr>
        <p:spPr>
          <a:xfrm>
            <a:off x="8117907" y="3548451"/>
            <a:ext cx="929183" cy="466779"/>
          </a:xfrm>
          <a:prstGeom prst="roundRect">
            <a:avLst>
              <a:gd name="adj" fmla="val 18499"/>
            </a:avLst>
          </a:prstGeom>
          <a:solidFill>
            <a:srgbClr val="D71920"/>
          </a:solidFill>
          <a:ln>
            <a:noFill/>
          </a:ln>
          <a:effectLst>
            <a:outerShdw blurRad="50800" dist="38100" dir="8100000" algn="tr" rotWithShape="0">
              <a:prstClr val="black">
                <a:alpha val="4000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100">
                <a:solidFill>
                  <a:schemeClr val="bg1"/>
                </a:solidFill>
              </a:rPr>
              <a:t>Controlled Auto Fix</a:t>
            </a:r>
          </a:p>
        </p:txBody>
      </p:sp>
      <p:sp>
        <p:nvSpPr>
          <p:cNvPr id="104" name="Arrow: Down 103">
            <a:extLst>
              <a:ext uri="{FF2B5EF4-FFF2-40B4-BE49-F238E27FC236}">
                <a16:creationId xmlns:a16="http://schemas.microsoft.com/office/drawing/2014/main" id="{2AA5FC09-C06B-315D-DCCD-8FE40D6E7F9B}"/>
              </a:ext>
            </a:extLst>
          </p:cNvPr>
          <p:cNvSpPr/>
          <p:nvPr/>
        </p:nvSpPr>
        <p:spPr>
          <a:xfrm>
            <a:off x="5504125" y="4141791"/>
            <a:ext cx="302217" cy="360402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5" name="Arrow: Down 104">
            <a:extLst>
              <a:ext uri="{FF2B5EF4-FFF2-40B4-BE49-F238E27FC236}">
                <a16:creationId xmlns:a16="http://schemas.microsoft.com/office/drawing/2014/main" id="{91CE8768-4D42-B265-E3E2-58801801B7FC}"/>
              </a:ext>
            </a:extLst>
          </p:cNvPr>
          <p:cNvSpPr/>
          <p:nvPr/>
        </p:nvSpPr>
        <p:spPr>
          <a:xfrm rot="10800000">
            <a:off x="7893183" y="4117634"/>
            <a:ext cx="315732" cy="360143"/>
          </a:xfrm>
          <a:prstGeom prst="downArrow">
            <a:avLst/>
          </a:prstGeom>
          <a:solidFill>
            <a:srgbClr val="6B6B6B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6" name="TextBox 105">
            <a:extLst>
              <a:ext uri="{FF2B5EF4-FFF2-40B4-BE49-F238E27FC236}">
                <a16:creationId xmlns:a16="http://schemas.microsoft.com/office/drawing/2014/main" id="{466F2210-3F96-A27A-6B09-A69EBA95F8CA}"/>
              </a:ext>
            </a:extLst>
          </p:cNvPr>
          <p:cNvSpPr txBox="1"/>
          <p:nvPr/>
        </p:nvSpPr>
        <p:spPr>
          <a:xfrm>
            <a:off x="5928541" y="4251271"/>
            <a:ext cx="1964642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FF0000"/>
                </a:solidFill>
                <a:latin typeface="Segoe UI"/>
              </a:rPr>
              <a:t>Physical Interface to Hardware</a:t>
            </a:r>
          </a:p>
        </p:txBody>
      </p:sp>
      <p:sp>
        <p:nvSpPr>
          <p:cNvPr id="107" name="Arrow: Down 106">
            <a:extLst>
              <a:ext uri="{FF2B5EF4-FFF2-40B4-BE49-F238E27FC236}">
                <a16:creationId xmlns:a16="http://schemas.microsoft.com/office/drawing/2014/main" id="{A58741E5-B20A-73D8-DC6F-A26668ED1160}"/>
              </a:ext>
            </a:extLst>
          </p:cNvPr>
          <p:cNvSpPr/>
          <p:nvPr/>
        </p:nvSpPr>
        <p:spPr>
          <a:xfrm>
            <a:off x="6629062" y="3080827"/>
            <a:ext cx="238477" cy="218655"/>
          </a:xfrm>
          <a:prstGeom prst="downArrow">
            <a:avLst/>
          </a:prstGeom>
          <a:solidFill>
            <a:srgbClr val="FF0000"/>
          </a:solidFill>
          <a:ln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err="1">
              <a:solidFill>
                <a:schemeClr val="tx1"/>
              </a:solidFill>
            </a:endParaRPr>
          </a:p>
        </p:txBody>
      </p:sp>
      <p:sp>
        <p:nvSpPr>
          <p:cNvPr id="108" name="TextBox 107">
            <a:extLst>
              <a:ext uri="{FF2B5EF4-FFF2-40B4-BE49-F238E27FC236}">
                <a16:creationId xmlns:a16="http://schemas.microsoft.com/office/drawing/2014/main" id="{1212C948-7DFB-8225-D1A6-C259F4111B20}"/>
              </a:ext>
            </a:extLst>
          </p:cNvPr>
          <p:cNvSpPr txBox="1"/>
          <p:nvPr/>
        </p:nvSpPr>
        <p:spPr>
          <a:xfrm>
            <a:off x="6913592" y="3090316"/>
            <a:ext cx="511151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r>
              <a:rPr lang="en-US" sz="1050" b="1">
                <a:solidFill>
                  <a:srgbClr val="C00000"/>
                </a:solidFill>
                <a:latin typeface="Segoe UI"/>
              </a:rPr>
              <a:t>A2A</a:t>
            </a:r>
            <a:endParaRPr lang="en-US" sz="1300" b="1">
              <a:solidFill>
                <a:srgbClr val="C00000"/>
              </a:solidFill>
              <a:latin typeface="Segoe UI"/>
            </a:endParaRPr>
          </a:p>
        </p:txBody>
      </p:sp>
      <p:sp>
        <p:nvSpPr>
          <p:cNvPr id="112" name="Rounded Rectangle 71">
            <a:extLst>
              <a:ext uri="{FF2B5EF4-FFF2-40B4-BE49-F238E27FC236}">
                <a16:creationId xmlns:a16="http://schemas.microsoft.com/office/drawing/2014/main" id="{8AA13838-9DB4-74F6-C927-58E428D39838}"/>
              </a:ext>
            </a:extLst>
          </p:cNvPr>
          <p:cNvSpPr/>
          <p:nvPr/>
        </p:nvSpPr>
        <p:spPr>
          <a:xfrm>
            <a:off x="232337" y="1574798"/>
            <a:ext cx="4032557" cy="35478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en-US" sz="1050" b="1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13" name="Rectangle 112">
            <a:extLst>
              <a:ext uri="{FF2B5EF4-FFF2-40B4-BE49-F238E27FC236}">
                <a16:creationId xmlns:a16="http://schemas.microsoft.com/office/drawing/2014/main" id="{E8FF9C45-E82C-C26B-0593-8C7808AA6235}"/>
              </a:ext>
            </a:extLst>
          </p:cNvPr>
          <p:cNvSpPr/>
          <p:nvPr/>
        </p:nvSpPr>
        <p:spPr>
          <a:xfrm>
            <a:off x="232337" y="1574798"/>
            <a:ext cx="63625" cy="3547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5DD612C8-DEA0-7526-5232-37363E748859}"/>
              </a:ext>
            </a:extLst>
          </p:cNvPr>
          <p:cNvGrpSpPr/>
          <p:nvPr/>
        </p:nvGrpSpPr>
        <p:grpSpPr>
          <a:xfrm>
            <a:off x="232336" y="2154232"/>
            <a:ext cx="4055965" cy="1323236"/>
            <a:chOff x="58373" y="2985722"/>
            <a:chExt cx="2697480" cy="868680"/>
          </a:xfrm>
        </p:grpSpPr>
        <p:sp>
          <p:nvSpPr>
            <p:cNvPr id="121" name="Rounded Rectangle 75">
              <a:extLst>
                <a:ext uri="{FF2B5EF4-FFF2-40B4-BE49-F238E27FC236}">
                  <a16:creationId xmlns:a16="http://schemas.microsoft.com/office/drawing/2014/main" id="{CE3941D8-2543-9F45-1EE7-2C7E01A38D67}"/>
                </a:ext>
              </a:extLst>
            </p:cNvPr>
            <p:cNvSpPr/>
            <p:nvPr/>
          </p:nvSpPr>
          <p:spPr>
            <a:xfrm>
              <a:off x="58373" y="2985722"/>
              <a:ext cx="2697480" cy="868680"/>
            </a:xfrm>
            <a:prstGeom prst="roundRect">
              <a:avLst>
                <a:gd name="adj" fmla="val 6877"/>
              </a:avLst>
            </a:prstGeom>
            <a:solidFill>
              <a:srgbClr val="0F2845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  <p:sp>
          <p:nvSpPr>
            <p:cNvPr id="122" name="Rectangle 121">
              <a:extLst>
                <a:ext uri="{FF2B5EF4-FFF2-40B4-BE49-F238E27FC236}">
                  <a16:creationId xmlns:a16="http://schemas.microsoft.com/office/drawing/2014/main" id="{4935DE6C-837F-D3F7-062F-7E7B781C7910}"/>
                </a:ext>
              </a:extLst>
            </p:cNvPr>
            <p:cNvSpPr/>
            <p:nvPr/>
          </p:nvSpPr>
          <p:spPr>
            <a:xfrm>
              <a:off x="58373" y="2985722"/>
              <a:ext cx="45720" cy="868680"/>
            </a:xfrm>
            <a:prstGeom prst="rect">
              <a:avLst/>
            </a:prstGeom>
            <a:solidFill>
              <a:srgbClr val="00A89A"/>
            </a:solidFill>
            <a:ln>
              <a:noFill/>
            </a:ln>
          </p:spPr>
          <p:style>
            <a:lnRef idx="1">
              <a:schemeClr val="accent1"/>
            </a:lnRef>
            <a:fillRef idx="3">
              <a:schemeClr val="accent1"/>
            </a:fillRef>
            <a:effectRef idx="2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/>
            </a:p>
          </p:txBody>
        </p:sp>
      </p:grpSp>
      <p:sp>
        <p:nvSpPr>
          <p:cNvPr id="125" name="Rounded Rectangle 75">
            <a:extLst>
              <a:ext uri="{FF2B5EF4-FFF2-40B4-BE49-F238E27FC236}">
                <a16:creationId xmlns:a16="http://schemas.microsoft.com/office/drawing/2014/main" id="{A148F514-4E3B-EE65-E6B2-AB3E6E9040EE}"/>
              </a:ext>
            </a:extLst>
          </p:cNvPr>
          <p:cNvSpPr/>
          <p:nvPr/>
        </p:nvSpPr>
        <p:spPr>
          <a:xfrm>
            <a:off x="213581" y="3566076"/>
            <a:ext cx="4055965" cy="1540277"/>
          </a:xfrm>
          <a:prstGeom prst="roundRect">
            <a:avLst>
              <a:gd name="adj" fmla="val 6877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7" name="Rectangle 126">
            <a:extLst>
              <a:ext uri="{FF2B5EF4-FFF2-40B4-BE49-F238E27FC236}">
                <a16:creationId xmlns:a16="http://schemas.microsoft.com/office/drawing/2014/main" id="{EBEF358D-44DD-4B4B-5451-559406E54F3D}"/>
              </a:ext>
            </a:extLst>
          </p:cNvPr>
          <p:cNvSpPr/>
          <p:nvPr/>
        </p:nvSpPr>
        <p:spPr>
          <a:xfrm>
            <a:off x="217505" y="3565386"/>
            <a:ext cx="83576" cy="1540277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9" name="Rounded Rectangle 79">
            <a:extLst>
              <a:ext uri="{FF2B5EF4-FFF2-40B4-BE49-F238E27FC236}">
                <a16:creationId xmlns:a16="http://schemas.microsoft.com/office/drawing/2014/main" id="{EFD6A22B-8B15-C890-08EA-4798E6253AF8}"/>
              </a:ext>
            </a:extLst>
          </p:cNvPr>
          <p:cNvSpPr/>
          <p:nvPr/>
        </p:nvSpPr>
        <p:spPr>
          <a:xfrm>
            <a:off x="239330" y="5176572"/>
            <a:ext cx="4025563" cy="996241"/>
          </a:xfrm>
          <a:prstGeom prst="roundRect">
            <a:avLst>
              <a:gd name="adj" fmla="val 5959"/>
            </a:avLst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4" name="TextBox 113">
            <a:extLst>
              <a:ext uri="{FF2B5EF4-FFF2-40B4-BE49-F238E27FC236}">
                <a16:creationId xmlns:a16="http://schemas.microsoft.com/office/drawing/2014/main" id="{2A6BDB28-FBDE-4636-E6CA-4AC350B48D8C}"/>
              </a:ext>
            </a:extLst>
          </p:cNvPr>
          <p:cNvSpPr txBox="1"/>
          <p:nvPr/>
        </p:nvSpPr>
        <p:spPr>
          <a:xfrm>
            <a:off x="275497" y="1592219"/>
            <a:ext cx="3968932" cy="6275564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lang="en-US" sz="1200" b="1" i="0">
                <a:solidFill>
                  <a:srgbClr val="FF0000"/>
                </a:solidFill>
                <a:latin typeface="Arial"/>
              </a:rPr>
              <a:t>JTAG Agent – Real time Use cases</a:t>
            </a:r>
          </a:p>
          <a:p>
            <a:pPr algn="l"/>
            <a:endParaRPr lang="en-US" sz="1100" b="1">
              <a:solidFill>
                <a:srgbClr val="FF8C00"/>
              </a:solidFill>
              <a:latin typeface="Segoe UI"/>
            </a:endParaRP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100" b="1">
                <a:solidFill>
                  <a:srgbClr val="2E7D32"/>
                </a:solidFill>
                <a:latin typeface="Arial"/>
              </a:rPr>
              <a:t>Bootloader -&gt; Application Handoff Failure (Hard Fault)</a:t>
            </a:r>
          </a:p>
          <a:p>
            <a:endParaRPr lang="en-US" sz="11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</a:t>
            </a:r>
            <a:r>
              <a:rPr lang="en-US" sz="930">
                <a:solidFill>
                  <a:srgbClr val="E8E8E8"/>
                </a:solidFill>
                <a:latin typeface="Arial"/>
              </a:rPr>
              <a:t>: Bootloader enabled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timer; application's vector table had no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SysTick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handler → </a:t>
            </a:r>
            <a:r>
              <a:rPr lang="en-US" sz="930" err="1">
                <a:solidFill>
                  <a:srgbClr val="E8E8E8"/>
                </a:solidFill>
                <a:latin typeface="Arial"/>
              </a:rPr>
              <a:t>HardFault</a:t>
            </a:r>
            <a:r>
              <a:rPr lang="en-US" sz="930">
                <a:solidFill>
                  <a:srgbClr val="E8E8E8"/>
                </a:solidFill>
                <a:latin typeface="Arial"/>
              </a:rPr>
              <a:t> on jump.</a:t>
            </a: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identified root cause in 45 minutes (vs. 2–3 days manual debugging) by correlating PC, vector tables, and peripheral state.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Emulating sub zero temperature condition at room temperature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ADC stalled at negative temperature; fix required driver </a:t>
            </a:r>
            <a:r>
              <a:rPr lang="en-US" sz="1000" err="1">
                <a:solidFill>
                  <a:srgbClr val="E8E8E8"/>
                </a:solidFill>
                <a:latin typeface="Arial"/>
              </a:rPr>
              <a:t>reinit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 with gain adjustment.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simulated cold ADC state at 25°C, enabling root-cause fix and validation without thermal chamber—saved 1 week of thermal cycling.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2E7D32"/>
                </a:solidFill>
                <a:latin typeface="Arial"/>
              </a:rPr>
              <a:t>Boot Failure due to Incorrect Boot Configuration</a:t>
            </a: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Problem: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Device failed to boot into application after flashing new build on new hardware, all looked good.</a:t>
            </a: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r>
              <a:rPr lang="en-US" sz="1000" b="1">
                <a:solidFill>
                  <a:srgbClr val="E8E8E8"/>
                </a:solidFill>
                <a:latin typeface="Arial"/>
              </a:rPr>
              <a:t>Solution: </a:t>
            </a:r>
            <a:r>
              <a:rPr lang="en-US" sz="1000">
                <a:solidFill>
                  <a:srgbClr val="E8E8E8"/>
                </a:solidFill>
                <a:latin typeface="Arial"/>
              </a:rPr>
              <a:t>Agent traced Program Counter (PC) and identified execution redirecting to system ROM instead of internal flash.</a:t>
            </a: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 b="1">
              <a:solidFill>
                <a:srgbClr val="00D48A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100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endParaRPr lang="en-US" sz="930">
              <a:solidFill>
                <a:srgbClr val="B8D0EC"/>
              </a:solidFill>
              <a:latin typeface="Segoe UI"/>
            </a:endParaRPr>
          </a:p>
          <a:p>
            <a:pPr algn="l"/>
            <a:endParaRPr sz="1100" b="1" i="0">
              <a:solidFill>
                <a:srgbClr val="FF8C00"/>
              </a:solidFill>
              <a:latin typeface="Segoe UI"/>
            </a:endParaRPr>
          </a:p>
        </p:txBody>
      </p:sp>
      <p:sp>
        <p:nvSpPr>
          <p:cNvPr id="128" name="Rectangle 127">
            <a:extLst>
              <a:ext uri="{FF2B5EF4-FFF2-40B4-BE49-F238E27FC236}">
                <a16:creationId xmlns:a16="http://schemas.microsoft.com/office/drawing/2014/main" id="{47D4E16F-AFAB-0026-531E-F65A232C42BE}"/>
              </a:ext>
            </a:extLst>
          </p:cNvPr>
          <p:cNvSpPr/>
          <p:nvPr/>
        </p:nvSpPr>
        <p:spPr>
          <a:xfrm>
            <a:off x="217504" y="5183072"/>
            <a:ext cx="60553" cy="996241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0" name="Rectangle 129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1" name="TextBox 130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D8A8D32-1D50-667D-BFF9-05C2E63A011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28689" y="4565958"/>
            <a:ext cx="524578" cy="524578"/>
          </a:xfrm>
          <a:prstGeom prst="rect">
            <a:avLst/>
          </a:prstGeom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19084FAC-DE6F-98B6-5DF1-27751E41F88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28064" y="4625018"/>
            <a:ext cx="392241" cy="4711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4971940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PG5 STQC AGENT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FFFFFF"/>
                </a:solidFill>
                <a:latin typeface="Arial"/>
              </a:rPr>
              <a:t>STQC Agent for BIS Certification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503920" cy="41148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200" b="0" i="1">
                <a:solidFill>
                  <a:srgbClr val="E8E8E8"/>
                </a:solidFill>
                <a:latin typeface="Arial"/>
              </a:rPr>
              <a:t>The star of PG5: IoT security and surveillance devices need BIS certification governed by STQC guidelines for in-house designs and BTS sales.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201168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2011680"/>
            <a:ext cx="50292" cy="1353312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ounded Rectangle 10"/>
          <p:cNvSpPr/>
          <p:nvPr/>
        </p:nvSpPr>
        <p:spPr>
          <a:xfrm>
            <a:off x="475488" y="2395728"/>
            <a:ext cx="502920" cy="502920"/>
          </a:xfrm>
          <a:prstGeom prst="round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75488" y="239572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15568" y="208483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E7D32"/>
                </a:solidFill>
                <a:latin typeface="Arial"/>
              </a:rPr>
              <a:t>Creates STQC
Audit Evidence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5568" y="260604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Crawls code, configuration and evidence sources to prepare auditor-ready STQC artifacts.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20040" y="352044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20040" y="352044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ounded Rectangle 16"/>
          <p:cNvSpPr/>
          <p:nvPr/>
        </p:nvSpPr>
        <p:spPr>
          <a:xfrm>
            <a:off x="475488" y="390448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475488" y="390448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15568" y="359359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Guideline Verdict:
READY / NOT_READY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15568" y="411480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Checks STQC ER guidance, hard rules such as no foreign characters, and submission completeness.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0040" y="5029200"/>
            <a:ext cx="5029200" cy="1353312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ectangle 21"/>
          <p:cNvSpPr/>
          <p:nvPr/>
        </p:nvSpPr>
        <p:spPr>
          <a:xfrm>
            <a:off x="320040" y="5029200"/>
            <a:ext cx="50292" cy="135331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ounded Rectangle 22"/>
          <p:cNvSpPr/>
          <p:nvPr/>
        </p:nvSpPr>
        <p:spPr>
          <a:xfrm>
            <a:off x="475488" y="5413248"/>
            <a:ext cx="502920" cy="5029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475488" y="5413248"/>
            <a:ext cx="50292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600" b="1" i="0">
                <a:solidFill>
                  <a:srgbClr val="FFFFFF"/>
                </a:solidFill>
                <a:latin typeface="Arial"/>
              </a:rPr>
              <a:t>→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15568" y="5102352"/>
            <a:ext cx="4114800" cy="5029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D71920"/>
                </a:solidFill>
                <a:latin typeface="Arial"/>
              </a:rPr>
              <a:t>Jira Remediation
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5568" y="5623560"/>
            <a:ext cx="406908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50" b="0" i="0">
                <a:solidFill>
                  <a:srgbClr val="E8E8E8"/>
                </a:solidFill>
                <a:latin typeface="Arial"/>
              </a:rPr>
              <a:t>Every NOT_READY result highlights the failing section and creates stories or defects to fix it.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5623560" y="1965960"/>
            <a:ext cx="3182112" cy="4498848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Rectangle 27"/>
          <p:cNvSpPr/>
          <p:nvPr/>
        </p:nvSpPr>
        <p:spPr>
          <a:xfrm>
            <a:off x="5623560" y="1965960"/>
            <a:ext cx="3182112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9" name="TextBox 28"/>
          <p:cNvSpPr txBox="1"/>
          <p:nvPr/>
        </p:nvSpPr>
        <p:spPr>
          <a:xfrm>
            <a:off x="5623560" y="2029968"/>
            <a:ext cx="3182112" cy="34747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D71920"/>
                </a:solidFill>
                <a:latin typeface="Arial"/>
              </a:rPr>
              <a:t>STQC SUBMISSION GATE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23560" y="2423160"/>
            <a:ext cx="3182112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ounded Rectangle 30"/>
          <p:cNvSpPr/>
          <p:nvPr/>
        </p:nvSpPr>
        <p:spPr>
          <a:xfrm>
            <a:off x="5824728" y="2542032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5824728" y="2542032"/>
            <a:ext cx="2779776" cy="45720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Oval 32"/>
          <p:cNvSpPr/>
          <p:nvPr/>
        </p:nvSpPr>
        <p:spPr>
          <a:xfrm>
            <a:off x="6629400" y="2706624"/>
            <a:ext cx="621792" cy="621792"/>
          </a:xfrm>
          <a:prstGeom prst="ellipse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6629400" y="2706624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287768" y="2743200"/>
            <a:ext cx="1316736" cy="4616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400" b="1" i="0">
                <a:solidFill>
                  <a:srgbClr val="2E7D32"/>
                </a:solidFill>
                <a:latin typeface="Arial"/>
              </a:rPr>
              <a:t>READY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879592" y="3337453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Evidence pack ready.
Cleared for auditor review.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824728" y="4224528"/>
            <a:ext cx="2779776" cy="153619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5824728" y="4224528"/>
            <a:ext cx="2779776" cy="4572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Oval 38"/>
          <p:cNvSpPr/>
          <p:nvPr/>
        </p:nvSpPr>
        <p:spPr>
          <a:xfrm>
            <a:off x="6629400" y="4389120"/>
            <a:ext cx="621792" cy="621792"/>
          </a:xfrm>
          <a:prstGeom prst="ellipse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629400" y="4389120"/>
            <a:ext cx="621792" cy="6217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FFFFFF"/>
                </a:solidFill>
                <a:latin typeface="Arial"/>
              </a:rPr>
              <a:t>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287768" y="4425696"/>
            <a:ext cx="1417320" cy="384048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D71920"/>
                </a:solidFill>
                <a:latin typeface="Arial"/>
              </a:rPr>
              <a:t>NOT READY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88736" y="5060357"/>
            <a:ext cx="2651760" cy="6858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8E8E8"/>
                </a:solidFill>
                <a:latin typeface="Arial"/>
              </a:rPr>
              <a:t>Guideline gaps found.
Create Jira stories.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8  /  9</a:t>
            </a:r>
          </a:p>
        </p:txBody>
      </p:sp>
      <p:sp>
        <p:nvSpPr>
          <p:cNvPr id="45" name="Rectangle 44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9144000" cy="6858000"/>
          </a:xfrm>
          <a:prstGeom prst="rect">
            <a:avLst/>
          </a:prstGeom>
          <a:solidFill>
            <a:srgbClr val="11111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914400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347472" y="438912"/>
            <a:ext cx="2011680" cy="274320"/>
          </a:xfrm>
          <a:prstGeom prst="round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347472" y="438912"/>
            <a:ext cx="201168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900" b="1" i="0">
                <a:solidFill>
                  <a:srgbClr val="FFFFFF"/>
                </a:solidFill>
                <a:latin typeface="Arial"/>
              </a:rPr>
              <a:t>QUANTIFIED 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47472" y="749808"/>
            <a:ext cx="8229600" cy="5303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  <a:latin typeface="Arial"/>
              </a:rPr>
              <a:t>Efficiency, Time Saved and Token Optimization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325880"/>
            <a:ext cx="8412480" cy="14630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347472" y="1417320"/>
            <a:ext cx="8458200" cy="40233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40" b="0" i="1">
                <a:solidFill>
                  <a:srgbClr val="E8E8E8"/>
                </a:solidFill>
                <a:latin typeface="Arial"/>
              </a:rPr>
              <a:t>Realistic pilot targets for the reduced 3-minute V10 story: measurable STQC acceleration, PG3 generation, JTAG debugging, QA triage and LLM cost control.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901952"/>
            <a:ext cx="8503920" cy="4187952"/>
          </a:xfrm>
          <a:prstGeom prst="roundRect">
            <a:avLst/>
          </a:prstGeom>
          <a:solidFill>
            <a:srgbClr val="2B2B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ectangle 9"/>
          <p:cNvSpPr/>
          <p:nvPr/>
        </p:nvSpPr>
        <p:spPr>
          <a:xfrm>
            <a:off x="320040" y="1901952"/>
            <a:ext cx="8503920" cy="502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320040" y="1901952"/>
            <a:ext cx="306324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3383280" y="1901952"/>
            <a:ext cx="5440680" cy="384048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320040" y="1975104"/>
            <a:ext cx="306324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CRITERIA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83280" y="1975104"/>
            <a:ext cx="5440680" cy="16459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1050" b="1" i="0">
                <a:solidFill>
                  <a:srgbClr val="111111"/>
                </a:solidFill>
                <a:latin typeface="Arial"/>
              </a:rPr>
              <a:t>KEY METRIC FOCUS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20040" y="2286000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3383280" y="2286000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320040" y="2286000"/>
            <a:ext cx="50292" cy="658368"/>
          </a:xfrm>
          <a:prstGeom prst="rect">
            <a:avLst/>
          </a:prstGeom>
          <a:solidFill>
            <a:srgbClr val="2E7D3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3383280" y="2286000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320040" y="2286000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84632" y="2395728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STQC Evidence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584448" y="2395728"/>
            <a:ext cx="5056632" cy="470513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9" b="0" i="0" dirty="0">
                <a:solidFill>
                  <a:srgbClr val="E8E8E8"/>
                </a:solidFill>
                <a:latin typeface="Arial"/>
              </a:rPr>
              <a:t>- Submission evidence pack: 8-12 weeks -&gt; 1-3 days
- First-pack effort reduction: 90-95%
- Hard-rule checks: foreign characters, STQC ER coverage, missing sections</a:t>
            </a: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9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2" name="Rectangle 21"/>
          <p:cNvSpPr/>
          <p:nvPr/>
        </p:nvSpPr>
        <p:spPr>
          <a:xfrm>
            <a:off x="320040" y="2944368"/>
            <a:ext cx="306324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3383280" y="2944368"/>
            <a:ext cx="5440680" cy="4754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320040" y="2944368"/>
            <a:ext cx="50292" cy="47548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3383280" y="2944368"/>
            <a:ext cx="20116" cy="4754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320040" y="2944368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484632" y="3054096"/>
            <a:ext cx="2743200" cy="3108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PG3 Firmware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584448" y="3054096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Firmware first draft and validation: 3-5 days -&gt; 1-2 days
- Faster first loop: 45-60%
- Context injected: datasheet, PRD, SDK, BSP, OS/RTOS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29" name="Rectangle 28"/>
          <p:cNvSpPr/>
          <p:nvPr/>
        </p:nvSpPr>
        <p:spPr>
          <a:xfrm>
            <a:off x="320040" y="3419856"/>
            <a:ext cx="306324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3383280" y="3419856"/>
            <a:ext cx="5440680" cy="65836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320040" y="3419856"/>
            <a:ext cx="50292" cy="658368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ectangle 31"/>
          <p:cNvSpPr/>
          <p:nvPr/>
        </p:nvSpPr>
        <p:spPr>
          <a:xfrm>
            <a:off x="3383280" y="3419856"/>
            <a:ext cx="20116" cy="65836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Rectangle 32"/>
          <p:cNvSpPr/>
          <p:nvPr/>
        </p:nvSpPr>
        <p:spPr>
          <a:xfrm>
            <a:off x="320040" y="3419856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484632" y="3529584"/>
            <a:ext cx="2743200" cy="49377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  <a:latin typeface="Arial"/>
              </a:rPr>
              <a:t>JTAG + QA Gate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584448" y="3529584"/>
            <a:ext cx="5056632" cy="350865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40" b="0" i="0" dirty="0">
                <a:solidFill>
                  <a:srgbClr val="E8E8E8"/>
                </a:solidFill>
                <a:latin typeface="Arial"/>
              </a:rPr>
              <a:t>- JTAG root cause: 1-2 days -&gt; under 2 hours
- QA release triage: 2-3 days -&gt; under 4 hours
- NOT_READY creates next-release Jira priorities</a:t>
            </a:r>
          </a:p>
          <a:p>
            <a:pPr algn="l"/>
            <a:endParaRPr sz="84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36" name="Rectangle 35"/>
          <p:cNvSpPr/>
          <p:nvPr/>
        </p:nvSpPr>
        <p:spPr>
          <a:xfrm>
            <a:off x="320040" y="4078224"/>
            <a:ext cx="306324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Rectangle 36"/>
          <p:cNvSpPr/>
          <p:nvPr/>
        </p:nvSpPr>
        <p:spPr>
          <a:xfrm>
            <a:off x="3383280" y="4078224"/>
            <a:ext cx="5440680" cy="932688"/>
          </a:xfrm>
          <a:prstGeom prst="rect">
            <a:avLst/>
          </a:prstGeom>
          <a:solidFill>
            <a:srgbClr val="0B23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320040" y="4078224"/>
            <a:ext cx="50292" cy="932688"/>
          </a:xfrm>
          <a:prstGeom prst="rect">
            <a:avLst/>
          </a:prstGeom>
          <a:solidFill>
            <a:srgbClr val="66666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3383280" y="4078224"/>
            <a:ext cx="20116" cy="932688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0" name="Rectangle 39"/>
          <p:cNvSpPr/>
          <p:nvPr/>
        </p:nvSpPr>
        <p:spPr>
          <a:xfrm>
            <a:off x="320040" y="4078224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1" name="TextBox 40"/>
          <p:cNvSpPr txBox="1"/>
          <p:nvPr/>
        </p:nvSpPr>
        <p:spPr>
          <a:xfrm>
            <a:off x="484632" y="4187952"/>
            <a:ext cx="2743200" cy="768096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Agentic AI execution pattern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84448" y="4187952"/>
            <a:ext cx="5056632" cy="466281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10" b="0" i="0" dirty="0">
                <a:solidFill>
                  <a:srgbClr val="E8E8E8"/>
                </a:solidFill>
                <a:latin typeface="Arial"/>
              </a:rPr>
              <a:t>- Reusable agents: PRD ingestion, firmware generation, JTAG debug, QA gate, STQC
- Evidence traceability: Confluence -&gt; Jira -&gt; GitHub -&gt; QA -&gt; audit pack
- Human choice retained at story selection and release gate</a:t>
            </a: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  <a:p>
            <a:pPr algn="l"/>
            <a:endParaRPr sz="810" b="0" i="0" dirty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43" name="Rectangle 42"/>
          <p:cNvSpPr/>
          <p:nvPr/>
        </p:nvSpPr>
        <p:spPr>
          <a:xfrm>
            <a:off x="320040" y="5010912"/>
            <a:ext cx="306324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4" name="Rectangle 43"/>
          <p:cNvSpPr/>
          <p:nvPr/>
        </p:nvSpPr>
        <p:spPr>
          <a:xfrm>
            <a:off x="3383280" y="5010912"/>
            <a:ext cx="5440680" cy="1078992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5" name="Rectangle 44"/>
          <p:cNvSpPr/>
          <p:nvPr/>
        </p:nvSpPr>
        <p:spPr>
          <a:xfrm>
            <a:off x="320040" y="5010912"/>
            <a:ext cx="50292" cy="1078992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6" name="Rectangle 45"/>
          <p:cNvSpPr/>
          <p:nvPr/>
        </p:nvSpPr>
        <p:spPr>
          <a:xfrm>
            <a:off x="3383280" y="5010912"/>
            <a:ext cx="20116" cy="107899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7" name="Rectangle 46"/>
          <p:cNvSpPr/>
          <p:nvPr/>
        </p:nvSpPr>
        <p:spPr>
          <a:xfrm>
            <a:off x="320040" y="5010912"/>
            <a:ext cx="8503920" cy="10972"/>
          </a:xfrm>
          <a:prstGeom prst="rect">
            <a:avLst/>
          </a:prstGeom>
          <a:solidFill>
            <a:srgbClr val="204A7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8" name="TextBox 47"/>
          <p:cNvSpPr txBox="1"/>
          <p:nvPr/>
        </p:nvSpPr>
        <p:spPr>
          <a:xfrm>
            <a:off x="484632" y="5120640"/>
            <a:ext cx="2743200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830" b="1" i="0">
                <a:solidFill>
                  <a:srgbClr val="FFFFFF"/>
                </a:solidFill>
                <a:latin typeface="Arial"/>
              </a:rPr>
              <a:t>LLM selection strategies and token optimization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3584448" y="5120640"/>
            <a:ext cx="5056632" cy="91440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l"/>
            <a:r>
              <a:rPr sz="790" b="0" i="0">
                <a:solidFill>
                  <a:srgbClr val="E8E8E8"/>
                </a:solidFill>
                <a:latin typeface="Arial"/>
              </a:rPr>
              <a:t>- Token reduction: 35-45% using routed context and retrieval
- STQC prompt caching: 80%+ reusable guideline/datasheet context on repeat runs
- Compact evidence summaries reduce review and audit-prep cost</a:t>
            </a: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  <a:p>
            <a:pPr algn="l"/>
            <a:endParaRPr sz="790" b="0" i="0">
              <a:solidFill>
                <a:srgbClr val="E8E8E8"/>
              </a:solidFill>
              <a:latin typeface="Arial"/>
            </a:endParaRPr>
          </a:p>
        </p:txBody>
      </p:sp>
      <p:sp>
        <p:nvSpPr>
          <p:cNvPr id="50" name="Rounded Rectangle 49"/>
          <p:cNvSpPr/>
          <p:nvPr/>
        </p:nvSpPr>
        <p:spPr>
          <a:xfrm>
            <a:off x="320040" y="6272784"/>
            <a:ext cx="8503920" cy="219456"/>
          </a:xfrm>
          <a:prstGeom prst="round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1" name="TextBox 50"/>
          <p:cNvSpPr txBox="1"/>
          <p:nvPr/>
        </p:nvSpPr>
        <p:spPr>
          <a:xfrm>
            <a:off x="502920" y="6318504"/>
            <a:ext cx="8138160" cy="73152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ctr"/>
            <a:r>
              <a:rPr sz="740" b="1" i="0">
                <a:solidFill>
                  <a:srgbClr val="2E7D32"/>
                </a:solidFill>
                <a:latin typeface="Arial"/>
              </a:rPr>
              <a:t>FOCUS: AEPLO loops across PRD, PG3 firmware, JTAG, QA and STQC until READY.</a:t>
            </a:r>
          </a:p>
        </p:txBody>
      </p:sp>
      <p:sp>
        <p:nvSpPr>
          <p:cNvPr id="52" name="Rectangle 51"/>
          <p:cNvSpPr/>
          <p:nvPr/>
        </p:nvSpPr>
        <p:spPr>
          <a:xfrm>
            <a:off x="0" y="6473952"/>
            <a:ext cx="9144000" cy="384048"/>
          </a:xfrm>
          <a:prstGeom prst="rect">
            <a:avLst/>
          </a:prstGeom>
          <a:solidFill>
            <a:srgbClr val="3333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3" name="TextBox 52"/>
          <p:cNvSpPr txBox="1"/>
          <p:nvPr/>
        </p:nvSpPr>
        <p:spPr>
          <a:xfrm>
            <a:off x="8321040" y="6510528"/>
            <a:ext cx="731520" cy="274320"/>
          </a:xfrm>
          <a:prstGeom prst="rect">
            <a:avLst/>
          </a:prstGeom>
          <a:noFill/>
          <a:ln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B8B8B8"/>
                </a:solidFill>
                <a:latin typeface="Arial"/>
              </a:rPr>
              <a:t>9  /  9</a:t>
            </a:r>
          </a:p>
        </p:txBody>
      </p:sp>
      <p:sp>
        <p:nvSpPr>
          <p:cNvPr id="54" name="Rectangle 53"/>
          <p:cNvSpPr/>
          <p:nvPr/>
        </p:nvSpPr>
        <p:spPr>
          <a:xfrm>
            <a:off x="0" y="0"/>
            <a:ext cx="9144000" cy="32004"/>
          </a:xfrm>
          <a:prstGeom prst="rect">
            <a:avLst/>
          </a:prstGeom>
          <a:solidFill>
            <a:srgbClr val="D7192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5" name="TextBox 54"/>
          <p:cNvSpPr txBox="1"/>
          <p:nvPr/>
        </p:nvSpPr>
        <p:spPr>
          <a:xfrm>
            <a:off x="7699248" y="118872"/>
            <a:ext cx="1170432" cy="20116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 b="1">
                <a:solidFill>
                  <a:srgbClr val="D71920"/>
                </a:solidFill>
                <a:latin typeface="Arial"/>
              </a:rPr>
              <a:t>HONEYWELL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/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F3385D4FBCD491449E1D36F0103336E0" ma:contentTypeVersion="3" ma:contentTypeDescription="Create a new document." ma:contentTypeScope="" ma:versionID="05b8c16f72a465d94175fee1a9f0cdb1">
  <xsd:schema xmlns:xsd="http://www.w3.org/2001/XMLSchema" xmlns:xs="http://www.w3.org/2001/XMLSchema" xmlns:p="http://schemas.microsoft.com/office/2006/metadata/properties" xmlns:ns2="e94ddfc3-4734-4b9a-ae26-16534f892664" targetNamespace="http://schemas.microsoft.com/office/2006/metadata/properties" ma:root="true" ma:fieldsID="5da84732ee269f2f8c69a64254ea57c1" ns2:_="">
    <xsd:import namespace="e94ddfc3-4734-4b9a-ae26-16534f892664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e94ddfc3-4734-4b9a-ae26-16534f892664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A70049F5-D881-4A27-9198-FB7AEB41FA35}">
  <ds:schemaRefs>
    <ds:schemaRef ds:uri="e94ddfc3-4734-4b9a-ae26-16534f892664"/>
    <ds:schemaRef ds:uri="http://purl.org/dc/elements/1.1/"/>
    <ds:schemaRef ds:uri="http://schemas.microsoft.com/office/infopath/2007/PartnerControls"/>
    <ds:schemaRef ds:uri="http://schemas.microsoft.com/office/2006/documentManagement/types"/>
    <ds:schemaRef ds:uri="http://purl.org/dc/dcmitype/"/>
    <ds:schemaRef ds:uri="http://schemas.microsoft.com/office/2006/metadata/properties"/>
    <ds:schemaRef ds:uri="http://schemas.openxmlformats.org/package/2006/metadata/core-properties"/>
    <ds:schemaRef ds:uri="http://www.w3.org/XML/1998/namespace"/>
    <ds:schemaRef ds:uri="http://purl.org/dc/terms/"/>
  </ds:schemaRefs>
</ds:datastoreItem>
</file>

<file path=customXml/itemProps2.xml><?xml version="1.0" encoding="utf-8"?>
<ds:datastoreItem xmlns:ds="http://schemas.openxmlformats.org/officeDocument/2006/customXml" ds:itemID="{F3521981-0FA2-42A5-9139-0A1170FE2067}">
  <ds:schemaRefs>
    <ds:schemaRef ds:uri="e94ddfc3-4734-4b9a-ae26-16534f892664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6F64E7DF-7969-461F-8D79-4E2223D5DA13}">
  <ds:schemaRefs>
    <ds:schemaRef ds:uri="http://schemas.microsoft.com/sharepoint/v3/contenttype/forms"/>
  </ds:schemaRefs>
</ds:datastoreItem>
</file>

<file path=docMetadata/LabelInfo.xml><?xml version="1.0" encoding="utf-8"?>
<clbl:labelList xmlns:clbl="http://schemas.microsoft.com/office/2020/mipLabelMetadata">
  <clbl:label id="{d546e5e1-5d42-4630-bacd-c69bfdcbd5e8}" enabled="1" method="Standard" siteId="{96ece526-9c7d-48b0-8daf-8b93c90a5d18}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59</TotalTime>
  <Words>1927</Words>
  <Application>Microsoft Office PowerPoint</Application>
  <PresentationFormat>On-screen Show (4:3)</PresentationFormat>
  <Paragraphs>267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Aptos</vt:lpstr>
      <vt:lpstr>Arial</vt:lpstr>
      <vt:lpstr>Calibri</vt:lpstr>
      <vt:lpstr>Segoe UI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Shrivastava, Shyam</dc:creator>
  <cp:keywords/>
  <dc:description>generated using python-pptx</dc:description>
  <cp:lastModifiedBy>Shrivastava, Shyam</cp:lastModifiedBy>
  <cp:revision>3</cp:revision>
  <dcterms:created xsi:type="dcterms:W3CDTF">2013-01-27T09:14:16Z</dcterms:created>
  <dcterms:modified xsi:type="dcterms:W3CDTF">2026-06-17T10:26:16Z</dcterms:modified>
  <cp:category/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0x010100F3385D4FBCD491449E1D36F0103336E0</vt:lpwstr>
  </property>
</Properties>
</file>