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8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75" d="100"/>
          <a:sy n="75" d="100"/>
        </p:scale>
        <p:origin x="300" y="-2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D7D0E7E-6A88-4B04-9A5D-6C19CCE62BE7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4DE185B-F565-433C-BFFE-C2A5276017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45118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Coding Embedded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EB32CF0-F5B6-41B6-8A76-716E14B1DE2A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78155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0" y="1078992"/>
            <a:ext cx="12191695" cy="3657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1600200"/>
            <a:ext cx="12191695" cy="18288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955279" y="137160"/>
            <a:ext cx="3977639" cy="5486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7955279" y="429768"/>
            <a:ext cx="3977639" cy="5486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955279" y="722376"/>
            <a:ext cx="3977639" cy="5486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7955279" y="1014983"/>
            <a:ext cx="3977639" cy="5486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955279" y="1307592"/>
            <a:ext cx="3977639" cy="5486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7955279" y="1600200"/>
            <a:ext cx="3977639" cy="5486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955279" y="1892807"/>
            <a:ext cx="3977639" cy="5486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7955279" y="2185416"/>
            <a:ext cx="3977639" cy="5486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7955279" y="2478024"/>
            <a:ext cx="3977639" cy="5486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955279" y="2770632"/>
            <a:ext cx="3977639" cy="5486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955279" y="3063240"/>
            <a:ext cx="3977639" cy="5486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7955279" y="3355848"/>
            <a:ext cx="3977639" cy="5486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7955279" y="3648456"/>
            <a:ext cx="3977639" cy="5486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7955279" y="3941064"/>
            <a:ext cx="3977639" cy="5486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7955279" y="4233672"/>
            <a:ext cx="3977639" cy="5486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7955279" y="4526280"/>
            <a:ext cx="3977639" cy="5486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7955279" y="4818888"/>
            <a:ext cx="3977639" cy="5486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7955279" y="5111496"/>
            <a:ext cx="3977639" cy="5486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7955279" y="5404104"/>
            <a:ext cx="3977639" cy="5486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7973568" y="137160"/>
            <a:ext cx="5486" cy="626364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8302752" y="137160"/>
            <a:ext cx="5486" cy="626364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8631936" y="137160"/>
            <a:ext cx="5486" cy="626364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8961120" y="137160"/>
            <a:ext cx="5486" cy="626364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9290304" y="137160"/>
            <a:ext cx="5486" cy="626364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9619488" y="137160"/>
            <a:ext cx="5486" cy="626364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9948672" y="137160"/>
            <a:ext cx="5486" cy="626364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10277856" y="137160"/>
            <a:ext cx="5486" cy="626364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10607040" y="137160"/>
            <a:ext cx="5486" cy="626364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10936224" y="137160"/>
            <a:ext cx="5486" cy="626364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11265408" y="137160"/>
            <a:ext cx="5486" cy="626364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11594592" y="137160"/>
            <a:ext cx="5486" cy="626364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8" name="Oval 37"/>
          <p:cNvSpPr/>
          <p:nvPr/>
        </p:nvSpPr>
        <p:spPr>
          <a:xfrm>
            <a:off x="10716768" y="128016"/>
            <a:ext cx="457200" cy="457200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9" name="Oval 38"/>
          <p:cNvSpPr/>
          <p:nvPr/>
        </p:nvSpPr>
        <p:spPr>
          <a:xfrm>
            <a:off x="10844784" y="256032"/>
            <a:ext cx="201168" cy="20116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301752" y="155448"/>
            <a:ext cx="7955279" cy="40011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AI-Driven Embedded Product Lifecycle Orchestrator  [AEPLO]</a:t>
            </a:r>
            <a:endParaRPr kumimoji="0" sz="20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301752" y="502920"/>
            <a:ext cx="4572000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500" b="1" i="0" u="none" strike="noStrike" kern="1200" cap="none" spc="0" normalizeH="0" baseline="0" noProof="0" dirty="0">
                <a:ln>
                  <a:noFill/>
                </a:ln>
                <a:solidFill>
                  <a:srgbClr val="D7192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REAL NPI IMPACT.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0039" y="896112"/>
            <a:ext cx="7613293" cy="21544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 dirty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AEPLO unifies Jira, Confluence, GitHub, Copilot, ROVO Studio and JTAG/SWD evidence to optimize embedded PDLC decisions across PG1, PG3 and PG5.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092440" y="109728"/>
            <a:ext cx="3794760" cy="89611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8412480" y="246888"/>
            <a:ext cx="2286000" cy="2286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300" b="1" i="0" u="none" strike="noStrike" kern="1200" cap="none" spc="0" normalizeH="0" baseline="0" noProof="0">
                <a:ln>
                  <a:noFill/>
                </a:ln>
                <a:solidFill>
                  <a:srgbClr val="2E7D3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ONE AEPLO PLATFORM.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12480" y="502920"/>
            <a:ext cx="3063240" cy="21945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D7192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EMBEDDED. PDLC. AI OPTIMISATION.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12480" y="758952"/>
            <a:ext cx="301752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30" b="0" i="0" u="none" strike="noStrike" kern="1200" cap="none" spc="0" normalizeH="0" baseline="0" noProof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JTAG Accelerator is a native AEPLO capability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56032" y="1225296"/>
            <a:ext cx="1664208" cy="310896"/>
          </a:xfrm>
          <a:prstGeom prst="round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256032" y="1225296"/>
            <a:ext cx="36576" cy="310896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365760" y="1298448"/>
            <a:ext cx="1417320" cy="10972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4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ROVO Studio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139696" y="1225296"/>
            <a:ext cx="1664208" cy="310896"/>
          </a:xfrm>
          <a:prstGeom prst="round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2139696" y="1225296"/>
            <a:ext cx="36576" cy="31089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2249424" y="1298448"/>
            <a:ext cx="1417320" cy="10972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4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Copilot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023360" y="1225296"/>
            <a:ext cx="1664208" cy="310896"/>
          </a:xfrm>
          <a:prstGeom prst="round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4023360" y="1225296"/>
            <a:ext cx="36576" cy="31089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4133088" y="1298448"/>
            <a:ext cx="1417320" cy="10972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4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Atlassian MCP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907024" y="1225296"/>
            <a:ext cx="1664208" cy="310896"/>
          </a:xfrm>
          <a:prstGeom prst="round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5907024" y="1225296"/>
            <a:ext cx="36576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6016752" y="1298448"/>
            <a:ext cx="1417320" cy="10972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4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GitHub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790688" y="1225296"/>
            <a:ext cx="1664208" cy="310896"/>
          </a:xfrm>
          <a:prstGeom prst="round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0" name="Rectangle 59"/>
          <p:cNvSpPr/>
          <p:nvPr/>
        </p:nvSpPr>
        <p:spPr>
          <a:xfrm>
            <a:off x="7790688" y="1225296"/>
            <a:ext cx="36576" cy="31089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7900416" y="1298448"/>
            <a:ext cx="1417320" cy="10972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4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Jira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674352" y="1225296"/>
            <a:ext cx="1664208" cy="310896"/>
          </a:xfrm>
          <a:prstGeom prst="round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9674352" y="1225296"/>
            <a:ext cx="36576" cy="31089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9784080" y="1298448"/>
            <a:ext cx="1417320" cy="10972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4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Confluence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19456" y="1755648"/>
            <a:ext cx="1664208" cy="333756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6" name="Rectangle 65"/>
          <p:cNvSpPr/>
          <p:nvPr/>
        </p:nvSpPr>
        <p:spPr>
          <a:xfrm>
            <a:off x="219456" y="1755648"/>
            <a:ext cx="1664208" cy="5486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292608" y="1865376"/>
            <a:ext cx="1517904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4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1. EMBEDDED DATA SOURCES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29184" y="2139696"/>
            <a:ext cx="1444752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30" b="0" i="0" u="none" strike="noStrike" kern="1200" cap="none" spc="0" normalizeH="0" baseline="0" noProof="0">
                <a:ln>
                  <a:noFill/>
                </a:ln>
                <a:solidFill>
                  <a:srgbClr val="2E7D3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Discovery + engineering context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329184" y="2505456"/>
            <a:ext cx="1444752" cy="43891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0" name="Oval 69"/>
          <p:cNvSpPr/>
          <p:nvPr/>
        </p:nvSpPr>
        <p:spPr>
          <a:xfrm>
            <a:off x="420624" y="2642616"/>
            <a:ext cx="164592" cy="164592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640080" y="2578608"/>
            <a:ext cx="1097280" cy="1188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4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Jira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40080" y="2734056"/>
            <a:ext cx="1097280" cy="1188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80" b="0" i="0" u="none" strike="noStrike" kern="1200" cap="none" spc="0" normalizeH="0" baseline="0" noProof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NPI epics, defects, decisions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29184" y="3108960"/>
            <a:ext cx="1444752" cy="43891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4" name="Oval 73"/>
          <p:cNvSpPr/>
          <p:nvPr/>
        </p:nvSpPr>
        <p:spPr>
          <a:xfrm>
            <a:off x="420624" y="3246120"/>
            <a:ext cx="164592" cy="164592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640080" y="3182112"/>
            <a:ext cx="1097280" cy="1188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4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Confluence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40080" y="3337560"/>
            <a:ext cx="1097280" cy="1188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80" b="0" i="0" u="none" strike="noStrike" kern="1200" cap="none" spc="0" normalizeH="0" baseline="0" noProof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PRD, architecture, lessons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29184" y="3712464"/>
            <a:ext cx="1444752" cy="43891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8" name="Oval 77"/>
          <p:cNvSpPr/>
          <p:nvPr/>
        </p:nvSpPr>
        <p:spPr>
          <a:xfrm>
            <a:off x="420624" y="3849624"/>
            <a:ext cx="164592" cy="164592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640080" y="3785616"/>
            <a:ext cx="1097280" cy="1188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4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GitHub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40080" y="3941064"/>
            <a:ext cx="1097280" cy="1188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80" b="0" i="0" u="none" strike="noStrike" kern="1200" cap="none" spc="0" normalizeH="0" baseline="0" noProof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Code, PRs, branches, reviews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29184" y="4315968"/>
            <a:ext cx="1444752" cy="43891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2" name="Oval 81"/>
          <p:cNvSpPr/>
          <p:nvPr/>
        </p:nvSpPr>
        <p:spPr>
          <a:xfrm>
            <a:off x="420624" y="4453128"/>
            <a:ext cx="164592" cy="164592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640080" y="4389120"/>
            <a:ext cx="1097280" cy="1188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4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JTAG/SWD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40080" y="4544568"/>
            <a:ext cx="1097280" cy="1188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80" b="0" i="0" u="none" strike="noStrike" kern="1200" cap="none" spc="0" normalizeH="0" baseline="0" noProof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MCU registers, memory, traces</a:t>
            </a:r>
          </a:p>
        </p:txBody>
      </p:sp>
      <p:sp>
        <p:nvSpPr>
          <p:cNvPr id="85" name="Right Arrow 84"/>
          <p:cNvSpPr/>
          <p:nvPr/>
        </p:nvSpPr>
        <p:spPr>
          <a:xfrm>
            <a:off x="1911096" y="3355848"/>
            <a:ext cx="274320" cy="182880"/>
          </a:xfrm>
          <a:prstGeom prst="rightArrow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6" name="Rounded Rectangle 85"/>
          <p:cNvSpPr/>
          <p:nvPr/>
        </p:nvSpPr>
        <p:spPr>
          <a:xfrm>
            <a:off x="2075688" y="1755648"/>
            <a:ext cx="1847088" cy="333756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7" name="Rectangle 86"/>
          <p:cNvSpPr/>
          <p:nvPr/>
        </p:nvSpPr>
        <p:spPr>
          <a:xfrm>
            <a:off x="2075688" y="1755648"/>
            <a:ext cx="1847088" cy="5486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2148840" y="1865376"/>
            <a:ext cx="1700784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4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2. UNIFIED PDLC FOUNDATION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185416" y="2139696"/>
            <a:ext cx="1627632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30" b="0" i="0" u="none" strike="noStrike" kern="1200" cap="none" spc="0" normalizeH="0" baseline="0" noProof="0">
                <a:ln>
                  <a:noFill/>
                </a:ln>
                <a:solidFill>
                  <a:srgbClr val="D7192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Single source of truth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2185416" y="2505456"/>
            <a:ext cx="1627632" cy="43891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1" name="Oval 90"/>
          <p:cNvSpPr/>
          <p:nvPr/>
        </p:nvSpPr>
        <p:spPr>
          <a:xfrm>
            <a:off x="2276856" y="2642616"/>
            <a:ext cx="164592" cy="164592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2" name="TextBox 91"/>
          <p:cNvSpPr txBox="1"/>
          <p:nvPr/>
        </p:nvSpPr>
        <p:spPr>
          <a:xfrm>
            <a:off x="2496312" y="2578608"/>
            <a:ext cx="1280160" cy="1188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4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Traceability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496312" y="2734056"/>
            <a:ext cx="1280160" cy="1188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80" b="0" i="0" u="none" strike="noStrike" kern="1200" cap="none" spc="0" normalizeH="0" baseline="0" noProof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Requirements -&gt; code -&gt; test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2185416" y="3108960"/>
            <a:ext cx="1627632" cy="43891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5" name="Oval 94"/>
          <p:cNvSpPr/>
          <p:nvPr/>
        </p:nvSpPr>
        <p:spPr>
          <a:xfrm>
            <a:off x="2276856" y="3246120"/>
            <a:ext cx="164592" cy="164592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2496312" y="3182112"/>
            <a:ext cx="1280160" cy="1188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4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Knowledge Graph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496312" y="3337560"/>
            <a:ext cx="1280160" cy="1188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80" b="0" i="0" u="none" strike="noStrike" kern="1200" cap="none" spc="0" normalizeH="0" baseline="0" noProof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Board, firmware, defect links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2185416" y="3712464"/>
            <a:ext cx="1627632" cy="43891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9" name="Oval 98"/>
          <p:cNvSpPr/>
          <p:nvPr/>
        </p:nvSpPr>
        <p:spPr>
          <a:xfrm>
            <a:off x="2276856" y="3849624"/>
            <a:ext cx="164592" cy="164592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2496312" y="3785616"/>
            <a:ext cx="1280160" cy="1188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4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Evidence Lake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496312" y="3941064"/>
            <a:ext cx="1280160" cy="1188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80" b="0" i="0" u="none" strike="noStrike" kern="1200" cap="none" spc="0" normalizeH="0" baseline="0" noProof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Logs, dumps, probe sessions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2185416" y="4315968"/>
            <a:ext cx="1627632" cy="43891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3" name="Oval 102"/>
          <p:cNvSpPr/>
          <p:nvPr/>
        </p:nvSpPr>
        <p:spPr>
          <a:xfrm>
            <a:off x="2276856" y="4453128"/>
            <a:ext cx="164592" cy="164592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2496312" y="4389120"/>
            <a:ext cx="1280160" cy="1188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4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NPI Context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496312" y="4544568"/>
            <a:ext cx="1280160" cy="1188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80" b="0" i="0" u="none" strike="noStrike" kern="1200" cap="none" spc="0" normalizeH="0" baseline="0" noProof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PG1 / PG3 / PG5 gates</a:t>
            </a:r>
          </a:p>
        </p:txBody>
      </p:sp>
      <p:sp>
        <p:nvSpPr>
          <p:cNvPr id="106" name="Right Arrow 105"/>
          <p:cNvSpPr/>
          <p:nvPr/>
        </p:nvSpPr>
        <p:spPr>
          <a:xfrm>
            <a:off x="3950208" y="3355848"/>
            <a:ext cx="274320" cy="182880"/>
          </a:xfrm>
          <a:prstGeom prst="rightArrow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7" name="Rounded Rectangle 106"/>
          <p:cNvSpPr/>
          <p:nvPr/>
        </p:nvSpPr>
        <p:spPr>
          <a:xfrm>
            <a:off x="4114800" y="1755648"/>
            <a:ext cx="1847088" cy="333756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8" name="Rectangle 107"/>
          <p:cNvSpPr/>
          <p:nvPr/>
        </p:nvSpPr>
        <p:spPr>
          <a:xfrm>
            <a:off x="4114800" y="1755648"/>
            <a:ext cx="1847088" cy="5486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9" name="TextBox 108"/>
          <p:cNvSpPr txBox="1"/>
          <p:nvPr/>
        </p:nvSpPr>
        <p:spPr>
          <a:xfrm>
            <a:off x="4187952" y="1865376"/>
            <a:ext cx="1700784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4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3. AEPLO ORCHESTRATION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224528" y="2139696"/>
            <a:ext cx="1627632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30" b="0" i="0" u="none" strike="noStrike" kern="1200" cap="none" spc="0" normalizeH="0" baseline="0" noProof="0">
                <a:ln>
                  <a:noFill/>
                </a:ln>
                <a:solidFill>
                  <a:srgbClr val="D7192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Work that flows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4224528" y="2505456"/>
            <a:ext cx="1627632" cy="43891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2" name="Oval 111"/>
          <p:cNvSpPr/>
          <p:nvPr/>
        </p:nvSpPr>
        <p:spPr>
          <a:xfrm>
            <a:off x="4315968" y="2642616"/>
            <a:ext cx="164592" cy="164592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3" name="TextBox 112"/>
          <p:cNvSpPr txBox="1"/>
          <p:nvPr/>
        </p:nvSpPr>
        <p:spPr>
          <a:xfrm>
            <a:off x="4535424" y="2578608"/>
            <a:ext cx="1280160" cy="1188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4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Atlassian MCP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535424" y="2734056"/>
            <a:ext cx="1280160" cy="1188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80" b="0" i="0" u="none" strike="noStrike" kern="1200" cap="none" spc="0" normalizeH="0" baseline="0" noProof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Jira + Confluence actions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4224528" y="3108960"/>
            <a:ext cx="1627632" cy="43891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6" name="Oval 115"/>
          <p:cNvSpPr/>
          <p:nvPr/>
        </p:nvSpPr>
        <p:spPr>
          <a:xfrm>
            <a:off x="4315968" y="3246120"/>
            <a:ext cx="164592" cy="164592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7" name="TextBox 116"/>
          <p:cNvSpPr txBox="1"/>
          <p:nvPr/>
        </p:nvSpPr>
        <p:spPr>
          <a:xfrm>
            <a:off x="4535424" y="3182112"/>
            <a:ext cx="1280160" cy="1188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4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JTAG Accelerator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535424" y="3337560"/>
            <a:ext cx="1280160" cy="1188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80" b="0" i="0" u="none" strike="noStrike" kern="1200" cap="none" spc="0" normalizeH="0" baseline="0" noProof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Hardware-backed RCA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4224528" y="3712464"/>
            <a:ext cx="1627632" cy="43891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0" name="Oval 119"/>
          <p:cNvSpPr/>
          <p:nvPr/>
        </p:nvSpPr>
        <p:spPr>
          <a:xfrm>
            <a:off x="4315968" y="3849624"/>
            <a:ext cx="164592" cy="164592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1" name="TextBox 120"/>
          <p:cNvSpPr txBox="1"/>
          <p:nvPr/>
        </p:nvSpPr>
        <p:spPr>
          <a:xfrm>
            <a:off x="4535424" y="3785616"/>
            <a:ext cx="1280160" cy="1188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4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Release Gate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535424" y="3941064"/>
            <a:ext cx="1280160" cy="1188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80" b="0" i="0" u="none" strike="noStrike" kern="1200" cap="none" spc="0" normalizeH="0" baseline="0" noProof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READY / NOT_READY verdict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4224528" y="4315968"/>
            <a:ext cx="1627632" cy="43891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4" name="Oval 123"/>
          <p:cNvSpPr/>
          <p:nvPr/>
        </p:nvSpPr>
        <p:spPr>
          <a:xfrm>
            <a:off x="4315968" y="4453128"/>
            <a:ext cx="164592" cy="164592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5" name="TextBox 124"/>
          <p:cNvSpPr txBox="1"/>
          <p:nvPr/>
        </p:nvSpPr>
        <p:spPr>
          <a:xfrm>
            <a:off x="4535424" y="4389120"/>
            <a:ext cx="1280160" cy="1188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4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GitHub Automation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535424" y="4544568"/>
            <a:ext cx="1280160" cy="1188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80" b="0" i="0" u="none" strike="noStrike" kern="1200" cap="none" spc="0" normalizeH="0" baseline="0" noProof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Branch, PR, review evidence</a:t>
            </a:r>
          </a:p>
        </p:txBody>
      </p:sp>
      <p:sp>
        <p:nvSpPr>
          <p:cNvPr id="127" name="Right Arrow 126"/>
          <p:cNvSpPr/>
          <p:nvPr/>
        </p:nvSpPr>
        <p:spPr>
          <a:xfrm>
            <a:off x="5989320" y="3355848"/>
            <a:ext cx="274320" cy="182880"/>
          </a:xfrm>
          <a:prstGeom prst="rightArrow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8" name="Rounded Rectangle 127"/>
          <p:cNvSpPr/>
          <p:nvPr/>
        </p:nvSpPr>
        <p:spPr>
          <a:xfrm>
            <a:off x="6153912" y="1755648"/>
            <a:ext cx="1847088" cy="333756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9" name="Rectangle 128"/>
          <p:cNvSpPr/>
          <p:nvPr/>
        </p:nvSpPr>
        <p:spPr>
          <a:xfrm>
            <a:off x="6153912" y="1755648"/>
            <a:ext cx="1847088" cy="54864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0" name="TextBox 129"/>
          <p:cNvSpPr txBox="1"/>
          <p:nvPr/>
        </p:nvSpPr>
        <p:spPr>
          <a:xfrm>
            <a:off x="6227064" y="1865376"/>
            <a:ext cx="1700784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4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4. AI-POWERED EXPERIENCES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6263640" y="2139696"/>
            <a:ext cx="1627632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30" b="0" i="0" u="none" strike="noStrike" kern="1200" cap="none" spc="0" normalizeH="0" baseline="0" noProof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Actionable intelligence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6263640" y="2505456"/>
            <a:ext cx="1627632" cy="43891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3" name="Oval 132"/>
          <p:cNvSpPr/>
          <p:nvPr/>
        </p:nvSpPr>
        <p:spPr>
          <a:xfrm>
            <a:off x="6355080" y="2642616"/>
            <a:ext cx="164592" cy="164592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4" name="TextBox 133"/>
          <p:cNvSpPr txBox="1"/>
          <p:nvPr/>
        </p:nvSpPr>
        <p:spPr>
          <a:xfrm>
            <a:off x="6574536" y="2578608"/>
            <a:ext cx="1280160" cy="1188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4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ROVO Studio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574536" y="2734056"/>
            <a:ext cx="1280160" cy="1188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80" b="0" i="0" u="none" strike="noStrike" kern="1200" cap="none" spc="0" normalizeH="0" baseline="0" noProof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NPI demo cockpit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6263640" y="3108960"/>
            <a:ext cx="1627632" cy="43891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7" name="Oval 136"/>
          <p:cNvSpPr/>
          <p:nvPr/>
        </p:nvSpPr>
        <p:spPr>
          <a:xfrm>
            <a:off x="6355080" y="3246120"/>
            <a:ext cx="164592" cy="164592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8" name="TextBox 137"/>
          <p:cNvSpPr txBox="1"/>
          <p:nvPr/>
        </p:nvSpPr>
        <p:spPr>
          <a:xfrm>
            <a:off x="6574536" y="3182112"/>
            <a:ext cx="1280160" cy="1188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4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Copilot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6574536" y="3337560"/>
            <a:ext cx="1280160" cy="1188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80" b="0" i="0" u="none" strike="noStrike" kern="1200" cap="none" spc="0" normalizeH="0" baseline="0" noProof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Code fix and explanation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6263640" y="3712464"/>
            <a:ext cx="1627632" cy="43891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1" name="Oval 140"/>
          <p:cNvSpPr/>
          <p:nvPr/>
        </p:nvSpPr>
        <p:spPr>
          <a:xfrm>
            <a:off x="6355080" y="3849624"/>
            <a:ext cx="164592" cy="164592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2" name="TextBox 141"/>
          <p:cNvSpPr txBox="1"/>
          <p:nvPr/>
        </p:nvSpPr>
        <p:spPr>
          <a:xfrm>
            <a:off x="6574536" y="3785616"/>
            <a:ext cx="1280160" cy="1188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4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AI Agents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574536" y="3941064"/>
            <a:ext cx="1280160" cy="1188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80" b="0" i="0" u="none" strike="noStrike" kern="1200" cap="none" spc="0" normalizeH="0" baseline="0" noProof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Fault, variable, peripheral RCA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6263640" y="4315968"/>
            <a:ext cx="1627632" cy="43891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5" name="Oval 144"/>
          <p:cNvSpPr/>
          <p:nvPr/>
        </p:nvSpPr>
        <p:spPr>
          <a:xfrm>
            <a:off x="6355080" y="4453128"/>
            <a:ext cx="164592" cy="164592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6" name="TextBox 145"/>
          <p:cNvSpPr txBox="1"/>
          <p:nvPr/>
        </p:nvSpPr>
        <p:spPr>
          <a:xfrm>
            <a:off x="6574536" y="4389120"/>
            <a:ext cx="1280160" cy="1188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4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AI Optimisation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574536" y="4544568"/>
            <a:ext cx="1280160" cy="1188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80" b="0" i="0" u="none" strike="noStrike" kern="1200" cap="none" spc="0" normalizeH="0" baseline="0" noProof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Risk, tests, fixes, readiness</a:t>
            </a:r>
          </a:p>
        </p:txBody>
      </p:sp>
      <p:sp>
        <p:nvSpPr>
          <p:cNvPr id="148" name="Right Arrow 147"/>
          <p:cNvSpPr/>
          <p:nvPr/>
        </p:nvSpPr>
        <p:spPr>
          <a:xfrm>
            <a:off x="8028432" y="3355848"/>
            <a:ext cx="274320" cy="182880"/>
          </a:xfrm>
          <a:prstGeom prst="rightArrow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9" name="Rounded Rectangle 148"/>
          <p:cNvSpPr/>
          <p:nvPr/>
        </p:nvSpPr>
        <p:spPr>
          <a:xfrm>
            <a:off x="8193024" y="1755648"/>
            <a:ext cx="1755648" cy="333756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0" name="Rectangle 149"/>
          <p:cNvSpPr/>
          <p:nvPr/>
        </p:nvSpPr>
        <p:spPr>
          <a:xfrm>
            <a:off x="8193024" y="1755648"/>
            <a:ext cx="1755648" cy="54864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1" name="TextBox 150"/>
          <p:cNvSpPr txBox="1"/>
          <p:nvPr/>
        </p:nvSpPr>
        <p:spPr>
          <a:xfrm>
            <a:off x="8266176" y="1865376"/>
            <a:ext cx="1609344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4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5. NPI GATE OUTCOMES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302752" y="2139696"/>
            <a:ext cx="1536192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30" b="0" i="0" u="none" strike="noStrike" kern="1200" cap="none" spc="0" normalizeH="0" baseline="0" noProof="0">
                <a:ln>
                  <a:noFill/>
                </a:ln>
                <a:solidFill>
                  <a:srgbClr val="A70E17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Demo aligned to phases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8302752" y="2505456"/>
            <a:ext cx="1536192" cy="43891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4" name="Oval 153"/>
          <p:cNvSpPr/>
          <p:nvPr/>
        </p:nvSpPr>
        <p:spPr>
          <a:xfrm>
            <a:off x="8394192" y="2642616"/>
            <a:ext cx="164592" cy="1645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5" name="TextBox 154"/>
          <p:cNvSpPr txBox="1"/>
          <p:nvPr/>
        </p:nvSpPr>
        <p:spPr>
          <a:xfrm>
            <a:off x="8613648" y="2578608"/>
            <a:ext cx="1188720" cy="1188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4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PG1 Discovery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8613648" y="2734056"/>
            <a:ext cx="1188720" cy="1188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80" b="0" i="0" u="none" strike="noStrike" kern="1200" cap="none" spc="0" normalizeH="0" baseline="0" noProof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Risk-backed scope and plan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8302752" y="3108960"/>
            <a:ext cx="1536192" cy="43891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8" name="Oval 157"/>
          <p:cNvSpPr/>
          <p:nvPr/>
        </p:nvSpPr>
        <p:spPr>
          <a:xfrm>
            <a:off x="8394192" y="3246120"/>
            <a:ext cx="164592" cy="1645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9" name="TextBox 158"/>
          <p:cNvSpPr txBox="1"/>
          <p:nvPr/>
        </p:nvSpPr>
        <p:spPr>
          <a:xfrm>
            <a:off x="8613648" y="3182112"/>
            <a:ext cx="1188720" cy="1188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4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PG3 Development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13648" y="3337560"/>
            <a:ext cx="1188720" cy="1188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80" b="0" i="0" u="none" strike="noStrike" kern="1200" cap="none" spc="0" normalizeH="0" baseline="0" noProof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RCA, patch, PR, evidence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8302752" y="3712464"/>
            <a:ext cx="1536192" cy="43891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2" name="Oval 161"/>
          <p:cNvSpPr/>
          <p:nvPr/>
        </p:nvSpPr>
        <p:spPr>
          <a:xfrm>
            <a:off x="8394192" y="3849624"/>
            <a:ext cx="164592" cy="1645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3" name="TextBox 162"/>
          <p:cNvSpPr txBox="1"/>
          <p:nvPr/>
        </p:nvSpPr>
        <p:spPr>
          <a:xfrm>
            <a:off x="8613648" y="3785616"/>
            <a:ext cx="1188720" cy="1188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4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PG5 Validation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8613648" y="3941064"/>
            <a:ext cx="1188720" cy="1188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80" b="0" i="0" u="none" strike="noStrike" kern="1200" cap="none" spc="0" normalizeH="0" baseline="0" noProof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Launch readiness action list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8302752" y="4315968"/>
            <a:ext cx="1536192" cy="43891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6" name="Oval 165"/>
          <p:cNvSpPr/>
          <p:nvPr/>
        </p:nvSpPr>
        <p:spPr>
          <a:xfrm>
            <a:off x="8394192" y="4453128"/>
            <a:ext cx="164592" cy="1645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7" name="TextBox 166"/>
          <p:cNvSpPr txBox="1"/>
          <p:nvPr/>
        </p:nvSpPr>
        <p:spPr>
          <a:xfrm>
            <a:off x="8613648" y="4389120"/>
            <a:ext cx="1188720" cy="1188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4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PDLC Impact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13648" y="4544568"/>
            <a:ext cx="1188720" cy="1188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80" b="0" i="0" u="none" strike="noStrike" kern="1200" cap="none" spc="0" normalizeH="0" baseline="0" noProof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Faster debug, better decisions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10149840" y="1572768"/>
            <a:ext cx="1847088" cy="358444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0" name="Rectangle 169"/>
          <p:cNvSpPr/>
          <p:nvPr/>
        </p:nvSpPr>
        <p:spPr>
          <a:xfrm>
            <a:off x="10149840" y="1572768"/>
            <a:ext cx="1847088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1" name="TextBox 170"/>
          <p:cNvSpPr txBox="1"/>
          <p:nvPr/>
        </p:nvSpPr>
        <p:spPr>
          <a:xfrm>
            <a:off x="10259568" y="1719072"/>
            <a:ext cx="1572768" cy="21945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2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BUSINESS VALUE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0277856" y="1956816"/>
            <a:ext cx="1536192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670" b="1" i="0" u="none" strike="noStrike" kern="1200" cap="none" spc="0" normalizeH="0" baseline="0" noProof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THAT EMBEDDED TEAMS CARE ABOUT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10287000" y="2331720"/>
            <a:ext cx="1572768" cy="457200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4" name="Oval 173"/>
          <p:cNvSpPr/>
          <p:nvPr/>
        </p:nvSpPr>
        <p:spPr>
          <a:xfrm>
            <a:off x="10405872" y="2450592"/>
            <a:ext cx="219456" cy="219456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5" name="TextBox 174"/>
          <p:cNvSpPr txBox="1"/>
          <p:nvPr/>
        </p:nvSpPr>
        <p:spPr>
          <a:xfrm>
            <a:off x="10716768" y="2404872"/>
            <a:ext cx="987552" cy="10058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650" b="1" i="0" u="none" strike="noStrike" kern="1200" cap="none" spc="0" normalizeH="0" baseline="0" noProof="0">
                <a:ln>
                  <a:noFill/>
                </a:ln>
                <a:solidFill>
                  <a:srgbClr val="2E7D32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ACCELERATE NPI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16768" y="2551176"/>
            <a:ext cx="987552" cy="1188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30" b="0" i="0" u="none" strike="noStrike" kern="1200" cap="none" spc="0" normalizeH="0" baseline="0" noProof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PG1 risk to PG5 launch evidence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10287000" y="2953512"/>
            <a:ext cx="1572768" cy="457200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8" name="Oval 177"/>
          <p:cNvSpPr/>
          <p:nvPr/>
        </p:nvSpPr>
        <p:spPr>
          <a:xfrm>
            <a:off x="10405872" y="3072384"/>
            <a:ext cx="219456" cy="21945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9" name="TextBox 178"/>
          <p:cNvSpPr txBox="1"/>
          <p:nvPr/>
        </p:nvSpPr>
        <p:spPr>
          <a:xfrm>
            <a:off x="10716768" y="3026664"/>
            <a:ext cx="987552" cy="10058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650" b="1" i="0" u="none" strike="noStrike" kern="1200" cap="none" spc="0" normalizeH="0" baseline="0" noProof="0">
                <a:ln>
                  <a:noFill/>
                </a:ln>
                <a:solidFill>
                  <a:srgbClr val="D7192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REDUCE DEBUG CYCLE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0716768" y="3224679"/>
            <a:ext cx="1175918" cy="17389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30" b="0" i="0" u="none" strike="noStrike" kern="1200" cap="none" spc="0" normalizeH="0" baseline="0" noProof="0" dirty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JTAG-backed RCA and patches</a:t>
            </a:r>
          </a:p>
        </p:txBody>
      </p:sp>
      <p:sp>
        <p:nvSpPr>
          <p:cNvPr id="181" name="Rounded Rectangle 180"/>
          <p:cNvSpPr/>
          <p:nvPr/>
        </p:nvSpPr>
        <p:spPr>
          <a:xfrm>
            <a:off x="10287000" y="3575304"/>
            <a:ext cx="1572768" cy="457200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2" name="Oval 181"/>
          <p:cNvSpPr/>
          <p:nvPr/>
        </p:nvSpPr>
        <p:spPr>
          <a:xfrm>
            <a:off x="10405872" y="3694176"/>
            <a:ext cx="219456" cy="219456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3" name="TextBox 182"/>
          <p:cNvSpPr txBox="1"/>
          <p:nvPr/>
        </p:nvSpPr>
        <p:spPr>
          <a:xfrm>
            <a:off x="10716768" y="3648456"/>
            <a:ext cx="987552" cy="10058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650" b="1" i="0" u="none" strike="noStrike" kern="1200" cap="none" spc="0" normalizeH="0" baseline="0" noProof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IMPROVE QUALITY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0716768" y="3794760"/>
            <a:ext cx="987552" cy="1188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30" b="0" i="0" u="none" strike="noStrike" kern="1200" cap="none" spc="0" normalizeH="0" baseline="0" noProof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AI-focused tests and gates</a:t>
            </a:r>
          </a:p>
        </p:txBody>
      </p:sp>
      <p:sp>
        <p:nvSpPr>
          <p:cNvPr id="185" name="Rounded Rectangle 184"/>
          <p:cNvSpPr/>
          <p:nvPr/>
        </p:nvSpPr>
        <p:spPr>
          <a:xfrm>
            <a:off x="10287000" y="4197096"/>
            <a:ext cx="1572768" cy="457200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6" name="Oval 185"/>
          <p:cNvSpPr/>
          <p:nvPr/>
        </p:nvSpPr>
        <p:spPr>
          <a:xfrm>
            <a:off x="10405872" y="4315968"/>
            <a:ext cx="219456" cy="21945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7" name="TextBox 186"/>
          <p:cNvSpPr txBox="1"/>
          <p:nvPr/>
        </p:nvSpPr>
        <p:spPr>
          <a:xfrm>
            <a:off x="10716768" y="4270248"/>
            <a:ext cx="987552" cy="10058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650" b="1" i="0" u="none" strike="noStrike" kern="1200" cap="none" spc="0" normalizeH="0" baseline="0" noProof="0">
                <a:ln>
                  <a:noFill/>
                </a:ln>
                <a:solidFill>
                  <a:srgbClr val="D7192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STRENGTHEN GOVERNANCE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699720" y="4507992"/>
            <a:ext cx="1061492" cy="17389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530" b="0" i="0" u="none" strike="noStrike" kern="1200" cap="none" spc="0" normalizeH="0" baseline="0" noProof="0" dirty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Traceability and proof in Jira</a:t>
            </a:r>
          </a:p>
        </p:txBody>
      </p:sp>
      <p:sp>
        <p:nvSpPr>
          <p:cNvPr id="189" name="Rounded Rectangle 188"/>
          <p:cNvSpPr/>
          <p:nvPr/>
        </p:nvSpPr>
        <p:spPr>
          <a:xfrm>
            <a:off x="256032" y="5358384"/>
            <a:ext cx="6629400" cy="713232"/>
          </a:xfrm>
          <a:prstGeom prst="round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0" name="TextBox 189"/>
          <p:cNvSpPr txBox="1"/>
          <p:nvPr/>
        </p:nvSpPr>
        <p:spPr>
          <a:xfrm>
            <a:off x="475488" y="5449824"/>
            <a:ext cx="3026664" cy="238527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FROM NPI DATA TO EMBEDDED IMPACT</a:t>
            </a:r>
          </a:p>
        </p:txBody>
      </p:sp>
      <p:sp>
        <p:nvSpPr>
          <p:cNvPr id="191" name="Oval 190"/>
          <p:cNvSpPr/>
          <p:nvPr/>
        </p:nvSpPr>
        <p:spPr>
          <a:xfrm>
            <a:off x="685800" y="5687568"/>
            <a:ext cx="310896" cy="31089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2" name="TextBox 191"/>
          <p:cNvSpPr txBox="1"/>
          <p:nvPr/>
        </p:nvSpPr>
        <p:spPr>
          <a:xfrm>
            <a:off x="685800" y="5751576"/>
            <a:ext cx="310896" cy="731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6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1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84632" y="6044184"/>
            <a:ext cx="713232" cy="10058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63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Collect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411480" y="6163056"/>
            <a:ext cx="868680" cy="10058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490" b="0" i="0" u="none" strike="noStrike" kern="1200" cap="none" spc="0" normalizeH="0" baseline="0" noProof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Jira + Confluence</a:t>
            </a:r>
          </a:p>
        </p:txBody>
      </p:sp>
      <p:sp>
        <p:nvSpPr>
          <p:cNvPr id="195" name="Right Arrow 194"/>
          <p:cNvSpPr/>
          <p:nvPr/>
        </p:nvSpPr>
        <p:spPr>
          <a:xfrm>
            <a:off x="1088136" y="5742432"/>
            <a:ext cx="320040" cy="182880"/>
          </a:xfrm>
          <a:prstGeom prst="rightArrow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6" name="Oval 195"/>
          <p:cNvSpPr/>
          <p:nvPr/>
        </p:nvSpPr>
        <p:spPr>
          <a:xfrm>
            <a:off x="1691640" y="5687568"/>
            <a:ext cx="310896" cy="310896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7" name="TextBox 196"/>
          <p:cNvSpPr txBox="1"/>
          <p:nvPr/>
        </p:nvSpPr>
        <p:spPr>
          <a:xfrm>
            <a:off x="1691640" y="5751576"/>
            <a:ext cx="310896" cy="731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6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2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490472" y="6044184"/>
            <a:ext cx="713232" cy="10058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63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Unify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417320" y="6163056"/>
            <a:ext cx="868680" cy="10058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490" b="0" i="0" u="none" strike="noStrike" kern="1200" cap="none" spc="0" normalizeH="0" baseline="0" noProof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AEPLO PDLC graph</a:t>
            </a:r>
          </a:p>
        </p:txBody>
      </p:sp>
      <p:sp>
        <p:nvSpPr>
          <p:cNvPr id="200" name="Right Arrow 199"/>
          <p:cNvSpPr/>
          <p:nvPr/>
        </p:nvSpPr>
        <p:spPr>
          <a:xfrm>
            <a:off x="2093976" y="5742432"/>
            <a:ext cx="320040" cy="182880"/>
          </a:xfrm>
          <a:prstGeom prst="rightArrow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1" name="Oval 200"/>
          <p:cNvSpPr/>
          <p:nvPr/>
        </p:nvSpPr>
        <p:spPr>
          <a:xfrm>
            <a:off x="2697480" y="5687568"/>
            <a:ext cx="310896" cy="31089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2" name="TextBox 201"/>
          <p:cNvSpPr txBox="1"/>
          <p:nvPr/>
        </p:nvSpPr>
        <p:spPr>
          <a:xfrm>
            <a:off x="2697480" y="5751576"/>
            <a:ext cx="310896" cy="731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6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3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2496312" y="6044184"/>
            <a:ext cx="713232" cy="10058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63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Orchestrate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423160" y="6163056"/>
            <a:ext cx="868680" cy="10058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490" b="0" i="0" u="none" strike="noStrike" kern="1200" cap="none" spc="0" normalizeH="0" baseline="0" noProof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Atlassian MCP</a:t>
            </a:r>
          </a:p>
        </p:txBody>
      </p:sp>
      <p:sp>
        <p:nvSpPr>
          <p:cNvPr id="205" name="Right Arrow 204"/>
          <p:cNvSpPr/>
          <p:nvPr/>
        </p:nvSpPr>
        <p:spPr>
          <a:xfrm>
            <a:off x="3099816" y="5742432"/>
            <a:ext cx="320040" cy="182880"/>
          </a:xfrm>
          <a:prstGeom prst="rightArrow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6" name="Oval 205"/>
          <p:cNvSpPr/>
          <p:nvPr/>
        </p:nvSpPr>
        <p:spPr>
          <a:xfrm>
            <a:off x="3703320" y="5687568"/>
            <a:ext cx="310896" cy="310896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7" name="TextBox 206"/>
          <p:cNvSpPr txBox="1"/>
          <p:nvPr/>
        </p:nvSpPr>
        <p:spPr>
          <a:xfrm>
            <a:off x="3703320" y="5751576"/>
            <a:ext cx="310896" cy="731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6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4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3502152" y="6044184"/>
            <a:ext cx="713232" cy="10058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63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Diagnose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3429000" y="6163056"/>
            <a:ext cx="868680" cy="10058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490" b="0" i="0" u="none" strike="noStrike" kern="1200" cap="none" spc="0" normalizeH="0" baseline="0" noProof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JTAG Accelerator</a:t>
            </a:r>
          </a:p>
        </p:txBody>
      </p:sp>
      <p:sp>
        <p:nvSpPr>
          <p:cNvPr id="210" name="Right Arrow 209"/>
          <p:cNvSpPr/>
          <p:nvPr/>
        </p:nvSpPr>
        <p:spPr>
          <a:xfrm>
            <a:off x="4105656" y="5742432"/>
            <a:ext cx="320040" cy="182880"/>
          </a:xfrm>
          <a:prstGeom prst="rightArrow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1" name="Oval 210"/>
          <p:cNvSpPr/>
          <p:nvPr/>
        </p:nvSpPr>
        <p:spPr>
          <a:xfrm>
            <a:off x="4709160" y="5687568"/>
            <a:ext cx="310896" cy="31089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2" name="TextBox 211"/>
          <p:cNvSpPr txBox="1"/>
          <p:nvPr/>
        </p:nvSpPr>
        <p:spPr>
          <a:xfrm>
            <a:off x="4709160" y="5751576"/>
            <a:ext cx="310896" cy="731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6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5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4507992" y="6044184"/>
            <a:ext cx="713232" cy="10058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63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Optimise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4434840" y="6163056"/>
            <a:ext cx="868680" cy="10058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490" b="0" i="0" u="none" strike="noStrike" kern="1200" cap="none" spc="0" normalizeH="0" baseline="0" noProof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ROVO + Copilot</a:t>
            </a:r>
          </a:p>
        </p:txBody>
      </p:sp>
      <p:sp>
        <p:nvSpPr>
          <p:cNvPr id="215" name="Right Arrow 214"/>
          <p:cNvSpPr/>
          <p:nvPr/>
        </p:nvSpPr>
        <p:spPr>
          <a:xfrm>
            <a:off x="5111496" y="5742432"/>
            <a:ext cx="320040" cy="182880"/>
          </a:xfrm>
          <a:prstGeom prst="rightArrow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6" name="Oval 215"/>
          <p:cNvSpPr/>
          <p:nvPr/>
        </p:nvSpPr>
        <p:spPr>
          <a:xfrm>
            <a:off x="5715000" y="5687568"/>
            <a:ext cx="310896" cy="310896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7" name="TextBox 216"/>
          <p:cNvSpPr txBox="1"/>
          <p:nvPr/>
        </p:nvSpPr>
        <p:spPr>
          <a:xfrm>
            <a:off x="5715000" y="5751576"/>
            <a:ext cx="310896" cy="731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6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6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5513832" y="6044184"/>
            <a:ext cx="713232" cy="10058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63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Impact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5440680" y="6163056"/>
            <a:ext cx="868680" cy="10058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490" b="0" i="0" u="none" strike="noStrike" kern="1200" cap="none" spc="0" normalizeH="0" baseline="0" noProof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PG5 launch</a:t>
            </a:r>
          </a:p>
        </p:txBody>
      </p:sp>
      <p:sp>
        <p:nvSpPr>
          <p:cNvPr id="220" name="Rounded Rectangle 219"/>
          <p:cNvSpPr/>
          <p:nvPr/>
        </p:nvSpPr>
        <p:spPr>
          <a:xfrm>
            <a:off x="7114032" y="5358384"/>
            <a:ext cx="4736592" cy="71323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1" name="TextBox 220"/>
          <p:cNvSpPr txBox="1"/>
          <p:nvPr/>
        </p:nvSpPr>
        <p:spPr>
          <a:xfrm>
            <a:off x="7296912" y="5468112"/>
            <a:ext cx="1499616" cy="227755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80" b="1" i="0" u="none" strike="noStrike" kern="1200" cap="none" spc="0" normalizeH="0" baseline="0" noProof="0" dirty="0">
                <a:ln>
                  <a:noFill/>
                </a:ln>
                <a:solidFill>
                  <a:srgbClr val="D7192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DEMO PHASES</a:t>
            </a:r>
          </a:p>
        </p:txBody>
      </p:sp>
      <p:sp>
        <p:nvSpPr>
          <p:cNvPr id="222" name="Rounded Rectangle 221"/>
          <p:cNvSpPr/>
          <p:nvPr/>
        </p:nvSpPr>
        <p:spPr>
          <a:xfrm>
            <a:off x="7315200" y="5715000"/>
            <a:ext cx="1298448" cy="256032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3" name="TextBox 222"/>
          <p:cNvSpPr txBox="1"/>
          <p:nvPr/>
        </p:nvSpPr>
        <p:spPr>
          <a:xfrm>
            <a:off x="7315200" y="5769864"/>
            <a:ext cx="1298448" cy="731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6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PG1  Discovery</a:t>
            </a:r>
          </a:p>
        </p:txBody>
      </p:sp>
      <p:sp>
        <p:nvSpPr>
          <p:cNvPr id="224" name="Rounded Rectangle 223"/>
          <p:cNvSpPr/>
          <p:nvPr/>
        </p:nvSpPr>
        <p:spPr>
          <a:xfrm>
            <a:off x="8796528" y="5715000"/>
            <a:ext cx="1298448" cy="256032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5" name="TextBox 224"/>
          <p:cNvSpPr txBox="1"/>
          <p:nvPr/>
        </p:nvSpPr>
        <p:spPr>
          <a:xfrm>
            <a:off x="8796528" y="5769864"/>
            <a:ext cx="1298448" cy="731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6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PG3  Development</a:t>
            </a:r>
          </a:p>
        </p:txBody>
      </p:sp>
      <p:sp>
        <p:nvSpPr>
          <p:cNvPr id="226" name="Rounded Rectangle 225"/>
          <p:cNvSpPr/>
          <p:nvPr/>
        </p:nvSpPr>
        <p:spPr>
          <a:xfrm>
            <a:off x="10277856" y="5715000"/>
            <a:ext cx="1298448" cy="256032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7" name="TextBox 226"/>
          <p:cNvSpPr txBox="1"/>
          <p:nvPr/>
        </p:nvSpPr>
        <p:spPr>
          <a:xfrm>
            <a:off x="10160713" y="5738438"/>
            <a:ext cx="1551022" cy="19236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6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PG5  Validation &amp; Launch Prep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0" y="6419088"/>
            <a:ext cx="12191695" cy="365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9" name="TextBox 228"/>
          <p:cNvSpPr txBox="1"/>
          <p:nvPr/>
        </p:nvSpPr>
        <p:spPr>
          <a:xfrm>
            <a:off x="256032" y="6510528"/>
            <a:ext cx="3017520" cy="10972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19" b="1" i="0" u="none" strike="noStrike" kern="1200" cap="none" spc="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Better Together. Built for Embedded PDLC Impact.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3657600" y="6510528"/>
            <a:ext cx="8138160" cy="10972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710" b="0" i="0" u="none" strike="noStrike" kern="1200" cap="none" spc="0" normalizeH="0" baseline="0" noProof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ROVO Studio | Copilot | Atlassian MCP | GitHub | Jira | Confluence | AEPLO JTAG Accelerator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0" y="0"/>
            <a:ext cx="12192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2" name="TextBox 231"/>
          <p:cNvSpPr txBox="1"/>
          <p:nvPr/>
        </p:nvSpPr>
        <p:spPr>
          <a:xfrm>
            <a:off x="10408920" y="128016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d546e5e1-5d42-4630-bacd-c69bfdcbd5e8}" enabled="1" method="Standard" siteId="{96ece526-9c7d-48b0-8daf-8b93c90a5d18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357</Words>
  <Application>Microsoft Office PowerPoint</Application>
  <PresentationFormat>Widescreen</PresentationFormat>
  <Paragraphs>100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Arial</vt:lpstr>
      <vt:lpstr>Calibri</vt:lpstr>
      <vt:lpstr>Segoe UI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Shrivastava, Shyam</cp:lastModifiedBy>
  <cp:revision>3</cp:revision>
  <dcterms:created xsi:type="dcterms:W3CDTF">2013-01-27T09:14:16Z</dcterms:created>
  <dcterms:modified xsi:type="dcterms:W3CDTF">2026-06-16T04:56:52Z</dcterms:modified>
  <cp:category/>
</cp:coreProperties>
</file>