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2011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53949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AI-DRIVEN 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3949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PRODUCT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59736"/>
            <a:ext cx="53949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00C8F0"/>
                </a:solidFill>
                <a:latin typeface="Arial"/>
              </a:rPr>
              <a:t>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46120"/>
            <a:ext cx="1143000" cy="310896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28269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VERSION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86200"/>
            <a:ext cx="49834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Arial"/>
              </a:rPr>
              <a:t>3-minute executive story: PRD -&gt; firmware -&gt; JTAG evidence -&gt; QA READY -&gt; STQC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7492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  <a:latin typeface="Arial"/>
              </a:rPr>
              <a:t>Atharva | Manas | Sheraaz | Shyam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Embedded PDLC Data Is Fragmented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30" b="0" i="1">
                <a:solidFill>
                  <a:srgbClr val="E8F0FC"/>
                </a:solidFill>
                <a:latin typeface="Arial"/>
              </a:rPr>
              <a:t>NPI gates rely on disconnected requirements, Jira tickets, Confluence knowledge, GitHub code, JTAG/SWD evidence and QA results - slowing decisions from PG1 to PG5.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176272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2697480" cy="64008"/>
          </a:xfrm>
          <a:prstGeom prst="rect">
            <a:avLst/>
          </a:prstGeom>
          <a:solidFill>
            <a:srgbClr val="E8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" y="2377440"/>
            <a:ext cx="566928" cy="402336"/>
          </a:xfrm>
          <a:prstGeom prst="roundRect">
            <a:avLst/>
          </a:prstGeom>
          <a:solidFill>
            <a:srgbClr val="E8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23160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PG1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22576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Discovery
Blind Spots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89504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Risks and debug hotspots are not visible early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176272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176272"/>
            <a:ext cx="2697480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55848" y="2377440"/>
            <a:ext cx="566928" cy="402336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2423160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322576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Late Defect
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889504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MCU faults surface after coding and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2176272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59" y="2176272"/>
            <a:ext cx="2697480" cy="64008"/>
          </a:xfrm>
          <a:prstGeom prst="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7" y="2377440"/>
            <a:ext cx="566928" cy="402336"/>
          </a:xfrm>
          <a:prstGeom prst="round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2423160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2322576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Tool Chain
Fragmentation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1" y="2889504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ROVO, Copilot, Jira, GitHub and JTAG need orchestration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032504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032504"/>
            <a:ext cx="2697480" cy="64008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488" y="4233672"/>
            <a:ext cx="566928" cy="402336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279392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178808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PDLC
Trace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745736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Requirements, code, tests and evidence drift apart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4032504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4032504"/>
            <a:ext cx="2697480" cy="64008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55848" y="4233672"/>
            <a:ext cx="566928" cy="402336"/>
          </a:xfrm>
          <a:prstGeom prst="round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5848" y="4279392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JTAG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178808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Embedded
Hardware Gap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4992" y="4745736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JTAG/SWD evidence stays outside lifecycle decisions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59" y="4032504"/>
            <a:ext cx="2697480" cy="160020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0759" y="4032504"/>
            <a:ext cx="2697480" cy="64008"/>
          </a:xfrm>
          <a:prstGeom prst="rect">
            <a:avLst/>
          </a:prstGeom>
          <a:solidFill>
            <a:srgbClr val="B8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36207" y="4233672"/>
            <a:ext cx="566928" cy="402336"/>
          </a:xfrm>
          <a:prstGeom prst="roundRect">
            <a:avLst/>
          </a:prstGeom>
          <a:solidFill>
            <a:srgbClr val="B8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7" y="4279392"/>
            <a:ext cx="5669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PG5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19" y="4178808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70" b="1" i="0">
                <a:solidFill>
                  <a:srgbClr val="E8F0FC"/>
                </a:solidFill>
                <a:latin typeface="Arial"/>
              </a:rPr>
              <a:t>Launch Gate
Uncertainty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5351" y="4745736"/>
            <a:ext cx="23591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Readiness depends on manual proof and subjective reviews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AEPLO Platform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 i="1">
                <a:solidFill>
                  <a:srgbClr val="E8F0FC"/>
                </a:solidFill>
                <a:latin typeface="Arial"/>
              </a:rPr>
              <a:t>Connects Jira, Confluence, GitHub, Copilot, ROVO Studio, Atlassian MCP and JTAG/SWD evidence into one embedded PDLC optimization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84248"/>
            <a:ext cx="1920240" cy="603504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48840"/>
            <a:ext cx="18653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CONNECTED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984248"/>
            <a:ext cx="6126480" cy="603504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984248"/>
            <a:ext cx="54864" cy="6035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157984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0" i="0">
                <a:solidFill>
                  <a:srgbClr val="E8F0FC"/>
                </a:solidFill>
                <a:latin typeface="Arial"/>
              </a:rPr>
              <a:t>Jira | Confluence | GitHub | Copilot | ROVO Studio | JTAG/SWD | QA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70632"/>
            <a:ext cx="1920240" cy="603504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935224"/>
            <a:ext cx="18653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2770632"/>
            <a:ext cx="6126480" cy="603504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2770632"/>
            <a:ext cx="54864" cy="60350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944368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0" i="0">
                <a:solidFill>
                  <a:srgbClr val="E8F0FC"/>
                </a:solidFill>
                <a:latin typeface="Arial"/>
              </a:rPr>
              <a:t>Unified Knowledge Graph | Semantic Traceability Engine | Version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57015"/>
            <a:ext cx="1920240" cy="603504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721607"/>
            <a:ext cx="18653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AEPLO ORCHESTRATION 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557015"/>
            <a:ext cx="6126480" cy="603504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3557015"/>
            <a:ext cx="54864" cy="6035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730751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0" i="0">
                <a:solidFill>
                  <a:srgbClr val="E8F0FC"/>
                </a:solidFill>
                <a:latin typeface="Arial"/>
              </a:rPr>
              <a:t>Atlassian MCP | JTAG Accelerator | Fault Analyzer | Release Agent | QA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920240" cy="603504"/>
          </a:xfrm>
          <a:prstGeom prst="round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507992"/>
            <a:ext cx="18653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AUTOMATION &amp; GATING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4343400"/>
            <a:ext cx="6126480" cy="603504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4343400"/>
            <a:ext cx="54864" cy="603504"/>
          </a:xfrm>
          <a:prstGeom prst="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517136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0" i="0">
                <a:solidFill>
                  <a:srgbClr val="E8F0FC"/>
                </a:solidFill>
                <a:latin typeface="Arial"/>
              </a:rPr>
              <a:t>CI/CD Hooks | Controlled Auto-Fix | Auto-PR | Release Gate | Remediation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29783"/>
            <a:ext cx="1920240" cy="603504"/>
          </a:xfrm>
          <a:prstGeom prst="round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294375"/>
            <a:ext cx="18653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NPI GATE OUTCOMES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5129783"/>
            <a:ext cx="6126480" cy="603504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06040" y="5129783"/>
            <a:ext cx="54864" cy="603504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5303519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19" b="0" i="0">
                <a:solidFill>
                  <a:srgbClr val="E8F0FC"/>
                </a:solidFill>
                <a:latin typeface="Arial"/>
              </a:rPr>
              <a:t>PG1 Risk Plan | PG3 RCA + PR | PG5 READY / NOT_READY | Audit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PRD TO 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Confluence PRD Becomes Pickable Jira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 i="1">
                <a:solidFill>
                  <a:srgbClr val="E8F0FC"/>
                </a:solidFill>
                <a:latin typeface="Arial"/>
              </a:rPr>
              <a:t>Epics and stories are created from the PRD hosted on Confluence, guided by SDE Elements and PSJIRA. The user picks the work item and AEPLO carries the acceptance context forward.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788920"/>
            <a:ext cx="1965960" cy="24871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788920"/>
            <a:ext cx="1965960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081528"/>
            <a:ext cx="566928" cy="566928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56692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40" b="1" i="0">
                <a:solidFill>
                  <a:srgbClr val="D71920"/>
                </a:solidFill>
                <a:latin typeface="Arial"/>
              </a:rPr>
              <a:t>PRD 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233672"/>
            <a:ext cx="1627632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90" b="0" i="0">
                <a:solidFill>
                  <a:srgbClr val="E8F0FC"/>
                </a:solidFill>
                <a:latin typeface="Arial"/>
              </a:rPr>
              <a:t>Confluence PRD, architecture notes, release intent and regulatory scope are ingested.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087368"/>
            <a:ext cx="201168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96312" y="2788920"/>
            <a:ext cx="1965960" cy="24871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96312" y="2788920"/>
            <a:ext cx="1965960" cy="64008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82112" y="3081528"/>
            <a:ext cx="566928" cy="566928"/>
          </a:xfrm>
          <a:prstGeom prst="ellipse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3255264"/>
            <a:ext cx="56692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776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40" b="1" i="0">
                <a:solidFill>
                  <a:srgbClr val="0066A4"/>
                </a:solidFill>
                <a:latin typeface="Arial"/>
              </a:rPr>
              <a:t>SDE Elements + PSJIRA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904" y="4233672"/>
            <a:ext cx="1627632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90" b="0" i="0">
                <a:solidFill>
                  <a:srgbClr val="E8F0FC"/>
                </a:solidFill>
                <a:latin typeface="Arial"/>
              </a:rPr>
              <a:t>AI maps requirements into epics, stories, acceptance criteria and trace links.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4087368"/>
            <a:ext cx="201168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72583" y="2788920"/>
            <a:ext cx="1965960" cy="24871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2788920"/>
            <a:ext cx="1965960" cy="64008"/>
          </a:xfrm>
          <a:prstGeom prst="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58383" y="3081528"/>
            <a:ext cx="566928" cy="566928"/>
          </a:xfrm>
          <a:prstGeom prst="ellipse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3" y="3255264"/>
            <a:ext cx="56692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3" y="3776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40" b="1" i="0">
                <a:solidFill>
                  <a:srgbClr val="6542A6"/>
                </a:solidFill>
                <a:latin typeface="Arial"/>
              </a:rPr>
              <a:t>User Picks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5" y="4233672"/>
            <a:ext cx="1627632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90" b="0" i="0">
                <a:solidFill>
                  <a:srgbClr val="E8F0FC"/>
                </a:solidFill>
                <a:latin typeface="Arial"/>
              </a:rPr>
              <a:t>Epics and stories are listed for the developer or product owner to select.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38543" y="4087368"/>
            <a:ext cx="201168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48855" y="2788920"/>
            <a:ext cx="1965960" cy="24871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48855" y="2788920"/>
            <a:ext cx="1965960" cy="64008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34655" y="3081528"/>
            <a:ext cx="566928" cy="566928"/>
          </a:xfrm>
          <a:prstGeom prst="ellipse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5" y="3255264"/>
            <a:ext cx="56692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5" y="3776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40" b="1" i="0">
                <a:solidFill>
                  <a:srgbClr val="008A4B"/>
                </a:solidFill>
                <a:latin typeface="Arial"/>
              </a:rPr>
              <a:t>Branch + QA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7" y="4233672"/>
            <a:ext cx="1627632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90" b="0" i="0">
                <a:solidFill>
                  <a:srgbClr val="E8F0FC"/>
                </a:solidFill>
                <a:latin typeface="Arial"/>
              </a:rPr>
              <a:t>A feature branch is created with PRD clauses, QA inputs and validation expectations attached.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715000"/>
            <a:ext cx="7772400" cy="38404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15584"/>
            <a:ext cx="7498079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Outcome: every branch starts with traceable PRD intent, Jira work item, QA input and release-gate evidence plan.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rm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PG3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PG3 Firmware Generation and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 i="1">
                <a:solidFill>
                  <a:srgbClr val="FFFFFF"/>
                </a:solidFill>
                <a:latin typeface="Arial"/>
              </a:rPr>
              <a:t>At PG3, AEPLO generates firmware/code from the datasheet and PRD. SDK, BSP, OS/RTOS, compiler and board context are injected before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" y="2167128"/>
            <a:ext cx="2606040" cy="306324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2121408"/>
            <a:ext cx="2606040" cy="306324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21408"/>
            <a:ext cx="73152" cy="3063240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24028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0066A4"/>
                </a:solidFill>
                <a:latin typeface="Arial"/>
              </a:rPr>
              <a:t>Context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688336"/>
            <a:ext cx="2331720" cy="2368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0" b="0" i="0">
                <a:solidFill>
                  <a:srgbClr val="B8D0EC"/>
                </a:solidFill>
                <a:latin typeface="Arial"/>
              </a:rPr>
              <a:t>- Datasheet and register map
- PRD acceptance criteria
- SDK/BSP and HAL
- OS/RTOS constraints
- Board and memory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2167128"/>
            <a:ext cx="2606040" cy="306324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3552" y="2121408"/>
            <a:ext cx="2606040" cy="306324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2121408"/>
            <a:ext cx="73152" cy="306324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224028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71920"/>
                </a:solidFill>
                <a:latin typeface="Arial"/>
              </a:rPr>
              <a:t>Firmware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2688336"/>
            <a:ext cx="2331720" cy="2368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0" b="0" i="0">
                <a:solidFill>
                  <a:srgbClr val="B8D0EC"/>
                </a:solidFill>
                <a:latin typeface="Arial"/>
              </a:rPr>
              <a:t>- Driver skeletons
- Peripheral init code
- Configuration tables
- Unit and HIL test hooks
- Review-ready feature branch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167128"/>
            <a:ext cx="2606040" cy="306324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121408"/>
            <a:ext cx="2606040" cy="306324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21408"/>
            <a:ext cx="73152" cy="306324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24028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008A4B"/>
                </a:solidFill>
                <a:latin typeface="Arial"/>
              </a:rPr>
              <a:t>Evidence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688336"/>
            <a:ext cx="2331720" cy="2368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0" b="0" i="0">
                <a:solidFill>
                  <a:srgbClr val="B8D0EC"/>
                </a:solidFill>
                <a:latin typeface="Arial"/>
              </a:rPr>
              <a:t>- Datasheet conformance checks
- PRD trace verification
- Static and unit checks
- JTAG/SWD hardware evidence
- Ready / Not Ready signal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77840"/>
            <a:ext cx="7589520" cy="493776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715000"/>
            <a:ext cx="72694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rial"/>
              </a:rPr>
              <a:t>JTAG Agent adds hardware-backed proof: registers, memory dumps, stack frames, peripheral state and probe logs.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JTAG DEBUG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Agent JTAG Debugging: From Failure to 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0" i="1">
                <a:solidFill>
                  <a:srgbClr val="FFFFFF"/>
                </a:solidFill>
                <a:latin typeface="Arial"/>
              </a:rPr>
              <a:t>V9 page 8 inserted into the 3-minute flow: the JTAG agent turns live hardware state into root cause, controlled fixes, Jira evidence and release-gate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993392"/>
            <a:ext cx="2606040" cy="2606040"/>
          </a:xfrm>
          <a:prstGeom prst="roundRect">
            <a:avLst/>
          </a:prstGeom>
          <a:solidFill>
            <a:srgbClr val="0B1F3A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jtag_v9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12264"/>
            <a:ext cx="2359152" cy="23591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4773168"/>
            <a:ext cx="2606040" cy="84124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23317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JTAG - Agent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23317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60" b="0" i="0">
                <a:solidFill>
                  <a:srgbClr val="FFFFFF"/>
                </a:solidFill>
                <a:latin typeface="Arial"/>
              </a:rPr>
              <a:t>Bug/Story -&gt; Orchestrator -&gt; MCU -&gt; Git PR + Jira RCA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7248" y="1993392"/>
            <a:ext cx="5696712" cy="1078992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27248" y="1993392"/>
            <a:ext cx="73152" cy="10789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084832"/>
            <a:ext cx="33375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80" b="1" i="0">
                <a:solidFill>
                  <a:srgbClr val="D71920"/>
                </a:solidFill>
                <a:latin typeface="Arial"/>
              </a:rPr>
              <a:t>Bootloader -&gt; Application Handoff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377440"/>
            <a:ext cx="4251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 i="0">
                <a:solidFill>
                  <a:srgbClr val="E8F0FC"/>
                </a:solidFill>
                <a:latin typeface="Arial"/>
              </a:rPr>
              <a:t>SysTick enabled in bootloader, but application vector table had no SysTick handler. Agent correlated PC, vector tables and peripheral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231136"/>
            <a:ext cx="1078992" cy="43891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2313432"/>
            <a:ext cx="932688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45 min RCA vs 2-3 days 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27248" y="3310128"/>
            <a:ext cx="5696712" cy="1078992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27248" y="3310128"/>
            <a:ext cx="73152" cy="1078992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401568"/>
            <a:ext cx="33375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80" b="1" i="0">
                <a:solidFill>
                  <a:srgbClr val="0066A4"/>
                </a:solidFill>
                <a:latin typeface="Arial"/>
              </a:rPr>
              <a:t>Sub-zero ADC Emulation at Room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694176"/>
            <a:ext cx="4251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 i="0">
                <a:solidFill>
                  <a:srgbClr val="E8F0FC"/>
                </a:solidFill>
                <a:latin typeface="Arial"/>
              </a:rPr>
              <a:t>ADC stalled at negative temperature. Agent simulated cold ADC state at 25C to validate driver reinit and gain adjustment.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547872"/>
            <a:ext cx="1078992" cy="438912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3630168"/>
            <a:ext cx="932688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Saved 1 week thermal cycling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7248" y="4626864"/>
            <a:ext cx="5696712" cy="1078992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7248" y="4626864"/>
            <a:ext cx="73152" cy="1078992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718304"/>
            <a:ext cx="33375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80" b="1" i="0">
                <a:solidFill>
                  <a:srgbClr val="008A4B"/>
                </a:solidFill>
                <a:latin typeface="Arial"/>
              </a:rPr>
              <a:t>Boot Failure from Incorrect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5010912"/>
            <a:ext cx="42519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 i="0">
                <a:solidFill>
                  <a:srgbClr val="E8F0FC"/>
                </a:solidFill>
                <a:latin typeface="Arial"/>
              </a:rPr>
              <a:t>After flashing a new build, all checks looked normal. Agent traced Program Counter and found execution redirected to system ROM instead of flash.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4864608"/>
            <a:ext cx="1078992" cy="438912"/>
          </a:xfrm>
          <a:prstGeom prst="round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4946904"/>
            <a:ext cx="932688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Hardware-backed evidence for 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27248" y="5989320"/>
            <a:ext cx="5696712" cy="32004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3552" y="6071616"/>
            <a:ext cx="539496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/>
              </a:rPr>
              <a:t>A2A physical interface to hardware: Fault Analyzer | Variable Tracer | Peripheral Inspector | Probing Agent | Controlled Auto Fix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QA RELEASE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Closed Loop Until QA Says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 i="1">
                <a:solidFill>
                  <a:srgbClr val="E8F0FC"/>
                </a:solidFill>
                <a:latin typeface="Arial"/>
              </a:rPr>
              <a:t>Feature branch, PRD criteria, QA inputs and JTAG evidence are validated together. A NOT_READY decision becomes prioritized Jira work for the next release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67712"/>
            <a:ext cx="2286000" cy="11155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67712"/>
            <a:ext cx="64008" cy="1115568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560320"/>
            <a:ext cx="420624" cy="420624"/>
          </a:xfrm>
          <a:prstGeom prst="ellipse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88336"/>
            <a:ext cx="42062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386584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0066A4"/>
                </a:solidFill>
                <a:latin typeface="Arial"/>
              </a:rPr>
              <a:t>Feature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706624"/>
            <a:ext cx="14173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30" b="0" i="0">
                <a:solidFill>
                  <a:srgbClr val="E8F0FC"/>
                </a:solidFill>
                <a:latin typeface="Arial"/>
              </a:rPr>
              <a:t>Selected story, generated code and linked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084831"/>
            <a:ext cx="2286000" cy="11155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084831"/>
            <a:ext cx="64008" cy="1115568"/>
          </a:xfrm>
          <a:prstGeom prst="rect">
            <a:avLst/>
          </a:prstGeom>
          <a:solidFill>
            <a:srgbClr val="E8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2377439"/>
            <a:ext cx="420624" cy="420624"/>
          </a:xfrm>
          <a:prstGeom prst="ellipse">
            <a:avLst/>
          </a:prstGeom>
          <a:solidFill>
            <a:srgbClr val="E8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505455"/>
            <a:ext cx="42062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2203703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E87900"/>
                </a:solidFill>
                <a:latin typeface="Arial"/>
              </a:rPr>
              <a:t>QA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2523743"/>
            <a:ext cx="14173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30" b="0" i="0">
                <a:solidFill>
                  <a:srgbClr val="E8F0FC"/>
                </a:solidFill>
                <a:latin typeface="Arial"/>
              </a:rPr>
              <a:t>Regression, HIL, field issues and acceptance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2267712"/>
            <a:ext cx="2286000" cy="11155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2267712"/>
            <a:ext cx="64008" cy="111556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80760" y="2560320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688336"/>
            <a:ext cx="42062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386584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D71920"/>
                </a:solidFill>
                <a:latin typeface="Arial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706624"/>
            <a:ext cx="14173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30" b="0" i="0">
                <a:solidFill>
                  <a:srgbClr val="E8F0FC"/>
                </a:solidFill>
                <a:latin typeface="Arial"/>
              </a:rPr>
              <a:t>PRD, datasheet, code, tests and JTAG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617720"/>
            <a:ext cx="2286000" cy="11155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4617720"/>
            <a:ext cx="64008" cy="1115568"/>
          </a:xfrm>
          <a:prstGeom prst="rect">
            <a:avLst/>
          </a:prstGeom>
          <a:solidFill>
            <a:srgbClr val="A6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0" y="4910328"/>
            <a:ext cx="420624" cy="420624"/>
          </a:xfrm>
          <a:prstGeom prst="ellipse">
            <a:avLst/>
          </a:prstGeom>
          <a:solidFill>
            <a:srgbClr val="A6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5038344"/>
            <a:ext cx="42062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4736592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A61218"/>
                </a:solidFill>
                <a:latin typeface="Arial"/>
              </a:rPr>
              <a:t>NOT_READY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5056632"/>
            <a:ext cx="14173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30" b="0" i="0">
                <a:solidFill>
                  <a:srgbClr val="E8F0FC"/>
                </a:solidFill>
                <a:latin typeface="Arial"/>
              </a:rPr>
              <a:t>Create defects, stories and priority 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40" y="4617720"/>
            <a:ext cx="2286000" cy="111556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91640" y="4617720"/>
            <a:ext cx="64008" cy="1115568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74520" y="4910328"/>
            <a:ext cx="420624" cy="420624"/>
          </a:xfrm>
          <a:prstGeom prst="ellipse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20" y="5038344"/>
            <a:ext cx="42062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04872" y="4736592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008A4B"/>
                </a:solidFill>
                <a:latin typeface="Arial"/>
              </a:rPr>
              <a:t>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4872" y="5056632"/>
            <a:ext cx="14173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30" b="0" i="0">
                <a:solidFill>
                  <a:srgbClr val="E8F0FC"/>
                </a:solidFill>
                <a:latin typeface="Arial"/>
              </a:rPr>
              <a:t>Release candidate cleared with evidence pack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4680" y="3703320"/>
            <a:ext cx="2834640" cy="56692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3858768"/>
            <a:ext cx="2523744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rial"/>
              </a:rPr>
              <a:t>QA gate guides the next-release backlog until READY is achieved.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PG5 STQC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Star: STQC Agent for BIS 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 i="1">
                <a:solidFill>
                  <a:srgbClr val="FFFFFF"/>
                </a:solidFill>
                <a:latin typeface="Arial"/>
              </a:rPr>
              <a:t>All IoT security and surveillance devices need BIS certification governed by STQC guidelines. This applies to in-house designs and BTS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" y="2075688"/>
            <a:ext cx="2606040" cy="370332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2029968"/>
            <a:ext cx="2606040" cy="370332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29968"/>
            <a:ext cx="73152" cy="3703320"/>
          </a:xfrm>
          <a:prstGeom prst="rect">
            <a:avLst/>
          </a:prstGeom>
          <a:solidFill>
            <a:srgbClr val="B8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4884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B88300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96896"/>
            <a:ext cx="2331720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9" b="0" i="0">
                <a:solidFill>
                  <a:srgbClr val="B8D0EC"/>
                </a:solidFill>
                <a:latin typeface="Arial"/>
              </a:rPr>
              <a:t>Earlier, developers spent months crawling code, creating evidence, validating rules and packaging documents for auditors.
AEPLO compresses this to days with repeatable evidence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2075688"/>
            <a:ext cx="2606040" cy="370332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3552" y="2029968"/>
            <a:ext cx="2606040" cy="370332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2029968"/>
            <a:ext cx="73152" cy="37033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214884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71920"/>
                </a:solidFill>
                <a:latin typeface="Arial"/>
              </a:rPr>
              <a:t>What STQC Agent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2596896"/>
            <a:ext cx="2331720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- Crawls source and configuration
- Creates audit evidence
- Enforces hard rules, including no foreign characters
- Checks STQC ER guideline coverage
- Validates submission readiness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075688"/>
            <a:ext cx="2606040" cy="3703320"/>
          </a:xfrm>
          <a:prstGeom prst="round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029968"/>
            <a:ext cx="2606040" cy="370332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029968"/>
            <a:ext cx="73152" cy="370332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148840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008A4B"/>
                </a:solidFill>
                <a:latin typeface="Arial"/>
              </a:rPr>
              <a:t>If Not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596896"/>
            <a:ext cx="2331720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- Highlights the exact failing section
- Explains the missing evidence
- Creates Jira tickets and stories
- Sends fixes back through PG3 and QA gate
- Re-checks until submission-ready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998464"/>
            <a:ext cx="7040880" cy="34747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6089904"/>
            <a:ext cx="6720840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69" b="1" i="0">
                <a:solidFill>
                  <a:srgbClr val="FFFFFF"/>
                </a:solidFill>
                <a:latin typeface="Arial"/>
              </a:rPr>
              <a:t>Output: READY for STQC submission, or NOT_READY with actionable evidence gaps and Jira remediation.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411480"/>
            <a:ext cx="2148840" cy="274320"/>
          </a:xfrm>
          <a:prstGeom prst="round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148840" cy="109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1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8183879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Realistic Quantified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234440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81328"/>
            <a:ext cx="8412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 i="1">
                <a:solidFill>
                  <a:srgbClr val="E8F0FC"/>
                </a:solidFill>
                <a:latin typeface="Arial"/>
              </a:rPr>
              <a:t>Pilot-ready targets for efficiency, time saved and token optimization. Values are framed as measured/expected ranges for a controlled demo-to-pilot rollout.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057400"/>
            <a:ext cx="4206240" cy="102412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73152" cy="102412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167128"/>
            <a:ext cx="1737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D71920"/>
                </a:solidFill>
                <a:latin typeface="Arial"/>
              </a:rPr>
              <a:t>STQC 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59" y="2130552"/>
            <a:ext cx="214884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220" b="1" i="0">
                <a:solidFill>
                  <a:srgbClr val="FFFFFF"/>
                </a:solidFill>
                <a:latin typeface="Arial"/>
              </a:rPr>
              <a:t>6-10 weeks -&gt; 2-4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32888"/>
            <a:ext cx="387705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85-92% effort reduction for first submission pack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2057400"/>
            <a:ext cx="4206240" cy="102412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79" y="2057400"/>
            <a:ext cx="73152" cy="1024128"/>
          </a:xfrm>
          <a:prstGeom prst="rect">
            <a:avLst/>
          </a:prstGeom>
          <a:solidFill>
            <a:srgbClr val="E8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1" y="2167128"/>
            <a:ext cx="1737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E87900"/>
                </a:solidFill>
                <a:latin typeface="Arial"/>
              </a:rPr>
              <a:t>PG3 Firmware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8" y="2130552"/>
            <a:ext cx="214884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220" b="1" i="0">
                <a:solidFill>
                  <a:srgbClr val="FFFFFF"/>
                </a:solidFill>
                <a:latin typeface="Arial"/>
              </a:rPr>
              <a:t>3-5 days -&gt; 1-2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2532888"/>
            <a:ext cx="387705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45-60% faster first draft and validation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383280"/>
            <a:ext cx="4206240" cy="102412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383280"/>
            <a:ext cx="73152" cy="1024128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493008"/>
            <a:ext cx="1737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0066A4"/>
                </a:solidFill>
                <a:latin typeface="Arial"/>
              </a:rPr>
              <a:t>JTAG 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59" y="3456432"/>
            <a:ext cx="214884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220" b="1" i="0">
                <a:solidFill>
                  <a:srgbClr val="FFFFFF"/>
                </a:solidFill>
                <a:latin typeface="Arial"/>
              </a:rPr>
              <a:t>1-2 days -&gt; under 2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858768"/>
            <a:ext cx="387705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70-90% faster hardware-backed 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79" y="3383280"/>
            <a:ext cx="4206240" cy="1024128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79" y="3383280"/>
            <a:ext cx="73152" cy="1024128"/>
          </a:xfrm>
          <a:prstGeom prst="rect">
            <a:avLst/>
          </a:prstGeom>
          <a:solidFill>
            <a:srgbClr val="654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1" y="3493008"/>
            <a:ext cx="1737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20" b="1" i="0">
                <a:solidFill>
                  <a:srgbClr val="6542A6"/>
                </a:solidFill>
                <a:latin typeface="Arial"/>
              </a:rPr>
              <a:t>QA Gate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398" y="3456432"/>
            <a:ext cx="214884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220" b="1" i="0">
                <a:solidFill>
                  <a:srgbClr val="FFFFFF"/>
                </a:solidFill>
                <a:latin typeface="Arial"/>
              </a:rPr>
              <a:t>2-3 days -&gt; under 4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1" y="3858768"/>
            <a:ext cx="387705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19" b="0" i="0">
                <a:solidFill>
                  <a:srgbClr val="B8D0EC"/>
                </a:solidFill>
                <a:latin typeface="Arial"/>
              </a:rPr>
              <a:t>60-75% faster release priority decisions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800600"/>
            <a:ext cx="8503920" cy="1051560"/>
          </a:xfrm>
          <a:prstGeom prst="roundRect">
            <a:avLst/>
          </a:prstGeom>
          <a:solidFill>
            <a:srgbClr val="0F2845"/>
          </a:solidFill>
          <a:ln>
            <a:solidFill>
              <a:srgbClr val="24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800600"/>
            <a:ext cx="73152" cy="10515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37760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40" b="1" i="0">
                <a:solidFill>
                  <a:srgbClr val="D71920"/>
                </a:solidFill>
                <a:latin typeface="Arial"/>
              </a:rPr>
              <a:t>Token 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901184"/>
            <a:ext cx="62636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60" b="0" i="0">
                <a:solidFill>
                  <a:srgbClr val="E8F0FC"/>
                </a:solidFill>
                <a:latin typeface="Arial"/>
              </a:rPr>
              <a:t>35-45% lower token use through routed context, PRD/datasheet chunk retrieval, prompt caching for STQC guidelines, and compact evidence summaries. Repeated STQC runs can reuse 80%+ of guideline and datasheet context.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44768"/>
            <a:ext cx="8183879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80" b="1" i="0">
                <a:solidFill>
                  <a:srgbClr val="D71920"/>
                </a:solidFill>
                <a:latin typeface="Arial"/>
              </a:rPr>
              <a:t>Close: AEPLO keeps looping across PG3, JTAG, QA and STQC until the release is READY.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11112"/>
            <a:ext cx="5029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B8D0EC"/>
                </a:solidFill>
                <a:latin typeface="Arial"/>
              </a:rPr>
              <a:t>AI-Driven Embedded Product Lifecycle Orchestrator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6601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B8D0EC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