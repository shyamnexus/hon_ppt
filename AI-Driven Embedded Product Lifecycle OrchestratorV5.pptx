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68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9" r:id="rId13"/>
    <p:sldId id="267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3414" y="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4F9780D-A041-4638-B6BA-87BB754D206F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99C4E8-DCB7-4C66-B47F-361D1DFDA2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63023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Today We are  presenting AEPLO V3 [code name for our project]— an AI platform that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orchestrates the entire embedded product lifecycle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6076E56-C255-4CAD-BA1A-93AA2E49E01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187918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99C4E8-DCB7-4C66-B47F-361D1DFDA228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53247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2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303520" cy="6858000"/>
          </a:xfrm>
          <a:prstGeom prst="rect">
            <a:avLst/>
          </a:prstGeom>
          <a:solidFill>
            <a:srgbClr val="051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303520" y="0"/>
            <a:ext cx="3840480" cy="10972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303520" y="381000"/>
            <a:ext cx="3840480" cy="10972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303520" y="762000"/>
            <a:ext cx="3840480" cy="10972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303520" y="1143000"/>
            <a:ext cx="3840480" cy="10972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303520" y="1524000"/>
            <a:ext cx="3840480" cy="10972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5303520" y="1905000"/>
            <a:ext cx="3840480" cy="10972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303520" y="2286000"/>
            <a:ext cx="3840480" cy="10972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5303520" y="2667000"/>
            <a:ext cx="3840480" cy="10972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5303520" y="3048000"/>
            <a:ext cx="3840480" cy="10972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5303520" y="3429000"/>
            <a:ext cx="3840480" cy="10972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303520" y="3810000"/>
            <a:ext cx="3840480" cy="10972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5303520" y="4191000"/>
            <a:ext cx="3840480" cy="10972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303520" y="4572000"/>
            <a:ext cx="3840480" cy="10972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303520" y="4953000"/>
            <a:ext cx="3840480" cy="10972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5303520" y="5334000"/>
            <a:ext cx="3840480" cy="10972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5303520" y="5715000"/>
            <a:ext cx="3840480" cy="10972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303520" y="6096000"/>
            <a:ext cx="3840480" cy="10972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5303520" y="6477000"/>
            <a:ext cx="3840480" cy="10972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5303520" y="0"/>
            <a:ext cx="10972" cy="6858000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5623560" y="0"/>
            <a:ext cx="10972" cy="6858000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5943600" y="0"/>
            <a:ext cx="10972" cy="6858000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6263640" y="0"/>
            <a:ext cx="10972" cy="6858000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6583680" y="0"/>
            <a:ext cx="10972" cy="6858000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6903720" y="0"/>
            <a:ext cx="10972" cy="6858000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7223760" y="0"/>
            <a:ext cx="10972" cy="6858000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7543800" y="0"/>
            <a:ext cx="10972" cy="6858000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7863840" y="0"/>
            <a:ext cx="10972" cy="6858000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8183880" y="0"/>
            <a:ext cx="10972" cy="6858000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8503920" y="0"/>
            <a:ext cx="10972" cy="6858000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8823960" y="0"/>
            <a:ext cx="10972" cy="6858000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5" name="Oval 34"/>
          <p:cNvSpPr/>
          <p:nvPr/>
        </p:nvSpPr>
        <p:spPr>
          <a:xfrm>
            <a:off x="4297680" y="297180"/>
            <a:ext cx="5852160" cy="5852160"/>
          </a:xfrm>
          <a:prstGeom prst="ellipse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6" name="Oval 35"/>
          <p:cNvSpPr/>
          <p:nvPr/>
        </p:nvSpPr>
        <p:spPr>
          <a:xfrm>
            <a:off x="4754880" y="754380"/>
            <a:ext cx="4937760" cy="4937760"/>
          </a:xfrm>
          <a:prstGeom prst="ellipse">
            <a:avLst/>
          </a:prstGeom>
          <a:solidFill>
            <a:srgbClr val="07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7" name="Oval 36"/>
          <p:cNvSpPr/>
          <p:nvPr/>
        </p:nvSpPr>
        <p:spPr>
          <a:xfrm>
            <a:off x="5303520" y="1303020"/>
            <a:ext cx="3840480" cy="3840480"/>
          </a:xfrm>
          <a:prstGeom prst="ellipse">
            <a:avLst/>
          </a:prstGeom>
          <a:solidFill>
            <a:srgbClr val="0825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8" name="Oval 37"/>
          <p:cNvSpPr/>
          <p:nvPr/>
        </p:nvSpPr>
        <p:spPr>
          <a:xfrm>
            <a:off x="5943600" y="1943100"/>
            <a:ext cx="2560320" cy="2560320"/>
          </a:xfrm>
          <a:prstGeom prst="ellipse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9" name="Oval 38"/>
          <p:cNvSpPr/>
          <p:nvPr/>
        </p:nvSpPr>
        <p:spPr>
          <a:xfrm>
            <a:off x="6537960" y="2537460"/>
            <a:ext cx="1371600" cy="1371600"/>
          </a:xfrm>
          <a:prstGeom prst="ellipse">
            <a:avLst/>
          </a:prstGeom>
          <a:solidFill>
            <a:srgbClr val="0A30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0" name="Oval 39"/>
          <p:cNvSpPr/>
          <p:nvPr/>
        </p:nvSpPr>
        <p:spPr>
          <a:xfrm>
            <a:off x="9112666" y="5436838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1" name="Oval 40"/>
          <p:cNvSpPr/>
          <p:nvPr/>
        </p:nvSpPr>
        <p:spPr>
          <a:xfrm>
            <a:off x="8932236" y="5579078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2" name="Oval 41"/>
          <p:cNvSpPr/>
          <p:nvPr/>
        </p:nvSpPr>
        <p:spPr>
          <a:xfrm>
            <a:off x="8741202" y="5706723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3" name="Oval 42"/>
          <p:cNvSpPr/>
          <p:nvPr/>
        </p:nvSpPr>
        <p:spPr>
          <a:xfrm>
            <a:off x="8540742" y="5818986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4" name="Oval 43"/>
          <p:cNvSpPr/>
          <p:nvPr/>
        </p:nvSpPr>
        <p:spPr>
          <a:xfrm>
            <a:off x="8332092" y="5915175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5" name="Oval 44"/>
          <p:cNvSpPr/>
          <p:nvPr/>
        </p:nvSpPr>
        <p:spPr>
          <a:xfrm>
            <a:off x="8116538" y="5994697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6" name="Oval 45"/>
          <p:cNvSpPr/>
          <p:nvPr/>
        </p:nvSpPr>
        <p:spPr>
          <a:xfrm>
            <a:off x="7895409" y="6057062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7" name="Oval 46"/>
          <p:cNvSpPr/>
          <p:nvPr/>
        </p:nvSpPr>
        <p:spPr>
          <a:xfrm>
            <a:off x="7670069" y="6101885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8" name="Oval 47"/>
          <p:cNvSpPr/>
          <p:nvPr/>
        </p:nvSpPr>
        <p:spPr>
          <a:xfrm>
            <a:off x="7441907" y="6128889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9" name="Oval 48"/>
          <p:cNvSpPr/>
          <p:nvPr/>
        </p:nvSpPr>
        <p:spPr>
          <a:xfrm>
            <a:off x="7212330" y="6137910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0" name="Oval 49"/>
          <p:cNvSpPr/>
          <p:nvPr/>
        </p:nvSpPr>
        <p:spPr>
          <a:xfrm>
            <a:off x="6982752" y="6128889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1" name="Oval 50"/>
          <p:cNvSpPr/>
          <p:nvPr/>
        </p:nvSpPr>
        <p:spPr>
          <a:xfrm>
            <a:off x="6754590" y="6101885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2" name="Oval 51"/>
          <p:cNvSpPr/>
          <p:nvPr/>
        </p:nvSpPr>
        <p:spPr>
          <a:xfrm>
            <a:off x="6529250" y="6057062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3" name="Oval 52"/>
          <p:cNvSpPr/>
          <p:nvPr/>
        </p:nvSpPr>
        <p:spPr>
          <a:xfrm>
            <a:off x="6308121" y="5994697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4" name="Oval 53"/>
          <p:cNvSpPr/>
          <p:nvPr/>
        </p:nvSpPr>
        <p:spPr>
          <a:xfrm>
            <a:off x="6092567" y="5915175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5" name="Oval 54"/>
          <p:cNvSpPr/>
          <p:nvPr/>
        </p:nvSpPr>
        <p:spPr>
          <a:xfrm>
            <a:off x="5883917" y="5818986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6" name="Oval 55"/>
          <p:cNvSpPr/>
          <p:nvPr/>
        </p:nvSpPr>
        <p:spPr>
          <a:xfrm>
            <a:off x="5683457" y="5706723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7" name="Oval 56"/>
          <p:cNvSpPr/>
          <p:nvPr/>
        </p:nvSpPr>
        <p:spPr>
          <a:xfrm>
            <a:off x="5492423" y="5579078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8" name="Oval 57"/>
          <p:cNvSpPr/>
          <p:nvPr/>
        </p:nvSpPr>
        <p:spPr>
          <a:xfrm>
            <a:off x="5311993" y="5436838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9" name="Oval 58"/>
          <p:cNvSpPr/>
          <p:nvPr/>
        </p:nvSpPr>
        <p:spPr>
          <a:xfrm>
            <a:off x="5143278" y="5280881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0" name="Oval 59"/>
          <p:cNvSpPr/>
          <p:nvPr/>
        </p:nvSpPr>
        <p:spPr>
          <a:xfrm>
            <a:off x="5143278" y="1142778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1" name="Oval 60"/>
          <p:cNvSpPr/>
          <p:nvPr/>
        </p:nvSpPr>
        <p:spPr>
          <a:xfrm>
            <a:off x="5311993" y="986821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2" name="Oval 61"/>
          <p:cNvSpPr/>
          <p:nvPr/>
        </p:nvSpPr>
        <p:spPr>
          <a:xfrm>
            <a:off x="5492423" y="844581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3" name="Oval 62"/>
          <p:cNvSpPr/>
          <p:nvPr/>
        </p:nvSpPr>
        <p:spPr>
          <a:xfrm>
            <a:off x="5683457" y="716936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4" name="Oval 63"/>
          <p:cNvSpPr/>
          <p:nvPr/>
        </p:nvSpPr>
        <p:spPr>
          <a:xfrm>
            <a:off x="5883917" y="604673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5" name="Oval 64"/>
          <p:cNvSpPr/>
          <p:nvPr/>
        </p:nvSpPr>
        <p:spPr>
          <a:xfrm>
            <a:off x="6092567" y="508484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6" name="Oval 65"/>
          <p:cNvSpPr/>
          <p:nvPr/>
        </p:nvSpPr>
        <p:spPr>
          <a:xfrm>
            <a:off x="6308121" y="428962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7" name="Oval 66"/>
          <p:cNvSpPr/>
          <p:nvPr/>
        </p:nvSpPr>
        <p:spPr>
          <a:xfrm>
            <a:off x="6529250" y="366597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8" name="Oval 67"/>
          <p:cNvSpPr/>
          <p:nvPr/>
        </p:nvSpPr>
        <p:spPr>
          <a:xfrm>
            <a:off x="6754590" y="321774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9" name="Oval 68"/>
          <p:cNvSpPr/>
          <p:nvPr/>
        </p:nvSpPr>
        <p:spPr>
          <a:xfrm>
            <a:off x="6982752" y="294770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0" name="Oval 69"/>
          <p:cNvSpPr/>
          <p:nvPr/>
        </p:nvSpPr>
        <p:spPr>
          <a:xfrm>
            <a:off x="7212329" y="285750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1" name="Oval 70"/>
          <p:cNvSpPr/>
          <p:nvPr/>
        </p:nvSpPr>
        <p:spPr>
          <a:xfrm>
            <a:off x="7441907" y="294770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2" name="Oval 71"/>
          <p:cNvSpPr/>
          <p:nvPr/>
        </p:nvSpPr>
        <p:spPr>
          <a:xfrm>
            <a:off x="7670069" y="321774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3" name="Oval 72"/>
          <p:cNvSpPr/>
          <p:nvPr/>
        </p:nvSpPr>
        <p:spPr>
          <a:xfrm>
            <a:off x="7895409" y="366597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4" name="Oval 73"/>
          <p:cNvSpPr/>
          <p:nvPr/>
        </p:nvSpPr>
        <p:spPr>
          <a:xfrm>
            <a:off x="8116538" y="428962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5" name="Oval 74"/>
          <p:cNvSpPr/>
          <p:nvPr/>
        </p:nvSpPr>
        <p:spPr>
          <a:xfrm>
            <a:off x="8332092" y="508484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6" name="Oval 75"/>
          <p:cNvSpPr/>
          <p:nvPr/>
        </p:nvSpPr>
        <p:spPr>
          <a:xfrm>
            <a:off x="8540742" y="604673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7" name="Oval 76"/>
          <p:cNvSpPr/>
          <p:nvPr/>
        </p:nvSpPr>
        <p:spPr>
          <a:xfrm>
            <a:off x="8741202" y="716936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8" name="Oval 77"/>
          <p:cNvSpPr/>
          <p:nvPr/>
        </p:nvSpPr>
        <p:spPr>
          <a:xfrm>
            <a:off x="8932236" y="844581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9" name="Oval 78"/>
          <p:cNvSpPr/>
          <p:nvPr/>
        </p:nvSpPr>
        <p:spPr>
          <a:xfrm>
            <a:off x="9112666" y="986821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0" name="Oval 79"/>
          <p:cNvSpPr/>
          <p:nvPr/>
        </p:nvSpPr>
        <p:spPr>
          <a:xfrm>
            <a:off x="8485632" y="320497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1" name="Oval 80"/>
          <p:cNvSpPr/>
          <p:nvPr/>
        </p:nvSpPr>
        <p:spPr>
          <a:xfrm>
            <a:off x="8481685" y="330541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2" name="Oval 81"/>
          <p:cNvSpPr/>
          <p:nvPr/>
        </p:nvSpPr>
        <p:spPr>
          <a:xfrm>
            <a:off x="8469871" y="3405233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3" name="Oval 82"/>
          <p:cNvSpPr/>
          <p:nvPr/>
        </p:nvSpPr>
        <p:spPr>
          <a:xfrm>
            <a:off x="8450261" y="3503819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4" name="Oval 83"/>
          <p:cNvSpPr/>
          <p:nvPr/>
        </p:nvSpPr>
        <p:spPr>
          <a:xfrm>
            <a:off x="8422976" y="3600563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5" name="Oval 84"/>
          <p:cNvSpPr/>
          <p:nvPr/>
        </p:nvSpPr>
        <p:spPr>
          <a:xfrm>
            <a:off x="8388185" y="3694868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6" name="Oval 85"/>
          <p:cNvSpPr/>
          <p:nvPr/>
        </p:nvSpPr>
        <p:spPr>
          <a:xfrm>
            <a:off x="8346102" y="378615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7" name="Oval 86"/>
          <p:cNvSpPr/>
          <p:nvPr/>
        </p:nvSpPr>
        <p:spPr>
          <a:xfrm>
            <a:off x="8296987" y="3873853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8" name="Oval 87"/>
          <p:cNvSpPr/>
          <p:nvPr/>
        </p:nvSpPr>
        <p:spPr>
          <a:xfrm>
            <a:off x="8241143" y="395743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9" name="Oval 88"/>
          <p:cNvSpPr/>
          <p:nvPr/>
        </p:nvSpPr>
        <p:spPr>
          <a:xfrm>
            <a:off x="8178913" y="4036369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0" name="Oval 89"/>
          <p:cNvSpPr/>
          <p:nvPr/>
        </p:nvSpPr>
        <p:spPr>
          <a:xfrm>
            <a:off x="8110681" y="411018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1" name="Oval 90"/>
          <p:cNvSpPr/>
          <p:nvPr/>
        </p:nvSpPr>
        <p:spPr>
          <a:xfrm>
            <a:off x="8036869" y="4178413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2" name="Oval 91"/>
          <p:cNvSpPr/>
          <p:nvPr/>
        </p:nvSpPr>
        <p:spPr>
          <a:xfrm>
            <a:off x="7957931" y="4240643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3" name="Oval 92"/>
          <p:cNvSpPr/>
          <p:nvPr/>
        </p:nvSpPr>
        <p:spPr>
          <a:xfrm>
            <a:off x="7874353" y="4296487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4" name="Oval 93"/>
          <p:cNvSpPr/>
          <p:nvPr/>
        </p:nvSpPr>
        <p:spPr>
          <a:xfrm>
            <a:off x="7786652" y="434560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5" name="Oval 94"/>
          <p:cNvSpPr/>
          <p:nvPr/>
        </p:nvSpPr>
        <p:spPr>
          <a:xfrm>
            <a:off x="7695368" y="4387685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6" name="Oval 95"/>
          <p:cNvSpPr/>
          <p:nvPr/>
        </p:nvSpPr>
        <p:spPr>
          <a:xfrm>
            <a:off x="7601063" y="4422476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7" name="Oval 96"/>
          <p:cNvSpPr/>
          <p:nvPr/>
        </p:nvSpPr>
        <p:spPr>
          <a:xfrm>
            <a:off x="7504319" y="444976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8" name="Oval 97"/>
          <p:cNvSpPr/>
          <p:nvPr/>
        </p:nvSpPr>
        <p:spPr>
          <a:xfrm>
            <a:off x="7405733" y="446937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9" name="Oval 98"/>
          <p:cNvSpPr/>
          <p:nvPr/>
        </p:nvSpPr>
        <p:spPr>
          <a:xfrm>
            <a:off x="7305912" y="4481185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0" name="Oval 99"/>
          <p:cNvSpPr/>
          <p:nvPr/>
        </p:nvSpPr>
        <p:spPr>
          <a:xfrm>
            <a:off x="7205472" y="448513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1" name="Oval 100"/>
          <p:cNvSpPr/>
          <p:nvPr/>
        </p:nvSpPr>
        <p:spPr>
          <a:xfrm>
            <a:off x="7105031" y="4481185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2" name="Oval 101"/>
          <p:cNvSpPr/>
          <p:nvPr/>
        </p:nvSpPr>
        <p:spPr>
          <a:xfrm>
            <a:off x="7005210" y="446937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3" name="Oval 102"/>
          <p:cNvSpPr/>
          <p:nvPr/>
        </p:nvSpPr>
        <p:spPr>
          <a:xfrm>
            <a:off x="6906624" y="444976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4" name="Oval 103"/>
          <p:cNvSpPr/>
          <p:nvPr/>
        </p:nvSpPr>
        <p:spPr>
          <a:xfrm>
            <a:off x="6809880" y="4422476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5" name="Oval 104"/>
          <p:cNvSpPr/>
          <p:nvPr/>
        </p:nvSpPr>
        <p:spPr>
          <a:xfrm>
            <a:off x="6715575" y="4387685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6" name="Oval 105"/>
          <p:cNvSpPr/>
          <p:nvPr/>
        </p:nvSpPr>
        <p:spPr>
          <a:xfrm>
            <a:off x="6624291" y="434560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7" name="Oval 106"/>
          <p:cNvSpPr/>
          <p:nvPr/>
        </p:nvSpPr>
        <p:spPr>
          <a:xfrm>
            <a:off x="6536590" y="4296487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8" name="Oval 107"/>
          <p:cNvSpPr/>
          <p:nvPr/>
        </p:nvSpPr>
        <p:spPr>
          <a:xfrm>
            <a:off x="6453012" y="4240643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9" name="Oval 108"/>
          <p:cNvSpPr/>
          <p:nvPr/>
        </p:nvSpPr>
        <p:spPr>
          <a:xfrm>
            <a:off x="6374074" y="4178413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0" name="Oval 109"/>
          <p:cNvSpPr/>
          <p:nvPr/>
        </p:nvSpPr>
        <p:spPr>
          <a:xfrm>
            <a:off x="6300262" y="411018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1" name="Oval 110"/>
          <p:cNvSpPr/>
          <p:nvPr/>
        </p:nvSpPr>
        <p:spPr>
          <a:xfrm>
            <a:off x="6232030" y="4036369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2" name="Oval 111"/>
          <p:cNvSpPr/>
          <p:nvPr/>
        </p:nvSpPr>
        <p:spPr>
          <a:xfrm>
            <a:off x="6169800" y="395743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3" name="Oval 112"/>
          <p:cNvSpPr/>
          <p:nvPr/>
        </p:nvSpPr>
        <p:spPr>
          <a:xfrm>
            <a:off x="6113956" y="3873853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4" name="Oval 113"/>
          <p:cNvSpPr/>
          <p:nvPr/>
        </p:nvSpPr>
        <p:spPr>
          <a:xfrm>
            <a:off x="6064841" y="378615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5" name="Oval 114"/>
          <p:cNvSpPr/>
          <p:nvPr/>
        </p:nvSpPr>
        <p:spPr>
          <a:xfrm>
            <a:off x="6022758" y="3694868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6" name="Oval 115"/>
          <p:cNvSpPr/>
          <p:nvPr/>
        </p:nvSpPr>
        <p:spPr>
          <a:xfrm>
            <a:off x="5987967" y="3600563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7" name="Oval 116"/>
          <p:cNvSpPr/>
          <p:nvPr/>
        </p:nvSpPr>
        <p:spPr>
          <a:xfrm>
            <a:off x="5960682" y="3503819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8" name="Oval 117"/>
          <p:cNvSpPr/>
          <p:nvPr/>
        </p:nvSpPr>
        <p:spPr>
          <a:xfrm>
            <a:off x="5941072" y="3405233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9" name="Oval 118"/>
          <p:cNvSpPr/>
          <p:nvPr/>
        </p:nvSpPr>
        <p:spPr>
          <a:xfrm>
            <a:off x="5929258" y="330541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0" name="Oval 119"/>
          <p:cNvSpPr/>
          <p:nvPr/>
        </p:nvSpPr>
        <p:spPr>
          <a:xfrm>
            <a:off x="5925312" y="320497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1" name="Oval 120"/>
          <p:cNvSpPr/>
          <p:nvPr/>
        </p:nvSpPr>
        <p:spPr>
          <a:xfrm>
            <a:off x="5929258" y="310453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2" name="Oval 121"/>
          <p:cNvSpPr/>
          <p:nvPr/>
        </p:nvSpPr>
        <p:spPr>
          <a:xfrm>
            <a:off x="5941072" y="3004710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3" name="Oval 122"/>
          <p:cNvSpPr/>
          <p:nvPr/>
        </p:nvSpPr>
        <p:spPr>
          <a:xfrm>
            <a:off x="5960682" y="2906124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4" name="Oval 123"/>
          <p:cNvSpPr/>
          <p:nvPr/>
        </p:nvSpPr>
        <p:spPr>
          <a:xfrm>
            <a:off x="5987967" y="2809380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5" name="Oval 124"/>
          <p:cNvSpPr/>
          <p:nvPr/>
        </p:nvSpPr>
        <p:spPr>
          <a:xfrm>
            <a:off x="6022758" y="2715075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6" name="Oval 125"/>
          <p:cNvSpPr/>
          <p:nvPr/>
        </p:nvSpPr>
        <p:spPr>
          <a:xfrm>
            <a:off x="6064841" y="262379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7" name="Oval 126"/>
          <p:cNvSpPr/>
          <p:nvPr/>
        </p:nvSpPr>
        <p:spPr>
          <a:xfrm>
            <a:off x="6113956" y="2536090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8" name="Oval 127"/>
          <p:cNvSpPr/>
          <p:nvPr/>
        </p:nvSpPr>
        <p:spPr>
          <a:xfrm>
            <a:off x="6169800" y="245251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9" name="Oval 128"/>
          <p:cNvSpPr/>
          <p:nvPr/>
        </p:nvSpPr>
        <p:spPr>
          <a:xfrm>
            <a:off x="6232030" y="2373574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0" name="Oval 129"/>
          <p:cNvSpPr/>
          <p:nvPr/>
        </p:nvSpPr>
        <p:spPr>
          <a:xfrm>
            <a:off x="6300262" y="229976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1" name="Oval 130"/>
          <p:cNvSpPr/>
          <p:nvPr/>
        </p:nvSpPr>
        <p:spPr>
          <a:xfrm>
            <a:off x="6374074" y="2231530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2" name="Oval 131"/>
          <p:cNvSpPr/>
          <p:nvPr/>
        </p:nvSpPr>
        <p:spPr>
          <a:xfrm>
            <a:off x="6453012" y="2169300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3" name="Oval 132"/>
          <p:cNvSpPr/>
          <p:nvPr/>
        </p:nvSpPr>
        <p:spPr>
          <a:xfrm>
            <a:off x="6536590" y="2113456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4" name="Oval 133"/>
          <p:cNvSpPr/>
          <p:nvPr/>
        </p:nvSpPr>
        <p:spPr>
          <a:xfrm>
            <a:off x="6624291" y="206434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5" name="Oval 134"/>
          <p:cNvSpPr/>
          <p:nvPr/>
        </p:nvSpPr>
        <p:spPr>
          <a:xfrm>
            <a:off x="6715575" y="2022258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6" name="Oval 135"/>
          <p:cNvSpPr/>
          <p:nvPr/>
        </p:nvSpPr>
        <p:spPr>
          <a:xfrm>
            <a:off x="6809880" y="1987467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7" name="Oval 136"/>
          <p:cNvSpPr/>
          <p:nvPr/>
        </p:nvSpPr>
        <p:spPr>
          <a:xfrm>
            <a:off x="6906624" y="196018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8" name="Oval 137"/>
          <p:cNvSpPr/>
          <p:nvPr/>
        </p:nvSpPr>
        <p:spPr>
          <a:xfrm>
            <a:off x="7005210" y="194057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9" name="Oval 138"/>
          <p:cNvSpPr/>
          <p:nvPr/>
        </p:nvSpPr>
        <p:spPr>
          <a:xfrm>
            <a:off x="7105031" y="1928758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0" name="Oval 139"/>
          <p:cNvSpPr/>
          <p:nvPr/>
        </p:nvSpPr>
        <p:spPr>
          <a:xfrm>
            <a:off x="7205472" y="192481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1" name="Oval 140"/>
          <p:cNvSpPr/>
          <p:nvPr/>
        </p:nvSpPr>
        <p:spPr>
          <a:xfrm>
            <a:off x="7305912" y="1928758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2" name="Oval 141"/>
          <p:cNvSpPr/>
          <p:nvPr/>
        </p:nvSpPr>
        <p:spPr>
          <a:xfrm>
            <a:off x="7405733" y="194057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3" name="Oval 142"/>
          <p:cNvSpPr/>
          <p:nvPr/>
        </p:nvSpPr>
        <p:spPr>
          <a:xfrm>
            <a:off x="7504319" y="196018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4" name="Oval 143"/>
          <p:cNvSpPr/>
          <p:nvPr/>
        </p:nvSpPr>
        <p:spPr>
          <a:xfrm>
            <a:off x="7601063" y="1987467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5" name="Oval 144"/>
          <p:cNvSpPr/>
          <p:nvPr/>
        </p:nvSpPr>
        <p:spPr>
          <a:xfrm>
            <a:off x="7695368" y="2022258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6" name="Oval 145"/>
          <p:cNvSpPr/>
          <p:nvPr/>
        </p:nvSpPr>
        <p:spPr>
          <a:xfrm>
            <a:off x="7786652" y="206434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7" name="Oval 146"/>
          <p:cNvSpPr/>
          <p:nvPr/>
        </p:nvSpPr>
        <p:spPr>
          <a:xfrm>
            <a:off x="7874353" y="2113456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8" name="Oval 147"/>
          <p:cNvSpPr/>
          <p:nvPr/>
        </p:nvSpPr>
        <p:spPr>
          <a:xfrm>
            <a:off x="7957931" y="2169300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9" name="Oval 148"/>
          <p:cNvSpPr/>
          <p:nvPr/>
        </p:nvSpPr>
        <p:spPr>
          <a:xfrm>
            <a:off x="8036869" y="2231530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0" name="Oval 149"/>
          <p:cNvSpPr/>
          <p:nvPr/>
        </p:nvSpPr>
        <p:spPr>
          <a:xfrm>
            <a:off x="8110681" y="229976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1" name="Oval 150"/>
          <p:cNvSpPr/>
          <p:nvPr/>
        </p:nvSpPr>
        <p:spPr>
          <a:xfrm>
            <a:off x="8178913" y="2373574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2" name="Oval 151"/>
          <p:cNvSpPr/>
          <p:nvPr/>
        </p:nvSpPr>
        <p:spPr>
          <a:xfrm>
            <a:off x="8241143" y="245251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3" name="Oval 152"/>
          <p:cNvSpPr/>
          <p:nvPr/>
        </p:nvSpPr>
        <p:spPr>
          <a:xfrm>
            <a:off x="8296987" y="2536090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4" name="Oval 153"/>
          <p:cNvSpPr/>
          <p:nvPr/>
        </p:nvSpPr>
        <p:spPr>
          <a:xfrm>
            <a:off x="8346102" y="262379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5" name="Oval 154"/>
          <p:cNvSpPr/>
          <p:nvPr/>
        </p:nvSpPr>
        <p:spPr>
          <a:xfrm>
            <a:off x="8388185" y="2715075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6" name="Oval 155"/>
          <p:cNvSpPr/>
          <p:nvPr/>
        </p:nvSpPr>
        <p:spPr>
          <a:xfrm>
            <a:off x="8422976" y="2809380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7" name="Oval 156"/>
          <p:cNvSpPr/>
          <p:nvPr/>
        </p:nvSpPr>
        <p:spPr>
          <a:xfrm>
            <a:off x="8450261" y="2906124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8" name="Oval 157"/>
          <p:cNvSpPr/>
          <p:nvPr/>
        </p:nvSpPr>
        <p:spPr>
          <a:xfrm>
            <a:off x="8469871" y="3004710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9" name="Oval 158"/>
          <p:cNvSpPr/>
          <p:nvPr/>
        </p:nvSpPr>
        <p:spPr>
          <a:xfrm>
            <a:off x="8481685" y="310453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0" name="Oval 159"/>
          <p:cNvSpPr/>
          <p:nvPr/>
        </p:nvSpPr>
        <p:spPr>
          <a:xfrm>
            <a:off x="7198614" y="3198114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1" name="Oval 160"/>
          <p:cNvSpPr/>
          <p:nvPr/>
        </p:nvSpPr>
        <p:spPr>
          <a:xfrm>
            <a:off x="7420344" y="3326130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2" name="Oval 161"/>
          <p:cNvSpPr/>
          <p:nvPr/>
        </p:nvSpPr>
        <p:spPr>
          <a:xfrm>
            <a:off x="7198614" y="3454146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3" name="Oval 162"/>
          <p:cNvSpPr/>
          <p:nvPr/>
        </p:nvSpPr>
        <p:spPr>
          <a:xfrm>
            <a:off x="6976883" y="3326130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4" name="Oval 163"/>
          <p:cNvSpPr/>
          <p:nvPr/>
        </p:nvSpPr>
        <p:spPr>
          <a:xfrm>
            <a:off x="6976883" y="3070098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5" name="Oval 164"/>
          <p:cNvSpPr/>
          <p:nvPr/>
        </p:nvSpPr>
        <p:spPr>
          <a:xfrm>
            <a:off x="7198614" y="2942082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6" name="Oval 165"/>
          <p:cNvSpPr/>
          <p:nvPr/>
        </p:nvSpPr>
        <p:spPr>
          <a:xfrm>
            <a:off x="7420344" y="3070098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7" name="Oval 166"/>
          <p:cNvSpPr/>
          <p:nvPr/>
        </p:nvSpPr>
        <p:spPr>
          <a:xfrm>
            <a:off x="7642074" y="3454146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8" name="Oval 167"/>
          <p:cNvSpPr/>
          <p:nvPr/>
        </p:nvSpPr>
        <p:spPr>
          <a:xfrm>
            <a:off x="7420344" y="3582162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9" name="Oval 168"/>
          <p:cNvSpPr/>
          <p:nvPr/>
        </p:nvSpPr>
        <p:spPr>
          <a:xfrm>
            <a:off x="7198614" y="3710178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0" name="Oval 169"/>
          <p:cNvSpPr/>
          <p:nvPr/>
        </p:nvSpPr>
        <p:spPr>
          <a:xfrm>
            <a:off x="6976883" y="3582162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1" name="Oval 170"/>
          <p:cNvSpPr/>
          <p:nvPr/>
        </p:nvSpPr>
        <p:spPr>
          <a:xfrm>
            <a:off x="6755153" y="3454146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2" name="Oval 171"/>
          <p:cNvSpPr/>
          <p:nvPr/>
        </p:nvSpPr>
        <p:spPr>
          <a:xfrm>
            <a:off x="6755153" y="3198114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3" name="Oval 172"/>
          <p:cNvSpPr/>
          <p:nvPr/>
        </p:nvSpPr>
        <p:spPr>
          <a:xfrm>
            <a:off x="6755153" y="2942082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4" name="Oval 173"/>
          <p:cNvSpPr/>
          <p:nvPr/>
        </p:nvSpPr>
        <p:spPr>
          <a:xfrm>
            <a:off x="6976883" y="2814066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5" name="Oval 174"/>
          <p:cNvSpPr/>
          <p:nvPr/>
        </p:nvSpPr>
        <p:spPr>
          <a:xfrm>
            <a:off x="7198614" y="2686050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6" name="Oval 175"/>
          <p:cNvSpPr/>
          <p:nvPr/>
        </p:nvSpPr>
        <p:spPr>
          <a:xfrm>
            <a:off x="7420344" y="2814066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7" name="Oval 176"/>
          <p:cNvSpPr/>
          <p:nvPr/>
        </p:nvSpPr>
        <p:spPr>
          <a:xfrm>
            <a:off x="7642074" y="2942082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8" name="Oval 177"/>
          <p:cNvSpPr/>
          <p:nvPr/>
        </p:nvSpPr>
        <p:spPr>
          <a:xfrm>
            <a:off x="7642074" y="3198114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9" name="Oval 178"/>
          <p:cNvSpPr/>
          <p:nvPr/>
        </p:nvSpPr>
        <p:spPr>
          <a:xfrm>
            <a:off x="7863804" y="3582162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0" name="Oval 179"/>
          <p:cNvSpPr/>
          <p:nvPr/>
        </p:nvSpPr>
        <p:spPr>
          <a:xfrm>
            <a:off x="7642074" y="3710178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1" name="Oval 180"/>
          <p:cNvSpPr/>
          <p:nvPr/>
        </p:nvSpPr>
        <p:spPr>
          <a:xfrm>
            <a:off x="7420344" y="3838194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2" name="Oval 181"/>
          <p:cNvSpPr/>
          <p:nvPr/>
        </p:nvSpPr>
        <p:spPr>
          <a:xfrm>
            <a:off x="7198614" y="3966210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3" name="Oval 182"/>
          <p:cNvSpPr/>
          <p:nvPr/>
        </p:nvSpPr>
        <p:spPr>
          <a:xfrm>
            <a:off x="6976883" y="3838194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4" name="Oval 183"/>
          <p:cNvSpPr/>
          <p:nvPr/>
        </p:nvSpPr>
        <p:spPr>
          <a:xfrm>
            <a:off x="6755153" y="3710178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5" name="Oval 184"/>
          <p:cNvSpPr/>
          <p:nvPr/>
        </p:nvSpPr>
        <p:spPr>
          <a:xfrm>
            <a:off x="6533423" y="3582162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6" name="Oval 185"/>
          <p:cNvSpPr/>
          <p:nvPr/>
        </p:nvSpPr>
        <p:spPr>
          <a:xfrm>
            <a:off x="6533423" y="3326130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7" name="Oval 186"/>
          <p:cNvSpPr/>
          <p:nvPr/>
        </p:nvSpPr>
        <p:spPr>
          <a:xfrm>
            <a:off x="6533423" y="3070098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8" name="Oval 187"/>
          <p:cNvSpPr/>
          <p:nvPr/>
        </p:nvSpPr>
        <p:spPr>
          <a:xfrm>
            <a:off x="6533423" y="2814066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9" name="Oval 188"/>
          <p:cNvSpPr/>
          <p:nvPr/>
        </p:nvSpPr>
        <p:spPr>
          <a:xfrm>
            <a:off x="6755153" y="2686050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0" name="Oval 189"/>
          <p:cNvSpPr/>
          <p:nvPr/>
        </p:nvSpPr>
        <p:spPr>
          <a:xfrm>
            <a:off x="6976883" y="2558034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1" name="Oval 190"/>
          <p:cNvSpPr/>
          <p:nvPr/>
        </p:nvSpPr>
        <p:spPr>
          <a:xfrm>
            <a:off x="7198614" y="2430018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2" name="Oval 191"/>
          <p:cNvSpPr/>
          <p:nvPr/>
        </p:nvSpPr>
        <p:spPr>
          <a:xfrm>
            <a:off x="7420344" y="2558034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3" name="Oval 192"/>
          <p:cNvSpPr/>
          <p:nvPr/>
        </p:nvSpPr>
        <p:spPr>
          <a:xfrm>
            <a:off x="7642074" y="2686049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4" name="Oval 193"/>
          <p:cNvSpPr/>
          <p:nvPr/>
        </p:nvSpPr>
        <p:spPr>
          <a:xfrm>
            <a:off x="7863804" y="2814066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5" name="Oval 194"/>
          <p:cNvSpPr/>
          <p:nvPr/>
        </p:nvSpPr>
        <p:spPr>
          <a:xfrm>
            <a:off x="7863804" y="3070098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6" name="Oval 195"/>
          <p:cNvSpPr/>
          <p:nvPr/>
        </p:nvSpPr>
        <p:spPr>
          <a:xfrm>
            <a:off x="7863804" y="3326130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7" name="Oval 196"/>
          <p:cNvSpPr/>
          <p:nvPr/>
        </p:nvSpPr>
        <p:spPr>
          <a:xfrm>
            <a:off x="8085534" y="3710178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8" name="Oval 197"/>
          <p:cNvSpPr/>
          <p:nvPr/>
        </p:nvSpPr>
        <p:spPr>
          <a:xfrm>
            <a:off x="7863804" y="3838194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9" name="Oval 198"/>
          <p:cNvSpPr/>
          <p:nvPr/>
        </p:nvSpPr>
        <p:spPr>
          <a:xfrm>
            <a:off x="7642074" y="3966210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0" name="Oval 199"/>
          <p:cNvSpPr/>
          <p:nvPr/>
        </p:nvSpPr>
        <p:spPr>
          <a:xfrm>
            <a:off x="7420344" y="4094226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1" name="Oval 200"/>
          <p:cNvSpPr/>
          <p:nvPr/>
        </p:nvSpPr>
        <p:spPr>
          <a:xfrm>
            <a:off x="7198614" y="4222242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2" name="Oval 201"/>
          <p:cNvSpPr/>
          <p:nvPr/>
        </p:nvSpPr>
        <p:spPr>
          <a:xfrm>
            <a:off x="6976883" y="4094226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3" name="Oval 202"/>
          <p:cNvSpPr/>
          <p:nvPr/>
        </p:nvSpPr>
        <p:spPr>
          <a:xfrm>
            <a:off x="6755153" y="3966210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4" name="Oval 203"/>
          <p:cNvSpPr/>
          <p:nvPr/>
        </p:nvSpPr>
        <p:spPr>
          <a:xfrm>
            <a:off x="6533423" y="3838194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5" name="Oval 204"/>
          <p:cNvSpPr/>
          <p:nvPr/>
        </p:nvSpPr>
        <p:spPr>
          <a:xfrm>
            <a:off x="6311693" y="3710178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6" name="Oval 205"/>
          <p:cNvSpPr/>
          <p:nvPr/>
        </p:nvSpPr>
        <p:spPr>
          <a:xfrm>
            <a:off x="6311693" y="3454146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7" name="Oval 206"/>
          <p:cNvSpPr/>
          <p:nvPr/>
        </p:nvSpPr>
        <p:spPr>
          <a:xfrm>
            <a:off x="6311693" y="3198114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8" name="Oval 207"/>
          <p:cNvSpPr/>
          <p:nvPr/>
        </p:nvSpPr>
        <p:spPr>
          <a:xfrm>
            <a:off x="6311693" y="2942082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9" name="Oval 208"/>
          <p:cNvSpPr/>
          <p:nvPr/>
        </p:nvSpPr>
        <p:spPr>
          <a:xfrm>
            <a:off x="6311693" y="2686050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0" name="Oval 209"/>
          <p:cNvSpPr/>
          <p:nvPr/>
        </p:nvSpPr>
        <p:spPr>
          <a:xfrm>
            <a:off x="6533423" y="2558034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1" name="Oval 210"/>
          <p:cNvSpPr/>
          <p:nvPr/>
        </p:nvSpPr>
        <p:spPr>
          <a:xfrm>
            <a:off x="6755153" y="2430018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2" name="Oval 211"/>
          <p:cNvSpPr/>
          <p:nvPr/>
        </p:nvSpPr>
        <p:spPr>
          <a:xfrm>
            <a:off x="6976883" y="2302002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3" name="Oval 212"/>
          <p:cNvSpPr/>
          <p:nvPr/>
        </p:nvSpPr>
        <p:spPr>
          <a:xfrm>
            <a:off x="7198614" y="2173986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4" name="Oval 213"/>
          <p:cNvSpPr/>
          <p:nvPr/>
        </p:nvSpPr>
        <p:spPr>
          <a:xfrm>
            <a:off x="7420344" y="2302002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5" name="Oval 214"/>
          <p:cNvSpPr/>
          <p:nvPr/>
        </p:nvSpPr>
        <p:spPr>
          <a:xfrm>
            <a:off x="7642074" y="2430017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6" name="Oval 215"/>
          <p:cNvSpPr/>
          <p:nvPr/>
        </p:nvSpPr>
        <p:spPr>
          <a:xfrm>
            <a:off x="7863804" y="2558033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7" name="Oval 216"/>
          <p:cNvSpPr/>
          <p:nvPr/>
        </p:nvSpPr>
        <p:spPr>
          <a:xfrm>
            <a:off x="8085534" y="2686050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8" name="Oval 217"/>
          <p:cNvSpPr/>
          <p:nvPr/>
        </p:nvSpPr>
        <p:spPr>
          <a:xfrm>
            <a:off x="8085534" y="2942082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9" name="Oval 218"/>
          <p:cNvSpPr/>
          <p:nvPr/>
        </p:nvSpPr>
        <p:spPr>
          <a:xfrm>
            <a:off x="8085534" y="3198114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0" name="Oval 219"/>
          <p:cNvSpPr/>
          <p:nvPr/>
        </p:nvSpPr>
        <p:spPr>
          <a:xfrm>
            <a:off x="8085534" y="3454146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1" name="TextBox 220"/>
          <p:cNvSpPr txBox="1"/>
          <p:nvPr/>
        </p:nvSpPr>
        <p:spPr>
          <a:xfrm>
            <a:off x="256032" y="1051560"/>
            <a:ext cx="54864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AI-DRIVEN EMBEDDED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256032" y="1755648"/>
            <a:ext cx="54864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PRODUCT LIFECYCLE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256032" y="2450592"/>
            <a:ext cx="54864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800" b="1" i="0" u="none" strike="noStrike" kern="1200" cap="none" spc="0" normalizeH="0" baseline="0" noProof="0" dirty="0">
                <a:ln>
                  <a:noFill/>
                </a:ln>
                <a:solidFill>
                  <a:srgbClr val="00C8F0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ORCHESTRATOR</a:t>
            </a:r>
          </a:p>
        </p:txBody>
      </p:sp>
      <p:sp>
        <p:nvSpPr>
          <p:cNvPr id="224" name="Rounded Rectangle 223"/>
          <p:cNvSpPr/>
          <p:nvPr/>
        </p:nvSpPr>
        <p:spPr>
          <a:xfrm>
            <a:off x="256032" y="3291840"/>
            <a:ext cx="1280160" cy="347472"/>
          </a:xfrm>
          <a:prstGeom prst="round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5" name="TextBox 224"/>
          <p:cNvSpPr txBox="1"/>
          <p:nvPr/>
        </p:nvSpPr>
        <p:spPr>
          <a:xfrm>
            <a:off x="256032" y="3291840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VERSION 3.0</a:t>
            </a:r>
          </a:p>
        </p:txBody>
      </p:sp>
      <p:sp>
        <p:nvSpPr>
          <p:cNvPr id="226" name="Rectangle 225"/>
          <p:cNvSpPr/>
          <p:nvPr/>
        </p:nvSpPr>
        <p:spPr>
          <a:xfrm>
            <a:off x="256032" y="3794760"/>
            <a:ext cx="50292" cy="82296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7" name="TextBox 226"/>
          <p:cNvSpPr txBox="1"/>
          <p:nvPr/>
        </p:nvSpPr>
        <p:spPr>
          <a:xfrm>
            <a:off x="420624" y="3822191"/>
            <a:ext cx="49377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1" u="none" strike="noStrike" kern="1200" cap="none" spc="0" normalizeH="0" baseline="0" noProof="0">
                <a:ln>
                  <a:noFill/>
                </a:ln>
                <a:solidFill>
                  <a:srgbClr val="B8D0EC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End-to-End Embedded Intelligence
Faster  |  Safer  |  Predictable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256032" y="4892040"/>
            <a:ext cx="54864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Atharva |Abhinav| Manas | Gajanan |Shyam</a:t>
            </a:r>
            <a:endParaRPr kumimoji="0" sz="11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29" name="Rectangle 228"/>
          <p:cNvSpPr/>
          <p:nvPr/>
        </p:nvSpPr>
        <p:spPr>
          <a:xfrm>
            <a:off x="256032" y="5806440"/>
            <a:ext cx="2286000" cy="41148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30" name="Rectangle 229"/>
          <p:cNvSpPr/>
          <p:nvPr/>
        </p:nvSpPr>
        <p:spPr>
          <a:xfrm>
            <a:off x="256032" y="5971031"/>
            <a:ext cx="1828800" cy="41148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31" name="Rectangle 230"/>
          <p:cNvSpPr/>
          <p:nvPr/>
        </p:nvSpPr>
        <p:spPr>
          <a:xfrm>
            <a:off x="256032" y="6135624"/>
            <a:ext cx="1371600" cy="41148"/>
          </a:xfrm>
          <a:prstGeom prst="rect">
            <a:avLst/>
          </a:prstGeom>
          <a:solidFill>
            <a:srgbClr val="00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32" name="Rectangle 231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33" name="TextBox 232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6080A8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1  /  10</a:t>
            </a:r>
          </a:p>
        </p:txBody>
      </p:sp>
      <p:pic>
        <p:nvPicPr>
          <p:cNvPr id="237" name="Picture 236">
            <a:extLst>
              <a:ext uri="{FF2B5EF4-FFF2-40B4-BE49-F238E27FC236}">
                <a16:creationId xmlns:a16="http://schemas.microsoft.com/office/drawing/2014/main" id="{67AC3E27-C892-3B9F-ED91-B1E734C410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2545" y="1535563"/>
            <a:ext cx="3118134" cy="311813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2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325880"/>
          </a:xfrm>
          <a:prstGeom prst="rect">
            <a:avLst/>
          </a:prstGeom>
          <a:solidFill>
            <a:srgbClr val="051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137160"/>
            <a:ext cx="8229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8C00"/>
                </a:solidFill>
                <a:latin typeface="Segoe UI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457200"/>
            <a:ext cx="8503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Segoe UI"/>
              </a:rPr>
              <a:t>Embedded PDLC Data Is Fragmented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261872"/>
            <a:ext cx="8412480" cy="1463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389888"/>
            <a:ext cx="8503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8D0EC"/>
                </a:solidFill>
                <a:latin typeface="Segoe UI"/>
              </a:rPr>
              <a:t>NPI gates rely on disconnected requirements, Jira tickets, Confluence knowledge, GitHub code, JTAG/SWD evidence and QA results — slowing decisions from PG1 to PG5.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2057400"/>
            <a:ext cx="2697480" cy="1938528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2057400"/>
            <a:ext cx="2697480" cy="4572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84632" y="2221992"/>
            <a:ext cx="457200" cy="457200"/>
          </a:xfrm>
          <a:prstGeom prst="round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84632" y="222199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Segoe UI"/>
              </a:rPr>
              <a:t>PG1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221992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Discovery
Blind Spots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" y="2807208"/>
            <a:ext cx="23591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8D0EC"/>
                </a:solidFill>
                <a:latin typeface="Segoe UI"/>
              </a:rPr>
              <a:t>Risks and debug hotspots are not visible early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0" y="2057400"/>
            <a:ext cx="2697480" cy="1938528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200400" y="2057400"/>
            <a:ext cx="2697480" cy="45720"/>
          </a:xfrm>
          <a:prstGeom prst="rect">
            <a:avLst/>
          </a:prstGeom>
          <a:solidFill>
            <a:srgbClr val="FF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3364992" y="2221992"/>
            <a:ext cx="457200" cy="457200"/>
          </a:xfrm>
          <a:prstGeom prst="roundRect">
            <a:avLst/>
          </a:prstGeom>
          <a:solidFill>
            <a:srgbClr val="FF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364992" y="222199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Segoe UI"/>
              </a:rPr>
              <a:t>🐛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50208" y="2221992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Late Defect
Discovery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64992" y="2807208"/>
            <a:ext cx="23591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8D0EC"/>
                </a:solidFill>
                <a:latin typeface="Segoe UI"/>
              </a:rPr>
              <a:t>MCU faults surface after coding and integration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80759" y="2057400"/>
            <a:ext cx="2697480" cy="1938528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080759" y="2057400"/>
            <a:ext cx="2697480" cy="457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245351" y="2221992"/>
            <a:ext cx="457200" cy="457200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245351" y="222199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Segoe UI"/>
              </a:rPr>
              <a:t>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30567" y="2221992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Tool Chain
Fragmentation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45351" y="2807208"/>
            <a:ext cx="23591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8D0EC"/>
                </a:solidFill>
                <a:latin typeface="Segoe UI"/>
              </a:rPr>
              <a:t>ROVO, Copilot, Jira, GitHub and JTAG need orchestration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0040" y="4206240"/>
            <a:ext cx="2697480" cy="1938528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320040" y="4206240"/>
            <a:ext cx="2697480" cy="45720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484632" y="4370832"/>
            <a:ext cx="457200" cy="457200"/>
          </a:xfrm>
          <a:prstGeom prst="round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84632" y="437083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Segoe UI"/>
              </a:rPr>
              <a:t>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9848" y="4370832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PDLC
Trace Gaps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4632" y="4956048"/>
            <a:ext cx="23591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8D0EC"/>
                </a:solidFill>
                <a:latin typeface="Segoe UI"/>
              </a:rPr>
              <a:t>Requirements, code, tests and evidence drift apart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00400" y="4206240"/>
            <a:ext cx="2697480" cy="1938528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3200400" y="4206240"/>
            <a:ext cx="2697480" cy="4572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3364992" y="4370832"/>
            <a:ext cx="457200" cy="457200"/>
          </a:xfrm>
          <a:prstGeom prst="round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364992" y="437083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Segoe UI"/>
              </a:rPr>
              <a:t>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950208" y="4370832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Embedded
Hardware Gap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64992" y="4956048"/>
            <a:ext cx="23591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8D0EC"/>
                </a:solidFill>
                <a:latin typeface="Segoe UI"/>
              </a:rPr>
              <a:t>JTAG/SWD evidence stays outside lifecycle decisions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080759" y="4206240"/>
            <a:ext cx="2697480" cy="1938528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080759" y="4206240"/>
            <a:ext cx="2697480" cy="4572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6245351" y="4370832"/>
            <a:ext cx="457200" cy="457200"/>
          </a:xfrm>
          <a:prstGeom prst="round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245351" y="437083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Segoe UI"/>
              </a:rPr>
              <a:t>PG5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0567" y="4370832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Launch Gate
Uncertainty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45351" y="4956048"/>
            <a:ext cx="23591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8D0EC"/>
                </a:solidFill>
                <a:latin typeface="Segoe UI"/>
              </a:rPr>
              <a:t>Readiness depends on manual proof and subjective reviews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080A8"/>
                </a:solidFill>
                <a:latin typeface="Segoe UI"/>
              </a:rPr>
              <a:t>2  / 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2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1" y="749808"/>
            <a:ext cx="850096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Segoe UI"/>
              </a:rPr>
              <a:t>AEPLO Platform for Embedded PDLC AI Optimization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3767328" y="2944367"/>
            <a:ext cx="1609344" cy="1609344"/>
          </a:xfrm>
          <a:prstGeom prst="ellipse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3944355" y="3121394"/>
            <a:ext cx="1255288" cy="1255288"/>
          </a:xfrm>
          <a:prstGeom prst="ellipse">
            <a:avLst/>
          </a:prstGeom>
          <a:solidFill>
            <a:srgbClr val="051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5603444" y="3728923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5594447" y="3866179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5567612" y="4001086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5523398" y="413133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5462561" y="4254703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5386142" y="4369072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5295449" y="4472488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5192033" y="4563181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5077664" y="4639600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4954298" y="470043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4824047" y="4744651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4689140" y="4771486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4551884" y="4780483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4414627" y="4771486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4279720" y="4744651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4149469" y="470043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4026104" y="4639600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3911734" y="4563181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3808318" y="4472488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3717625" y="4369072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3641206" y="4254703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3580369" y="413133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3536155" y="4001086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3509320" y="3866179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3500324" y="3728923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3509320" y="3591666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3536155" y="3456759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3580369" y="3326508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3641206" y="3203143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3717625" y="3088773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3808318" y="298535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Oval 40"/>
          <p:cNvSpPr/>
          <p:nvPr/>
        </p:nvSpPr>
        <p:spPr>
          <a:xfrm>
            <a:off x="3911734" y="2894664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Oval 41"/>
          <p:cNvSpPr/>
          <p:nvPr/>
        </p:nvSpPr>
        <p:spPr>
          <a:xfrm>
            <a:off x="4026103" y="2818245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Oval 42"/>
          <p:cNvSpPr/>
          <p:nvPr/>
        </p:nvSpPr>
        <p:spPr>
          <a:xfrm>
            <a:off x="4149469" y="2757408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4279720" y="2713194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Oval 44"/>
          <p:cNvSpPr/>
          <p:nvPr/>
        </p:nvSpPr>
        <p:spPr>
          <a:xfrm>
            <a:off x="4414627" y="2686359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>
            <a:off x="4551884" y="2677363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Oval 46"/>
          <p:cNvSpPr/>
          <p:nvPr/>
        </p:nvSpPr>
        <p:spPr>
          <a:xfrm>
            <a:off x="4689140" y="2686359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Oval 47"/>
          <p:cNvSpPr/>
          <p:nvPr/>
        </p:nvSpPr>
        <p:spPr>
          <a:xfrm>
            <a:off x="4824047" y="2713194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4954298" y="2757408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5077664" y="2818245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Oval 50"/>
          <p:cNvSpPr/>
          <p:nvPr/>
        </p:nvSpPr>
        <p:spPr>
          <a:xfrm>
            <a:off x="5192033" y="2894664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Oval 51"/>
          <p:cNvSpPr/>
          <p:nvPr/>
        </p:nvSpPr>
        <p:spPr>
          <a:xfrm>
            <a:off x="5295449" y="298535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Oval 52"/>
          <p:cNvSpPr/>
          <p:nvPr/>
        </p:nvSpPr>
        <p:spPr>
          <a:xfrm>
            <a:off x="5386142" y="3088773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Oval 53"/>
          <p:cNvSpPr/>
          <p:nvPr/>
        </p:nvSpPr>
        <p:spPr>
          <a:xfrm>
            <a:off x="5462561" y="3203142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Oval 54"/>
          <p:cNvSpPr/>
          <p:nvPr/>
        </p:nvSpPr>
        <p:spPr>
          <a:xfrm>
            <a:off x="5523398" y="3326508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Oval 55"/>
          <p:cNvSpPr/>
          <p:nvPr/>
        </p:nvSpPr>
        <p:spPr>
          <a:xfrm>
            <a:off x="5567612" y="3456759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Oval 56"/>
          <p:cNvSpPr/>
          <p:nvPr/>
        </p:nvSpPr>
        <p:spPr>
          <a:xfrm>
            <a:off x="5594447" y="3591666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Oval 57"/>
          <p:cNvSpPr/>
          <p:nvPr/>
        </p:nvSpPr>
        <p:spPr>
          <a:xfrm>
            <a:off x="5850332" y="3728923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Oval 58"/>
          <p:cNvSpPr/>
          <p:nvPr/>
        </p:nvSpPr>
        <p:spPr>
          <a:xfrm>
            <a:off x="5839223" y="3898404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Oval 59"/>
          <p:cNvSpPr/>
          <p:nvPr/>
        </p:nvSpPr>
        <p:spPr>
          <a:xfrm>
            <a:off x="5806088" y="4064986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Oval 60"/>
          <p:cNvSpPr/>
          <p:nvPr/>
        </p:nvSpPr>
        <p:spPr>
          <a:xfrm>
            <a:off x="5751493" y="422581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Oval 61"/>
          <p:cNvSpPr/>
          <p:nvPr/>
        </p:nvSpPr>
        <p:spPr>
          <a:xfrm>
            <a:off x="5676372" y="437814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Oval 62"/>
          <p:cNvSpPr/>
          <p:nvPr/>
        </p:nvSpPr>
        <p:spPr>
          <a:xfrm>
            <a:off x="5582012" y="4519368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Oval 63"/>
          <p:cNvSpPr/>
          <p:nvPr/>
        </p:nvSpPr>
        <p:spPr>
          <a:xfrm>
            <a:off x="5470025" y="4647064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Oval 64"/>
          <p:cNvSpPr/>
          <p:nvPr/>
        </p:nvSpPr>
        <p:spPr>
          <a:xfrm>
            <a:off x="5342329" y="4759051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Oval 65"/>
          <p:cNvSpPr/>
          <p:nvPr/>
        </p:nvSpPr>
        <p:spPr>
          <a:xfrm>
            <a:off x="5201108" y="4853411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Oval 66"/>
          <p:cNvSpPr/>
          <p:nvPr/>
        </p:nvSpPr>
        <p:spPr>
          <a:xfrm>
            <a:off x="5048778" y="4928532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Oval 67"/>
          <p:cNvSpPr/>
          <p:nvPr/>
        </p:nvSpPr>
        <p:spPr>
          <a:xfrm>
            <a:off x="4887947" y="498312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Oval 68"/>
          <p:cNvSpPr/>
          <p:nvPr/>
        </p:nvSpPr>
        <p:spPr>
          <a:xfrm>
            <a:off x="4721365" y="5016262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Oval 69"/>
          <p:cNvSpPr/>
          <p:nvPr/>
        </p:nvSpPr>
        <p:spPr>
          <a:xfrm>
            <a:off x="4551884" y="5027371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Oval 70"/>
          <p:cNvSpPr/>
          <p:nvPr/>
        </p:nvSpPr>
        <p:spPr>
          <a:xfrm>
            <a:off x="4382402" y="5016262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Oval 71"/>
          <p:cNvSpPr/>
          <p:nvPr/>
        </p:nvSpPr>
        <p:spPr>
          <a:xfrm>
            <a:off x="4215820" y="498312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Oval 72"/>
          <p:cNvSpPr/>
          <p:nvPr/>
        </p:nvSpPr>
        <p:spPr>
          <a:xfrm>
            <a:off x="4054989" y="4928532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Oval 73"/>
          <p:cNvSpPr/>
          <p:nvPr/>
        </p:nvSpPr>
        <p:spPr>
          <a:xfrm>
            <a:off x="3902660" y="4853411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Oval 74"/>
          <p:cNvSpPr/>
          <p:nvPr/>
        </p:nvSpPr>
        <p:spPr>
          <a:xfrm>
            <a:off x="3761438" y="4759051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Oval 75"/>
          <p:cNvSpPr/>
          <p:nvPr/>
        </p:nvSpPr>
        <p:spPr>
          <a:xfrm>
            <a:off x="3633742" y="4647064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Oval 76"/>
          <p:cNvSpPr/>
          <p:nvPr/>
        </p:nvSpPr>
        <p:spPr>
          <a:xfrm>
            <a:off x="3521755" y="4519368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Oval 77"/>
          <p:cNvSpPr/>
          <p:nvPr/>
        </p:nvSpPr>
        <p:spPr>
          <a:xfrm>
            <a:off x="3427395" y="437814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Oval 78"/>
          <p:cNvSpPr/>
          <p:nvPr/>
        </p:nvSpPr>
        <p:spPr>
          <a:xfrm>
            <a:off x="3352274" y="422581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Oval 79"/>
          <p:cNvSpPr/>
          <p:nvPr/>
        </p:nvSpPr>
        <p:spPr>
          <a:xfrm>
            <a:off x="3297679" y="4064986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Oval 80"/>
          <p:cNvSpPr/>
          <p:nvPr/>
        </p:nvSpPr>
        <p:spPr>
          <a:xfrm>
            <a:off x="3264544" y="3898404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Oval 81"/>
          <p:cNvSpPr/>
          <p:nvPr/>
        </p:nvSpPr>
        <p:spPr>
          <a:xfrm>
            <a:off x="3253436" y="3728923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Oval 82"/>
          <p:cNvSpPr/>
          <p:nvPr/>
        </p:nvSpPr>
        <p:spPr>
          <a:xfrm>
            <a:off x="3264544" y="3559441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Oval 83"/>
          <p:cNvSpPr/>
          <p:nvPr/>
        </p:nvSpPr>
        <p:spPr>
          <a:xfrm>
            <a:off x="3297679" y="3392859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Oval 84"/>
          <p:cNvSpPr/>
          <p:nvPr/>
        </p:nvSpPr>
        <p:spPr>
          <a:xfrm>
            <a:off x="3352274" y="3232028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Oval 85"/>
          <p:cNvSpPr/>
          <p:nvPr/>
        </p:nvSpPr>
        <p:spPr>
          <a:xfrm>
            <a:off x="3427395" y="3079699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Oval 86"/>
          <p:cNvSpPr/>
          <p:nvPr/>
        </p:nvSpPr>
        <p:spPr>
          <a:xfrm>
            <a:off x="3521755" y="293847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Oval 87"/>
          <p:cNvSpPr/>
          <p:nvPr/>
        </p:nvSpPr>
        <p:spPr>
          <a:xfrm>
            <a:off x="3633742" y="2810781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Oval 88"/>
          <p:cNvSpPr/>
          <p:nvPr/>
        </p:nvSpPr>
        <p:spPr>
          <a:xfrm>
            <a:off x="3761438" y="2698794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Oval 89"/>
          <p:cNvSpPr/>
          <p:nvPr/>
        </p:nvSpPr>
        <p:spPr>
          <a:xfrm>
            <a:off x="3902659" y="2604434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Oval 90"/>
          <p:cNvSpPr/>
          <p:nvPr/>
        </p:nvSpPr>
        <p:spPr>
          <a:xfrm>
            <a:off x="4054989" y="2529313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Oval 91"/>
          <p:cNvSpPr/>
          <p:nvPr/>
        </p:nvSpPr>
        <p:spPr>
          <a:xfrm>
            <a:off x="4215820" y="2474718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Oval 92"/>
          <p:cNvSpPr/>
          <p:nvPr/>
        </p:nvSpPr>
        <p:spPr>
          <a:xfrm>
            <a:off x="4382402" y="2441583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Oval 93"/>
          <p:cNvSpPr/>
          <p:nvPr/>
        </p:nvSpPr>
        <p:spPr>
          <a:xfrm>
            <a:off x="4551884" y="2430475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Oval 94"/>
          <p:cNvSpPr/>
          <p:nvPr/>
        </p:nvSpPr>
        <p:spPr>
          <a:xfrm>
            <a:off x="4721365" y="2441583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Oval 95"/>
          <p:cNvSpPr/>
          <p:nvPr/>
        </p:nvSpPr>
        <p:spPr>
          <a:xfrm>
            <a:off x="4887947" y="2474718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Oval 96"/>
          <p:cNvSpPr/>
          <p:nvPr/>
        </p:nvSpPr>
        <p:spPr>
          <a:xfrm>
            <a:off x="5048778" y="2529313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Oval 97"/>
          <p:cNvSpPr/>
          <p:nvPr/>
        </p:nvSpPr>
        <p:spPr>
          <a:xfrm>
            <a:off x="5201108" y="2604434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Oval 98"/>
          <p:cNvSpPr/>
          <p:nvPr/>
        </p:nvSpPr>
        <p:spPr>
          <a:xfrm>
            <a:off x="5342329" y="2698794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Oval 99"/>
          <p:cNvSpPr/>
          <p:nvPr/>
        </p:nvSpPr>
        <p:spPr>
          <a:xfrm>
            <a:off x="5470025" y="2810781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Oval 100"/>
          <p:cNvSpPr/>
          <p:nvPr/>
        </p:nvSpPr>
        <p:spPr>
          <a:xfrm>
            <a:off x="5582012" y="293847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Oval 101"/>
          <p:cNvSpPr/>
          <p:nvPr/>
        </p:nvSpPr>
        <p:spPr>
          <a:xfrm>
            <a:off x="5676372" y="3079698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Oval 102"/>
          <p:cNvSpPr/>
          <p:nvPr/>
        </p:nvSpPr>
        <p:spPr>
          <a:xfrm>
            <a:off x="5751493" y="3232028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Oval 103"/>
          <p:cNvSpPr/>
          <p:nvPr/>
        </p:nvSpPr>
        <p:spPr>
          <a:xfrm>
            <a:off x="5806088" y="3392859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Oval 104"/>
          <p:cNvSpPr/>
          <p:nvPr/>
        </p:nvSpPr>
        <p:spPr>
          <a:xfrm>
            <a:off x="5839223" y="3559441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Oval 105"/>
          <p:cNvSpPr/>
          <p:nvPr/>
        </p:nvSpPr>
        <p:spPr>
          <a:xfrm>
            <a:off x="6088076" y="3728923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Oval 106"/>
          <p:cNvSpPr/>
          <p:nvPr/>
        </p:nvSpPr>
        <p:spPr>
          <a:xfrm>
            <a:off x="6074933" y="3929436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Oval 107"/>
          <p:cNvSpPr/>
          <p:nvPr/>
        </p:nvSpPr>
        <p:spPr>
          <a:xfrm>
            <a:off x="6035731" y="4126518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Oval 108"/>
          <p:cNvSpPr/>
          <p:nvPr/>
        </p:nvSpPr>
        <p:spPr>
          <a:xfrm>
            <a:off x="5971140" y="4316798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Oval 109"/>
          <p:cNvSpPr/>
          <p:nvPr/>
        </p:nvSpPr>
        <p:spPr>
          <a:xfrm>
            <a:off x="5882265" y="4497019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Oval 110"/>
          <p:cNvSpPr/>
          <p:nvPr/>
        </p:nvSpPr>
        <p:spPr>
          <a:xfrm>
            <a:off x="5770627" y="466409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Oval 111"/>
          <p:cNvSpPr/>
          <p:nvPr/>
        </p:nvSpPr>
        <p:spPr>
          <a:xfrm>
            <a:off x="5638135" y="4815174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Oval 112"/>
          <p:cNvSpPr/>
          <p:nvPr/>
        </p:nvSpPr>
        <p:spPr>
          <a:xfrm>
            <a:off x="5487058" y="4947666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Oval 113"/>
          <p:cNvSpPr/>
          <p:nvPr/>
        </p:nvSpPr>
        <p:spPr>
          <a:xfrm>
            <a:off x="5319980" y="5059304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Oval 114"/>
          <p:cNvSpPr/>
          <p:nvPr/>
        </p:nvSpPr>
        <p:spPr>
          <a:xfrm>
            <a:off x="5139759" y="5148179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Oval 115"/>
          <p:cNvSpPr/>
          <p:nvPr/>
        </p:nvSpPr>
        <p:spPr>
          <a:xfrm>
            <a:off x="4949479" y="5212770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Oval 116"/>
          <p:cNvSpPr/>
          <p:nvPr/>
        </p:nvSpPr>
        <p:spPr>
          <a:xfrm>
            <a:off x="4752397" y="5251972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8" name="Oval 117"/>
          <p:cNvSpPr/>
          <p:nvPr/>
        </p:nvSpPr>
        <p:spPr>
          <a:xfrm>
            <a:off x="4551884" y="5265115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Oval 118"/>
          <p:cNvSpPr/>
          <p:nvPr/>
        </p:nvSpPr>
        <p:spPr>
          <a:xfrm>
            <a:off x="4351370" y="5251972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Oval 119"/>
          <p:cNvSpPr/>
          <p:nvPr/>
        </p:nvSpPr>
        <p:spPr>
          <a:xfrm>
            <a:off x="4154288" y="5212770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Oval 120"/>
          <p:cNvSpPr/>
          <p:nvPr/>
        </p:nvSpPr>
        <p:spPr>
          <a:xfrm>
            <a:off x="3964008" y="5148179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Oval 121"/>
          <p:cNvSpPr/>
          <p:nvPr/>
        </p:nvSpPr>
        <p:spPr>
          <a:xfrm>
            <a:off x="3783788" y="5059304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Oval 122"/>
          <p:cNvSpPr/>
          <p:nvPr/>
        </p:nvSpPr>
        <p:spPr>
          <a:xfrm>
            <a:off x="3616709" y="4947666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Oval 123"/>
          <p:cNvSpPr/>
          <p:nvPr/>
        </p:nvSpPr>
        <p:spPr>
          <a:xfrm>
            <a:off x="3465632" y="4815174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Oval 124"/>
          <p:cNvSpPr/>
          <p:nvPr/>
        </p:nvSpPr>
        <p:spPr>
          <a:xfrm>
            <a:off x="3333140" y="466409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Oval 125"/>
          <p:cNvSpPr/>
          <p:nvPr/>
        </p:nvSpPr>
        <p:spPr>
          <a:xfrm>
            <a:off x="3221502" y="4497019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Oval 126"/>
          <p:cNvSpPr/>
          <p:nvPr/>
        </p:nvSpPr>
        <p:spPr>
          <a:xfrm>
            <a:off x="3132627" y="4316798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Oval 127"/>
          <p:cNvSpPr/>
          <p:nvPr/>
        </p:nvSpPr>
        <p:spPr>
          <a:xfrm>
            <a:off x="3068036" y="4126518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Oval 128"/>
          <p:cNvSpPr/>
          <p:nvPr/>
        </p:nvSpPr>
        <p:spPr>
          <a:xfrm>
            <a:off x="3028834" y="3929436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Oval 129"/>
          <p:cNvSpPr/>
          <p:nvPr/>
        </p:nvSpPr>
        <p:spPr>
          <a:xfrm>
            <a:off x="3015692" y="3728923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Oval 130"/>
          <p:cNvSpPr/>
          <p:nvPr/>
        </p:nvSpPr>
        <p:spPr>
          <a:xfrm>
            <a:off x="3028834" y="3528409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Oval 131"/>
          <p:cNvSpPr/>
          <p:nvPr/>
        </p:nvSpPr>
        <p:spPr>
          <a:xfrm>
            <a:off x="3068036" y="333132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Oval 132"/>
          <p:cNvSpPr/>
          <p:nvPr/>
        </p:nvSpPr>
        <p:spPr>
          <a:xfrm>
            <a:off x="3132627" y="314104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Oval 133"/>
          <p:cNvSpPr/>
          <p:nvPr/>
        </p:nvSpPr>
        <p:spPr>
          <a:xfrm>
            <a:off x="3221502" y="296082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Oval 134"/>
          <p:cNvSpPr/>
          <p:nvPr/>
        </p:nvSpPr>
        <p:spPr>
          <a:xfrm>
            <a:off x="3333140" y="2793748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6" name="Oval 135"/>
          <p:cNvSpPr/>
          <p:nvPr/>
        </p:nvSpPr>
        <p:spPr>
          <a:xfrm>
            <a:off x="3465632" y="2642671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Oval 136"/>
          <p:cNvSpPr/>
          <p:nvPr/>
        </p:nvSpPr>
        <p:spPr>
          <a:xfrm>
            <a:off x="3616709" y="2510179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Oval 137"/>
          <p:cNvSpPr/>
          <p:nvPr/>
        </p:nvSpPr>
        <p:spPr>
          <a:xfrm>
            <a:off x="3783787" y="2398541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Oval 138"/>
          <p:cNvSpPr/>
          <p:nvPr/>
        </p:nvSpPr>
        <p:spPr>
          <a:xfrm>
            <a:off x="3964008" y="2309666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Oval 139"/>
          <p:cNvSpPr/>
          <p:nvPr/>
        </p:nvSpPr>
        <p:spPr>
          <a:xfrm>
            <a:off x="4154288" y="2245075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Oval 140"/>
          <p:cNvSpPr/>
          <p:nvPr/>
        </p:nvSpPr>
        <p:spPr>
          <a:xfrm>
            <a:off x="4351370" y="2205873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2" name="Oval 141"/>
          <p:cNvSpPr/>
          <p:nvPr/>
        </p:nvSpPr>
        <p:spPr>
          <a:xfrm>
            <a:off x="4551884" y="2192731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Oval 142"/>
          <p:cNvSpPr/>
          <p:nvPr/>
        </p:nvSpPr>
        <p:spPr>
          <a:xfrm>
            <a:off x="4752397" y="2205873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4" name="Oval 143"/>
          <p:cNvSpPr/>
          <p:nvPr/>
        </p:nvSpPr>
        <p:spPr>
          <a:xfrm>
            <a:off x="4949479" y="2245075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Oval 144"/>
          <p:cNvSpPr/>
          <p:nvPr/>
        </p:nvSpPr>
        <p:spPr>
          <a:xfrm>
            <a:off x="5139759" y="2309666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6" name="Oval 145"/>
          <p:cNvSpPr/>
          <p:nvPr/>
        </p:nvSpPr>
        <p:spPr>
          <a:xfrm>
            <a:off x="5319980" y="2398541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Oval 146"/>
          <p:cNvSpPr/>
          <p:nvPr/>
        </p:nvSpPr>
        <p:spPr>
          <a:xfrm>
            <a:off x="5487058" y="2510179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8" name="Oval 147"/>
          <p:cNvSpPr/>
          <p:nvPr/>
        </p:nvSpPr>
        <p:spPr>
          <a:xfrm>
            <a:off x="5638135" y="2642671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Oval 148"/>
          <p:cNvSpPr/>
          <p:nvPr/>
        </p:nvSpPr>
        <p:spPr>
          <a:xfrm>
            <a:off x="5770627" y="2793748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0" name="Oval 149"/>
          <p:cNvSpPr/>
          <p:nvPr/>
        </p:nvSpPr>
        <p:spPr>
          <a:xfrm>
            <a:off x="5882265" y="2960826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Oval 150"/>
          <p:cNvSpPr/>
          <p:nvPr/>
        </p:nvSpPr>
        <p:spPr>
          <a:xfrm>
            <a:off x="5971140" y="314104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2" name="Oval 151"/>
          <p:cNvSpPr/>
          <p:nvPr/>
        </p:nvSpPr>
        <p:spPr>
          <a:xfrm>
            <a:off x="6035731" y="333132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" name="Oval 152"/>
          <p:cNvSpPr/>
          <p:nvPr/>
        </p:nvSpPr>
        <p:spPr>
          <a:xfrm>
            <a:off x="6074933" y="3528409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TextBox 153"/>
          <p:cNvSpPr txBox="1"/>
          <p:nvPr/>
        </p:nvSpPr>
        <p:spPr>
          <a:xfrm>
            <a:off x="3748694" y="3444687"/>
            <a:ext cx="1609344" cy="1609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 dirty="0">
                <a:solidFill>
                  <a:srgbClr val="00C8F0"/>
                </a:solidFill>
                <a:latin typeface="Segoe UI"/>
              </a:rPr>
              <a:t>AEPLO
JTAG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2647370" y="2473633"/>
            <a:ext cx="1184330" cy="27432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6" name="Rectangle 155"/>
          <p:cNvSpPr/>
          <p:nvPr/>
        </p:nvSpPr>
        <p:spPr>
          <a:xfrm>
            <a:off x="2633654" y="2487349"/>
            <a:ext cx="27432" cy="52139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7" name="Rounded Rectangle 156"/>
          <p:cNvSpPr/>
          <p:nvPr/>
        </p:nvSpPr>
        <p:spPr>
          <a:xfrm>
            <a:off x="91440" y="1371599"/>
            <a:ext cx="2743200" cy="118872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8" name="Rectangle 157"/>
          <p:cNvSpPr/>
          <p:nvPr/>
        </p:nvSpPr>
        <p:spPr>
          <a:xfrm>
            <a:off x="91440" y="1371599"/>
            <a:ext cx="2743200" cy="41148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9" name="Oval 158"/>
          <p:cNvSpPr/>
          <p:nvPr/>
        </p:nvSpPr>
        <p:spPr>
          <a:xfrm>
            <a:off x="228600" y="1536191"/>
            <a:ext cx="274320" cy="27432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0" name="TextBox 159"/>
          <p:cNvSpPr txBox="1"/>
          <p:nvPr/>
        </p:nvSpPr>
        <p:spPr>
          <a:xfrm>
            <a:off x="621792" y="1444751"/>
            <a:ext cx="2084831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C8F0"/>
                </a:solidFill>
                <a:latin typeface="Segoe UI"/>
              </a:rPr>
              <a:t>Connected Embedded
Data Foundation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228600" y="1920239"/>
            <a:ext cx="2468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8D0EC"/>
                </a:solidFill>
                <a:latin typeface="Segoe UI"/>
              </a:rPr>
              <a:t>Unifies Jira, Confluence, GitHub, JTAG/SWD evidence, QA and gate context.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5312298" y="2473633"/>
            <a:ext cx="1184330" cy="27432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3" name="Rectangle 162"/>
          <p:cNvSpPr/>
          <p:nvPr/>
        </p:nvSpPr>
        <p:spPr>
          <a:xfrm>
            <a:off x="6482913" y="2487349"/>
            <a:ext cx="27432" cy="521390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4" name="Rounded Rectangle 163"/>
          <p:cNvSpPr/>
          <p:nvPr/>
        </p:nvSpPr>
        <p:spPr>
          <a:xfrm>
            <a:off x="6309360" y="1371599"/>
            <a:ext cx="2743200" cy="118872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Rectangle 164"/>
          <p:cNvSpPr/>
          <p:nvPr/>
        </p:nvSpPr>
        <p:spPr>
          <a:xfrm>
            <a:off x="6309360" y="1371599"/>
            <a:ext cx="2743200" cy="41148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6" name="Oval 165"/>
          <p:cNvSpPr/>
          <p:nvPr/>
        </p:nvSpPr>
        <p:spPr>
          <a:xfrm>
            <a:off x="6446520" y="1536191"/>
            <a:ext cx="274320" cy="274320"/>
          </a:xfrm>
          <a:prstGeom prst="ellipse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7" name="TextBox 166"/>
          <p:cNvSpPr txBox="1"/>
          <p:nvPr/>
        </p:nvSpPr>
        <p:spPr>
          <a:xfrm>
            <a:off x="6839712" y="1444751"/>
            <a:ext cx="2084831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D48A"/>
                </a:solidFill>
                <a:latin typeface="Segoe UI"/>
              </a:rPr>
              <a:t>JTAG Accelerator
Inside AEPLO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446520" y="1920239"/>
            <a:ext cx="2468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8D0EC"/>
                </a:solidFill>
                <a:latin typeface="Segoe UI"/>
              </a:rPr>
              <a:t>Hardware-backed RCA, variable tracing and peripheral inspection become PDLC evidence.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2647370" y="4997012"/>
            <a:ext cx="1184330" cy="27432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0" name="Rectangle 169"/>
          <p:cNvSpPr/>
          <p:nvPr/>
        </p:nvSpPr>
        <p:spPr>
          <a:xfrm>
            <a:off x="2633654" y="4489337"/>
            <a:ext cx="27432" cy="52139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1" name="Rounded Rectangle 170"/>
          <p:cNvSpPr/>
          <p:nvPr/>
        </p:nvSpPr>
        <p:spPr>
          <a:xfrm>
            <a:off x="91440" y="4937759"/>
            <a:ext cx="2743200" cy="118872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2" name="Rectangle 171"/>
          <p:cNvSpPr/>
          <p:nvPr/>
        </p:nvSpPr>
        <p:spPr>
          <a:xfrm>
            <a:off x="91440" y="4937759"/>
            <a:ext cx="2743200" cy="4114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3" name="Oval 172"/>
          <p:cNvSpPr/>
          <p:nvPr/>
        </p:nvSpPr>
        <p:spPr>
          <a:xfrm>
            <a:off x="228600" y="5102351"/>
            <a:ext cx="274320" cy="27432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" name="TextBox 173"/>
          <p:cNvSpPr txBox="1"/>
          <p:nvPr/>
        </p:nvSpPr>
        <p:spPr>
          <a:xfrm>
            <a:off x="621792" y="5010911"/>
            <a:ext cx="2084831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8C00"/>
                </a:solidFill>
                <a:latin typeface="Segoe UI"/>
              </a:rPr>
              <a:t>NPI Gate
Orchestration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228600" y="5486399"/>
            <a:ext cx="2468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8D0EC"/>
                </a:solidFill>
                <a:latin typeface="Segoe UI"/>
              </a:rPr>
              <a:t>PG1 discovery, PG3 development and PG5 launch prep become one demo flow.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312298" y="4997012"/>
            <a:ext cx="1184330" cy="2743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7" name="Rectangle 176"/>
          <p:cNvSpPr/>
          <p:nvPr/>
        </p:nvSpPr>
        <p:spPr>
          <a:xfrm>
            <a:off x="6482913" y="4489337"/>
            <a:ext cx="27432" cy="52139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8" name="Rounded Rectangle 177"/>
          <p:cNvSpPr/>
          <p:nvPr/>
        </p:nvSpPr>
        <p:spPr>
          <a:xfrm>
            <a:off x="6309360" y="4937759"/>
            <a:ext cx="2743200" cy="118872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9" name="Rectangle 178"/>
          <p:cNvSpPr/>
          <p:nvPr/>
        </p:nvSpPr>
        <p:spPr>
          <a:xfrm>
            <a:off x="6309360" y="4937759"/>
            <a:ext cx="2743200" cy="4114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0" name="Oval 179"/>
          <p:cNvSpPr/>
          <p:nvPr/>
        </p:nvSpPr>
        <p:spPr>
          <a:xfrm>
            <a:off x="6446520" y="5102351"/>
            <a:ext cx="274320" cy="27432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1" name="TextBox 180"/>
          <p:cNvSpPr txBox="1"/>
          <p:nvPr/>
        </p:nvSpPr>
        <p:spPr>
          <a:xfrm>
            <a:off x="6839712" y="5010911"/>
            <a:ext cx="2084831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8B5CF6"/>
                </a:solidFill>
                <a:latin typeface="Segoe UI"/>
              </a:rPr>
              <a:t>AI Optimisation
Experiences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446520" y="5486399"/>
            <a:ext cx="2468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8D0EC"/>
                </a:solidFill>
                <a:latin typeface="Segoe UI"/>
              </a:rPr>
              <a:t>ROVO Studio, Copilot and agents optimise risks, fixes, tests and readiness.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4" name="TextBox 183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080A8"/>
                </a:solidFill>
                <a:latin typeface="Segoe UI"/>
              </a:rPr>
              <a:t>3  / 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2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AEPLO Platform Architecture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B8D0EC"/>
                </a:solidFill>
                <a:latin typeface="Segoe UI"/>
              </a:rPr>
              <a:t>Connects Jira, Confluence, GitHub, Copilot, ROVO Studio, Atlassian MCP and JTAG/SWD evidence into one embedded PDLC optimisation platform.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965960"/>
            <a:ext cx="1874519" cy="749808"/>
          </a:xfrm>
          <a:prstGeom prst="round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20040" y="1965960"/>
            <a:ext cx="1874519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CONNECTED INPUTS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31720" y="1965960"/>
            <a:ext cx="6510528" cy="749808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331720" y="1965960"/>
            <a:ext cx="41148" cy="74980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487168" y="2130552"/>
            <a:ext cx="62362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8D0EC"/>
                </a:solidFill>
                <a:latin typeface="Segoe UI"/>
              </a:rPr>
              <a:t>Jira · Confluence · GitHub · Copilot · ROVO Studio · JTAG/SWD · QA Results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2715768"/>
            <a:ext cx="45720" cy="12801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572000" y="2715768"/>
            <a:ext cx="45720" cy="12801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320040" y="2843784"/>
            <a:ext cx="1874519" cy="749808"/>
          </a:xfrm>
          <a:prstGeom prst="round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20040" y="2843784"/>
            <a:ext cx="1874519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DATA INTEGRATION LAYER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331720" y="2843784"/>
            <a:ext cx="6510528" cy="749808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2331720" y="2843784"/>
            <a:ext cx="41148" cy="749808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487168" y="3008376"/>
            <a:ext cx="62362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8D0EC"/>
                </a:solidFill>
                <a:latin typeface="Segoe UI"/>
              </a:rPr>
              <a:t>Unified Knowledge Graph  ·  Semantic Traceability Engine  ·  Version History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3593592"/>
            <a:ext cx="45720" cy="128016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572000" y="3593592"/>
            <a:ext cx="45720" cy="128016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320040" y="3721608"/>
            <a:ext cx="1874519" cy="749808"/>
          </a:xfrm>
          <a:prstGeom prst="round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20040" y="3721608"/>
            <a:ext cx="1874519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AEPLO ORCHESTRATION CORE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331720" y="3721608"/>
            <a:ext cx="6510528" cy="749808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2331720" y="3721608"/>
            <a:ext cx="41148" cy="749808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2487168" y="3886200"/>
            <a:ext cx="62362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8D0EC"/>
                </a:solidFill>
                <a:latin typeface="Segoe UI"/>
              </a:rPr>
              <a:t>Atlassian MCP · JTAG Accelerator · Fault Analyzer · Release Agent · QA Agent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4400" y="4471416"/>
            <a:ext cx="45720" cy="128016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4572000" y="4471416"/>
            <a:ext cx="45720" cy="128016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320040" y="4599431"/>
            <a:ext cx="1874519" cy="749808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20040" y="4599431"/>
            <a:ext cx="1874519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AUTOMATION &amp; GATING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331720" y="4599431"/>
            <a:ext cx="6510528" cy="749808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2331720" y="4599431"/>
            <a:ext cx="41148" cy="74980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2487168" y="4764023"/>
            <a:ext cx="62362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8D0EC"/>
                </a:solidFill>
                <a:latin typeface="Segoe UI"/>
              </a:rPr>
              <a:t>CI/CD Hooks  ·  Controlled Auto-Fix  ·  Auto-PR  ·  Release Gate  ·  Remediation Actions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" y="5349239"/>
            <a:ext cx="45720" cy="12801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4572000" y="5349239"/>
            <a:ext cx="45720" cy="12801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320040" y="5477256"/>
            <a:ext cx="1874519" cy="749808"/>
          </a:xfrm>
          <a:prstGeom prst="round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20040" y="5477256"/>
            <a:ext cx="1874519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NPI GATE OUTCOMES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331720" y="5477256"/>
            <a:ext cx="6510528" cy="749808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2331720" y="5477256"/>
            <a:ext cx="41148" cy="749808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2487168" y="5641848"/>
            <a:ext cx="62362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8D0EC"/>
                </a:solidFill>
                <a:latin typeface="Segoe UI"/>
              </a:rPr>
              <a:t>PG1 Risk Plan · PG3 RCA + PR · PG5 READY / NOT_READY · Audit Evidence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080A8"/>
                </a:solidFill>
                <a:latin typeface="Segoe UI"/>
              </a:rPr>
              <a:t>4  / 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2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CONNECTED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 dirty="0">
                <a:solidFill>
                  <a:srgbClr val="FFFFFF"/>
                </a:solidFill>
                <a:latin typeface="Segoe UI"/>
              </a:rPr>
              <a:t>ROVO + Copilot + Atlassian MCP + GitHub + Jira + Confluence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B8D0EC"/>
                </a:solidFill>
                <a:latin typeface="Segoe UI"/>
              </a:rPr>
              <a:t>The demo platform brings work management, knowledge, code, AI coding assistance and hardware evidence into AEPLO's embedded PDLC optimisation loop.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965960"/>
            <a:ext cx="1938528" cy="416052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1965960"/>
            <a:ext cx="1938528" cy="54864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29768" y="2121408"/>
            <a:ext cx="17190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19" b="1" i="0">
                <a:solidFill>
                  <a:srgbClr val="0072C6"/>
                </a:solidFill>
                <a:latin typeface="Segoe UI"/>
              </a:rPr>
              <a:t>PLAN &amp; KNOWLEDGE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97480"/>
            <a:ext cx="1664208" cy="749808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576072" y="2862072"/>
            <a:ext cx="256032" cy="256032"/>
          </a:xfrm>
          <a:prstGeom prst="ellipse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14400" y="2807208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Segoe UI"/>
              </a:rPr>
              <a:t>Jira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" y="3081528"/>
            <a:ext cx="12984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B8D0EC"/>
                </a:solidFill>
                <a:latin typeface="Segoe UI"/>
              </a:rPr>
              <a:t>NPI epics, coding defects, actions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703320"/>
            <a:ext cx="1664208" cy="749808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576072" y="3867912"/>
            <a:ext cx="256032" cy="256032"/>
          </a:xfrm>
          <a:prstGeom prst="ellipse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4400" y="3813048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Segoe UI"/>
              </a:rPr>
              <a:t>Confluence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6072" y="4087368"/>
            <a:ext cx="12984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B8D0EC"/>
                </a:solidFill>
                <a:latin typeface="Segoe UI"/>
              </a:rPr>
              <a:t>PRD, architecture, test notes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709160"/>
            <a:ext cx="1664208" cy="749808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576072" y="4873752"/>
            <a:ext cx="256032" cy="256032"/>
          </a:xfrm>
          <a:prstGeom prst="ellipse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14400" y="4818888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Segoe UI"/>
              </a:rPr>
              <a:t>PG1 Discovery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6072" y="5093208"/>
            <a:ext cx="12984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B8D0EC"/>
                </a:solidFill>
                <a:latin typeface="Segoe UI"/>
              </a:rPr>
              <a:t>Risk map and demo scope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313432" y="3858768"/>
            <a:ext cx="155448" cy="54864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2468880" y="3803904"/>
            <a:ext cx="24688" cy="164592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2489454" y="3814191"/>
            <a:ext cx="21602" cy="144018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2510028" y="3824478"/>
            <a:ext cx="18516" cy="123444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2530602" y="3834765"/>
            <a:ext cx="15430" cy="10287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2551176" y="3845052"/>
            <a:ext cx="12344" cy="82296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2571750" y="3855339"/>
            <a:ext cx="9258" cy="61722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2592324" y="3865626"/>
            <a:ext cx="6172" cy="41148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2612898" y="3875913"/>
            <a:ext cx="3086" cy="20574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2468880" y="1965960"/>
            <a:ext cx="1938528" cy="416052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2468880" y="1965960"/>
            <a:ext cx="1938528" cy="5486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2578608" y="2121408"/>
            <a:ext cx="17190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19" b="1" i="0">
                <a:solidFill>
                  <a:srgbClr val="8B5CF6"/>
                </a:solidFill>
                <a:latin typeface="Segoe UI"/>
              </a:rPr>
              <a:t>BUILD &amp; CODE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06040" y="2697480"/>
            <a:ext cx="1664208" cy="749808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2724912" y="2862072"/>
            <a:ext cx="256032" cy="256032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063240" y="2807208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Segoe UI"/>
              </a:rPr>
              <a:t>GitHub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24912" y="3081528"/>
            <a:ext cx="12984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B8D0EC"/>
                </a:solidFill>
                <a:latin typeface="Segoe UI"/>
              </a:rPr>
              <a:t>Branches, PRs, reviews, evidence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606040" y="3703320"/>
            <a:ext cx="1664208" cy="749808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Oval 40"/>
          <p:cNvSpPr/>
          <p:nvPr/>
        </p:nvSpPr>
        <p:spPr>
          <a:xfrm>
            <a:off x="2724912" y="3867912"/>
            <a:ext cx="256032" cy="256032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3063240" y="3813048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Segoe UI"/>
              </a:rPr>
              <a:t>Copilot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724912" y="4087368"/>
            <a:ext cx="12984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B8D0EC"/>
                </a:solidFill>
                <a:latin typeface="Segoe UI"/>
              </a:rPr>
              <a:t>Patch suggestions and explanations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606040" y="4709160"/>
            <a:ext cx="1664208" cy="749808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Oval 44"/>
          <p:cNvSpPr/>
          <p:nvPr/>
        </p:nvSpPr>
        <p:spPr>
          <a:xfrm>
            <a:off x="2724912" y="4873752"/>
            <a:ext cx="256032" cy="256032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3063240" y="4818888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Segoe UI"/>
              </a:rPr>
              <a:t>PG3 Development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24912" y="5093208"/>
            <a:ext cx="12984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B8D0EC"/>
                </a:solidFill>
                <a:latin typeface="Segoe UI"/>
              </a:rPr>
              <a:t>RCA, guarded fix and PR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462272" y="3858768"/>
            <a:ext cx="155448" cy="54864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4617720" y="3803904"/>
            <a:ext cx="24688" cy="164592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4638294" y="3814191"/>
            <a:ext cx="21602" cy="144018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4658868" y="3824478"/>
            <a:ext cx="18516" cy="123444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4679442" y="3834765"/>
            <a:ext cx="15430" cy="10287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4700016" y="3845052"/>
            <a:ext cx="12344" cy="82296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4720590" y="3855339"/>
            <a:ext cx="9258" cy="61722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4741164" y="3865626"/>
            <a:ext cx="6172" cy="41148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4761738" y="3875913"/>
            <a:ext cx="3086" cy="20574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ounded Rectangle 56"/>
          <p:cNvSpPr/>
          <p:nvPr/>
        </p:nvSpPr>
        <p:spPr>
          <a:xfrm>
            <a:off x="4617720" y="1965960"/>
            <a:ext cx="1938528" cy="416052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ectangle 57"/>
          <p:cNvSpPr/>
          <p:nvPr/>
        </p:nvSpPr>
        <p:spPr>
          <a:xfrm>
            <a:off x="4617720" y="1965960"/>
            <a:ext cx="1938528" cy="5486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4727448" y="2121408"/>
            <a:ext cx="17190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19" b="1" i="0">
                <a:solidFill>
                  <a:srgbClr val="FF8C00"/>
                </a:solidFill>
                <a:latin typeface="Segoe UI"/>
              </a:rPr>
              <a:t>ORCHESTRATE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754880" y="2697480"/>
            <a:ext cx="1664208" cy="749808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Oval 60"/>
          <p:cNvSpPr/>
          <p:nvPr/>
        </p:nvSpPr>
        <p:spPr>
          <a:xfrm>
            <a:off x="4873752" y="2862072"/>
            <a:ext cx="256032" cy="256032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5212080" y="2807208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Segoe UI"/>
              </a:rPr>
              <a:t>Atlassian MCP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73752" y="3081528"/>
            <a:ext cx="12984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B8D0EC"/>
                </a:solidFill>
                <a:latin typeface="Segoe UI"/>
              </a:rPr>
              <a:t>Jira + Confluence actions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754880" y="3703320"/>
            <a:ext cx="1664208" cy="749808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Oval 64"/>
          <p:cNvSpPr/>
          <p:nvPr/>
        </p:nvSpPr>
        <p:spPr>
          <a:xfrm>
            <a:off x="4873752" y="3867912"/>
            <a:ext cx="256032" cy="256032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5212080" y="3813048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Segoe UI"/>
              </a:rPr>
              <a:t>AEPLO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873752" y="4087368"/>
            <a:ext cx="12984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B8D0EC"/>
                </a:solidFill>
                <a:latin typeface="Segoe UI"/>
              </a:rPr>
              <a:t>Agent routing and PDLC knowledge graph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754880" y="4709160"/>
            <a:ext cx="1664208" cy="749808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Oval 68"/>
          <p:cNvSpPr/>
          <p:nvPr/>
        </p:nvSpPr>
        <p:spPr>
          <a:xfrm>
            <a:off x="4873752" y="4873752"/>
            <a:ext cx="256032" cy="256032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5212080" y="4818888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Segoe UI"/>
              </a:rPr>
              <a:t>ROVO Studio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873752" y="5093208"/>
            <a:ext cx="12984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B8D0EC"/>
                </a:solidFill>
                <a:latin typeface="Segoe UI"/>
              </a:rPr>
              <a:t>NPI demo cockpit and AI experience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611112" y="3858768"/>
            <a:ext cx="155448" cy="54864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Rectangle 72"/>
          <p:cNvSpPr/>
          <p:nvPr/>
        </p:nvSpPr>
        <p:spPr>
          <a:xfrm>
            <a:off x="6766560" y="3803904"/>
            <a:ext cx="24688" cy="164592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Rectangle 73"/>
          <p:cNvSpPr/>
          <p:nvPr/>
        </p:nvSpPr>
        <p:spPr>
          <a:xfrm>
            <a:off x="6787134" y="3814191"/>
            <a:ext cx="21602" cy="144018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ectangle 74"/>
          <p:cNvSpPr/>
          <p:nvPr/>
        </p:nvSpPr>
        <p:spPr>
          <a:xfrm>
            <a:off x="6807708" y="3824478"/>
            <a:ext cx="18516" cy="123444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Rectangle 75"/>
          <p:cNvSpPr/>
          <p:nvPr/>
        </p:nvSpPr>
        <p:spPr>
          <a:xfrm>
            <a:off x="6828282" y="3834765"/>
            <a:ext cx="15430" cy="10287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ectangle 76"/>
          <p:cNvSpPr/>
          <p:nvPr/>
        </p:nvSpPr>
        <p:spPr>
          <a:xfrm>
            <a:off x="6848856" y="3845052"/>
            <a:ext cx="12344" cy="82296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Rectangle 77"/>
          <p:cNvSpPr/>
          <p:nvPr/>
        </p:nvSpPr>
        <p:spPr>
          <a:xfrm>
            <a:off x="6869430" y="3855339"/>
            <a:ext cx="9258" cy="61722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ectangle 78"/>
          <p:cNvSpPr/>
          <p:nvPr/>
        </p:nvSpPr>
        <p:spPr>
          <a:xfrm>
            <a:off x="6890004" y="3865626"/>
            <a:ext cx="6172" cy="41148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Rectangle 79"/>
          <p:cNvSpPr/>
          <p:nvPr/>
        </p:nvSpPr>
        <p:spPr>
          <a:xfrm>
            <a:off x="6910578" y="3875913"/>
            <a:ext cx="3086" cy="20574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Rounded Rectangle 80"/>
          <p:cNvSpPr/>
          <p:nvPr/>
        </p:nvSpPr>
        <p:spPr>
          <a:xfrm>
            <a:off x="6766560" y="1965960"/>
            <a:ext cx="1938528" cy="416052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Rectangle 81"/>
          <p:cNvSpPr/>
          <p:nvPr/>
        </p:nvSpPr>
        <p:spPr>
          <a:xfrm>
            <a:off x="6766560" y="1965960"/>
            <a:ext cx="1938528" cy="54864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6876288" y="2121408"/>
            <a:ext cx="17190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19" b="1" i="0">
                <a:solidFill>
                  <a:srgbClr val="00D48A"/>
                </a:solidFill>
                <a:latin typeface="Segoe UI"/>
              </a:rPr>
              <a:t>VALIDATE &amp; LAUNCH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903720" y="2697480"/>
            <a:ext cx="1664208" cy="749808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Oval 84"/>
          <p:cNvSpPr/>
          <p:nvPr/>
        </p:nvSpPr>
        <p:spPr>
          <a:xfrm>
            <a:off x="7022592" y="2862072"/>
            <a:ext cx="256032" cy="256032"/>
          </a:xfrm>
          <a:prstGeom prst="ellipse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7360920" y="2807208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Segoe UI"/>
              </a:rPr>
              <a:t>JTAG Accelerator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022592" y="3081528"/>
            <a:ext cx="12984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B8D0EC"/>
                </a:solidFill>
                <a:latin typeface="Segoe UI"/>
              </a:rPr>
              <a:t>MCU register, memory and probe evidence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6903720" y="3703320"/>
            <a:ext cx="1664208" cy="749808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Oval 88"/>
          <p:cNvSpPr/>
          <p:nvPr/>
        </p:nvSpPr>
        <p:spPr>
          <a:xfrm>
            <a:off x="7022592" y="3867912"/>
            <a:ext cx="256032" cy="256032"/>
          </a:xfrm>
          <a:prstGeom prst="ellipse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7360920" y="3813048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Segoe UI"/>
              </a:rPr>
              <a:t>Release Gate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022592" y="4087368"/>
            <a:ext cx="12984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B8D0EC"/>
                </a:solidFill>
                <a:latin typeface="Segoe UI"/>
              </a:rPr>
              <a:t>READY / NOT_READY with action list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6903720" y="4709160"/>
            <a:ext cx="1664208" cy="749808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Oval 92"/>
          <p:cNvSpPr/>
          <p:nvPr/>
        </p:nvSpPr>
        <p:spPr>
          <a:xfrm>
            <a:off x="7022592" y="4873752"/>
            <a:ext cx="256032" cy="256032"/>
          </a:xfrm>
          <a:prstGeom prst="ellipse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TextBox 93"/>
          <p:cNvSpPr txBox="1"/>
          <p:nvPr/>
        </p:nvSpPr>
        <p:spPr>
          <a:xfrm>
            <a:off x="7360920" y="4818888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Segoe UI"/>
              </a:rPr>
              <a:t>PG5 Launch Prep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022592" y="5093208"/>
            <a:ext cx="12984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B8D0EC"/>
                </a:solidFill>
                <a:latin typeface="Segoe UI"/>
              </a:rPr>
              <a:t>Validation proof and governance pack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320040" y="6355080"/>
            <a:ext cx="8503920" cy="310896"/>
          </a:xfrm>
          <a:prstGeom prst="round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502920" y="6391656"/>
            <a:ext cx="81381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69" b="1" i="0">
                <a:solidFill>
                  <a:srgbClr val="00D48A"/>
                </a:solidFill>
                <a:latin typeface="Segoe UI"/>
              </a:rPr>
              <a:t>COMMON IDEA: AEPLO connects enterprise collaboration tools with embedded hardware evidence to optimise NPI gate decisions.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080A8"/>
                </a:solidFill>
                <a:latin typeface="Segoe UI"/>
              </a:rPr>
              <a:t>5  / 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2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PG1 DISCOVERY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PG1 Discovery — AI Risk &amp; Scope Optimisation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B8D0EC"/>
                </a:solidFill>
                <a:latin typeface="Segoe UI"/>
              </a:rPr>
              <a:t>AEPLO starts before coding: it connects PRD content, Jira themes, Confluence context, GitHub history and target-board data to shape a risk-backed embedded demo plan.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" y="3296412"/>
            <a:ext cx="8449056" cy="27432"/>
          </a:xfrm>
          <a:prstGeom prst="rect">
            <a:avLst/>
          </a:prstGeom>
          <a:solidFill>
            <a:srgbClr val="0828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347472" y="2011680"/>
            <a:ext cx="2633472" cy="4133087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47472" y="2011680"/>
            <a:ext cx="2633472" cy="4572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280160" y="2926080"/>
            <a:ext cx="768096" cy="768096"/>
          </a:xfrm>
          <a:prstGeom prst="ellipse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280160" y="2926080"/>
            <a:ext cx="768096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7520" y="3295498"/>
            <a:ext cx="18288" cy="2926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043123" y="3295498"/>
            <a:ext cx="18288" cy="2926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068726" y="3295498"/>
            <a:ext cx="18288" cy="2926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094329" y="3295498"/>
            <a:ext cx="18288" cy="2926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119932" y="3295498"/>
            <a:ext cx="18288" cy="2926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3145535" y="3295498"/>
            <a:ext cx="18288" cy="2926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47472" y="2148840"/>
            <a:ext cx="26334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A89A"/>
                </a:solidFill>
                <a:latin typeface="Segoe UI"/>
              </a:rPr>
              <a:t>COLLECT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" y="2578608"/>
            <a:ext cx="26334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NPI + Embedded Context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2064" y="2999232"/>
            <a:ext cx="2304288" cy="1463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12064" y="3127248"/>
            <a:ext cx="2304288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8D0EC"/>
                </a:solidFill>
                <a:latin typeface="Segoe UI"/>
              </a:rPr>
              <a:t>Ingests PRD, Jira epics, Confluence architecture notes, GitHub defect history and target-board assumptions.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00400" y="2011680"/>
            <a:ext cx="2633472" cy="4133087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3200400" y="2011680"/>
            <a:ext cx="2633472" cy="45720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4133088" y="2926080"/>
            <a:ext cx="768096" cy="768096"/>
          </a:xfrm>
          <a:prstGeom prst="ellipse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133088" y="2926080"/>
            <a:ext cx="768096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870448" y="3295498"/>
            <a:ext cx="18288" cy="2926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5896051" y="3295498"/>
            <a:ext cx="18288" cy="2926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5921654" y="3295498"/>
            <a:ext cx="18288" cy="2926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5947257" y="3295498"/>
            <a:ext cx="18288" cy="2926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5972860" y="3295498"/>
            <a:ext cx="18288" cy="2926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5998463" y="3295498"/>
            <a:ext cx="18288" cy="2926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200400" y="2148840"/>
            <a:ext cx="26334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72C6"/>
                </a:solidFill>
                <a:latin typeface="Segoe UI"/>
              </a:rPr>
              <a:t>MAP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2578608"/>
            <a:ext cx="26334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PDLC Risk &amp; Traceability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364992" y="2999232"/>
            <a:ext cx="2304288" cy="14630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364992" y="3127248"/>
            <a:ext cx="2304288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8D0EC"/>
                </a:solidFill>
                <a:latin typeface="Segoe UI"/>
              </a:rPr>
              <a:t>Builds a lifecycle graph from requirements to code areas, tests, JTAG debug hotspots and validation evidence needs.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053328" y="2011680"/>
            <a:ext cx="2633472" cy="4133087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6053328" y="2011680"/>
            <a:ext cx="2633472" cy="4572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6986016" y="2926080"/>
            <a:ext cx="768096" cy="768096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986016" y="2926080"/>
            <a:ext cx="768096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53328" y="2148840"/>
            <a:ext cx="26334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8C00"/>
                </a:solidFill>
                <a:latin typeface="Segoe UI"/>
              </a:rPr>
              <a:t>PLAN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53328" y="2578608"/>
            <a:ext cx="26334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PG1 Demo Readiness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17919" y="2999232"/>
            <a:ext cx="2304288" cy="1463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217920" y="3127248"/>
            <a:ext cx="2304288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8D0EC"/>
                </a:solidFill>
                <a:latin typeface="Segoe UI"/>
              </a:rPr>
              <a:t>Produces a risk-backed demo scope, board setup checklist, debug scenario and PG3 development entry criteria.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080A8"/>
                </a:solidFill>
                <a:latin typeface="Segoe UI"/>
              </a:rPr>
              <a:t>6  / 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2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PG3 DEVELOPMENT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PG3 Development — AEPLO JTAG Accelerator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B8D0EC"/>
                </a:solidFill>
                <a:latin typeface="Segoe UI"/>
              </a:rPr>
              <a:t>Inside AEPLO, the JTAG Accelerator converts embedded coding defects into hardware-backed RCA, controlled code fixes, GitHub PRs and Jira evidence.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993392"/>
            <a:ext cx="1965960" cy="192024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1993392"/>
            <a:ext cx="1965960" cy="45720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046988" y="2212848"/>
            <a:ext cx="512064" cy="512064"/>
          </a:xfrm>
          <a:prstGeom prst="ellipse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46988" y="2212848"/>
            <a:ext cx="51206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2852928"/>
            <a:ext cx="17465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072C6"/>
                </a:solidFill>
                <a:latin typeface="Segoe UI"/>
              </a:rPr>
              <a:t>JIRA / CONFLUENCE CONTEXT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" y="3273552"/>
            <a:ext cx="170992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B8D0EC"/>
                </a:solidFill>
                <a:latin typeface="Segoe UI"/>
              </a:rPr>
              <a:t>Bug, requirement, architecture note and PG3 acceptance criteria define the work.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59152" y="2763774"/>
            <a:ext cx="314919" cy="50292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2578608" y="2660904"/>
            <a:ext cx="13716" cy="256032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2592324" y="2671572"/>
            <a:ext cx="13716" cy="23469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2606040" y="2682240"/>
            <a:ext cx="13716" cy="21336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2619756" y="2692908"/>
            <a:ext cx="13716" cy="19202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2633472" y="2703576"/>
            <a:ext cx="13716" cy="17068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2647188" y="2714244"/>
            <a:ext cx="13716" cy="149351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2660904" y="2724912"/>
            <a:ext cx="13716" cy="12801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2674620" y="2735580"/>
            <a:ext cx="13716" cy="106679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2688336" y="2746248"/>
            <a:ext cx="13716" cy="8534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2702052" y="2756916"/>
            <a:ext cx="13716" cy="6400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2715768" y="2767584"/>
            <a:ext cx="13716" cy="42671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2729484" y="2778252"/>
            <a:ext cx="13716" cy="2133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2496312" y="1993392"/>
            <a:ext cx="1965960" cy="192024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2496312" y="1993392"/>
            <a:ext cx="1965960" cy="4572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3223260" y="2212848"/>
            <a:ext cx="512064" cy="512064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223260" y="2212848"/>
            <a:ext cx="51206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606040" y="2852928"/>
            <a:ext cx="17465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8C00"/>
                </a:solidFill>
                <a:latin typeface="Segoe UI"/>
              </a:rPr>
              <a:t>JTAG ORCHESTRATOR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24328" y="3273552"/>
            <a:ext cx="170992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B8D0EC"/>
                </a:solidFill>
                <a:latin typeface="Segoe UI"/>
              </a:rPr>
              <a:t>Routes requests across AEPLO, IDE, J-Link probe and target MCU session.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35424" y="2763774"/>
            <a:ext cx="314919" cy="50292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4754880" y="2660904"/>
            <a:ext cx="13716" cy="256032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4768596" y="2671572"/>
            <a:ext cx="13716" cy="23469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4782312" y="2682240"/>
            <a:ext cx="13716" cy="21336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4796028" y="2692908"/>
            <a:ext cx="13716" cy="19202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4809744" y="2703576"/>
            <a:ext cx="13716" cy="17068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4823460" y="2714244"/>
            <a:ext cx="13716" cy="149351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4837176" y="2724912"/>
            <a:ext cx="13716" cy="12801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4850892" y="2735580"/>
            <a:ext cx="13716" cy="106679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4864608" y="2746248"/>
            <a:ext cx="13716" cy="8534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4878324" y="2756916"/>
            <a:ext cx="13716" cy="6400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4892040" y="2767584"/>
            <a:ext cx="13716" cy="42671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4905756" y="2778252"/>
            <a:ext cx="13716" cy="2133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4672583" y="1993392"/>
            <a:ext cx="1965960" cy="192024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4672583" y="1993392"/>
            <a:ext cx="1965960" cy="457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5399531" y="2212848"/>
            <a:ext cx="512064" cy="512064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5399531" y="2212848"/>
            <a:ext cx="51206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782311" y="2852928"/>
            <a:ext cx="17465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8B5CF6"/>
                </a:solidFill>
                <a:latin typeface="Segoe UI"/>
              </a:rPr>
              <a:t>SPECIALIST AGENTS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800599" y="3273552"/>
            <a:ext cx="170992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B8D0EC"/>
                </a:solidFill>
                <a:latin typeface="Segoe UI"/>
              </a:rPr>
              <a:t>Fault Analyzer, Variable Tracer, Peripheral Inspector and Memory Parser collaborate.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711695" y="2763774"/>
            <a:ext cx="314919" cy="50292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6931151" y="2660904"/>
            <a:ext cx="13716" cy="256032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6944867" y="2671572"/>
            <a:ext cx="13716" cy="23469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6958583" y="2682240"/>
            <a:ext cx="13716" cy="21336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6972299" y="2692908"/>
            <a:ext cx="13716" cy="19202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ectangle 57"/>
          <p:cNvSpPr/>
          <p:nvPr/>
        </p:nvSpPr>
        <p:spPr>
          <a:xfrm>
            <a:off x="6986015" y="2703576"/>
            <a:ext cx="13716" cy="17068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6999731" y="2714244"/>
            <a:ext cx="13716" cy="149351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/>
          <p:cNvSpPr/>
          <p:nvPr/>
        </p:nvSpPr>
        <p:spPr>
          <a:xfrm>
            <a:off x="7013447" y="2724912"/>
            <a:ext cx="13716" cy="12801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60"/>
          <p:cNvSpPr/>
          <p:nvPr/>
        </p:nvSpPr>
        <p:spPr>
          <a:xfrm>
            <a:off x="7027163" y="2735580"/>
            <a:ext cx="13716" cy="106679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ectangle 61"/>
          <p:cNvSpPr/>
          <p:nvPr/>
        </p:nvSpPr>
        <p:spPr>
          <a:xfrm>
            <a:off x="7040879" y="2746248"/>
            <a:ext cx="13716" cy="8534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/>
          <p:cNvSpPr/>
          <p:nvPr/>
        </p:nvSpPr>
        <p:spPr>
          <a:xfrm>
            <a:off x="7054595" y="2756916"/>
            <a:ext cx="13716" cy="6400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Rectangle 63"/>
          <p:cNvSpPr/>
          <p:nvPr/>
        </p:nvSpPr>
        <p:spPr>
          <a:xfrm>
            <a:off x="7068311" y="2767584"/>
            <a:ext cx="13716" cy="42671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ectangle 64"/>
          <p:cNvSpPr/>
          <p:nvPr/>
        </p:nvSpPr>
        <p:spPr>
          <a:xfrm>
            <a:off x="7082027" y="2778252"/>
            <a:ext cx="13716" cy="2133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ounded Rectangle 65"/>
          <p:cNvSpPr/>
          <p:nvPr/>
        </p:nvSpPr>
        <p:spPr>
          <a:xfrm>
            <a:off x="6848855" y="1993392"/>
            <a:ext cx="1965960" cy="192024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ectangle 66"/>
          <p:cNvSpPr/>
          <p:nvPr/>
        </p:nvSpPr>
        <p:spPr>
          <a:xfrm>
            <a:off x="6848855" y="1993392"/>
            <a:ext cx="1965960" cy="45720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Oval 67"/>
          <p:cNvSpPr/>
          <p:nvPr/>
        </p:nvSpPr>
        <p:spPr>
          <a:xfrm>
            <a:off x="7575803" y="2212848"/>
            <a:ext cx="512064" cy="512064"/>
          </a:xfrm>
          <a:prstGeom prst="ellipse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7575803" y="2212848"/>
            <a:ext cx="51206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04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958583" y="2852928"/>
            <a:ext cx="17465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0D48A"/>
                </a:solidFill>
                <a:latin typeface="Segoe UI"/>
              </a:rPr>
              <a:t>CONTROLLED AUTO-FIX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976871" y="3273552"/>
            <a:ext cx="170992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B8D0EC"/>
                </a:solidFill>
                <a:latin typeface="Segoe UI"/>
              </a:rPr>
              <a:t>Copilot-assisted patch becomes a GitHub branch, PR and review-ready Jira update.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320040" y="4224528"/>
            <a:ext cx="8503920" cy="914400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Rectangle 72"/>
          <p:cNvSpPr/>
          <p:nvPr/>
        </p:nvSpPr>
        <p:spPr>
          <a:xfrm>
            <a:off x="320040" y="4224528"/>
            <a:ext cx="45720" cy="9144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502920" y="431596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8C00"/>
                </a:solidFill>
                <a:latin typeface="Segoe UI"/>
              </a:rPr>
              <a:t>PHYSICAL DEBUG EVIDENCE LANE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02920" y="4645152"/>
            <a:ext cx="8092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8D0EC"/>
                </a:solidFill>
                <a:latin typeface="Segoe UI"/>
              </a:rPr>
              <a:t>Target MCU: STM32 / Cortex-M  |  Interface: JTAG/SWD  |  Evidence: HardFault registers, stack frames, memory dumps, peripheral state, probe logs and GitHub PR links.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320040" y="5394960"/>
            <a:ext cx="2697480" cy="86868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ectangle 76"/>
          <p:cNvSpPr/>
          <p:nvPr/>
        </p:nvSpPr>
        <p:spPr>
          <a:xfrm>
            <a:off x="320040" y="5394960"/>
            <a:ext cx="45720" cy="86868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448056" y="5468112"/>
            <a:ext cx="24505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0A89A"/>
                </a:solidFill>
                <a:latin typeface="Segoe UI"/>
              </a:rPr>
              <a:t>Faster RCA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48056" y="5760720"/>
            <a:ext cx="24505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30" b="0" i="0">
                <a:solidFill>
                  <a:srgbClr val="B8D0EC"/>
                </a:solidFill>
                <a:latin typeface="Segoe UI"/>
              </a:rPr>
              <a:t>Days of manual setup become guided ROVO/Copilot actions.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3200400" y="5394960"/>
            <a:ext cx="2697480" cy="86868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Rectangle 80"/>
          <p:cNvSpPr/>
          <p:nvPr/>
        </p:nvSpPr>
        <p:spPr>
          <a:xfrm>
            <a:off x="3200400" y="5394960"/>
            <a:ext cx="45720" cy="868680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3328416" y="5468112"/>
            <a:ext cx="24505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072C6"/>
                </a:solidFill>
                <a:latin typeface="Segoe UI"/>
              </a:rPr>
              <a:t>Traceable Fixes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328416" y="5760720"/>
            <a:ext cx="24505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30" b="0" i="0">
                <a:solidFill>
                  <a:srgbClr val="B8D0EC"/>
                </a:solidFill>
                <a:latin typeface="Segoe UI"/>
              </a:rPr>
              <a:t>Every patch links Jira, Confluence, GitHub and hardware evidence.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080759" y="5394960"/>
            <a:ext cx="2697480" cy="86868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Rectangle 84"/>
          <p:cNvSpPr/>
          <p:nvPr/>
        </p:nvSpPr>
        <p:spPr>
          <a:xfrm>
            <a:off x="6080759" y="5394960"/>
            <a:ext cx="45720" cy="868680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6208775" y="5468112"/>
            <a:ext cx="24505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0D48A"/>
                </a:solidFill>
                <a:latin typeface="Segoe UI"/>
              </a:rPr>
              <a:t>PG3 Ready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208775" y="5760720"/>
            <a:ext cx="24505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30" b="0" i="0">
                <a:solidFill>
                  <a:srgbClr val="B8D0EC"/>
                </a:solidFill>
                <a:latin typeface="Segoe UI"/>
              </a:rPr>
              <a:t>Validated fixes flow into PG5 launch preparation gates.</a:t>
            </a:r>
          </a:p>
        </p:txBody>
      </p:sp>
      <p:sp>
        <p:nvSpPr>
          <p:cNvPr id="88" name="Rectangle 87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080A8"/>
                </a:solidFill>
                <a:latin typeface="Segoe UI"/>
              </a:rPr>
              <a:t>7  / 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2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PG5 VALIDATION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Segoe UI"/>
              </a:rPr>
              <a:t>PG5 Validation &amp; Launch Preparation Gatekeeper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B8D0EC"/>
                </a:solidFill>
                <a:latin typeface="Segoe UI"/>
              </a:rPr>
              <a:t>AEPLO evaluates launch readiness using code, QA, traceability and JTAG/SWD evidence. The outcome is an unambiguous gate verdict with action-ready remediation.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2011680"/>
            <a:ext cx="5029200" cy="1353312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2011680"/>
            <a:ext cx="50292" cy="1353312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75488" y="2395728"/>
            <a:ext cx="502920" cy="502920"/>
          </a:xfrm>
          <a:prstGeom prst="round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75488" y="239572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2084832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48A"/>
                </a:solidFill>
                <a:latin typeface="Segoe UI"/>
              </a:rPr>
              <a:t>Validates PG5
Launch Readiness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2606040"/>
            <a:ext cx="4069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8D0EC"/>
                </a:solidFill>
                <a:latin typeface="Segoe UI"/>
              </a:rPr>
              <a:t>Coverage, static analysis, regression status, traceability, hardware proof and launch evidence are checked together.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" y="3520440"/>
            <a:ext cx="5029200" cy="1353312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20040" y="3520440"/>
            <a:ext cx="50292" cy="1353312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475488" y="3904488"/>
            <a:ext cx="502920" cy="502920"/>
          </a:xfrm>
          <a:prstGeom prst="round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75488" y="390448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egoe UI"/>
              </a:rPr>
              <a:t>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" y="3593592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72C6"/>
                </a:solidFill>
                <a:latin typeface="Segoe UI"/>
              </a:rPr>
              <a:t>Structured Verdict:
READY / NOT_READY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4114800"/>
            <a:ext cx="4069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8D0EC"/>
                </a:solidFill>
                <a:latin typeface="Segoe UI"/>
              </a:rPr>
              <a:t>Binary, unambiguous gate decision with confidence score, Jira evidence summary and GitHub PR links.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0040" y="5029200"/>
            <a:ext cx="5029200" cy="1353312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320040" y="5029200"/>
            <a:ext cx="50292" cy="1353312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475488" y="5413248"/>
            <a:ext cx="502920" cy="502920"/>
          </a:xfrm>
          <a:prstGeom prst="round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75488" y="541324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egoe UI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" y="5102352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8C00"/>
                </a:solidFill>
                <a:latin typeface="Segoe UI"/>
              </a:rPr>
              <a:t>Clear Remediation
Actions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" y="5623560"/>
            <a:ext cx="4069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8D0EC"/>
                </a:solidFill>
                <a:latin typeface="Segoe UI"/>
              </a:rPr>
              <a:t>Every NOT_READY verdict includes a prioritized action list: which test, fix, evidence or launch artefact must be updated.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23560" y="1965960"/>
            <a:ext cx="3182112" cy="4498848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5623560" y="1965960"/>
            <a:ext cx="3182112" cy="50292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623560" y="2029968"/>
            <a:ext cx="31821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72C6"/>
                </a:solidFill>
                <a:latin typeface="Segoe UI"/>
              </a:rPr>
              <a:t>RELEASE GATE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23560" y="2423160"/>
            <a:ext cx="3182112" cy="14630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5824728" y="2542032"/>
            <a:ext cx="2779776" cy="1536192"/>
          </a:xfrm>
          <a:prstGeom prst="roundRect">
            <a:avLst/>
          </a:prstGeom>
          <a:solidFill>
            <a:srgbClr val="022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5824728" y="2542032"/>
            <a:ext cx="2779776" cy="45720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6629400" y="2706624"/>
            <a:ext cx="621792" cy="621792"/>
          </a:xfrm>
          <a:prstGeom prst="ellipse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629400" y="2706624"/>
            <a:ext cx="62179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87768" y="2743200"/>
            <a:ext cx="1234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D48A"/>
                </a:solidFill>
                <a:latin typeface="Segoe UI"/>
              </a:rPr>
              <a:t>READY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79592" y="3246120"/>
            <a:ext cx="2651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D0EC"/>
                </a:solidFill>
                <a:latin typeface="Segoe UI"/>
              </a:rPr>
              <a:t>All gates passed.
Cleared for release.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824728" y="4224528"/>
            <a:ext cx="2779776" cy="1536192"/>
          </a:xfrm>
          <a:prstGeom prst="roundRect">
            <a:avLst/>
          </a:prstGeom>
          <a:solidFill>
            <a:srgbClr val="2808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5824728" y="4224528"/>
            <a:ext cx="2779776" cy="45720"/>
          </a:xfrm>
          <a:prstGeom prst="rect">
            <a:avLst/>
          </a:prstGeom>
          <a:solidFill>
            <a:srgbClr val="FF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6629400" y="4389120"/>
            <a:ext cx="621792" cy="621792"/>
          </a:xfrm>
          <a:prstGeom prst="ellipse">
            <a:avLst/>
          </a:prstGeom>
          <a:solidFill>
            <a:srgbClr val="FF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629400" y="4389120"/>
            <a:ext cx="62179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Segoe UI"/>
              </a:rPr>
              <a:t>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87768" y="4425696"/>
            <a:ext cx="1417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3A3A"/>
                </a:solidFill>
                <a:latin typeface="Segoe UI"/>
              </a:rPr>
              <a:t>NOT READY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79592" y="4937760"/>
            <a:ext cx="2651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D0EC"/>
                </a:solidFill>
                <a:latin typeface="Segoe UI"/>
              </a:rPr>
              <a:t>3 blockers found.
See remediation list.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080A8"/>
                </a:solidFill>
                <a:latin typeface="Segoe UI"/>
              </a:rPr>
              <a:t>8  / 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2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QA2RELEASE INTELLIGENCE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QA2Release Intelligence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B8D0EC"/>
                </a:solidFill>
                <a:latin typeface="Segoe UI"/>
              </a:rPr>
              <a:t>Creates a closed-loop embedded PDLC: QA results and JTAG evidence drive root-cause analysis, test optimisation and next-release learning.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834640"/>
            <a:ext cx="36576" cy="70408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347472" y="2231136"/>
            <a:ext cx="621792" cy="621792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47472" y="2231136"/>
            <a:ext cx="62179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029968"/>
            <a:ext cx="7662672" cy="1353312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1143000" y="2029968"/>
            <a:ext cx="45720" cy="135331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298448" y="2103120"/>
            <a:ext cx="7132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8B5CF6"/>
                </a:solidFill>
                <a:latin typeface="Segoe UI"/>
              </a:rPr>
              <a:t>Analyze QA Failures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2523744"/>
            <a:ext cx="713232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8D0EC"/>
                </a:solidFill>
                <a:latin typeface="Segoe UI"/>
              </a:rPr>
              <a:t>All QA failures and hardware evidence are ingested — unit, integration, HIL, system tests, JTAG registers and probe logs are mapped together.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4343400"/>
            <a:ext cx="36576" cy="704088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347472" y="3739896"/>
            <a:ext cx="621792" cy="621792"/>
          </a:xfrm>
          <a:prstGeom prst="ellipse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47472" y="3739896"/>
            <a:ext cx="62179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43000" y="3538728"/>
            <a:ext cx="7662672" cy="1353312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1143000" y="3538728"/>
            <a:ext cx="45720" cy="1353312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298448" y="3611880"/>
            <a:ext cx="7132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72C6"/>
                </a:solidFill>
                <a:latin typeface="Segoe UI"/>
              </a:rPr>
              <a:t>Extract Root Causes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98448" y="4032504"/>
            <a:ext cx="713232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8D0EC"/>
                </a:solidFill>
                <a:latin typeface="Segoe UI"/>
              </a:rPr>
              <a:t>AI correlates failures with commits, Jira issues, Confluence decisions, RTOS timing deltas and JTAG/SWD evidence. Root causes are ranked by confidence.</a:t>
            </a:r>
          </a:p>
        </p:txBody>
      </p:sp>
      <p:sp>
        <p:nvSpPr>
          <p:cNvPr id="23" name="Oval 22"/>
          <p:cNvSpPr/>
          <p:nvPr/>
        </p:nvSpPr>
        <p:spPr>
          <a:xfrm>
            <a:off x="347472" y="5248656"/>
            <a:ext cx="621792" cy="621792"/>
          </a:xfrm>
          <a:prstGeom prst="ellipse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47472" y="5248656"/>
            <a:ext cx="62179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143000" y="5047488"/>
            <a:ext cx="7662672" cy="1353312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1143000" y="5047488"/>
            <a:ext cx="45720" cy="1353312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298448" y="5120640"/>
            <a:ext cx="7132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D48A"/>
                </a:solidFill>
                <a:latin typeface="Segoe UI"/>
              </a:rPr>
              <a:t>Generate Next-Release Improvements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98448" y="5541264"/>
            <a:ext cx="713232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8D0EC"/>
                </a:solidFill>
                <a:latin typeface="Segoe UI"/>
              </a:rPr>
              <a:t>Automated improvement tickets are raised with code suggestions, test additions, coverage targets and launch-prep actions for the next NPI cycle.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20040" y="6400800"/>
            <a:ext cx="8503920" cy="310896"/>
          </a:xfrm>
          <a:prstGeom prst="round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320040" y="6400800"/>
            <a:ext cx="45720" cy="31089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02920" y="6400800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8B5CF6"/>
                </a:solidFill>
                <a:latin typeface="Segoe UI"/>
              </a:rPr>
              <a:t>CLOSED-LOOP LIFECYCLE: QA → Root Cause → Next Release Plan → Better QA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080A8"/>
                </a:solidFill>
                <a:latin typeface="Segoe UI"/>
              </a:rPr>
              <a:t>9  / 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2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DEMO 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Demo Flow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B8D0EC"/>
                </a:solidFill>
                <a:latin typeface="Segoe UI"/>
              </a:rPr>
              <a:t>Live demonstration of how AEPLO executes the NPI gate pipeline from PG1 discovery through PG3 JTAG-accelerated development to PG5 validation and launch prep.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993392"/>
            <a:ext cx="2697480" cy="4279392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1993392"/>
            <a:ext cx="2697480" cy="4572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84632" y="2103120"/>
            <a:ext cx="1188720" cy="256032"/>
          </a:xfrm>
          <a:prstGeom prst="round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84632" y="2103120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STAGE 1</a:t>
            </a:r>
          </a:p>
        </p:txBody>
      </p:sp>
      <p:sp>
        <p:nvSpPr>
          <p:cNvPr id="13" name="Oval 12"/>
          <p:cNvSpPr/>
          <p:nvPr/>
        </p:nvSpPr>
        <p:spPr>
          <a:xfrm>
            <a:off x="1284732" y="2487168"/>
            <a:ext cx="768096" cy="768096"/>
          </a:xfrm>
          <a:prstGeom prst="ellipse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284732" y="2487168"/>
            <a:ext cx="768096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Segoe UI"/>
              </a:rPr>
              <a:t>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401568"/>
            <a:ext cx="2423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A89A"/>
                </a:solidFill>
                <a:latin typeface="Segoe UI"/>
              </a:rPr>
              <a:t>PG1 → Discovery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4632" y="3913632"/>
            <a:ext cx="2368296" cy="1463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2920" y="4005072"/>
            <a:ext cx="23317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8D0EC"/>
                </a:solidFill>
                <a:latin typeface="Segoe UI"/>
              </a:rPr>
              <a:t>• ROVO Studio cockpit opens NPI scenario
• Jira + Confluence + GitHub context ingested
• AEPLO maps embedded PDLC risks
• Demo scope and board setup are generated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054096" y="4114800"/>
            <a:ext cx="22860" cy="2286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3088843" y="4114800"/>
            <a:ext cx="22860" cy="2286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3123590" y="4114800"/>
            <a:ext cx="22860" cy="2286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3158337" y="4114800"/>
            <a:ext cx="22860" cy="2286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3193084" y="4114800"/>
            <a:ext cx="22860" cy="2286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3200400" y="1993392"/>
            <a:ext cx="2697480" cy="4279392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3200400" y="1993392"/>
            <a:ext cx="2697480" cy="45720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3364992" y="2103120"/>
            <a:ext cx="1188720" cy="256032"/>
          </a:xfrm>
          <a:prstGeom prst="round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364992" y="2103120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STAGE 2</a:t>
            </a:r>
          </a:p>
        </p:txBody>
      </p:sp>
      <p:sp>
        <p:nvSpPr>
          <p:cNvPr id="27" name="Oval 26"/>
          <p:cNvSpPr/>
          <p:nvPr/>
        </p:nvSpPr>
        <p:spPr>
          <a:xfrm>
            <a:off x="4165092" y="2487168"/>
            <a:ext cx="768096" cy="768096"/>
          </a:xfrm>
          <a:prstGeom prst="ellipse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165092" y="2487168"/>
            <a:ext cx="768096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Segoe UI"/>
              </a:rPr>
              <a:t>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37560" y="3401568"/>
            <a:ext cx="2423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72C6"/>
                </a:solidFill>
                <a:latin typeface="Segoe UI"/>
              </a:rPr>
              <a:t>PG3 → Development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364992" y="3913632"/>
            <a:ext cx="2368296" cy="14630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383280" y="4005072"/>
            <a:ext cx="23317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8D0EC"/>
                </a:solidFill>
                <a:latin typeface="Segoe UI"/>
              </a:rPr>
              <a:t>• JTAG Accelerator attaches to target MCU
• Fault Analyzer captures register evidence
• Copilot proposes guarded fix
• GitHub PR links code and hardware proof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34456" y="4114800"/>
            <a:ext cx="22860" cy="2286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5969203" y="4114800"/>
            <a:ext cx="22860" cy="2286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003950" y="4114800"/>
            <a:ext cx="22860" cy="2286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038697" y="4114800"/>
            <a:ext cx="22860" cy="2286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073444" y="4114800"/>
            <a:ext cx="22860" cy="2286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6080759" y="1993392"/>
            <a:ext cx="2697480" cy="4279392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6080759" y="1993392"/>
            <a:ext cx="2697480" cy="457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6245351" y="2103120"/>
            <a:ext cx="1188720" cy="256032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245351" y="2103120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STAGE 3</a:t>
            </a:r>
          </a:p>
        </p:txBody>
      </p:sp>
      <p:sp>
        <p:nvSpPr>
          <p:cNvPr id="41" name="Oval 40"/>
          <p:cNvSpPr/>
          <p:nvPr/>
        </p:nvSpPr>
        <p:spPr>
          <a:xfrm>
            <a:off x="7045451" y="2487168"/>
            <a:ext cx="768096" cy="768096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045451" y="2487168"/>
            <a:ext cx="768096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Segoe UI"/>
              </a:rPr>
              <a:t>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17919" y="3401568"/>
            <a:ext cx="2423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8B5CF6"/>
                </a:solidFill>
                <a:latin typeface="Segoe UI"/>
              </a:rPr>
              <a:t>PG5 → Validation &amp; Launch Prep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45351" y="3913632"/>
            <a:ext cx="2368296" cy="1463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263639" y="4005072"/>
            <a:ext cx="23317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8D0EC"/>
                </a:solidFill>
                <a:latin typeface="Segoe UI"/>
              </a:rPr>
              <a:t>• QA and JTAG evidence feed Release Gate
• READY / NOT_READY verdict issued
• Jira actions and Confluence summary created
• Next NPI learning loop is updated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080A8"/>
                </a:solidFill>
                <a:latin typeface="Segoe UI"/>
              </a:rPr>
              <a:t>10  / 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2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BUSINESS OUTCOMES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Business Outcomes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B8D0EC"/>
                </a:solidFill>
                <a:latin typeface="Segoe UI"/>
              </a:rPr>
              <a:t>Measured outcomes for the Coding Embedded Workstream: connected platform data, hardware-backed debugging, AI optimisation and NPI gate confidence.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993392"/>
            <a:ext cx="4206240" cy="210312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1993392"/>
            <a:ext cx="4206240" cy="45720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502920" y="2176272"/>
            <a:ext cx="548640" cy="548640"/>
          </a:xfrm>
          <a:prstGeom prst="ellipse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2920" y="2176272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Segoe UI"/>
              </a:rPr>
              <a:t>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084832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"/>
              </a:rPr>
              <a:t>Reduced
Defect Leakage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066544"/>
            <a:ext cx="1143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600" b="1" i="0" dirty="0">
                <a:solidFill>
                  <a:srgbClr val="00D48A"/>
                </a:solidFill>
                <a:latin typeface="Segoe UI"/>
              </a:rPr>
              <a:t>60%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265176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D0EC"/>
                </a:solidFill>
                <a:latin typeface="Segoe UI"/>
              </a:rPr>
              <a:t>fewer post-release defects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4632" y="2651760"/>
            <a:ext cx="3877056" cy="14630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2920" y="2798064"/>
            <a:ext cx="3840480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8D0EC"/>
                </a:solidFill>
                <a:latin typeface="Segoe UI"/>
              </a:rPr>
              <a:t>ML defect prediction + auto-test generation eliminates the most common escape vectors before firmware ships.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54879" y="1993392"/>
            <a:ext cx="4206240" cy="210312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754879" y="1993392"/>
            <a:ext cx="4206240" cy="45720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4937759" y="2176272"/>
            <a:ext cx="548640" cy="548640"/>
          </a:xfrm>
          <a:prstGeom prst="ellipse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937759" y="2176272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Segoe UI"/>
              </a:rPr>
              <a:t>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23559" y="2084832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"/>
              </a:rPr>
              <a:t>Faster Firmware
RCA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35239" y="2066544"/>
            <a:ext cx="1143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400" b="1" i="0" dirty="0">
                <a:solidFill>
                  <a:srgbClr val="0072C6"/>
                </a:solidFill>
                <a:latin typeface="Segoe UI"/>
              </a:rPr>
              <a:t>&lt;30m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35239" y="265176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D0EC"/>
                </a:solidFill>
                <a:latin typeface="Segoe UI"/>
              </a:rPr>
              <a:t>from ticket to root cause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919471" y="2651760"/>
            <a:ext cx="3877056" cy="14630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937759" y="2798064"/>
            <a:ext cx="3840480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8D0EC"/>
                </a:solidFill>
                <a:latin typeface="Segoe UI"/>
              </a:rPr>
              <a:t>JTAG Orchestrator captures HardFault registers, stack frames and memory evidence without manual tool switching.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0040" y="4325112"/>
            <a:ext cx="4206240" cy="210312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320040" y="4325112"/>
            <a:ext cx="4206240" cy="4572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502920" y="4507992"/>
            <a:ext cx="548640" cy="54864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02920" y="4507992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Segoe UI"/>
              </a:rPr>
              <a:t>PG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8720" y="4416552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"/>
              </a:rPr>
              <a:t>NPI Gate
Confidence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4398264"/>
            <a:ext cx="1143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1" i="0" dirty="0">
                <a:solidFill>
                  <a:srgbClr val="FF8C00"/>
                </a:solidFill>
                <a:latin typeface="Segoe UI"/>
              </a:rPr>
              <a:t>PG1/3/5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00400" y="498348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D0EC"/>
                </a:solidFill>
                <a:latin typeface="Segoe UI"/>
              </a:rPr>
              <a:t>demo-ready decisions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" y="4983480"/>
            <a:ext cx="3877056" cy="1463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02920" y="5129784"/>
            <a:ext cx="3840480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8D0EC"/>
                </a:solidFill>
                <a:latin typeface="Segoe UI"/>
              </a:rPr>
              <a:t>AEPLO turns Discovery, Development and Validation evidence into clear decisions and action lists.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754879" y="4325112"/>
            <a:ext cx="4206240" cy="210312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4754879" y="4325112"/>
            <a:ext cx="4206240" cy="457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4937759" y="4507992"/>
            <a:ext cx="548640" cy="54864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937759" y="4507992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Segoe UI"/>
              </a:rPr>
              <a:t>⚡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23559" y="4416552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"/>
              </a:rPr>
              <a:t>Embedded PDLC
Optimisation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35239" y="4398264"/>
            <a:ext cx="1143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800" b="1" i="0">
                <a:solidFill>
                  <a:srgbClr val="8B5CF6"/>
                </a:solidFill>
                <a:latin typeface="Segoe UI"/>
              </a:rPr>
              <a:t>AI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35239" y="498348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D0EC"/>
                </a:solidFill>
                <a:latin typeface="Segoe UI"/>
              </a:rPr>
              <a:t>risk, test and fix focus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919471" y="4983480"/>
            <a:ext cx="3877056" cy="1463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4937759" y="5129784"/>
            <a:ext cx="3840480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8D0EC"/>
                </a:solidFill>
                <a:latin typeface="Segoe UI"/>
              </a:rPr>
              <a:t>ROVO Studio, Copilot and AEPLO agents optimise work across planning, coding, validation and launch preparation.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080A8"/>
                </a:solidFill>
                <a:latin typeface="Segoe UI"/>
              </a:rPr>
              <a:t>11  / 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2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EVALUATION MATRIX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Criteria &amp; Key Metric Focus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458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80" b="0" i="1">
                <a:solidFill>
                  <a:srgbClr val="B8D0EC"/>
                </a:solidFill>
                <a:latin typeface="Segoe UI"/>
              </a:rPr>
              <a:t>AEPLO JTAG Accelerator is positioned against the judging matrix with measurable stream value, platform readiness, live execution proof and agentic AI governance.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901952"/>
            <a:ext cx="8503920" cy="4187952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1901952"/>
            <a:ext cx="8503920" cy="50292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20040" y="1901952"/>
            <a:ext cx="3063240" cy="384048"/>
          </a:xfrm>
          <a:prstGeom prst="rect">
            <a:avLst/>
          </a:prstGeom>
          <a:solidFill>
            <a:srgbClr val="D7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383280" y="1901952"/>
            <a:ext cx="5440680" cy="384048"/>
          </a:xfrm>
          <a:prstGeom prst="rect">
            <a:avLst/>
          </a:prstGeom>
          <a:solidFill>
            <a:srgbClr val="D7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20040" y="1975104"/>
            <a:ext cx="3063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5142E"/>
                </a:solidFill>
                <a:latin typeface="Segoe UI"/>
              </a:rPr>
              <a:t>CRITERIA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1975104"/>
            <a:ext cx="54406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5142E"/>
                </a:solidFill>
                <a:latin typeface="Segoe UI"/>
              </a:rPr>
              <a:t>KEY METRIC FOCUS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2286000"/>
            <a:ext cx="3063240" cy="658368"/>
          </a:xfrm>
          <a:prstGeom prst="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383280" y="2286000"/>
            <a:ext cx="5440680" cy="658368"/>
          </a:xfrm>
          <a:prstGeom prst="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20040" y="2286000"/>
            <a:ext cx="50292" cy="658368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383280" y="2286000"/>
            <a:ext cx="20116" cy="658368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320040" y="2286000"/>
            <a:ext cx="8503920" cy="1097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84632" y="2395728"/>
            <a:ext cx="27432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"/>
              </a:rPr>
              <a:t>Stream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84448" y="2395728"/>
            <a:ext cx="5056632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40" b="0" i="0">
                <a:solidFill>
                  <a:srgbClr val="B8D0EC"/>
                </a:solidFill>
                <a:latin typeface="Segoe UI"/>
              </a:rPr>
              <a:t>- PDLC engineering lead-time drop
- Defect rate reduction
- Projected productivity savings 2026 H2 and 2027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2944368"/>
            <a:ext cx="3063240" cy="475488"/>
          </a:xfrm>
          <a:prstGeom prst="rect">
            <a:avLst/>
          </a:prstGeom>
          <a:solidFill>
            <a:srgbClr val="0B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383280" y="2944368"/>
            <a:ext cx="5440680" cy="475488"/>
          </a:xfrm>
          <a:prstGeom prst="rect">
            <a:avLst/>
          </a:prstGeom>
          <a:solidFill>
            <a:srgbClr val="0B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320040" y="2944368"/>
            <a:ext cx="50292" cy="475488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3383280" y="2944368"/>
            <a:ext cx="20116" cy="475488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320040" y="2944368"/>
            <a:ext cx="8503920" cy="1097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84632" y="3054096"/>
            <a:ext cx="2743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"/>
              </a:rPr>
              <a:t>Platformization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84448" y="3054096"/>
            <a:ext cx="50566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40" b="0" i="0">
                <a:solidFill>
                  <a:srgbClr val="B8D0EC"/>
                </a:solidFill>
                <a:latin typeface="Segoe UI"/>
              </a:rPr>
              <a:t>- BA-org hosting readiness 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3419856"/>
            <a:ext cx="3063240" cy="658368"/>
          </a:xfrm>
          <a:prstGeom prst="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3383280" y="3419856"/>
            <a:ext cx="5440680" cy="658368"/>
          </a:xfrm>
          <a:prstGeom prst="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320040" y="3419856"/>
            <a:ext cx="50292" cy="65836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3383280" y="3419856"/>
            <a:ext cx="20116" cy="658368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320040" y="3419856"/>
            <a:ext cx="8503920" cy="1097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84632" y="3529584"/>
            <a:ext cx="27432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"/>
              </a:rPr>
              <a:t>Live Execution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84448" y="3529584"/>
            <a:ext cx="5056632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40" b="0" i="0">
                <a:solidFill>
                  <a:srgbClr val="B8D0EC"/>
                </a:solidFill>
                <a:latin typeface="Segoe UI"/>
              </a:rPr>
              <a:t>A fully functional, resilient working prototype and impact in ongoing active projects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0040" y="4078224"/>
            <a:ext cx="3063240" cy="932688"/>
          </a:xfrm>
          <a:prstGeom prst="rect">
            <a:avLst/>
          </a:prstGeom>
          <a:solidFill>
            <a:srgbClr val="0B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3383280" y="4078224"/>
            <a:ext cx="5440680" cy="932688"/>
          </a:xfrm>
          <a:prstGeom prst="rect">
            <a:avLst/>
          </a:prstGeom>
          <a:solidFill>
            <a:srgbClr val="0B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320040" y="4078224"/>
            <a:ext cx="50292" cy="93268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3383280" y="4078224"/>
            <a:ext cx="20116" cy="932688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320040" y="4078224"/>
            <a:ext cx="8503920" cy="1097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84632" y="4187952"/>
            <a:ext cx="274320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30" b="1" i="0">
                <a:solidFill>
                  <a:srgbClr val="FFFFFF"/>
                </a:solidFill>
                <a:latin typeface="Segoe UI"/>
              </a:rPr>
              <a:t>Agentic AI design pattern compliance
[Agents orchestration, routing protocols,
MCP Servers, Skills, etc]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84448" y="4187952"/>
            <a:ext cx="5056632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19" b="0" i="0">
                <a:solidFill>
                  <a:srgbClr val="B8D0EC"/>
                </a:solidFill>
                <a:latin typeface="Segoe UI"/>
              </a:rPr>
              <a:t>- Inter-agent handoff efficiency
- Twin simulation accuracy
- Tool and skill reusability
- MCP Server usage relevancy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20040" y="5010912"/>
            <a:ext cx="3063240" cy="1078992"/>
          </a:xfrm>
          <a:prstGeom prst="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3383280" y="5010912"/>
            <a:ext cx="5440680" cy="1078992"/>
          </a:xfrm>
          <a:prstGeom prst="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320040" y="5010912"/>
            <a:ext cx="50292" cy="1078992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3383280" y="5010912"/>
            <a:ext cx="20116" cy="107899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320040" y="5010912"/>
            <a:ext cx="8503920" cy="1097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484632" y="512064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30" b="1" i="0" dirty="0">
                <a:solidFill>
                  <a:srgbClr val="FFFFFF"/>
                </a:solidFill>
                <a:latin typeface="Segoe UI"/>
              </a:rPr>
              <a:t>LLM selection strategies
[GitHub Copilot &amp; OpenAI] &amp; AI Token
usage Optimization
[LLM selection, Context Management,
and Prompt engineering]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84448" y="5120640"/>
            <a:ext cx="505663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19" b="0" i="0" dirty="0">
                <a:solidFill>
                  <a:srgbClr val="B8D0EC"/>
                </a:solidFill>
                <a:latin typeface="Segoe UI"/>
              </a:rPr>
              <a:t>- Token reduction percentage [baseline vs actual]
- Cost-per-request savings
- Tool-calling JSON accuracy
- Prompt caching utilization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20040" y="6272784"/>
            <a:ext cx="8503920" cy="219456"/>
          </a:xfrm>
          <a:prstGeom prst="round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502920" y="6318504"/>
            <a:ext cx="8138160" cy="73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60" b="1" i="0">
                <a:solidFill>
                  <a:srgbClr val="00D48A"/>
                </a:solidFill>
                <a:latin typeface="Segoe UI"/>
              </a:rPr>
              <a:t>FOCUS: prove measurable PDLC impact with a reusable, hosted, agentic-AI execution pattern.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080A8"/>
                </a:solidFill>
                <a:latin typeface="Segoe UI"/>
              </a:rPr>
              <a:t>12  / 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2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3657600" y="228600"/>
            <a:ext cx="6400800" cy="6400800"/>
          </a:xfrm>
          <a:prstGeom prst="ellipse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4297680" y="868680"/>
            <a:ext cx="5120640" cy="5120640"/>
          </a:xfrm>
          <a:prstGeom prst="ellipse">
            <a:avLst/>
          </a:prstGeom>
          <a:solidFill>
            <a:srgbClr val="07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5029200" y="1600200"/>
            <a:ext cx="3657600" cy="3657600"/>
          </a:xfrm>
          <a:prstGeom prst="ellipse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5760720" y="2331720"/>
            <a:ext cx="2194560" cy="2194560"/>
          </a:xfrm>
          <a:prstGeom prst="ellipse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0038284" y="3408884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0022873" y="3722578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9976789" y="403325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9900475" y="433791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9794668" y="4633624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9660384" y="491754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9498919" y="5186930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9311826" y="5439196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9100908" y="5671908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8868196" y="5882826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8615930" y="6069919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8346542" y="6231384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8062624" y="6365668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7766911" y="6471475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7462251" y="6547789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7151578" y="6593873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6837884" y="6609284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6524189" y="6593873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6213516" y="6547789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5908856" y="6471475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5613143" y="6365668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5329225" y="6231384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5059837" y="6069919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4807571" y="5882826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4574859" y="5671908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4363941" y="5439196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4176848" y="5186930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4015383" y="491754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3881099" y="4633624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3775292" y="433791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3698978" y="403325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3652894" y="3722578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3637484" y="3408884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Oval 40"/>
          <p:cNvSpPr/>
          <p:nvPr/>
        </p:nvSpPr>
        <p:spPr>
          <a:xfrm>
            <a:off x="3652894" y="3095189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Oval 41"/>
          <p:cNvSpPr/>
          <p:nvPr/>
        </p:nvSpPr>
        <p:spPr>
          <a:xfrm>
            <a:off x="3698978" y="2784516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Oval 42"/>
          <p:cNvSpPr/>
          <p:nvPr/>
        </p:nvSpPr>
        <p:spPr>
          <a:xfrm>
            <a:off x="3775292" y="2479856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3881099" y="2184143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Oval 44"/>
          <p:cNvSpPr/>
          <p:nvPr/>
        </p:nvSpPr>
        <p:spPr>
          <a:xfrm>
            <a:off x="4015383" y="1900225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>
            <a:off x="4176848" y="1630837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Oval 46"/>
          <p:cNvSpPr/>
          <p:nvPr/>
        </p:nvSpPr>
        <p:spPr>
          <a:xfrm>
            <a:off x="4363941" y="137857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Oval 47"/>
          <p:cNvSpPr/>
          <p:nvPr/>
        </p:nvSpPr>
        <p:spPr>
          <a:xfrm>
            <a:off x="4574859" y="1145859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4807571" y="93494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5059837" y="747848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Oval 50"/>
          <p:cNvSpPr/>
          <p:nvPr/>
        </p:nvSpPr>
        <p:spPr>
          <a:xfrm>
            <a:off x="5329225" y="586383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Oval 51"/>
          <p:cNvSpPr/>
          <p:nvPr/>
        </p:nvSpPr>
        <p:spPr>
          <a:xfrm>
            <a:off x="5613143" y="452099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Oval 52"/>
          <p:cNvSpPr/>
          <p:nvPr/>
        </p:nvSpPr>
        <p:spPr>
          <a:xfrm>
            <a:off x="5908856" y="34629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Oval 53"/>
          <p:cNvSpPr/>
          <p:nvPr/>
        </p:nvSpPr>
        <p:spPr>
          <a:xfrm>
            <a:off x="6213516" y="269978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Oval 54"/>
          <p:cNvSpPr/>
          <p:nvPr/>
        </p:nvSpPr>
        <p:spPr>
          <a:xfrm>
            <a:off x="6524189" y="223894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Oval 55"/>
          <p:cNvSpPr/>
          <p:nvPr/>
        </p:nvSpPr>
        <p:spPr>
          <a:xfrm>
            <a:off x="6837883" y="208484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Oval 56"/>
          <p:cNvSpPr/>
          <p:nvPr/>
        </p:nvSpPr>
        <p:spPr>
          <a:xfrm>
            <a:off x="7151578" y="223894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Oval 57"/>
          <p:cNvSpPr/>
          <p:nvPr/>
        </p:nvSpPr>
        <p:spPr>
          <a:xfrm>
            <a:off x="7462251" y="269978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Oval 58"/>
          <p:cNvSpPr/>
          <p:nvPr/>
        </p:nvSpPr>
        <p:spPr>
          <a:xfrm>
            <a:off x="7766911" y="34629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Oval 59"/>
          <p:cNvSpPr/>
          <p:nvPr/>
        </p:nvSpPr>
        <p:spPr>
          <a:xfrm>
            <a:off x="8062624" y="452099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Oval 60"/>
          <p:cNvSpPr/>
          <p:nvPr/>
        </p:nvSpPr>
        <p:spPr>
          <a:xfrm>
            <a:off x="8346542" y="586383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Oval 61"/>
          <p:cNvSpPr/>
          <p:nvPr/>
        </p:nvSpPr>
        <p:spPr>
          <a:xfrm>
            <a:off x="8615930" y="747848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Oval 62"/>
          <p:cNvSpPr/>
          <p:nvPr/>
        </p:nvSpPr>
        <p:spPr>
          <a:xfrm>
            <a:off x="8868196" y="93494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Oval 63"/>
          <p:cNvSpPr/>
          <p:nvPr/>
        </p:nvSpPr>
        <p:spPr>
          <a:xfrm>
            <a:off x="9100908" y="1145859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Oval 64"/>
          <p:cNvSpPr/>
          <p:nvPr/>
        </p:nvSpPr>
        <p:spPr>
          <a:xfrm>
            <a:off x="9311826" y="137857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Oval 65"/>
          <p:cNvSpPr/>
          <p:nvPr/>
        </p:nvSpPr>
        <p:spPr>
          <a:xfrm>
            <a:off x="9498919" y="1630837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Oval 66"/>
          <p:cNvSpPr/>
          <p:nvPr/>
        </p:nvSpPr>
        <p:spPr>
          <a:xfrm>
            <a:off x="9660384" y="1900225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Oval 67"/>
          <p:cNvSpPr/>
          <p:nvPr/>
        </p:nvSpPr>
        <p:spPr>
          <a:xfrm>
            <a:off x="9794668" y="2184143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Oval 68"/>
          <p:cNvSpPr/>
          <p:nvPr/>
        </p:nvSpPr>
        <p:spPr>
          <a:xfrm>
            <a:off x="9900475" y="2479856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Oval 69"/>
          <p:cNvSpPr/>
          <p:nvPr/>
        </p:nvSpPr>
        <p:spPr>
          <a:xfrm>
            <a:off x="9976789" y="2784516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Oval 70"/>
          <p:cNvSpPr/>
          <p:nvPr/>
        </p:nvSpPr>
        <p:spPr>
          <a:xfrm>
            <a:off x="10022873" y="3095189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Oval 71"/>
          <p:cNvSpPr/>
          <p:nvPr/>
        </p:nvSpPr>
        <p:spPr>
          <a:xfrm>
            <a:off x="6832854" y="3403854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Oval 72"/>
          <p:cNvSpPr/>
          <p:nvPr/>
        </p:nvSpPr>
        <p:spPr>
          <a:xfrm>
            <a:off x="7054584" y="3531870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Oval 73"/>
          <p:cNvSpPr/>
          <p:nvPr/>
        </p:nvSpPr>
        <p:spPr>
          <a:xfrm>
            <a:off x="6832854" y="3659886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Oval 74"/>
          <p:cNvSpPr/>
          <p:nvPr/>
        </p:nvSpPr>
        <p:spPr>
          <a:xfrm>
            <a:off x="6611123" y="3531870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Oval 75"/>
          <p:cNvSpPr/>
          <p:nvPr/>
        </p:nvSpPr>
        <p:spPr>
          <a:xfrm>
            <a:off x="6611123" y="3275838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Oval 76"/>
          <p:cNvSpPr/>
          <p:nvPr/>
        </p:nvSpPr>
        <p:spPr>
          <a:xfrm>
            <a:off x="6832854" y="3147822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Oval 77"/>
          <p:cNvSpPr/>
          <p:nvPr/>
        </p:nvSpPr>
        <p:spPr>
          <a:xfrm>
            <a:off x="7054584" y="3275838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Oval 78"/>
          <p:cNvSpPr/>
          <p:nvPr/>
        </p:nvSpPr>
        <p:spPr>
          <a:xfrm>
            <a:off x="7276314" y="3659886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Oval 79"/>
          <p:cNvSpPr/>
          <p:nvPr/>
        </p:nvSpPr>
        <p:spPr>
          <a:xfrm>
            <a:off x="7054584" y="3787902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Oval 80"/>
          <p:cNvSpPr/>
          <p:nvPr/>
        </p:nvSpPr>
        <p:spPr>
          <a:xfrm>
            <a:off x="6832854" y="3915918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Oval 81"/>
          <p:cNvSpPr/>
          <p:nvPr/>
        </p:nvSpPr>
        <p:spPr>
          <a:xfrm>
            <a:off x="6611123" y="3787902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Oval 82"/>
          <p:cNvSpPr/>
          <p:nvPr/>
        </p:nvSpPr>
        <p:spPr>
          <a:xfrm>
            <a:off x="6389393" y="3659886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Oval 83"/>
          <p:cNvSpPr/>
          <p:nvPr/>
        </p:nvSpPr>
        <p:spPr>
          <a:xfrm>
            <a:off x="6389393" y="3403854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Oval 84"/>
          <p:cNvSpPr/>
          <p:nvPr/>
        </p:nvSpPr>
        <p:spPr>
          <a:xfrm>
            <a:off x="6389393" y="3147822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Oval 85"/>
          <p:cNvSpPr/>
          <p:nvPr/>
        </p:nvSpPr>
        <p:spPr>
          <a:xfrm>
            <a:off x="6611123" y="3019806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Oval 86"/>
          <p:cNvSpPr/>
          <p:nvPr/>
        </p:nvSpPr>
        <p:spPr>
          <a:xfrm>
            <a:off x="6832854" y="2891790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Oval 87"/>
          <p:cNvSpPr/>
          <p:nvPr/>
        </p:nvSpPr>
        <p:spPr>
          <a:xfrm>
            <a:off x="7054584" y="3019806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Oval 88"/>
          <p:cNvSpPr/>
          <p:nvPr/>
        </p:nvSpPr>
        <p:spPr>
          <a:xfrm>
            <a:off x="7276314" y="3147822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Oval 89"/>
          <p:cNvSpPr/>
          <p:nvPr/>
        </p:nvSpPr>
        <p:spPr>
          <a:xfrm>
            <a:off x="7276314" y="3403854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Oval 90"/>
          <p:cNvSpPr/>
          <p:nvPr/>
        </p:nvSpPr>
        <p:spPr>
          <a:xfrm>
            <a:off x="7498044" y="3787902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Oval 91"/>
          <p:cNvSpPr/>
          <p:nvPr/>
        </p:nvSpPr>
        <p:spPr>
          <a:xfrm>
            <a:off x="7276314" y="3915918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Oval 92"/>
          <p:cNvSpPr/>
          <p:nvPr/>
        </p:nvSpPr>
        <p:spPr>
          <a:xfrm>
            <a:off x="7054584" y="4043934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Oval 93"/>
          <p:cNvSpPr/>
          <p:nvPr/>
        </p:nvSpPr>
        <p:spPr>
          <a:xfrm>
            <a:off x="6832854" y="4171950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Oval 94"/>
          <p:cNvSpPr/>
          <p:nvPr/>
        </p:nvSpPr>
        <p:spPr>
          <a:xfrm>
            <a:off x="6611123" y="4043934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Oval 95"/>
          <p:cNvSpPr/>
          <p:nvPr/>
        </p:nvSpPr>
        <p:spPr>
          <a:xfrm>
            <a:off x="6389393" y="3915918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Oval 96"/>
          <p:cNvSpPr/>
          <p:nvPr/>
        </p:nvSpPr>
        <p:spPr>
          <a:xfrm>
            <a:off x="6167663" y="3787902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Oval 97"/>
          <p:cNvSpPr/>
          <p:nvPr/>
        </p:nvSpPr>
        <p:spPr>
          <a:xfrm>
            <a:off x="6167663" y="3531870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Oval 98"/>
          <p:cNvSpPr/>
          <p:nvPr/>
        </p:nvSpPr>
        <p:spPr>
          <a:xfrm>
            <a:off x="6167663" y="3275838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Oval 99"/>
          <p:cNvSpPr/>
          <p:nvPr/>
        </p:nvSpPr>
        <p:spPr>
          <a:xfrm>
            <a:off x="6167663" y="3019806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Oval 100"/>
          <p:cNvSpPr/>
          <p:nvPr/>
        </p:nvSpPr>
        <p:spPr>
          <a:xfrm>
            <a:off x="6389393" y="2891790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Oval 101"/>
          <p:cNvSpPr/>
          <p:nvPr/>
        </p:nvSpPr>
        <p:spPr>
          <a:xfrm>
            <a:off x="6611123" y="2763774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Oval 102"/>
          <p:cNvSpPr/>
          <p:nvPr/>
        </p:nvSpPr>
        <p:spPr>
          <a:xfrm>
            <a:off x="6832854" y="2635758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Oval 103"/>
          <p:cNvSpPr/>
          <p:nvPr/>
        </p:nvSpPr>
        <p:spPr>
          <a:xfrm>
            <a:off x="7054584" y="2763774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Oval 104"/>
          <p:cNvSpPr/>
          <p:nvPr/>
        </p:nvSpPr>
        <p:spPr>
          <a:xfrm>
            <a:off x="7276314" y="2891789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Oval 105"/>
          <p:cNvSpPr/>
          <p:nvPr/>
        </p:nvSpPr>
        <p:spPr>
          <a:xfrm>
            <a:off x="7498044" y="3019806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Oval 106"/>
          <p:cNvSpPr/>
          <p:nvPr/>
        </p:nvSpPr>
        <p:spPr>
          <a:xfrm>
            <a:off x="7498044" y="3275838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Oval 107"/>
          <p:cNvSpPr/>
          <p:nvPr/>
        </p:nvSpPr>
        <p:spPr>
          <a:xfrm>
            <a:off x="7498044" y="3531870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Oval 108"/>
          <p:cNvSpPr/>
          <p:nvPr/>
        </p:nvSpPr>
        <p:spPr>
          <a:xfrm>
            <a:off x="7719774" y="3915918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Oval 109"/>
          <p:cNvSpPr/>
          <p:nvPr/>
        </p:nvSpPr>
        <p:spPr>
          <a:xfrm>
            <a:off x="7498044" y="4043934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Oval 110"/>
          <p:cNvSpPr/>
          <p:nvPr/>
        </p:nvSpPr>
        <p:spPr>
          <a:xfrm>
            <a:off x="7276314" y="4171950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Oval 111"/>
          <p:cNvSpPr/>
          <p:nvPr/>
        </p:nvSpPr>
        <p:spPr>
          <a:xfrm>
            <a:off x="7054584" y="4299966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Oval 112"/>
          <p:cNvSpPr/>
          <p:nvPr/>
        </p:nvSpPr>
        <p:spPr>
          <a:xfrm>
            <a:off x="6832854" y="4427982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Oval 113"/>
          <p:cNvSpPr/>
          <p:nvPr/>
        </p:nvSpPr>
        <p:spPr>
          <a:xfrm>
            <a:off x="6611123" y="4299966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Oval 114"/>
          <p:cNvSpPr/>
          <p:nvPr/>
        </p:nvSpPr>
        <p:spPr>
          <a:xfrm>
            <a:off x="6389393" y="4171950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Oval 115"/>
          <p:cNvSpPr/>
          <p:nvPr/>
        </p:nvSpPr>
        <p:spPr>
          <a:xfrm>
            <a:off x="6167663" y="4043934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Oval 116"/>
          <p:cNvSpPr/>
          <p:nvPr/>
        </p:nvSpPr>
        <p:spPr>
          <a:xfrm>
            <a:off x="5945933" y="3915918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8" name="Oval 117"/>
          <p:cNvSpPr/>
          <p:nvPr/>
        </p:nvSpPr>
        <p:spPr>
          <a:xfrm>
            <a:off x="5945933" y="3659886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Oval 118"/>
          <p:cNvSpPr/>
          <p:nvPr/>
        </p:nvSpPr>
        <p:spPr>
          <a:xfrm>
            <a:off x="5945933" y="3403854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Oval 119"/>
          <p:cNvSpPr/>
          <p:nvPr/>
        </p:nvSpPr>
        <p:spPr>
          <a:xfrm>
            <a:off x="5945933" y="3147822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Oval 120"/>
          <p:cNvSpPr/>
          <p:nvPr/>
        </p:nvSpPr>
        <p:spPr>
          <a:xfrm>
            <a:off x="5945933" y="2891790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Oval 121"/>
          <p:cNvSpPr/>
          <p:nvPr/>
        </p:nvSpPr>
        <p:spPr>
          <a:xfrm>
            <a:off x="6167663" y="2763774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Oval 122"/>
          <p:cNvSpPr/>
          <p:nvPr/>
        </p:nvSpPr>
        <p:spPr>
          <a:xfrm>
            <a:off x="6389393" y="2635758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Oval 123"/>
          <p:cNvSpPr/>
          <p:nvPr/>
        </p:nvSpPr>
        <p:spPr>
          <a:xfrm>
            <a:off x="6611123" y="2507742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Oval 124"/>
          <p:cNvSpPr/>
          <p:nvPr/>
        </p:nvSpPr>
        <p:spPr>
          <a:xfrm>
            <a:off x="6832854" y="2379726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Oval 125"/>
          <p:cNvSpPr/>
          <p:nvPr/>
        </p:nvSpPr>
        <p:spPr>
          <a:xfrm>
            <a:off x="7054584" y="2507742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Oval 126"/>
          <p:cNvSpPr/>
          <p:nvPr/>
        </p:nvSpPr>
        <p:spPr>
          <a:xfrm>
            <a:off x="7276314" y="2635757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Oval 127"/>
          <p:cNvSpPr/>
          <p:nvPr/>
        </p:nvSpPr>
        <p:spPr>
          <a:xfrm>
            <a:off x="7498044" y="2763773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Oval 128"/>
          <p:cNvSpPr/>
          <p:nvPr/>
        </p:nvSpPr>
        <p:spPr>
          <a:xfrm>
            <a:off x="7719774" y="2891790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Oval 129"/>
          <p:cNvSpPr/>
          <p:nvPr/>
        </p:nvSpPr>
        <p:spPr>
          <a:xfrm>
            <a:off x="7719774" y="3147822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Oval 130"/>
          <p:cNvSpPr/>
          <p:nvPr/>
        </p:nvSpPr>
        <p:spPr>
          <a:xfrm>
            <a:off x="7719774" y="3403854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Oval 131"/>
          <p:cNvSpPr/>
          <p:nvPr/>
        </p:nvSpPr>
        <p:spPr>
          <a:xfrm>
            <a:off x="7719774" y="3659886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TextBox 132"/>
          <p:cNvSpPr txBox="1"/>
          <p:nvPr/>
        </p:nvSpPr>
        <p:spPr>
          <a:xfrm>
            <a:off x="347472" y="65836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C8F0"/>
                </a:solidFill>
                <a:latin typeface="Segoe UI"/>
              </a:rPr>
              <a:t>CONCLUSION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47472" y="987552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Transform Embedded PDLC
from PG1 to PG5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347472" y="2029968"/>
            <a:ext cx="4956047" cy="1463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6" name="Oval 135"/>
          <p:cNvSpPr/>
          <p:nvPr/>
        </p:nvSpPr>
        <p:spPr>
          <a:xfrm>
            <a:off x="347472" y="2322576"/>
            <a:ext cx="256032" cy="256032"/>
          </a:xfrm>
          <a:prstGeom prst="ellipse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Rectangle 136"/>
          <p:cNvSpPr/>
          <p:nvPr/>
        </p:nvSpPr>
        <p:spPr>
          <a:xfrm>
            <a:off x="621792" y="2432304"/>
            <a:ext cx="502920" cy="36576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TextBox 137"/>
          <p:cNvSpPr txBox="1"/>
          <p:nvPr/>
        </p:nvSpPr>
        <p:spPr>
          <a:xfrm>
            <a:off x="1261872" y="2249424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A89A"/>
                </a:solidFill>
                <a:latin typeface="Segoe UI"/>
              </a:rPr>
              <a:t>From fragmented embedded data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261872" y="2615184"/>
            <a:ext cx="4069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8D0EC"/>
                </a:solidFill>
                <a:latin typeface="Segoe UI"/>
              </a:rPr>
              <a:t>Jira, Confluence, GitHub, QA and JTAG/SWD evidence become one connected AEPLO PDLC foundation.</a:t>
            </a:r>
          </a:p>
        </p:txBody>
      </p:sp>
      <p:sp>
        <p:nvSpPr>
          <p:cNvPr id="140" name="Oval 139"/>
          <p:cNvSpPr/>
          <p:nvPr/>
        </p:nvSpPr>
        <p:spPr>
          <a:xfrm>
            <a:off x="347472" y="3739896"/>
            <a:ext cx="256032" cy="256032"/>
          </a:xfrm>
          <a:prstGeom prst="ellipse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Rectangle 140"/>
          <p:cNvSpPr/>
          <p:nvPr/>
        </p:nvSpPr>
        <p:spPr>
          <a:xfrm>
            <a:off x="621792" y="3849624"/>
            <a:ext cx="502920" cy="36576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2" name="TextBox 141"/>
          <p:cNvSpPr txBox="1"/>
          <p:nvPr/>
        </p:nvSpPr>
        <p:spPr>
          <a:xfrm>
            <a:off x="1261872" y="3666744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72C6"/>
                </a:solidFill>
                <a:latin typeface="Segoe UI"/>
              </a:rPr>
              <a:t>To intelligent NPI action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261872" y="4032504"/>
            <a:ext cx="4069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8D0EC"/>
                </a:solidFill>
                <a:latin typeface="Segoe UI"/>
              </a:rPr>
              <a:t>Atlassian MCP, ROVO Studio, Copilot and AEPLO agents drive PG1 discovery, PG3 development and PG5 launch readiness.</a:t>
            </a:r>
          </a:p>
        </p:txBody>
      </p:sp>
      <p:sp>
        <p:nvSpPr>
          <p:cNvPr id="144" name="Oval 143"/>
          <p:cNvSpPr/>
          <p:nvPr/>
        </p:nvSpPr>
        <p:spPr>
          <a:xfrm>
            <a:off x="347472" y="5157216"/>
            <a:ext cx="256032" cy="256032"/>
          </a:xfrm>
          <a:prstGeom prst="ellipse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Rectangle 144"/>
          <p:cNvSpPr/>
          <p:nvPr/>
        </p:nvSpPr>
        <p:spPr>
          <a:xfrm>
            <a:off x="621792" y="5266944"/>
            <a:ext cx="502920" cy="36576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6" name="TextBox 145"/>
          <p:cNvSpPr txBox="1"/>
          <p:nvPr/>
        </p:nvSpPr>
        <p:spPr>
          <a:xfrm>
            <a:off x="1261872" y="5084064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D48A"/>
                </a:solidFill>
                <a:latin typeface="Segoe UI"/>
              </a:rPr>
              <a:t>Optimise every gate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261872" y="5449824"/>
            <a:ext cx="4069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8D0EC"/>
                </a:solidFill>
                <a:latin typeface="Segoe UI"/>
              </a:rPr>
              <a:t>The JTAG Accelerator adds hardware-backed RCA and controlled fixes to AI-optimised validation and launch decisions.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TextBox 153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080A8"/>
                </a:solidFill>
                <a:latin typeface="Segoe UI"/>
              </a:rPr>
              <a:t>12  / 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d546e5e1-5d42-4630-bacd-c69bfdcbd5e8}" enabled="1" method="Standard" siteId="{96ece526-9c7d-48b0-8daf-8b93c90a5d18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62</TotalTime>
  <Words>1668</Words>
  <Application>Microsoft Office PowerPoint</Application>
  <PresentationFormat>On-screen Show (4:3)</PresentationFormat>
  <Paragraphs>232</Paragraphs>
  <Slides>13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Aptos</vt:lpstr>
      <vt:lpstr>Arial</vt:lpstr>
      <vt:lpstr>Calibri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Shrivastava, Shyam</dc:creator>
  <cp:keywords/>
  <dc:description>generated using python-pptx</dc:description>
  <cp:lastModifiedBy>Shrivastava, Shyam</cp:lastModifiedBy>
  <cp:revision>4</cp:revision>
  <dcterms:created xsi:type="dcterms:W3CDTF">2013-01-27T09:14:16Z</dcterms:created>
  <dcterms:modified xsi:type="dcterms:W3CDTF">2026-06-12T16:16:58Z</dcterms:modified>
  <cp:category/>
</cp:coreProperties>
</file>