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12480" y="320040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80" y="758952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0" y="1197864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0" y="1636776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2075688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2514600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0" y="2953512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3392424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12480" y="3831335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4270248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4709159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5148071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0" y="5586983"/>
            <a:ext cx="3566160" cy="9144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58200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33688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09176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884664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360152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35640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311128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786616" y="320040"/>
            <a:ext cx="9144" cy="5806440"/>
          </a:xfrm>
          <a:prstGeom prst="rect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418320" y="914400"/>
            <a:ext cx="2057400" cy="2057400"/>
          </a:xfrm>
          <a:prstGeom prst="ellipse">
            <a:avLst/>
          </a:prstGeom>
          <a:solidFill>
            <a:srgbClr val="061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738360" y="1234440"/>
            <a:ext cx="1417320" cy="1417320"/>
          </a:xfrm>
          <a:prstGeom prst="ellipse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76688" y="1572768"/>
            <a:ext cx="749808" cy="749808"/>
          </a:xfrm>
          <a:prstGeom prst="ellipse">
            <a:avLst/>
          </a:prstGeom>
          <a:solidFill>
            <a:srgbClr val="0514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25603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C8F0"/>
                </a:solidFill>
                <a:latin typeface="Segoe UI"/>
              </a:rPr>
              <a:t>CODING EMBEDDED WORKSTREAM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21792"/>
            <a:ext cx="7955279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Common Idea: Agentic Firmware Debug-to-Fix Copilot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" y="1161288"/>
            <a:ext cx="78181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B8D0EC"/>
                </a:solidFill>
                <a:latin typeface="Segoe UI"/>
              </a:rPr>
              <a:t>A unified AEPLO + JTAG/SWD workflow that turns embedded coding defects into traceable hardware-backed root cause, patch, PR and release evidence.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732520" y="530352"/>
            <a:ext cx="3063240" cy="658368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32520" y="603504"/>
            <a:ext cx="3063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POSTER CANDIDATE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859536"/>
            <a:ext cx="3063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0C8F0"/>
                </a:solidFill>
                <a:latin typeface="Segoe UI"/>
              </a:rPr>
              <a:t>BuildAThon | Embedded Coding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20040" y="1783080"/>
            <a:ext cx="3566160" cy="14173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1783080"/>
            <a:ext cx="54864" cy="1417320"/>
          </a:xfrm>
          <a:prstGeom prst="rect">
            <a:avLst/>
          </a:prstGeom>
          <a:solidFill>
            <a:srgbClr val="FF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1901952"/>
            <a:ext cx="3154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3A3A"/>
                </a:solidFill>
                <a:latin typeface="Segoe UI"/>
              </a:rPr>
              <a:t>WHY IT MATTERS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2221992"/>
            <a:ext cx="315468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880">
                <a:solidFill>
                  <a:srgbClr val="B8D0EC"/>
                </a:solidFill>
                <a:latin typeface="Segoe UI"/>
              </a:rPr>
              <a:t>- MCU bugs require manual JTAG setup, register decoding and memory inspection.</a:t>
            </a:r>
          </a:p>
          <a:p>
            <a:pPr/>
            <a:r>
              <a:rPr sz="880">
                <a:solidFill>
                  <a:srgbClr val="B8D0EC"/>
                </a:solidFill>
                <a:latin typeface="Segoe UI"/>
              </a:rPr>
              <a:t>- Engineers switch between IDE, probe tools, datasheets, Jira and Git.</a:t>
            </a:r>
          </a:p>
          <a:p>
            <a:pPr/>
            <a:r>
              <a:rPr sz="880">
                <a:solidFill>
                  <a:srgbClr val="B8D0EC"/>
                </a:solidFill>
                <a:latin typeface="Segoe UI"/>
              </a:rPr>
              <a:t>- HardFault knowledge is tribal, so fixes take days and release risk grows.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60520" y="1783080"/>
            <a:ext cx="3886200" cy="14173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60520" y="1783080"/>
            <a:ext cx="54864" cy="14173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43400" y="1901952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8A"/>
                </a:solidFill>
                <a:latin typeface="Segoe UI"/>
              </a:rPr>
              <a:t>COMMON IDEA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43400" y="2221992"/>
            <a:ext cx="34290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880">
                <a:solidFill>
                  <a:srgbClr val="B8D0EC"/>
                </a:solidFill>
                <a:latin typeface="Segoe UI"/>
              </a:rPr>
              <a:t>- Attach multi-agent AI to the coding workflow and target hardware.</a:t>
            </a:r>
          </a:p>
          <a:p>
            <a:pPr/>
            <a:r>
              <a:rPr sz="880">
                <a:solidFill>
                  <a:srgbClr val="B8D0EC"/>
                </a:solidFill>
                <a:latin typeface="Segoe UI"/>
              </a:rPr>
              <a:t>- Use JTAG/SWD evidence as first-class lifecycle data in AEPLO.</a:t>
            </a:r>
          </a:p>
          <a:p>
            <a:pPr/>
            <a:r>
              <a:rPr sz="880">
                <a:solidFill>
                  <a:srgbClr val="B8D0EC"/>
                </a:solidFill>
                <a:latin typeface="Segoe UI"/>
              </a:rPr>
              <a:t>- Move from bug ticket to diagnosis, controlled fix, PR and release gate.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C8F0"/>
                </a:solidFill>
                <a:latin typeface="Segoe UI"/>
              </a:rPr>
              <a:t>WORKFLOW</a:t>
            </a:r>
          </a:p>
        </p:txBody>
      </p:sp>
      <p:sp>
        <p:nvSpPr>
          <p:cNvPr id="44" name="Oval 43"/>
          <p:cNvSpPr/>
          <p:nvPr/>
        </p:nvSpPr>
        <p:spPr>
          <a:xfrm>
            <a:off x="502920" y="3803904"/>
            <a:ext cx="493776" cy="493776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831336"/>
            <a:ext cx="493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10312" y="4407408"/>
            <a:ext cx="1078992" cy="67665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3464" y="4498848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i="0">
                <a:solidFill>
                  <a:srgbClr val="B8D0EC"/>
                </a:solidFill>
                <a:latin typeface="Segoe UI"/>
              </a:rPr>
              <a:t>Jira Bug
Ticket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24712" y="4023359"/>
            <a:ext cx="585216" cy="320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709928" y="3954779"/>
            <a:ext cx="182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709928" y="4055363"/>
            <a:ext cx="182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26387" y="3971238"/>
            <a:ext cx="18288" cy="148133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726387" y="4038904"/>
            <a:ext cx="18288" cy="148133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742846" y="3987697"/>
            <a:ext cx="18288" cy="1316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742846" y="4022445"/>
            <a:ext cx="18288" cy="1316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759305" y="4004156"/>
            <a:ext cx="18288" cy="115215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59305" y="4005986"/>
            <a:ext cx="18288" cy="115215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775764" y="4020615"/>
            <a:ext cx="18288" cy="9875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775764" y="3989527"/>
            <a:ext cx="18288" cy="9875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792223" y="4037074"/>
            <a:ext cx="18288" cy="82297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792223" y="3973068"/>
            <a:ext cx="18288" cy="82297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808682" y="4053533"/>
            <a:ext cx="18288" cy="6583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808682" y="3956609"/>
            <a:ext cx="18288" cy="6583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25141" y="4069992"/>
            <a:ext cx="18288" cy="49379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825141" y="3940150"/>
            <a:ext cx="18288" cy="49379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2377439" y="3803904"/>
            <a:ext cx="493776" cy="493776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377439" y="3831336"/>
            <a:ext cx="493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084831" y="4407408"/>
            <a:ext cx="1078992" cy="67665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157983" y="4498848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i="0">
                <a:solidFill>
                  <a:srgbClr val="B8D0EC"/>
                </a:solidFill>
                <a:latin typeface="Segoe UI"/>
              </a:rPr>
              <a:t>JTAG
Orchestrator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999231" y="4023359"/>
            <a:ext cx="585216" cy="320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584447" y="3954779"/>
            <a:ext cx="182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584447" y="4055363"/>
            <a:ext cx="182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600906" y="3971238"/>
            <a:ext cx="18288" cy="148133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600906" y="4038904"/>
            <a:ext cx="18288" cy="148133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3617365" y="3987697"/>
            <a:ext cx="18288" cy="1316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617365" y="4022445"/>
            <a:ext cx="18288" cy="1316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633824" y="4004156"/>
            <a:ext cx="18288" cy="115215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633824" y="4005986"/>
            <a:ext cx="18288" cy="115215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650283" y="4020615"/>
            <a:ext cx="18288" cy="9875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650283" y="3989527"/>
            <a:ext cx="18288" cy="9875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666742" y="4037074"/>
            <a:ext cx="18288" cy="82297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666742" y="3973068"/>
            <a:ext cx="18288" cy="82297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683201" y="4053533"/>
            <a:ext cx="18288" cy="6583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683201" y="3956609"/>
            <a:ext cx="18288" cy="6583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699660" y="4069992"/>
            <a:ext cx="18288" cy="49379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699660" y="3940150"/>
            <a:ext cx="18288" cy="49379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251959" y="3803904"/>
            <a:ext cx="493776" cy="493776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251959" y="3831336"/>
            <a:ext cx="493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959351" y="4407408"/>
            <a:ext cx="1078992" cy="67665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032503" y="4498848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i="0">
                <a:solidFill>
                  <a:srgbClr val="B8D0EC"/>
                </a:solidFill>
                <a:latin typeface="Segoe UI"/>
              </a:rPr>
              <a:t>Debug
Agents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873751" y="4023359"/>
            <a:ext cx="585216" cy="320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58967" y="3954779"/>
            <a:ext cx="182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458967" y="4055363"/>
            <a:ext cx="182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475426" y="3971238"/>
            <a:ext cx="18288" cy="148133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475426" y="4038904"/>
            <a:ext cx="18288" cy="148133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5491885" y="3987697"/>
            <a:ext cx="18288" cy="1316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491885" y="4022445"/>
            <a:ext cx="18288" cy="1316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508344" y="4004156"/>
            <a:ext cx="18288" cy="115215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5508344" y="4005986"/>
            <a:ext cx="18288" cy="115215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524803" y="4020615"/>
            <a:ext cx="18288" cy="9875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524803" y="3989527"/>
            <a:ext cx="18288" cy="9875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541262" y="4037074"/>
            <a:ext cx="18288" cy="82297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541262" y="3973068"/>
            <a:ext cx="18288" cy="82297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5557721" y="4053533"/>
            <a:ext cx="18288" cy="6583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557721" y="3956609"/>
            <a:ext cx="18288" cy="6583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5574180" y="4069992"/>
            <a:ext cx="18288" cy="49379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574180" y="3940150"/>
            <a:ext cx="18288" cy="49379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6126479" y="3803904"/>
            <a:ext cx="493776" cy="493776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126479" y="3831336"/>
            <a:ext cx="493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33871" y="4407408"/>
            <a:ext cx="1078992" cy="67665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07023" y="4498848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i="0">
                <a:solidFill>
                  <a:srgbClr val="B8D0EC"/>
                </a:solidFill>
                <a:latin typeface="Segoe UI"/>
              </a:rPr>
              <a:t>RCA +
Evidence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748271" y="4023359"/>
            <a:ext cx="585216" cy="320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333487" y="3954779"/>
            <a:ext cx="182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7333487" y="4055363"/>
            <a:ext cx="182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7349946" y="3971238"/>
            <a:ext cx="18288" cy="148133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349946" y="4038904"/>
            <a:ext cx="18288" cy="148133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366405" y="3987697"/>
            <a:ext cx="18288" cy="1316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7366405" y="4022445"/>
            <a:ext cx="18288" cy="1316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382864" y="4004156"/>
            <a:ext cx="18288" cy="115215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7382864" y="4005986"/>
            <a:ext cx="18288" cy="115215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399323" y="4020615"/>
            <a:ext cx="18288" cy="9875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399323" y="3989527"/>
            <a:ext cx="18288" cy="9875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7415782" y="4037074"/>
            <a:ext cx="18288" cy="82297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7415782" y="3973068"/>
            <a:ext cx="18288" cy="82297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432241" y="4053533"/>
            <a:ext cx="18288" cy="6583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432241" y="3956609"/>
            <a:ext cx="18288" cy="6583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448700" y="4069992"/>
            <a:ext cx="18288" cy="49379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7448700" y="3940150"/>
            <a:ext cx="18288" cy="49379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001000" y="3803904"/>
            <a:ext cx="493776" cy="493776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001000" y="3831336"/>
            <a:ext cx="493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7708392" y="4407408"/>
            <a:ext cx="1078992" cy="67665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781544" y="4498848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i="0">
                <a:solidFill>
                  <a:srgbClr val="B8D0EC"/>
                </a:solidFill>
                <a:latin typeface="Segoe UI"/>
              </a:rPr>
              <a:t>Patch +
PR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622792" y="4023359"/>
            <a:ext cx="585216" cy="3200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9208008" y="3954779"/>
            <a:ext cx="182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208008" y="4055363"/>
            <a:ext cx="18288" cy="1645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9224467" y="3971238"/>
            <a:ext cx="18288" cy="148133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224467" y="4038904"/>
            <a:ext cx="18288" cy="148133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9240926" y="3987697"/>
            <a:ext cx="18288" cy="1316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9240926" y="4022445"/>
            <a:ext cx="18288" cy="131674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9257385" y="4004156"/>
            <a:ext cx="18288" cy="115215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9257385" y="4005986"/>
            <a:ext cx="18288" cy="115215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9273844" y="4020615"/>
            <a:ext cx="18288" cy="9875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9273844" y="3989527"/>
            <a:ext cx="18288" cy="98756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9290303" y="4037074"/>
            <a:ext cx="18288" cy="82297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9290303" y="3973068"/>
            <a:ext cx="18288" cy="82297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9306762" y="4053533"/>
            <a:ext cx="18288" cy="6583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9306762" y="3956609"/>
            <a:ext cx="18288" cy="6583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9323221" y="4069992"/>
            <a:ext cx="18288" cy="49379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9323221" y="3940150"/>
            <a:ext cx="18288" cy="49379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9875520" y="3803904"/>
            <a:ext cx="493776" cy="493776"/>
          </a:xfrm>
          <a:prstGeom prst="ellipse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875520" y="3831336"/>
            <a:ext cx="4937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9582912" y="4407408"/>
            <a:ext cx="1078992" cy="676656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9656064" y="4498848"/>
            <a:ext cx="93268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1" i="0">
                <a:solidFill>
                  <a:srgbClr val="B8D0EC"/>
                </a:solidFill>
                <a:latin typeface="Segoe UI"/>
              </a:rPr>
              <a:t>Release
Gate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458200" y="1508760"/>
            <a:ext cx="3337560" cy="201168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458200" y="1508760"/>
            <a:ext cx="54864" cy="201168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641080" y="1645920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  <a:latin typeface="Segoe UI"/>
              </a:rPr>
              <a:t>SPECIALIST AGENTS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641080" y="1993392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850">
                <a:solidFill>
                  <a:srgbClr val="B8D0EC"/>
                </a:solidFill>
                <a:latin typeface="Segoe UI"/>
              </a:rPr>
              <a:t>- Fault Analyzer: HardFault, stack and register RCA</a:t>
            </a:r>
          </a:p>
          <a:p>
            <a:pPr/>
            <a:r>
              <a:rPr sz="850">
                <a:solidFill>
                  <a:srgbClr val="B8D0EC"/>
                </a:solidFill>
                <a:latin typeface="Segoe UI"/>
              </a:rPr>
              <a:t>- Variable Tracer: watchpoints and value history</a:t>
            </a:r>
          </a:p>
          <a:p>
            <a:pPr/>
            <a:r>
              <a:rPr sz="850">
                <a:solidFill>
                  <a:srgbClr val="B8D0EC"/>
                </a:solidFill>
                <a:latin typeface="Segoe UI"/>
              </a:rPr>
              <a:t>- Peripheral Inspector: GPIO, timers, buses, clocks</a:t>
            </a:r>
          </a:p>
          <a:p>
            <a:pPr/>
            <a:r>
              <a:rPr sz="850">
                <a:solidFill>
                  <a:srgbClr val="B8D0EC"/>
                </a:solidFill>
                <a:latin typeface="Segoe UI"/>
              </a:rPr>
              <a:t>- Hex/Memory Parser: dumps, maps and symbol context</a:t>
            </a:r>
          </a:p>
          <a:p>
            <a:pPr/>
            <a:r>
              <a:rPr sz="850">
                <a:solidFill>
                  <a:srgbClr val="B8D0EC"/>
                </a:solidFill>
                <a:latin typeface="Segoe UI"/>
              </a:rPr>
              <a:t>- Probing Agent: J-Link, target MCU and lab evidence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320040" y="5440680"/>
            <a:ext cx="5715000" cy="96012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320040" y="5440680"/>
            <a:ext cx="54864" cy="96012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02920" y="55321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C8F0"/>
                </a:solidFill>
                <a:latin typeface="Segoe UI"/>
              </a:rPr>
              <a:t>DEMO STORY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02920" y="580644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19" b="0" i="0">
                <a:solidFill>
                  <a:srgbClr val="B8D0EC"/>
                </a:solidFill>
                <a:latin typeface="Segoe UI"/>
              </a:rPr>
              <a:t>A Cortex-M HardFault ticket opens in Jira. The copilot attaches through J-Link, captures fault registers and stack frames, explains root cause, generates a guarded patch, opens a PR and feeds evidence into the release gate.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355080" y="53949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0D48A"/>
                </a:solidFill>
                <a:latin typeface="Segoe UI"/>
              </a:rPr>
              <a:t>EXPECTED OUTCOMES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6355080" y="5687568"/>
            <a:ext cx="129844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6355080" y="5687568"/>
            <a:ext cx="54864" cy="74980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83096" y="5760720"/>
            <a:ext cx="1042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D48A"/>
                </a:solidFill>
                <a:latin typeface="Segoe UI"/>
              </a:rPr>
              <a:t>&lt;30m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83096" y="6071616"/>
            <a:ext cx="1042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ticket to RCA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7818120" y="5687568"/>
            <a:ext cx="129844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7818120" y="5687568"/>
            <a:ext cx="54864" cy="749808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7946136" y="5760720"/>
            <a:ext cx="1042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72C6"/>
                </a:solidFill>
                <a:latin typeface="Segoe UI"/>
              </a:rPr>
              <a:t>1 PR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946136" y="6071616"/>
            <a:ext cx="1042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controlled fix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9281160" y="5687568"/>
            <a:ext cx="1298448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281160" y="5687568"/>
            <a:ext cx="54864" cy="749808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9409176" y="5760720"/>
            <a:ext cx="1042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FF8C00"/>
                </a:solidFill>
                <a:latin typeface="Segoe UI"/>
              </a:rPr>
              <a:t>100%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9409176" y="6071616"/>
            <a:ext cx="10424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evidence link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10744200" y="5687568"/>
            <a:ext cx="1051560" cy="749808"/>
          </a:xfrm>
          <a:prstGeom prst="round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10744200" y="5687568"/>
            <a:ext cx="54864" cy="749808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10872216" y="5760720"/>
            <a:ext cx="795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C8F0"/>
                </a:solidFill>
                <a:latin typeface="Segoe UI"/>
              </a:rPr>
              <a:t>Ready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0872216" y="6071616"/>
            <a:ext cx="7955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B8D0EC"/>
                </a:solidFill>
                <a:latin typeface="Segoe UI"/>
              </a:rPr>
              <a:t>gate input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320040" y="6565392"/>
            <a:ext cx="7680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080A8"/>
                </a:solidFill>
                <a:latin typeface="Segoe UI"/>
              </a:rPr>
              <a:t>Team addition: Sheraaz | Common scheme: AEPLO V3 lifecycle orchestration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366760" y="6565392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6080A8"/>
                </a:solidFill>
                <a:latin typeface="Segoe UI"/>
              </a:rPr>
              <a:t>One-page candidate for Coding Embedded Workstream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