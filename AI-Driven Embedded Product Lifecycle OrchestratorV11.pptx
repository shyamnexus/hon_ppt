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68" r:id="rId5"/>
    <p:sldId id="257" r:id="rId6"/>
    <p:sldId id="271" r:id="rId7"/>
    <p:sldId id="263" r:id="rId8"/>
    <p:sldId id="269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111111"/>
    <a:srgbClr val="FF4242"/>
    <a:srgbClr val="D71920"/>
    <a:srgbClr val="6B6B6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47" autoAdjust="0"/>
  </p:normalViewPr>
  <p:slideViewPr>
    <p:cSldViewPr snapToGrid="0">
      <p:cViewPr varScale="1">
        <p:scale>
          <a:sx n="111" d="100"/>
          <a:sy n="111" d="100"/>
        </p:scale>
        <p:origin x="89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544E3D8-A955-9E63-0E7D-EED82BC9D2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E6C963-9598-4857-33EC-EC247C74CFD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FAB91F-961D-4A07-BD14-A68507151E78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BB287B-2CEB-664E-026B-0B714746E6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Honeywell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8E3EBC-5078-7A91-7401-F292C1911C7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CF262-CA4D-493A-BF7B-3F5A47362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91139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F9780D-A041-4638-B6BA-87BB754D206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Honeywell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9C4E8-DCB7-4C66-B47F-361D1DFDA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30235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"Today we are showing AEPLO, the AI-driven embedded product lifecycle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orchestrator. The 3-minute story is PRD to firmware, firmware to JTAG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evidence, evidence to QA release readiness, and finally STQC submission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readiness for regulated IoT security and surveillance products."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076E56-C255-4CAD-BA1A-93AA2E49E01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AB7C5-5590-7BCB-C58B-AC5F2E7F6A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Honeywell</a:t>
            </a:r>
          </a:p>
        </p:txBody>
      </p:sp>
    </p:spTree>
    <p:extLst>
      <p:ext uri="{BB962C8B-B14F-4D97-AF65-F5344CB8AC3E}">
        <p14:creationId xmlns:p14="http://schemas.microsoft.com/office/powerpoint/2010/main" val="618791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embedded PDLC data is</a:t>
            </a:r>
          </a:p>
          <a:p>
            <a:r>
              <a:rPr lang="en-US" dirty="0"/>
              <a:t>fragmented across Confluence, Jira, GitHub, QA and hardware evidence, and</a:t>
            </a:r>
          </a:p>
          <a:p>
            <a:r>
              <a:rPr lang="en-US" dirty="0"/>
              <a:t>AEPLO brings it into one orchestration layer. Then the  Confluence PRD,</a:t>
            </a:r>
          </a:p>
          <a:p>
            <a:r>
              <a:rPr lang="en-US" dirty="0"/>
              <a:t>guided by SDE Elements and PSJIRA, creates epics and stories. </a:t>
            </a:r>
          </a:p>
          <a:p>
            <a:r>
              <a:rPr lang="en-US" dirty="0"/>
              <a:t>Next, the  user picks a story and creates a feature branch with PRD and QA context.</a:t>
            </a:r>
          </a:p>
          <a:p>
            <a:r>
              <a:rPr lang="en-US" dirty="0"/>
              <a:t>Next , at PG3, AEPLO generates firmware from the datasheet and PRD,</a:t>
            </a:r>
          </a:p>
          <a:p>
            <a:r>
              <a:rPr lang="en-US" dirty="0"/>
              <a:t>injecting SDK, BSP and OS or RTOS context, then validates it against the</a:t>
            </a:r>
          </a:p>
          <a:p>
            <a:r>
              <a:rPr lang="en-US" dirty="0"/>
              <a:t>datasheet and acceptance criteria. Finally, QA inputs, PRD criteria and</a:t>
            </a:r>
          </a:p>
          <a:p>
            <a:r>
              <a:rPr lang="en-US" dirty="0"/>
              <a:t>JTAG evidence produce READY or NOT_READY; NOT_READY becomes the priority</a:t>
            </a:r>
          </a:p>
          <a:p>
            <a:r>
              <a:rPr lang="en-US" dirty="0"/>
              <a:t>list for the next release loop.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Honeywell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9C4E8-DCB7-4C66-B47F-361D1DFDA22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286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"The star of the show is the PG5 STQC agent. IoT security and surveillance</a:t>
            </a:r>
          </a:p>
          <a:p>
            <a:r>
              <a:rPr lang="en-US" dirty="0"/>
              <a:t>devices need BIS certification governed by STQC guidelines, for both</a:t>
            </a:r>
          </a:p>
          <a:p>
            <a:r>
              <a:rPr lang="en-US" dirty="0"/>
              <a:t>in-house designs and BTS sales. Earlier, developers spent months creating</a:t>
            </a:r>
          </a:p>
          <a:p>
            <a:r>
              <a:rPr lang="en-US" dirty="0"/>
              <a:t>evidence, validating code and preparing auditor submissions. The STQC</a:t>
            </a:r>
          </a:p>
          <a:p>
            <a:r>
              <a:rPr lang="en-US" dirty="0"/>
              <a:t>agent crawls the code, creates evidence, enforces hard rules like no</a:t>
            </a:r>
          </a:p>
          <a:p>
            <a:r>
              <a:rPr lang="en-US" dirty="0"/>
              <a:t>foreign characters, checks STQC ER guidelines, and decides whether the</a:t>
            </a:r>
          </a:p>
          <a:p>
            <a:r>
              <a:rPr lang="en-US" dirty="0"/>
              <a:t>submission pack is ready. If not, it highlights the section and creates</a:t>
            </a:r>
          </a:p>
          <a:p>
            <a:r>
              <a:rPr lang="en-US" dirty="0"/>
              <a:t>Jira tickets or stories for remediation."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Honeywell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9C4E8-DCB7-4C66-B47F-361D1DFDA22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816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"The realistic impact is material: STQC evidence preparation drops from</a:t>
            </a:r>
          </a:p>
          <a:p>
            <a:r>
              <a:rPr lang="en-US" dirty="0"/>
              <a:t>8 to 12 weeks into 1 to 3 days, PG3 firmware loops are 45 to 60 percent faster, JTAG root</a:t>
            </a:r>
          </a:p>
          <a:p>
            <a:r>
              <a:rPr lang="en-US" dirty="0"/>
              <a:t>cause is reduced to under two hours, and routed context plus prompt caching</a:t>
            </a:r>
          </a:p>
          <a:p>
            <a:r>
              <a:rPr lang="en-US" dirty="0"/>
              <a:t>cuts token use by about 35 to 45 percent. AEPLO keeps looping until QA says</a:t>
            </a:r>
          </a:p>
          <a:p>
            <a:r>
              <a:rPr lang="en-US" dirty="0"/>
              <a:t>READY."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Honeywell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9C4E8-DCB7-4C66-B47F-361D1DFDA22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23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37CD1-81F4-4E54-BFDF-E16D2184C663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C3EB2-E1A6-47BA-8593-B34734AEB315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C4CBE-979D-4D21-8390-5BC5AB12AD11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095C7-9F5A-4A6C-9FA1-9161E0A3FFBB}" type="datetime1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AA869-C9B3-402C-B5B3-1BFF8B6EA432}" type="datetime1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B0153-82DD-487D-96F5-1F203E6321BD}" type="datetime1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ED799-78FF-416B-8AA1-69E05E041B9D}" type="datetime1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602E-1BB0-4F2C-9C65-984B82A5027C}" type="datetime1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EBBC4-B7AA-4360-AFB8-953CB36DF14B}" type="datetime1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1A519-C67A-420F-A0A0-AFE7A3A0FAF9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29E2E-F8F7-42F4-AD5C-445F524D0C4A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954EFD-6F0B-4429-9B43-F009676198DC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0" y="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03520" y="381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03520" y="762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03520" y="1143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303520" y="1524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03520" y="1905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03520" y="2286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303520" y="2667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303520" y="3048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303520" y="3429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303520" y="3810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303520" y="4191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303520" y="4572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303520" y="4953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303520" y="5334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303520" y="5715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303520" y="6096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303520" y="6477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30352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62356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94360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26364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58368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90372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22376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54380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86384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18388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50392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82396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4297680" y="297180"/>
            <a:ext cx="5852160" cy="585216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4754880" y="754380"/>
            <a:ext cx="4937760" cy="493776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5303520" y="1303020"/>
            <a:ext cx="3840480" cy="384048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5943600" y="1943100"/>
            <a:ext cx="2560320" cy="256032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537960" y="2537460"/>
            <a:ext cx="1371600" cy="13716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9112666" y="5436838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8932236" y="5579078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8741202" y="5706723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8540742" y="5818986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8332092" y="5915175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8116538" y="5994697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7895409" y="6057062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7670069" y="6101885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7441907" y="6128889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7212330" y="6137910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6982752" y="6128889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6754590" y="6101885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6529250" y="6057062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6308121" y="5994697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6092567" y="5915175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5883917" y="5818986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5683457" y="5706723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5492423" y="5579078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5311993" y="5436838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5143278" y="5280881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5143278" y="1142778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5311993" y="986821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5492423" y="844581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5683457" y="716936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5883917" y="604673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6092567" y="508484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6308121" y="428962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6529250" y="366597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6754590" y="321774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6982752" y="294770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7212329" y="285750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7441907" y="294770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7670069" y="321774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7895409" y="366597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8116538" y="428962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8332092" y="508484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8540742" y="604673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8741202" y="716936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8932236" y="844581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9112666" y="986821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Oval 79"/>
          <p:cNvSpPr/>
          <p:nvPr/>
        </p:nvSpPr>
        <p:spPr>
          <a:xfrm>
            <a:off x="8485632" y="320497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Oval 80"/>
          <p:cNvSpPr/>
          <p:nvPr/>
        </p:nvSpPr>
        <p:spPr>
          <a:xfrm>
            <a:off x="8481685" y="330541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8469871" y="340523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3" name="Oval 82"/>
          <p:cNvSpPr/>
          <p:nvPr/>
        </p:nvSpPr>
        <p:spPr>
          <a:xfrm>
            <a:off x="8450261" y="350381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Oval 83"/>
          <p:cNvSpPr/>
          <p:nvPr/>
        </p:nvSpPr>
        <p:spPr>
          <a:xfrm>
            <a:off x="8422976" y="360056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Oval 84"/>
          <p:cNvSpPr/>
          <p:nvPr/>
        </p:nvSpPr>
        <p:spPr>
          <a:xfrm>
            <a:off x="8388185" y="369486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Oval 85"/>
          <p:cNvSpPr/>
          <p:nvPr/>
        </p:nvSpPr>
        <p:spPr>
          <a:xfrm>
            <a:off x="8346102" y="378615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8296987" y="387385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Oval 87"/>
          <p:cNvSpPr/>
          <p:nvPr/>
        </p:nvSpPr>
        <p:spPr>
          <a:xfrm>
            <a:off x="8241143" y="395743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Oval 88"/>
          <p:cNvSpPr/>
          <p:nvPr/>
        </p:nvSpPr>
        <p:spPr>
          <a:xfrm>
            <a:off x="8178913" y="403636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Oval 89"/>
          <p:cNvSpPr/>
          <p:nvPr/>
        </p:nvSpPr>
        <p:spPr>
          <a:xfrm>
            <a:off x="8110681" y="411018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Oval 90"/>
          <p:cNvSpPr/>
          <p:nvPr/>
        </p:nvSpPr>
        <p:spPr>
          <a:xfrm>
            <a:off x="8036869" y="417841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Oval 91"/>
          <p:cNvSpPr/>
          <p:nvPr/>
        </p:nvSpPr>
        <p:spPr>
          <a:xfrm>
            <a:off x="7957931" y="424064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3" name="Oval 92"/>
          <p:cNvSpPr/>
          <p:nvPr/>
        </p:nvSpPr>
        <p:spPr>
          <a:xfrm>
            <a:off x="7874353" y="4296487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4" name="Oval 93"/>
          <p:cNvSpPr/>
          <p:nvPr/>
        </p:nvSpPr>
        <p:spPr>
          <a:xfrm>
            <a:off x="7786652" y="434560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7695368" y="4387685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Oval 95"/>
          <p:cNvSpPr/>
          <p:nvPr/>
        </p:nvSpPr>
        <p:spPr>
          <a:xfrm>
            <a:off x="7601063" y="442247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7" name="Oval 96"/>
          <p:cNvSpPr/>
          <p:nvPr/>
        </p:nvSpPr>
        <p:spPr>
          <a:xfrm>
            <a:off x="7504319" y="444976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7405733" y="446937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9" name="Oval 98"/>
          <p:cNvSpPr/>
          <p:nvPr/>
        </p:nvSpPr>
        <p:spPr>
          <a:xfrm>
            <a:off x="7305912" y="4481185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0" name="Oval 99"/>
          <p:cNvSpPr/>
          <p:nvPr/>
        </p:nvSpPr>
        <p:spPr>
          <a:xfrm>
            <a:off x="7205472" y="448513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1" name="Oval 100"/>
          <p:cNvSpPr/>
          <p:nvPr/>
        </p:nvSpPr>
        <p:spPr>
          <a:xfrm>
            <a:off x="7105031" y="4481185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" name="Oval 101"/>
          <p:cNvSpPr/>
          <p:nvPr/>
        </p:nvSpPr>
        <p:spPr>
          <a:xfrm>
            <a:off x="7005210" y="446937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3" name="Oval 102"/>
          <p:cNvSpPr/>
          <p:nvPr/>
        </p:nvSpPr>
        <p:spPr>
          <a:xfrm>
            <a:off x="6906624" y="444976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4" name="Oval 103"/>
          <p:cNvSpPr/>
          <p:nvPr/>
        </p:nvSpPr>
        <p:spPr>
          <a:xfrm>
            <a:off x="6809880" y="442247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5" name="Oval 104"/>
          <p:cNvSpPr/>
          <p:nvPr/>
        </p:nvSpPr>
        <p:spPr>
          <a:xfrm>
            <a:off x="6715575" y="4387685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6" name="Oval 105"/>
          <p:cNvSpPr/>
          <p:nvPr/>
        </p:nvSpPr>
        <p:spPr>
          <a:xfrm>
            <a:off x="6624291" y="434560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6536590" y="4296487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8" name="Oval 107"/>
          <p:cNvSpPr/>
          <p:nvPr/>
        </p:nvSpPr>
        <p:spPr>
          <a:xfrm>
            <a:off x="6453012" y="424064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9" name="Oval 108"/>
          <p:cNvSpPr/>
          <p:nvPr/>
        </p:nvSpPr>
        <p:spPr>
          <a:xfrm>
            <a:off x="6374074" y="417841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0" name="Oval 109"/>
          <p:cNvSpPr/>
          <p:nvPr/>
        </p:nvSpPr>
        <p:spPr>
          <a:xfrm>
            <a:off x="6300262" y="411018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1" name="Oval 110"/>
          <p:cNvSpPr/>
          <p:nvPr/>
        </p:nvSpPr>
        <p:spPr>
          <a:xfrm>
            <a:off x="6232030" y="403636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6169800" y="395743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3" name="Oval 112"/>
          <p:cNvSpPr/>
          <p:nvPr/>
        </p:nvSpPr>
        <p:spPr>
          <a:xfrm>
            <a:off x="6113956" y="387385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4" name="Oval 113"/>
          <p:cNvSpPr/>
          <p:nvPr/>
        </p:nvSpPr>
        <p:spPr>
          <a:xfrm>
            <a:off x="6064841" y="378615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5" name="Oval 114"/>
          <p:cNvSpPr/>
          <p:nvPr/>
        </p:nvSpPr>
        <p:spPr>
          <a:xfrm>
            <a:off x="6022758" y="369486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6" name="Oval 115"/>
          <p:cNvSpPr/>
          <p:nvPr/>
        </p:nvSpPr>
        <p:spPr>
          <a:xfrm>
            <a:off x="5987967" y="360056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7" name="Oval 116"/>
          <p:cNvSpPr/>
          <p:nvPr/>
        </p:nvSpPr>
        <p:spPr>
          <a:xfrm>
            <a:off x="5960682" y="350381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8" name="Oval 117"/>
          <p:cNvSpPr/>
          <p:nvPr/>
        </p:nvSpPr>
        <p:spPr>
          <a:xfrm>
            <a:off x="5941072" y="340523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9" name="Oval 118"/>
          <p:cNvSpPr/>
          <p:nvPr/>
        </p:nvSpPr>
        <p:spPr>
          <a:xfrm>
            <a:off x="5929258" y="330541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0" name="Oval 119"/>
          <p:cNvSpPr/>
          <p:nvPr/>
        </p:nvSpPr>
        <p:spPr>
          <a:xfrm>
            <a:off x="5925312" y="320497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1" name="Oval 120"/>
          <p:cNvSpPr/>
          <p:nvPr/>
        </p:nvSpPr>
        <p:spPr>
          <a:xfrm>
            <a:off x="5929258" y="310453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2" name="Oval 121"/>
          <p:cNvSpPr/>
          <p:nvPr/>
        </p:nvSpPr>
        <p:spPr>
          <a:xfrm>
            <a:off x="5941072" y="300471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" name="Oval 122"/>
          <p:cNvSpPr/>
          <p:nvPr/>
        </p:nvSpPr>
        <p:spPr>
          <a:xfrm>
            <a:off x="5960682" y="290612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4" name="Oval 123"/>
          <p:cNvSpPr/>
          <p:nvPr/>
        </p:nvSpPr>
        <p:spPr>
          <a:xfrm>
            <a:off x="5987967" y="280938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5" name="Oval 124"/>
          <p:cNvSpPr/>
          <p:nvPr/>
        </p:nvSpPr>
        <p:spPr>
          <a:xfrm>
            <a:off x="6022758" y="2715075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6" name="Oval 125"/>
          <p:cNvSpPr/>
          <p:nvPr/>
        </p:nvSpPr>
        <p:spPr>
          <a:xfrm>
            <a:off x="6064841" y="262379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7" name="Oval 126"/>
          <p:cNvSpPr/>
          <p:nvPr/>
        </p:nvSpPr>
        <p:spPr>
          <a:xfrm>
            <a:off x="6113956" y="253609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8" name="Oval 127"/>
          <p:cNvSpPr/>
          <p:nvPr/>
        </p:nvSpPr>
        <p:spPr>
          <a:xfrm>
            <a:off x="6169800" y="245251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6232030" y="237357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0" name="Oval 129"/>
          <p:cNvSpPr/>
          <p:nvPr/>
        </p:nvSpPr>
        <p:spPr>
          <a:xfrm>
            <a:off x="6300262" y="229976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6374074" y="223153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2" name="Oval 131"/>
          <p:cNvSpPr/>
          <p:nvPr/>
        </p:nvSpPr>
        <p:spPr>
          <a:xfrm>
            <a:off x="6453012" y="216930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6536590" y="211345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4" name="Oval 133"/>
          <p:cNvSpPr/>
          <p:nvPr/>
        </p:nvSpPr>
        <p:spPr>
          <a:xfrm>
            <a:off x="6624291" y="206434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5" name="Oval 134"/>
          <p:cNvSpPr/>
          <p:nvPr/>
        </p:nvSpPr>
        <p:spPr>
          <a:xfrm>
            <a:off x="6715575" y="202225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6" name="Oval 135"/>
          <p:cNvSpPr/>
          <p:nvPr/>
        </p:nvSpPr>
        <p:spPr>
          <a:xfrm>
            <a:off x="6809880" y="1987467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7" name="Oval 136"/>
          <p:cNvSpPr/>
          <p:nvPr/>
        </p:nvSpPr>
        <p:spPr>
          <a:xfrm>
            <a:off x="6906624" y="196018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8" name="Oval 137"/>
          <p:cNvSpPr/>
          <p:nvPr/>
        </p:nvSpPr>
        <p:spPr>
          <a:xfrm>
            <a:off x="7005210" y="194057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9" name="Oval 138"/>
          <p:cNvSpPr/>
          <p:nvPr/>
        </p:nvSpPr>
        <p:spPr>
          <a:xfrm>
            <a:off x="7105031" y="192875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0" name="Oval 139"/>
          <p:cNvSpPr/>
          <p:nvPr/>
        </p:nvSpPr>
        <p:spPr>
          <a:xfrm>
            <a:off x="7205472" y="192481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1" name="Oval 140"/>
          <p:cNvSpPr/>
          <p:nvPr/>
        </p:nvSpPr>
        <p:spPr>
          <a:xfrm>
            <a:off x="7305912" y="192875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7405733" y="194057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3" name="Oval 142"/>
          <p:cNvSpPr/>
          <p:nvPr/>
        </p:nvSpPr>
        <p:spPr>
          <a:xfrm>
            <a:off x="7504319" y="196018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4" name="Oval 143"/>
          <p:cNvSpPr/>
          <p:nvPr/>
        </p:nvSpPr>
        <p:spPr>
          <a:xfrm>
            <a:off x="7601063" y="1987467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5" name="Oval 144"/>
          <p:cNvSpPr/>
          <p:nvPr/>
        </p:nvSpPr>
        <p:spPr>
          <a:xfrm>
            <a:off x="7695368" y="202225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6" name="Oval 145"/>
          <p:cNvSpPr/>
          <p:nvPr/>
        </p:nvSpPr>
        <p:spPr>
          <a:xfrm>
            <a:off x="7786652" y="206434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7" name="Oval 146"/>
          <p:cNvSpPr/>
          <p:nvPr/>
        </p:nvSpPr>
        <p:spPr>
          <a:xfrm>
            <a:off x="7874353" y="211345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8" name="Oval 147"/>
          <p:cNvSpPr/>
          <p:nvPr/>
        </p:nvSpPr>
        <p:spPr>
          <a:xfrm>
            <a:off x="7957931" y="216930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9" name="Oval 148"/>
          <p:cNvSpPr/>
          <p:nvPr/>
        </p:nvSpPr>
        <p:spPr>
          <a:xfrm>
            <a:off x="8036869" y="223153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0" name="Oval 149"/>
          <p:cNvSpPr/>
          <p:nvPr/>
        </p:nvSpPr>
        <p:spPr>
          <a:xfrm>
            <a:off x="8110681" y="229976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1" name="Oval 150"/>
          <p:cNvSpPr/>
          <p:nvPr/>
        </p:nvSpPr>
        <p:spPr>
          <a:xfrm>
            <a:off x="8178913" y="237357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2" name="Oval 151"/>
          <p:cNvSpPr/>
          <p:nvPr/>
        </p:nvSpPr>
        <p:spPr>
          <a:xfrm>
            <a:off x="8241143" y="245251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3" name="Oval 152"/>
          <p:cNvSpPr/>
          <p:nvPr/>
        </p:nvSpPr>
        <p:spPr>
          <a:xfrm>
            <a:off x="8296987" y="253609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4" name="Oval 153"/>
          <p:cNvSpPr/>
          <p:nvPr/>
        </p:nvSpPr>
        <p:spPr>
          <a:xfrm>
            <a:off x="8346102" y="262379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5" name="Oval 154"/>
          <p:cNvSpPr/>
          <p:nvPr/>
        </p:nvSpPr>
        <p:spPr>
          <a:xfrm>
            <a:off x="8388185" y="2715075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6" name="Oval 155"/>
          <p:cNvSpPr/>
          <p:nvPr/>
        </p:nvSpPr>
        <p:spPr>
          <a:xfrm>
            <a:off x="8422976" y="280938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7" name="Oval 156"/>
          <p:cNvSpPr/>
          <p:nvPr/>
        </p:nvSpPr>
        <p:spPr>
          <a:xfrm>
            <a:off x="8450261" y="290612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8" name="Oval 157"/>
          <p:cNvSpPr/>
          <p:nvPr/>
        </p:nvSpPr>
        <p:spPr>
          <a:xfrm>
            <a:off x="8469871" y="300471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9" name="Oval 158"/>
          <p:cNvSpPr/>
          <p:nvPr/>
        </p:nvSpPr>
        <p:spPr>
          <a:xfrm>
            <a:off x="8481685" y="310453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0" name="Oval 159"/>
          <p:cNvSpPr/>
          <p:nvPr/>
        </p:nvSpPr>
        <p:spPr>
          <a:xfrm>
            <a:off x="7198614" y="319811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1" name="Oval 160"/>
          <p:cNvSpPr/>
          <p:nvPr/>
        </p:nvSpPr>
        <p:spPr>
          <a:xfrm>
            <a:off x="7420344" y="332613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2" name="Oval 161"/>
          <p:cNvSpPr/>
          <p:nvPr/>
        </p:nvSpPr>
        <p:spPr>
          <a:xfrm>
            <a:off x="7198614" y="345414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3" name="Oval 162"/>
          <p:cNvSpPr/>
          <p:nvPr/>
        </p:nvSpPr>
        <p:spPr>
          <a:xfrm>
            <a:off x="6976883" y="332613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4" name="Oval 163"/>
          <p:cNvSpPr/>
          <p:nvPr/>
        </p:nvSpPr>
        <p:spPr>
          <a:xfrm>
            <a:off x="6976883" y="307009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5" name="Oval 164"/>
          <p:cNvSpPr/>
          <p:nvPr/>
        </p:nvSpPr>
        <p:spPr>
          <a:xfrm>
            <a:off x="7198614" y="294208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6" name="Oval 165"/>
          <p:cNvSpPr/>
          <p:nvPr/>
        </p:nvSpPr>
        <p:spPr>
          <a:xfrm>
            <a:off x="7420344" y="307009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7" name="Oval 166"/>
          <p:cNvSpPr/>
          <p:nvPr/>
        </p:nvSpPr>
        <p:spPr>
          <a:xfrm>
            <a:off x="7642074" y="345414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8" name="Oval 167"/>
          <p:cNvSpPr/>
          <p:nvPr/>
        </p:nvSpPr>
        <p:spPr>
          <a:xfrm>
            <a:off x="7420344" y="358216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9" name="Oval 168"/>
          <p:cNvSpPr/>
          <p:nvPr/>
        </p:nvSpPr>
        <p:spPr>
          <a:xfrm>
            <a:off x="7198614" y="371017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0" name="Oval 169"/>
          <p:cNvSpPr/>
          <p:nvPr/>
        </p:nvSpPr>
        <p:spPr>
          <a:xfrm>
            <a:off x="6976883" y="358216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1" name="Oval 170"/>
          <p:cNvSpPr/>
          <p:nvPr/>
        </p:nvSpPr>
        <p:spPr>
          <a:xfrm>
            <a:off x="6755153" y="345414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2" name="Oval 171"/>
          <p:cNvSpPr/>
          <p:nvPr/>
        </p:nvSpPr>
        <p:spPr>
          <a:xfrm>
            <a:off x="6755153" y="319811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3" name="Oval 172"/>
          <p:cNvSpPr/>
          <p:nvPr/>
        </p:nvSpPr>
        <p:spPr>
          <a:xfrm>
            <a:off x="6755153" y="294208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4" name="Oval 173"/>
          <p:cNvSpPr/>
          <p:nvPr/>
        </p:nvSpPr>
        <p:spPr>
          <a:xfrm>
            <a:off x="6976883" y="281406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5" name="Oval 174"/>
          <p:cNvSpPr/>
          <p:nvPr/>
        </p:nvSpPr>
        <p:spPr>
          <a:xfrm>
            <a:off x="7198614" y="268605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6" name="Oval 175"/>
          <p:cNvSpPr/>
          <p:nvPr/>
        </p:nvSpPr>
        <p:spPr>
          <a:xfrm>
            <a:off x="7420344" y="281406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7" name="Oval 176"/>
          <p:cNvSpPr/>
          <p:nvPr/>
        </p:nvSpPr>
        <p:spPr>
          <a:xfrm>
            <a:off x="7642074" y="294208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8" name="Oval 177"/>
          <p:cNvSpPr/>
          <p:nvPr/>
        </p:nvSpPr>
        <p:spPr>
          <a:xfrm>
            <a:off x="7642074" y="319811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9" name="Oval 178"/>
          <p:cNvSpPr/>
          <p:nvPr/>
        </p:nvSpPr>
        <p:spPr>
          <a:xfrm>
            <a:off x="7863804" y="358216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0" name="Oval 179"/>
          <p:cNvSpPr/>
          <p:nvPr/>
        </p:nvSpPr>
        <p:spPr>
          <a:xfrm>
            <a:off x="7642074" y="371017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1" name="Oval 180"/>
          <p:cNvSpPr/>
          <p:nvPr/>
        </p:nvSpPr>
        <p:spPr>
          <a:xfrm>
            <a:off x="7420344" y="383819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2" name="Oval 181"/>
          <p:cNvSpPr/>
          <p:nvPr/>
        </p:nvSpPr>
        <p:spPr>
          <a:xfrm>
            <a:off x="7198614" y="396621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3" name="Oval 182"/>
          <p:cNvSpPr/>
          <p:nvPr/>
        </p:nvSpPr>
        <p:spPr>
          <a:xfrm>
            <a:off x="6976883" y="383819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4" name="Oval 183"/>
          <p:cNvSpPr/>
          <p:nvPr/>
        </p:nvSpPr>
        <p:spPr>
          <a:xfrm>
            <a:off x="6755153" y="371017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5" name="Oval 184"/>
          <p:cNvSpPr/>
          <p:nvPr/>
        </p:nvSpPr>
        <p:spPr>
          <a:xfrm>
            <a:off x="6533423" y="358216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6" name="Oval 185"/>
          <p:cNvSpPr/>
          <p:nvPr/>
        </p:nvSpPr>
        <p:spPr>
          <a:xfrm>
            <a:off x="6533423" y="332613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7" name="Oval 186"/>
          <p:cNvSpPr/>
          <p:nvPr/>
        </p:nvSpPr>
        <p:spPr>
          <a:xfrm>
            <a:off x="6533423" y="307009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8" name="Oval 187"/>
          <p:cNvSpPr/>
          <p:nvPr/>
        </p:nvSpPr>
        <p:spPr>
          <a:xfrm>
            <a:off x="6533423" y="281406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9" name="Oval 188"/>
          <p:cNvSpPr/>
          <p:nvPr/>
        </p:nvSpPr>
        <p:spPr>
          <a:xfrm>
            <a:off x="6755153" y="268605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0" name="Oval 189"/>
          <p:cNvSpPr/>
          <p:nvPr/>
        </p:nvSpPr>
        <p:spPr>
          <a:xfrm>
            <a:off x="6976883" y="255803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1" name="Oval 190"/>
          <p:cNvSpPr/>
          <p:nvPr/>
        </p:nvSpPr>
        <p:spPr>
          <a:xfrm>
            <a:off x="7198614" y="243001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2" name="Oval 191"/>
          <p:cNvSpPr/>
          <p:nvPr/>
        </p:nvSpPr>
        <p:spPr>
          <a:xfrm>
            <a:off x="7420344" y="255803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3" name="Oval 192"/>
          <p:cNvSpPr/>
          <p:nvPr/>
        </p:nvSpPr>
        <p:spPr>
          <a:xfrm>
            <a:off x="7642074" y="2686049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4" name="Oval 193"/>
          <p:cNvSpPr/>
          <p:nvPr/>
        </p:nvSpPr>
        <p:spPr>
          <a:xfrm>
            <a:off x="7863804" y="281406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5" name="Oval 194"/>
          <p:cNvSpPr/>
          <p:nvPr/>
        </p:nvSpPr>
        <p:spPr>
          <a:xfrm>
            <a:off x="7863804" y="307009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6" name="Oval 195"/>
          <p:cNvSpPr/>
          <p:nvPr/>
        </p:nvSpPr>
        <p:spPr>
          <a:xfrm>
            <a:off x="7863804" y="332613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7" name="Oval 196"/>
          <p:cNvSpPr/>
          <p:nvPr/>
        </p:nvSpPr>
        <p:spPr>
          <a:xfrm>
            <a:off x="8085534" y="371017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8" name="Oval 197"/>
          <p:cNvSpPr/>
          <p:nvPr/>
        </p:nvSpPr>
        <p:spPr>
          <a:xfrm>
            <a:off x="7863804" y="383819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9" name="Oval 198"/>
          <p:cNvSpPr/>
          <p:nvPr/>
        </p:nvSpPr>
        <p:spPr>
          <a:xfrm>
            <a:off x="7642074" y="396621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0" name="Oval 199"/>
          <p:cNvSpPr/>
          <p:nvPr/>
        </p:nvSpPr>
        <p:spPr>
          <a:xfrm>
            <a:off x="7420344" y="409422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1" name="Oval 200"/>
          <p:cNvSpPr/>
          <p:nvPr/>
        </p:nvSpPr>
        <p:spPr>
          <a:xfrm>
            <a:off x="7198614" y="422224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2" name="Oval 201"/>
          <p:cNvSpPr/>
          <p:nvPr/>
        </p:nvSpPr>
        <p:spPr>
          <a:xfrm>
            <a:off x="6976883" y="409422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3" name="Oval 202"/>
          <p:cNvSpPr/>
          <p:nvPr/>
        </p:nvSpPr>
        <p:spPr>
          <a:xfrm>
            <a:off x="6755153" y="396621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4" name="Oval 203"/>
          <p:cNvSpPr/>
          <p:nvPr/>
        </p:nvSpPr>
        <p:spPr>
          <a:xfrm>
            <a:off x="6533423" y="383819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5" name="Oval 204"/>
          <p:cNvSpPr/>
          <p:nvPr/>
        </p:nvSpPr>
        <p:spPr>
          <a:xfrm>
            <a:off x="6311693" y="371017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6" name="Oval 205"/>
          <p:cNvSpPr/>
          <p:nvPr/>
        </p:nvSpPr>
        <p:spPr>
          <a:xfrm>
            <a:off x="6311693" y="345414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7" name="Oval 206"/>
          <p:cNvSpPr/>
          <p:nvPr/>
        </p:nvSpPr>
        <p:spPr>
          <a:xfrm>
            <a:off x="6311693" y="319811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8" name="Oval 207"/>
          <p:cNvSpPr/>
          <p:nvPr/>
        </p:nvSpPr>
        <p:spPr>
          <a:xfrm>
            <a:off x="6311693" y="294208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9" name="Oval 208"/>
          <p:cNvSpPr/>
          <p:nvPr/>
        </p:nvSpPr>
        <p:spPr>
          <a:xfrm>
            <a:off x="6311693" y="268605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0" name="Oval 209"/>
          <p:cNvSpPr/>
          <p:nvPr/>
        </p:nvSpPr>
        <p:spPr>
          <a:xfrm>
            <a:off x="6533423" y="255803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1" name="Oval 210"/>
          <p:cNvSpPr/>
          <p:nvPr/>
        </p:nvSpPr>
        <p:spPr>
          <a:xfrm>
            <a:off x="6755153" y="243001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2" name="Oval 211"/>
          <p:cNvSpPr/>
          <p:nvPr/>
        </p:nvSpPr>
        <p:spPr>
          <a:xfrm>
            <a:off x="6976883" y="230200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3" name="Oval 212"/>
          <p:cNvSpPr/>
          <p:nvPr/>
        </p:nvSpPr>
        <p:spPr>
          <a:xfrm>
            <a:off x="7198614" y="217398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4" name="Oval 213"/>
          <p:cNvSpPr/>
          <p:nvPr/>
        </p:nvSpPr>
        <p:spPr>
          <a:xfrm>
            <a:off x="7420344" y="230200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5" name="Oval 214"/>
          <p:cNvSpPr/>
          <p:nvPr/>
        </p:nvSpPr>
        <p:spPr>
          <a:xfrm>
            <a:off x="7642074" y="2430017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6" name="Oval 215"/>
          <p:cNvSpPr/>
          <p:nvPr/>
        </p:nvSpPr>
        <p:spPr>
          <a:xfrm>
            <a:off x="7863804" y="2558033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7" name="Oval 216"/>
          <p:cNvSpPr/>
          <p:nvPr/>
        </p:nvSpPr>
        <p:spPr>
          <a:xfrm>
            <a:off x="8085534" y="268605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8" name="Oval 217"/>
          <p:cNvSpPr/>
          <p:nvPr/>
        </p:nvSpPr>
        <p:spPr>
          <a:xfrm>
            <a:off x="8085534" y="294208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9" name="Oval 218"/>
          <p:cNvSpPr/>
          <p:nvPr/>
        </p:nvSpPr>
        <p:spPr>
          <a:xfrm>
            <a:off x="8085534" y="319811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0" name="Oval 219"/>
          <p:cNvSpPr/>
          <p:nvPr/>
        </p:nvSpPr>
        <p:spPr>
          <a:xfrm>
            <a:off x="8085534" y="345414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1" name="TextBox 220"/>
          <p:cNvSpPr txBox="1"/>
          <p:nvPr/>
        </p:nvSpPr>
        <p:spPr>
          <a:xfrm>
            <a:off x="256032" y="1051560"/>
            <a:ext cx="6398518" cy="6771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AI-DRIVEN EMBEDDED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256032" y="1755648"/>
            <a:ext cx="5486400" cy="7498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PRODUCT LIFECYCLE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256032" y="2450592"/>
            <a:ext cx="5486400" cy="7498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>
                <a:ln>
                  <a:noFill/>
                </a:ln>
                <a:solidFill>
                  <a:srgbClr val="D7192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ORCHESTRATOR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256032" y="3291840"/>
            <a:ext cx="1280160" cy="347472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5" name="TextBox 224"/>
          <p:cNvSpPr txBox="1"/>
          <p:nvPr/>
        </p:nvSpPr>
        <p:spPr>
          <a:xfrm>
            <a:off x="256032" y="3291840"/>
            <a:ext cx="1280160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VERSION 10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256032" y="3794760"/>
            <a:ext cx="50292" cy="8229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420624" y="3822191"/>
            <a:ext cx="4937760" cy="830997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Embedded Lifecycle Intelligence
PRD -&gt; PG3 Firmware -&gt; JTAG Evidence -&gt; QA Ready -&gt; STQC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256032" y="4892040"/>
            <a:ext cx="5486400" cy="26161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Atharva | Manas |</a:t>
            </a:r>
            <a:r>
              <a:rPr kumimoji="0" lang="en-US" sz="11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Sheraaz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|Shyam</a:t>
            </a:r>
            <a:endParaRPr kumimoji="0" sz="11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9" name="Rectangle 228"/>
          <p:cNvSpPr/>
          <p:nvPr/>
        </p:nvSpPr>
        <p:spPr>
          <a:xfrm>
            <a:off x="256032" y="5806440"/>
            <a:ext cx="2286000" cy="4114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0" name="Rectangle 229"/>
          <p:cNvSpPr/>
          <p:nvPr/>
        </p:nvSpPr>
        <p:spPr>
          <a:xfrm>
            <a:off x="256032" y="5971031"/>
            <a:ext cx="1828800" cy="4114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1" name="Rectangle 230"/>
          <p:cNvSpPr/>
          <p:nvPr/>
        </p:nvSpPr>
        <p:spPr>
          <a:xfrm>
            <a:off x="256032" y="6135624"/>
            <a:ext cx="1371600" cy="41148"/>
          </a:xfrm>
          <a:prstGeom prst="rect">
            <a:avLst/>
          </a:prstGeom>
          <a:solidFill>
            <a:srgbClr val="0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2" name="Rectangle 231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3" name="TextBox 232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B8B8B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  /  9</a:t>
            </a:r>
          </a:p>
        </p:txBody>
      </p:sp>
      <p:pic>
        <p:nvPicPr>
          <p:cNvPr id="237" name="Picture 236">
            <a:extLst>
              <a:ext uri="{FF2B5EF4-FFF2-40B4-BE49-F238E27FC236}">
                <a16:creationId xmlns:a16="http://schemas.microsoft.com/office/drawing/2014/main" id="{67AC3E27-C892-3B9F-ED91-B1E734C41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545" y="1535563"/>
            <a:ext cx="3118134" cy="3118134"/>
          </a:xfrm>
          <a:prstGeom prst="rect">
            <a:avLst/>
          </a:prstGeom>
          <a:ln/>
        </p:spPr>
      </p:pic>
      <p:sp>
        <p:nvSpPr>
          <p:cNvPr id="238" name="Rectangle 237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  <p:pic>
        <p:nvPicPr>
          <p:cNvPr id="235" name="Picture 234">
            <a:extLst>
              <a:ext uri="{FF2B5EF4-FFF2-40B4-BE49-F238E27FC236}">
                <a16:creationId xmlns:a16="http://schemas.microsoft.com/office/drawing/2014/main" id="{70CCAC89-0190-A7D6-EBD7-D85BFF7A9C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063" y="5233683"/>
            <a:ext cx="492289" cy="492289"/>
          </a:xfrm>
          <a:prstGeom prst="rect">
            <a:avLst/>
          </a:prstGeom>
        </p:spPr>
      </p:pic>
      <p:pic>
        <p:nvPicPr>
          <p:cNvPr id="240" name="Picture 239">
            <a:extLst>
              <a:ext uri="{FF2B5EF4-FFF2-40B4-BE49-F238E27FC236}">
                <a16:creationId xmlns:a16="http://schemas.microsoft.com/office/drawing/2014/main" id="{5356E3C6-FA42-00A7-E46F-58DAAF6F68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847" y="5206667"/>
            <a:ext cx="532273" cy="532273"/>
          </a:xfrm>
          <a:prstGeom prst="rect">
            <a:avLst/>
          </a:prstGeom>
        </p:spPr>
      </p:pic>
      <p:pic>
        <p:nvPicPr>
          <p:cNvPr id="242" name="Picture 241">
            <a:extLst>
              <a:ext uri="{FF2B5EF4-FFF2-40B4-BE49-F238E27FC236}">
                <a16:creationId xmlns:a16="http://schemas.microsoft.com/office/drawing/2014/main" id="{6F48DEC1-4565-2109-F0A2-0F0142F0A9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8738" y="5204460"/>
            <a:ext cx="529558" cy="529558"/>
          </a:xfrm>
          <a:prstGeom prst="rect">
            <a:avLst/>
          </a:prstGeom>
        </p:spPr>
      </p:pic>
      <p:pic>
        <p:nvPicPr>
          <p:cNvPr id="244" name="Picture 243">
            <a:extLst>
              <a:ext uri="{FF2B5EF4-FFF2-40B4-BE49-F238E27FC236}">
                <a16:creationId xmlns:a16="http://schemas.microsoft.com/office/drawing/2014/main" id="{EF6490DE-0B74-8A98-78B6-FB57382773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2189" y="5179892"/>
            <a:ext cx="536751" cy="536751"/>
          </a:xfrm>
          <a:prstGeom prst="rect">
            <a:avLst/>
          </a:prstGeom>
        </p:spPr>
      </p:pic>
      <p:pic>
        <p:nvPicPr>
          <p:cNvPr id="246" name="Picture 245">
            <a:extLst>
              <a:ext uri="{FF2B5EF4-FFF2-40B4-BE49-F238E27FC236}">
                <a16:creationId xmlns:a16="http://schemas.microsoft.com/office/drawing/2014/main" id="{24F2EB3F-5139-8979-FA15-BDD0F43C81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1121" y="5245897"/>
            <a:ext cx="460826" cy="460826"/>
          </a:xfrm>
          <a:prstGeom prst="rect">
            <a:avLst/>
          </a:prstGeom>
        </p:spPr>
      </p:pic>
      <p:pic>
        <p:nvPicPr>
          <p:cNvPr id="248" name="Picture 247">
            <a:extLst>
              <a:ext uri="{FF2B5EF4-FFF2-40B4-BE49-F238E27FC236}">
                <a16:creationId xmlns:a16="http://schemas.microsoft.com/office/drawing/2014/main" id="{0ECC60AA-6628-92F5-EFDD-CCFB4CD8B82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9672" y="5143500"/>
            <a:ext cx="599496" cy="599496"/>
          </a:xfrm>
          <a:prstGeom prst="rect">
            <a:avLst/>
          </a:prstGeom>
        </p:spPr>
      </p:pic>
      <p:pic>
        <p:nvPicPr>
          <p:cNvPr id="250" name="Picture 249">
            <a:extLst>
              <a:ext uri="{FF2B5EF4-FFF2-40B4-BE49-F238E27FC236}">
                <a16:creationId xmlns:a16="http://schemas.microsoft.com/office/drawing/2014/main" id="{42FA650A-973E-1A45-2080-4B8A5386502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64193" y="5143500"/>
            <a:ext cx="644557" cy="644557"/>
          </a:xfrm>
          <a:prstGeom prst="rect">
            <a:avLst/>
          </a:prstGeom>
        </p:spPr>
      </p:pic>
      <p:pic>
        <p:nvPicPr>
          <p:cNvPr id="251" name="Picture 250">
            <a:extLst>
              <a:ext uri="{FF2B5EF4-FFF2-40B4-BE49-F238E27FC236}">
                <a16:creationId xmlns:a16="http://schemas.microsoft.com/office/drawing/2014/main" id="{84610CBF-870A-A388-25E3-A00F4117452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30452" y="5172946"/>
            <a:ext cx="477468" cy="5735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84632"/>
            <a:ext cx="2011680" cy="1097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COMBINED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39087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lang="en-US" sz="2300" b="1" i="0" dirty="0">
                <a:solidFill>
                  <a:srgbClr val="FFFFFF"/>
                </a:solidFill>
                <a:latin typeface="Segoe UI"/>
              </a:rPr>
              <a:t>From Fragmentation to Release Readiness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325880"/>
            <a:ext cx="8449056" cy="1463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3584448"/>
            <a:ext cx="8375904" cy="32004"/>
          </a:xfrm>
          <a:prstGeom prst="rect">
            <a:avLst/>
          </a:prstGeom>
          <a:solidFill>
            <a:srgbClr val="0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84048" y="2057399"/>
            <a:ext cx="1554480" cy="3956521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2057400"/>
            <a:ext cx="1554480" cy="5029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96112" y="2350008"/>
            <a:ext cx="530352" cy="530352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2478024"/>
            <a:ext cx="530352" cy="1097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3017520"/>
            <a:ext cx="1335024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1" i="0">
                <a:solidFill>
                  <a:srgbClr val="FF8C00"/>
                </a:solidFill>
                <a:latin typeface="Segoe UI"/>
              </a:rPr>
              <a:t>Problem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83280"/>
            <a:ext cx="1225296" cy="12801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" y="3538728"/>
            <a:ext cx="1298448" cy="10789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40" b="0" i="0" dirty="0">
                <a:solidFill>
                  <a:srgbClr val="B8D0EC"/>
                </a:solidFill>
                <a:latin typeface="Segoe UI"/>
              </a:rPr>
              <a:t>Fragmented PRD, Jira, Confluence, GitHub, QA and hardware evidence slow PG1-to-PG5 decisions.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56816" y="3575304"/>
            <a:ext cx="16459" cy="29260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982419" y="3575304"/>
            <a:ext cx="16459" cy="29260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008022" y="3575304"/>
            <a:ext cx="16459" cy="29260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033625" y="3575304"/>
            <a:ext cx="16459" cy="29260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103120" y="2057400"/>
            <a:ext cx="1554480" cy="395652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103120" y="2057400"/>
            <a:ext cx="1554480" cy="50292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615184" y="2350008"/>
            <a:ext cx="530352" cy="530352"/>
          </a:xfrm>
          <a:prstGeom prst="ellipse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15184" y="2478024"/>
            <a:ext cx="530352" cy="1097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12848" y="3017520"/>
            <a:ext cx="1335024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1" i="0">
                <a:solidFill>
                  <a:srgbClr val="0072C6"/>
                </a:solidFill>
                <a:latin typeface="Segoe UI"/>
              </a:rPr>
              <a:t>Architecture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67712" y="3383280"/>
            <a:ext cx="1225296" cy="12801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31136" y="3538728"/>
            <a:ext cx="1298448" cy="10789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40" b="0" i="0" dirty="0">
                <a:solidFill>
                  <a:srgbClr val="B8D0EC"/>
                </a:solidFill>
                <a:latin typeface="Segoe UI"/>
              </a:rPr>
              <a:t>AEPLO connects inputs into a knowledge graph, orchestration core, automation and release-gate outcomes.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75888" y="3575304"/>
            <a:ext cx="16459" cy="29260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701491" y="3575304"/>
            <a:ext cx="16459" cy="29260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727094" y="3575304"/>
            <a:ext cx="16459" cy="29260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752697" y="3575304"/>
            <a:ext cx="16459" cy="29260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822191" y="2057400"/>
            <a:ext cx="1554480" cy="395652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822191" y="2057400"/>
            <a:ext cx="1554480" cy="50292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334255" y="2350008"/>
            <a:ext cx="530352" cy="530352"/>
          </a:xfrm>
          <a:prstGeom prst="ellipse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34255" y="2478024"/>
            <a:ext cx="530352" cy="1097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19" y="3017520"/>
            <a:ext cx="1335024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1" i="0">
                <a:solidFill>
                  <a:srgbClr val="00A89A"/>
                </a:solidFill>
                <a:latin typeface="Segoe UI"/>
              </a:rPr>
              <a:t>PRD -&gt; Stories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86783" y="3383280"/>
            <a:ext cx="1225296" cy="12801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950207" y="3538728"/>
            <a:ext cx="1298448" cy="10789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40" b="0" i="0" dirty="0">
                <a:solidFill>
                  <a:srgbClr val="B8D0EC"/>
                </a:solidFill>
                <a:latin typeface="Segoe UI"/>
              </a:rPr>
              <a:t>Confluence PRD guided by SDE Elements and PSJIRA creates epics/stories for users to pick and branch.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94959" y="3575304"/>
            <a:ext cx="16459" cy="29260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420562" y="3575304"/>
            <a:ext cx="16459" cy="29260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446165" y="3575304"/>
            <a:ext cx="16459" cy="29260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471768" y="3575304"/>
            <a:ext cx="16459" cy="29260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541264" y="2057400"/>
            <a:ext cx="1554480" cy="395652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541264" y="2057400"/>
            <a:ext cx="155448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053328" y="2350008"/>
            <a:ext cx="530352" cy="53035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053328" y="2478024"/>
            <a:ext cx="530352" cy="1097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50992" y="3017520"/>
            <a:ext cx="1335024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1" i="0">
                <a:solidFill>
                  <a:srgbClr val="8B5CF6"/>
                </a:solidFill>
                <a:latin typeface="Segoe UI"/>
              </a:rPr>
              <a:t>PG3 Firmware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05856" y="3383280"/>
            <a:ext cx="1225296" cy="12801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669280" y="3538728"/>
            <a:ext cx="1298448" cy="10789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40" b="0" i="0" dirty="0">
                <a:solidFill>
                  <a:srgbClr val="B8D0EC"/>
                </a:solidFill>
                <a:latin typeface="Segoe UI"/>
              </a:rPr>
              <a:t>Datasheet + PRD + SDK/BSP + OS/RTOS context generate and validate firmware/code.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14032" y="3575304"/>
            <a:ext cx="16459" cy="29260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139635" y="3575304"/>
            <a:ext cx="16459" cy="29260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165238" y="3575304"/>
            <a:ext cx="16459" cy="29260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190841" y="3575304"/>
            <a:ext cx="16459" cy="29260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7260336" y="2057400"/>
            <a:ext cx="1554480" cy="395652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260336" y="2057400"/>
            <a:ext cx="1554480" cy="5029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7772400" y="2350008"/>
            <a:ext cx="530352" cy="530352"/>
          </a:xfrm>
          <a:prstGeom prst="ellipse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772400" y="2478024"/>
            <a:ext cx="530352" cy="1097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70064" y="3017520"/>
            <a:ext cx="1335024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50" b="1" i="0">
                <a:solidFill>
                  <a:srgbClr val="00D48A"/>
                </a:solidFill>
                <a:latin typeface="Segoe UI"/>
              </a:rPr>
              <a:t>QA Closed Loop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24928" y="3383280"/>
            <a:ext cx="1225296" cy="12801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388352" y="3538728"/>
            <a:ext cx="1298448" cy="10789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40" b="0" i="0" dirty="0">
                <a:solidFill>
                  <a:srgbClr val="B8D0EC"/>
                </a:solidFill>
                <a:latin typeface="Segoe UI"/>
              </a:rPr>
              <a:t>QA inputs, PRD and JTAG evidence produce READY / NOT_READY; gaps become next-release priorities.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20040" y="6144768"/>
            <a:ext cx="8503920" cy="310896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20040" y="6144768"/>
            <a:ext cx="45720" cy="31089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02920" y="6144768"/>
            <a:ext cx="8229600" cy="18004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30" b="1" i="0" dirty="0">
                <a:solidFill>
                  <a:srgbClr val="FF0000"/>
                </a:solidFill>
                <a:latin typeface="Segoe UI"/>
              </a:rPr>
              <a:t>Output: users pick traceable work, create feature branches, validate PG3 firmware with JTAG evidence, and loop through QA until READY.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275320" y="6565392"/>
            <a:ext cx="41148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0" i="0">
                <a:solidFill>
                  <a:srgbClr val="6080A8"/>
                </a:solidFill>
                <a:latin typeface="Segoe UI"/>
              </a:rPr>
              <a:t>2  /  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06640" y="6565392"/>
            <a:ext cx="777240" cy="1463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1" i="0">
                <a:solidFill>
                  <a:srgbClr val="6080A8"/>
                </a:solidFill>
                <a:latin typeface="Segoe UI"/>
              </a:rPr>
              <a:t>HONEYWELL</a:t>
            </a: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736C5EC2-5F03-ADF0-4C98-7106E39AC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23" y="3947160"/>
            <a:ext cx="1588010" cy="2316480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F0093035-7103-B912-686B-7258370607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754" b="13353"/>
          <a:stretch>
            <a:fillRect/>
          </a:stretch>
        </p:blipFill>
        <p:spPr>
          <a:xfrm>
            <a:off x="2142743" y="4655034"/>
            <a:ext cx="1463043" cy="1078992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247A8178-6802-7980-170C-93352A70C0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3903" y="4432489"/>
            <a:ext cx="1565605" cy="1409045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8E379904-43F8-A083-C242-5827CE0CB7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2624" y="4407408"/>
            <a:ext cx="1655449" cy="1489904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CA5177CC-3CD2-D377-130C-CD3253CC25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6094" y="4459429"/>
            <a:ext cx="1711758" cy="15405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2D8061-83FF-F6D6-213C-9F2AAC88A830}"/>
              </a:ext>
            </a:extLst>
          </p:cNvPr>
          <p:cNvSpPr/>
          <p:nvPr/>
        </p:nvSpPr>
        <p:spPr>
          <a:xfrm>
            <a:off x="-9625" y="-51150"/>
            <a:ext cx="9249878" cy="69091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>
              <a:solidFill>
                <a:srgbClr val="FF8C00"/>
              </a:solidFill>
              <a:latin typeface="Segoe UI"/>
            </a:endParaRPr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44508EDA-6F7F-0843-A945-1A6F700F785F}"/>
              </a:ext>
            </a:extLst>
          </p:cNvPr>
          <p:cNvSpPr/>
          <p:nvPr/>
        </p:nvSpPr>
        <p:spPr>
          <a:xfrm>
            <a:off x="217504" y="94148"/>
            <a:ext cx="2011680" cy="27432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6F6EA4-7B1C-7E2E-B757-04C4697C55E8}"/>
              </a:ext>
            </a:extLst>
          </p:cNvPr>
          <p:cNvSpPr txBox="1"/>
          <p:nvPr/>
        </p:nvSpPr>
        <p:spPr>
          <a:xfrm>
            <a:off x="51648" y="87396"/>
            <a:ext cx="2011680" cy="246221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1000" b="1" i="0" dirty="0">
                <a:solidFill>
                  <a:srgbClr val="FFFFFF"/>
                </a:solidFill>
                <a:latin typeface="Honeywell Sans TT Medium" panose="02010603040101060203" pitchFamily="2" charset="0"/>
              </a:rPr>
              <a:t>JTAG DEBU</a:t>
            </a:r>
            <a:r>
              <a:rPr lang="en-US" sz="1000" b="1" i="0" dirty="0">
                <a:solidFill>
                  <a:srgbClr val="FFFFFF"/>
                </a:solidFill>
                <a:latin typeface="Honeywell Sans TT Medium" panose="02010603040101060203" pitchFamily="2" charset="0"/>
              </a:rPr>
              <a:t>GGING AGENT</a:t>
            </a:r>
            <a:endParaRPr sz="1000" b="1" i="0" dirty="0">
              <a:solidFill>
                <a:srgbClr val="FFFFFF"/>
              </a:solidFill>
              <a:latin typeface="Honeywell Sans TT Medium" panose="02010603040101060203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41E21-6281-FB0C-59C2-1F0327964FEC}"/>
              </a:ext>
            </a:extLst>
          </p:cNvPr>
          <p:cNvSpPr txBox="1"/>
          <p:nvPr/>
        </p:nvSpPr>
        <p:spPr>
          <a:xfrm>
            <a:off x="169498" y="380619"/>
            <a:ext cx="8229600" cy="40011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FFFFFF"/>
                </a:solidFill>
                <a:latin typeface="Honeywell Sans TT Extrabold" panose="02010903040101060203" pitchFamily="2" charset="0"/>
              </a:rPr>
              <a:t>From Days to Hours - </a:t>
            </a:r>
            <a:r>
              <a:rPr lang="en-US" sz="2000" b="1" i="0" dirty="0">
                <a:solidFill>
                  <a:srgbClr val="FF0000"/>
                </a:solidFill>
                <a:latin typeface="Honeywell Sans TT Extrabold" panose="02010903040101060203" pitchFamily="2" charset="0"/>
              </a:rPr>
              <a:t>Autonomous Firmware </a:t>
            </a:r>
            <a:r>
              <a:rPr lang="en-US" sz="2000" b="1" i="0" dirty="0">
                <a:solidFill>
                  <a:srgbClr val="FFFFFF"/>
                </a:solidFill>
                <a:latin typeface="Honeywell Sans TT Extrabold" panose="02010903040101060203" pitchFamily="2" charset="0"/>
              </a:rPr>
              <a:t>Debugging</a:t>
            </a:r>
            <a:endParaRPr sz="2000" b="1" i="0" dirty="0">
              <a:solidFill>
                <a:srgbClr val="FFFFFF"/>
              </a:solidFill>
              <a:latin typeface="Honeywell Sans TT Extrabold" panose="02010903040101060203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0CC646-A602-35B2-7936-23B8E7707CD1}"/>
              </a:ext>
            </a:extLst>
          </p:cNvPr>
          <p:cNvSpPr/>
          <p:nvPr/>
        </p:nvSpPr>
        <p:spPr>
          <a:xfrm>
            <a:off x="295962" y="925887"/>
            <a:ext cx="8412480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86503D-F62C-5293-3A2C-A3F7F2B45F35}"/>
              </a:ext>
            </a:extLst>
          </p:cNvPr>
          <p:cNvSpPr/>
          <p:nvPr/>
        </p:nvSpPr>
        <p:spPr>
          <a:xfrm>
            <a:off x="0" y="6477380"/>
            <a:ext cx="9144000" cy="380619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JTAG Agentic Workflow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B97755-27E8-AE9F-C195-BFED5EA7B8AC}"/>
              </a:ext>
            </a:extLst>
          </p:cNvPr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6  /  9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FBDAC2C-9942-2866-6516-9717CCCDB49B}"/>
              </a:ext>
            </a:extLst>
          </p:cNvPr>
          <p:cNvSpPr/>
          <p:nvPr/>
        </p:nvSpPr>
        <p:spPr>
          <a:xfrm>
            <a:off x="0" y="9525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22CD561-351E-49A6-DFBC-D4F4E44A973F}"/>
              </a:ext>
            </a:extLst>
          </p:cNvPr>
          <p:cNvSpPr txBox="1"/>
          <p:nvPr/>
        </p:nvSpPr>
        <p:spPr>
          <a:xfrm>
            <a:off x="8086442" y="80772"/>
            <a:ext cx="84991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b="1" dirty="0">
                <a:solidFill>
                  <a:srgbClr val="D71920"/>
                </a:solidFill>
                <a:latin typeface="Honeywell Sans TT Extrabold" panose="02010903040101060203" pitchFamily="2" charset="0"/>
              </a:rPr>
              <a:t>Honeywell</a:t>
            </a:r>
            <a:endParaRPr sz="1000" b="1" dirty="0">
              <a:solidFill>
                <a:srgbClr val="D71920"/>
              </a:solidFill>
              <a:latin typeface="Honeywell Sans TT Extrabold" panose="02010903040101060203" pitchFamily="2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F31F4E3-D91E-2732-9939-F178CFD5BF60}"/>
              </a:ext>
            </a:extLst>
          </p:cNvPr>
          <p:cNvSpPr/>
          <p:nvPr/>
        </p:nvSpPr>
        <p:spPr>
          <a:xfrm>
            <a:off x="108637" y="6002671"/>
            <a:ext cx="1360118" cy="347472"/>
          </a:xfrm>
          <a:prstGeom prst="roundRect">
            <a:avLst>
              <a:gd name="adj" fmla="val 3128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Jira Ticket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C4748C2-4CE7-F9BD-0668-BF40955DBBB2}"/>
              </a:ext>
            </a:extLst>
          </p:cNvPr>
          <p:cNvSpPr/>
          <p:nvPr/>
        </p:nvSpPr>
        <p:spPr>
          <a:xfrm>
            <a:off x="1821561" y="5991862"/>
            <a:ext cx="2138019" cy="359319"/>
          </a:xfrm>
          <a:prstGeom prst="roundRect">
            <a:avLst>
              <a:gd name="adj" fmla="val 31287"/>
            </a:avLst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Honeywell Sans TT Medium" panose="02010603040101060203" pitchFamily="2" charset="0"/>
              </a:rPr>
              <a:t>JTAG Orchestrator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6DC9CF0-0F4B-5230-27D7-FE77EFA90347}"/>
              </a:ext>
            </a:extLst>
          </p:cNvPr>
          <p:cNvSpPr/>
          <p:nvPr/>
        </p:nvSpPr>
        <p:spPr>
          <a:xfrm>
            <a:off x="4156419" y="5990243"/>
            <a:ext cx="1360118" cy="359319"/>
          </a:xfrm>
          <a:prstGeom prst="roundRect">
            <a:avLst>
              <a:gd name="adj" fmla="val 31287"/>
            </a:avLst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Honeywell Sans TT Medium" panose="02010603040101060203" pitchFamily="2" charset="0"/>
              </a:rPr>
              <a:t>Sub Agents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FC5667B9-38FA-C6BC-7945-9148346B09CE}"/>
              </a:ext>
            </a:extLst>
          </p:cNvPr>
          <p:cNvSpPr/>
          <p:nvPr/>
        </p:nvSpPr>
        <p:spPr>
          <a:xfrm>
            <a:off x="5713377" y="6002671"/>
            <a:ext cx="1360118" cy="347472"/>
          </a:xfrm>
          <a:prstGeom prst="roundRect">
            <a:avLst>
              <a:gd name="adj" fmla="val 31287"/>
            </a:avLst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Hardware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CBD9960-1A2F-34B2-AD2A-76B0D5615B81}"/>
              </a:ext>
            </a:extLst>
          </p:cNvPr>
          <p:cNvSpPr/>
          <p:nvPr/>
        </p:nvSpPr>
        <p:spPr>
          <a:xfrm>
            <a:off x="7576237" y="5966461"/>
            <a:ext cx="1360118" cy="347472"/>
          </a:xfrm>
          <a:prstGeom prst="roundRect">
            <a:avLst>
              <a:gd name="adj" fmla="val 3128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 + Jira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C1DDACA-7A4D-FF53-6FF4-193C01AB5B54}"/>
              </a:ext>
            </a:extLst>
          </p:cNvPr>
          <p:cNvCxnSpPr>
            <a:stCxn id="43" idx="3"/>
            <a:endCxn id="44" idx="1"/>
          </p:cNvCxnSpPr>
          <p:nvPr/>
        </p:nvCxnSpPr>
        <p:spPr>
          <a:xfrm flipV="1">
            <a:off x="3959580" y="6169903"/>
            <a:ext cx="196839" cy="16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8DC922B-8A14-DA7D-F812-A0B1DFBCBA57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5516537" y="6176407"/>
            <a:ext cx="1968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732BDB33-901F-0D46-FD45-2AA039A17E75}"/>
              </a:ext>
            </a:extLst>
          </p:cNvPr>
          <p:cNvSpPr/>
          <p:nvPr/>
        </p:nvSpPr>
        <p:spPr>
          <a:xfrm>
            <a:off x="1676400" y="5915129"/>
            <a:ext cx="5646039" cy="518360"/>
          </a:xfrm>
          <a:prstGeom prst="round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050998B-E107-2C8C-AF4C-1FAB81C6F3A9}"/>
              </a:ext>
            </a:extLst>
          </p:cNvPr>
          <p:cNvCxnSpPr>
            <a:stCxn id="42" idx="3"/>
            <a:endCxn id="58" idx="1"/>
          </p:cNvCxnSpPr>
          <p:nvPr/>
        </p:nvCxnSpPr>
        <p:spPr>
          <a:xfrm flipV="1">
            <a:off x="1468755" y="6174309"/>
            <a:ext cx="207645" cy="2098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6BB16290-2204-9E11-ACDF-EB5CFC496409}"/>
              </a:ext>
            </a:extLst>
          </p:cNvPr>
          <p:cNvCxnSpPr>
            <a:stCxn id="58" idx="3"/>
          </p:cNvCxnSpPr>
          <p:nvPr/>
        </p:nvCxnSpPr>
        <p:spPr>
          <a:xfrm flipV="1">
            <a:off x="7322439" y="6169902"/>
            <a:ext cx="253798" cy="440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9">
            <a:extLst>
              <a:ext uri="{FF2B5EF4-FFF2-40B4-BE49-F238E27FC236}">
                <a16:creationId xmlns:a16="http://schemas.microsoft.com/office/drawing/2014/main" id="{83FC21B8-1D6A-0E10-640A-FBFD317EA131}"/>
              </a:ext>
            </a:extLst>
          </p:cNvPr>
          <p:cNvSpPr/>
          <p:nvPr/>
        </p:nvSpPr>
        <p:spPr>
          <a:xfrm>
            <a:off x="228226" y="1163037"/>
            <a:ext cx="4777830" cy="602300"/>
          </a:xfrm>
          <a:prstGeom prst="roundRect">
            <a:avLst>
              <a:gd name="adj" fmla="val 8519"/>
            </a:avLst>
          </a:prstGeom>
          <a:solidFill>
            <a:schemeClr val="tx1">
              <a:lumMod val="75000"/>
              <a:lumOff val="25000"/>
              <a:alpha val="25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Honeywell Sans TT Extrabold" panose="02010903040101060203" pitchFamily="2" charset="0"/>
              </a:rPr>
              <a:t>We didn’t theorize , we </a:t>
            </a:r>
            <a:r>
              <a:rPr lang="en-US" dirty="0">
                <a:solidFill>
                  <a:srgbClr val="D71920"/>
                </a:solidFill>
                <a:latin typeface="Honeywell Sans TT Extrabold" panose="02010903040101060203" pitchFamily="2" charset="0"/>
              </a:rPr>
              <a:t>debugged</a:t>
            </a:r>
            <a:r>
              <a:rPr lang="en-US" dirty="0">
                <a:solidFill>
                  <a:schemeClr val="bg1"/>
                </a:solidFill>
                <a:latin typeface="Honeywell Sans TT Extrabold" panose="02010903040101060203" pitchFamily="2" charset="0"/>
              </a:rPr>
              <a:t> it</a:t>
            </a:r>
          </a:p>
          <a:p>
            <a:r>
              <a:rPr lang="en-US" sz="1200" dirty="0">
                <a:solidFill>
                  <a:schemeClr val="bg1"/>
                </a:solidFill>
                <a:latin typeface="Honeywell Sans TT Extrabold" panose="02010903040101060203" pitchFamily="2" charset="0"/>
              </a:rPr>
              <a:t>Real Bugs. Real Hardware. Real Results</a:t>
            </a:r>
            <a:endParaRPr sz="1200" dirty="0">
              <a:solidFill>
                <a:schemeClr val="bg1"/>
              </a:solidFill>
              <a:latin typeface="Honeywell Sans TT Extrabold" panose="02010903040101060203" pitchFamily="2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929BB5D-811C-C1CD-B5AB-2567EB8F428C}"/>
              </a:ext>
            </a:extLst>
          </p:cNvPr>
          <p:cNvSpPr/>
          <p:nvPr/>
        </p:nvSpPr>
        <p:spPr>
          <a:xfrm rot="5400000">
            <a:off x="-48329" y="1439592"/>
            <a:ext cx="602300" cy="4919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5EBAF0D-3B30-7929-6CE8-8F565E34C2DF}"/>
              </a:ext>
            </a:extLst>
          </p:cNvPr>
          <p:cNvGrpSpPr/>
          <p:nvPr/>
        </p:nvGrpSpPr>
        <p:grpSpPr>
          <a:xfrm>
            <a:off x="217504" y="1964688"/>
            <a:ext cx="4777830" cy="1966216"/>
            <a:chOff x="217504" y="2060938"/>
            <a:chExt cx="4777830" cy="1966216"/>
          </a:xfrm>
        </p:grpSpPr>
        <p:sp>
          <p:nvSpPr>
            <p:cNvPr id="68" name="Rounded Rectangle 9">
              <a:extLst>
                <a:ext uri="{FF2B5EF4-FFF2-40B4-BE49-F238E27FC236}">
                  <a16:creationId xmlns:a16="http://schemas.microsoft.com/office/drawing/2014/main" id="{D9755412-6571-0005-3B88-EF575BBE41A4}"/>
                </a:ext>
              </a:extLst>
            </p:cNvPr>
            <p:cNvSpPr/>
            <p:nvPr/>
          </p:nvSpPr>
          <p:spPr>
            <a:xfrm>
              <a:off x="217504" y="2060938"/>
              <a:ext cx="4777830" cy="1966216"/>
            </a:xfrm>
            <a:prstGeom prst="roundRect">
              <a:avLst>
                <a:gd name="adj" fmla="val 7658"/>
              </a:avLst>
            </a:prstGeom>
            <a:solidFill>
              <a:schemeClr val="tx1">
                <a:lumMod val="75000"/>
                <a:lumOff val="25000"/>
                <a:alpha val="2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Honeywell Sans TT Extrabold" panose="020F0502020204030204" pitchFamily="2" charset="0"/>
              </a:endParaRPr>
            </a:p>
            <a:p>
              <a:r>
                <a:rPr lang="en-US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Honeywell Sans TT Extrabold" panose="020F0502020204030204" pitchFamily="2" charset="0"/>
                </a:rPr>
                <a:t>Case 1 </a:t>
              </a:r>
              <a:r>
                <a:rPr lang="en-US" dirty="0">
                  <a:solidFill>
                    <a:schemeClr val="bg2"/>
                  </a:solidFill>
                  <a:latin typeface="Honeywell Sans TT Extrabold" panose="020F0502020204030204" pitchFamily="2" charset="0"/>
                </a:rPr>
                <a:t>–</a:t>
              </a:r>
              <a:r>
                <a:rPr lang="en-US" dirty="0">
                  <a:solidFill>
                    <a:srgbClr val="FF0000"/>
                  </a:solidFill>
                  <a:latin typeface="Honeywell Sans TT Extrabold" panose="020F0502020204030204" pitchFamily="2" charset="0"/>
                </a:rPr>
                <a:t> The Integration Mystery</a:t>
              </a:r>
            </a:p>
            <a:p>
              <a:endParaRPr lang="en-US" dirty="0">
                <a:solidFill>
                  <a:srgbClr val="FF0000"/>
                </a:solidFill>
                <a:latin typeface="Honeywell Sans TT Extrabold" panose="020F0502020204030204" pitchFamily="2" charset="0"/>
              </a:endParaRPr>
            </a:p>
            <a:p>
              <a:r>
                <a:rPr lang="en-US" sz="1400" dirty="0">
                  <a:solidFill>
                    <a:schemeClr val="bg1"/>
                  </a:solidFill>
                  <a:latin typeface="Honeywell Sans TT Medium" panose="02010603040101060203" pitchFamily="2" charset="0"/>
                </a:rPr>
                <a:t>Two components. Work separately. Combined, ends up with crash.</a:t>
              </a:r>
            </a:p>
            <a:p>
              <a:r>
                <a:rPr lang="en-US" sz="1400" b="1" dirty="0">
                  <a:solidFill>
                    <a:srgbClr val="FF0000"/>
                  </a:solidFill>
                  <a:latin typeface="Honeywell Sans TT Medium" panose="02010603040101060203" pitchFamily="2" charset="0"/>
                </a:rPr>
                <a:t>Agent</a:t>
              </a:r>
              <a:r>
                <a:rPr lang="en-US" sz="1400" dirty="0">
                  <a:solidFill>
                    <a:schemeClr val="bg1"/>
                  </a:solidFill>
                  <a:latin typeface="Honeywell Sans TT Medium" panose="02010603040101060203" pitchFamily="2" charset="0"/>
                </a:rPr>
                <a:t> identified root cause </a:t>
              </a:r>
              <a:r>
                <a:rPr lang="en-US" sz="1400" dirty="0">
                  <a:solidFill>
                    <a:schemeClr val="bg2"/>
                  </a:solidFill>
                  <a:latin typeface="Honeywell Sans TT Medium" panose="02010603040101060203" pitchFamily="2" charset="0"/>
                </a:rPr>
                <a:t>in 1 hour</a:t>
              </a:r>
              <a:r>
                <a:rPr lang="en-US" sz="1400" dirty="0">
                  <a:solidFill>
                    <a:schemeClr val="bg1"/>
                  </a:solidFill>
                  <a:latin typeface="Honeywell Sans TT Medium" panose="02010603040101060203" pitchFamily="2" charset="0"/>
                </a:rPr>
                <a:t>.</a:t>
              </a:r>
            </a:p>
            <a:p>
              <a:r>
                <a:rPr lang="en-US" sz="1400" dirty="0">
                  <a:solidFill>
                    <a:schemeClr val="bg1"/>
                  </a:solidFill>
                  <a:latin typeface="Honeywell Sans TT Medium" panose="02010603040101060203" pitchFamily="2" charset="0"/>
                </a:rPr>
                <a:t>Estimated Story Time for investigated reduced from 3 Days to 1 Day with actual working fix , that’s 66 %-time reduction</a:t>
              </a:r>
            </a:p>
            <a:p>
              <a:endParaRPr sz="1400" dirty="0">
                <a:solidFill>
                  <a:schemeClr val="bg1"/>
                </a:solidFill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F2289228-479E-E409-22E9-F8FE212D57AC}"/>
                </a:ext>
              </a:extLst>
            </p:cNvPr>
            <p:cNvSpPr/>
            <p:nvPr/>
          </p:nvSpPr>
          <p:spPr>
            <a:xfrm rot="5400000" flipV="1">
              <a:off x="-704429" y="2982872"/>
              <a:ext cx="1922325" cy="7845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7FA79526-D9AC-DEBB-F1EF-17013E0C5193}"/>
              </a:ext>
            </a:extLst>
          </p:cNvPr>
          <p:cNvGrpSpPr/>
          <p:nvPr/>
        </p:nvGrpSpPr>
        <p:grpSpPr>
          <a:xfrm>
            <a:off x="217504" y="4179994"/>
            <a:ext cx="4777830" cy="1486044"/>
            <a:chOff x="196678" y="4102268"/>
            <a:chExt cx="4777830" cy="1966216"/>
          </a:xfrm>
        </p:grpSpPr>
        <p:sp>
          <p:nvSpPr>
            <p:cNvPr id="70" name="Rounded Rectangle 9">
              <a:extLst>
                <a:ext uri="{FF2B5EF4-FFF2-40B4-BE49-F238E27FC236}">
                  <a16:creationId xmlns:a16="http://schemas.microsoft.com/office/drawing/2014/main" id="{5EC96128-9D56-1019-6428-5E08FCF66A00}"/>
                </a:ext>
              </a:extLst>
            </p:cNvPr>
            <p:cNvSpPr/>
            <p:nvPr/>
          </p:nvSpPr>
          <p:spPr>
            <a:xfrm>
              <a:off x="196678" y="4102268"/>
              <a:ext cx="4777830" cy="1966216"/>
            </a:xfrm>
            <a:prstGeom prst="roundRect">
              <a:avLst>
                <a:gd name="adj" fmla="val 8519"/>
              </a:avLst>
            </a:prstGeom>
            <a:solidFill>
              <a:schemeClr val="tx1">
                <a:lumMod val="75000"/>
                <a:lumOff val="25000"/>
                <a:alpha val="2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Honeywell Sans TT Extrabold" panose="020F0502020204030204" pitchFamily="2" charset="0"/>
                </a:rPr>
                <a:t>Case 2 </a:t>
              </a:r>
              <a:r>
                <a:rPr lang="en-US" dirty="0">
                  <a:solidFill>
                    <a:schemeClr val="bg2"/>
                  </a:solidFill>
                  <a:latin typeface="Honeywell Sans TT Extrabold" panose="020F0502020204030204" pitchFamily="2" charset="0"/>
                </a:rPr>
                <a:t>–</a:t>
              </a:r>
              <a:r>
                <a:rPr lang="en-US" dirty="0">
                  <a:solidFill>
                    <a:srgbClr val="FF0000"/>
                  </a:solidFill>
                  <a:latin typeface="Honeywell Sans TT Extrabold" panose="020F0502020204030204" pitchFamily="2" charset="0"/>
                </a:rPr>
                <a:t> The Temperature Bug</a:t>
              </a:r>
            </a:p>
            <a:p>
              <a:endParaRPr lang="en-US" dirty="0">
                <a:solidFill>
                  <a:srgbClr val="FF0000"/>
                </a:solidFill>
                <a:latin typeface="Honeywell Sans TT Extrabold" panose="020F0502020204030204" pitchFamily="2" charset="0"/>
              </a:endParaRPr>
            </a:p>
            <a:p>
              <a:r>
                <a:rPr lang="en-US" sz="1400" dirty="0">
                  <a:solidFill>
                    <a:srgbClr val="FF0000"/>
                  </a:solidFill>
                  <a:latin typeface="Honeywell Sans TT Medium" panose="02010603040101060203" pitchFamily="2" charset="0"/>
                </a:rPr>
                <a:t>ADC fails</a:t>
              </a:r>
              <a:r>
                <a:rPr lang="en-US" sz="1400" dirty="0">
                  <a:solidFill>
                    <a:schemeClr val="bg1"/>
                  </a:solidFill>
                  <a:latin typeface="Honeywell Sans TT Medium" panose="02010603040101060203" pitchFamily="2" charset="0"/>
                </a:rPr>
                <a:t> only in cold. Needs thermal chamber to test.</a:t>
              </a:r>
            </a:p>
            <a:p>
              <a:r>
                <a:rPr lang="en-US" sz="1400" dirty="0">
                  <a:solidFill>
                    <a:schemeClr val="bg1"/>
                  </a:solidFill>
                  <a:latin typeface="Honeywell Sans TT Medium" panose="02010603040101060203" pitchFamily="2" charset="0"/>
                </a:rPr>
                <a:t>Agent simulated the failure at room temperature.</a:t>
              </a:r>
            </a:p>
            <a:p>
              <a:r>
                <a:rPr lang="en-US" sz="1400" dirty="0">
                  <a:solidFill>
                    <a:schemeClr val="bg1"/>
                  </a:solidFill>
                  <a:latin typeface="Honeywell Sans TT Medium" panose="02010603040101060203" pitchFamily="2" charset="0"/>
                </a:rPr>
                <a:t>Removed Chamber dependency for development</a:t>
              </a:r>
              <a:endParaRPr sz="1400" dirty="0">
                <a:solidFill>
                  <a:schemeClr val="bg1"/>
                </a:solidFill>
                <a:latin typeface="Honeywell Sans TT Medium" panose="02010603040101060203" pitchFamily="2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65DB85A0-F603-451D-9F3F-708C2034FD3A}"/>
                </a:ext>
              </a:extLst>
            </p:cNvPr>
            <p:cNvSpPr/>
            <p:nvPr/>
          </p:nvSpPr>
          <p:spPr>
            <a:xfrm rot="5400000" flipV="1">
              <a:off x="-725255" y="5024202"/>
              <a:ext cx="1922325" cy="78458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4" name="Rounded Rectangle 30">
            <a:extLst>
              <a:ext uri="{FF2B5EF4-FFF2-40B4-BE49-F238E27FC236}">
                <a16:creationId xmlns:a16="http://schemas.microsoft.com/office/drawing/2014/main" id="{2C01BD37-DF1C-2378-617E-46A879769956}"/>
              </a:ext>
            </a:extLst>
          </p:cNvPr>
          <p:cNvSpPr/>
          <p:nvPr/>
        </p:nvSpPr>
        <p:spPr>
          <a:xfrm>
            <a:off x="5516537" y="4251020"/>
            <a:ext cx="3511296" cy="1475635"/>
          </a:xfrm>
          <a:prstGeom prst="roundRect">
            <a:avLst/>
          </a:prstGeom>
          <a:solidFill>
            <a:srgbClr val="2B2B2B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rgbClr val="FF0000"/>
                </a:solidFill>
                <a:latin typeface="Honeywell Sans TT Extrabold" panose="02010903040101060203" pitchFamily="2" charset="0"/>
              </a:rPr>
              <a:t>Token Optimization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Honeywell Sans TT Light" panose="02010303040101060203" pitchFamily="2" charset="0"/>
              </a:rPr>
              <a:t>Not every task needs intelligence , agent has built in </a:t>
            </a:r>
            <a:r>
              <a:rPr lang="en-US" sz="1200" b="1" dirty="0">
                <a:solidFill>
                  <a:srgbClr val="FF0000"/>
                </a:solidFill>
                <a:latin typeface="Honeywell Sans TT Light" panose="02010303040101060203" pitchFamily="2" charset="0"/>
              </a:rPr>
              <a:t>smart routing </a:t>
            </a:r>
            <a:r>
              <a:rPr lang="en-US" sz="1200" dirty="0">
                <a:solidFill>
                  <a:schemeClr val="bg1"/>
                </a:solidFill>
                <a:latin typeface="Honeywell Sans TT Light" panose="02010303040101060203" pitchFamily="2" charset="0"/>
              </a:rPr>
              <a:t>that cuts cost by 95% on routine operations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Honeywell Sans TT Light" panose="02010303040101060203" pitchFamily="2" charset="0"/>
              </a:rPr>
              <a:t>Multi Agent System , Pre-loaded Instruction and lower </a:t>
            </a:r>
            <a:r>
              <a:rPr lang="en-US" sz="1200" b="1" dirty="0">
                <a:solidFill>
                  <a:srgbClr val="FF0000"/>
                </a:solidFill>
                <a:latin typeface="Honeywell Sans TT Light" panose="02010303040101060203" pitchFamily="2" charset="0"/>
              </a:rPr>
              <a:t>temperature</a:t>
            </a:r>
            <a:r>
              <a:rPr lang="en-US" sz="1200" dirty="0">
                <a:solidFill>
                  <a:schemeClr val="bg1"/>
                </a:solidFill>
                <a:latin typeface="Honeywell Sans TT Light" panose="02010303040101060203" pitchFamily="2" charset="0"/>
              </a:rPr>
              <a:t>  all contribute to effective token usage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8DFF0E5-BD69-28E5-638D-900BBF115C16}"/>
              </a:ext>
            </a:extLst>
          </p:cNvPr>
          <p:cNvSpPr/>
          <p:nvPr/>
        </p:nvSpPr>
        <p:spPr>
          <a:xfrm>
            <a:off x="5516537" y="4259488"/>
            <a:ext cx="3511296" cy="4571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18FC13-41D1-9C84-44EB-76BF778FF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446997" y="319492"/>
            <a:ext cx="3157604" cy="442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397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PG5 STQC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461665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STQC Agent for BIS Certification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61665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E8E8E8"/>
                </a:solidFill>
                <a:latin typeface="Arial"/>
              </a:rPr>
              <a:t>IoT security and surveillance devices need BIS certification governed by STQC guidelines for in-house designs and BTS sales.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2011680"/>
            <a:ext cx="5029200" cy="1353312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2011680"/>
            <a:ext cx="50292" cy="13533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75488" y="2395728"/>
            <a:ext cx="50292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2395728"/>
            <a:ext cx="50292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084832"/>
            <a:ext cx="411480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Arial"/>
              </a:rPr>
              <a:t>Creates STQC
Audit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606040"/>
            <a:ext cx="4069080" cy="6858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Crawls code, configuration and evidence sources to prepare auditor-ready STQC artifacts.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3520440"/>
            <a:ext cx="5029200" cy="1353312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3520440"/>
            <a:ext cx="50292" cy="135331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75488" y="3904488"/>
            <a:ext cx="502920" cy="50292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3904488"/>
            <a:ext cx="50292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593592"/>
            <a:ext cx="411480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71920"/>
                </a:solidFill>
                <a:latin typeface="Arial"/>
              </a:rPr>
              <a:t>Guideline Verdict:
READY / NOT_READY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114800"/>
            <a:ext cx="4069080" cy="6858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Checks STQC ER guidance, hard rules such as no foreign characters, and submission completeness.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5029200"/>
            <a:ext cx="5029200" cy="1353312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5029200"/>
            <a:ext cx="50292" cy="135331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75488" y="5413248"/>
            <a:ext cx="502920" cy="50292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" y="5413248"/>
            <a:ext cx="50292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5102352"/>
            <a:ext cx="411480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71920"/>
                </a:solidFill>
                <a:latin typeface="Arial"/>
              </a:rPr>
              <a:t>Jira Remediation
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5623560"/>
            <a:ext cx="4069080" cy="6858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Every NOT_READY result highlights the failing section and creates stories or defects to fix 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23560" y="1965960"/>
            <a:ext cx="3182112" cy="449884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623560" y="1965960"/>
            <a:ext cx="3182112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23560" y="2029968"/>
            <a:ext cx="3182112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71920"/>
                </a:solidFill>
                <a:latin typeface="Arial"/>
              </a:rPr>
              <a:t>STQC SUBMISSION GATE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23560" y="2423160"/>
            <a:ext cx="3182112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824728" y="2542032"/>
            <a:ext cx="2779776" cy="153619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824728" y="2542032"/>
            <a:ext cx="2779776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629400" y="2706624"/>
            <a:ext cx="621792" cy="62179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29400" y="2706624"/>
            <a:ext cx="621792" cy="6217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87768" y="2743200"/>
            <a:ext cx="1316736" cy="461665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E7D32"/>
                </a:solidFill>
                <a:latin typeface="Arial"/>
              </a:rPr>
              <a:t>READY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79592" y="3337453"/>
            <a:ext cx="2651760" cy="6858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Arial"/>
              </a:rPr>
              <a:t>Evidence pack ready.
Cleared for auditor review.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24728" y="4224528"/>
            <a:ext cx="2779776" cy="153619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824728" y="4224528"/>
            <a:ext cx="2779776" cy="45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629400" y="4389120"/>
            <a:ext cx="621792" cy="621792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29400" y="4389120"/>
            <a:ext cx="621792" cy="6217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87768" y="4425696"/>
            <a:ext cx="1417320" cy="38404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71920"/>
                </a:solidFill>
                <a:latin typeface="Arial"/>
              </a:rPr>
              <a:t>NOT READY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88736" y="5060357"/>
            <a:ext cx="2651760" cy="6858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Arial"/>
              </a:rPr>
              <a:t>Guideline gaps found.
Create Jira stories.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8  /  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QUANTIFIED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Efficiency, Time Saved and Token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458200" cy="40233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40" b="0" i="1">
                <a:solidFill>
                  <a:srgbClr val="E8E8E8"/>
                </a:solidFill>
                <a:latin typeface="Arial"/>
              </a:rPr>
              <a:t>Realistic pilot targets for the reduced 3-minute V10 story: measurable STQC acceleration, PG3 generation, JTAG debugging, QA triage and LLM cost control.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901952"/>
            <a:ext cx="8503920" cy="4187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901952"/>
            <a:ext cx="8503920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901952"/>
            <a:ext cx="306324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3280" y="1901952"/>
            <a:ext cx="544068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1975104"/>
            <a:ext cx="30632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11111"/>
                </a:solidFill>
                <a:latin typeface="Arial"/>
              </a:rPr>
              <a:t>CRITERIA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975104"/>
            <a:ext cx="544068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11111"/>
                </a:solidFill>
                <a:latin typeface="Arial"/>
              </a:rPr>
              <a:t>KEY METRIC FOCUS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286000"/>
            <a:ext cx="3063240" cy="65836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83280" y="2286000"/>
            <a:ext cx="5440680" cy="65836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2286000"/>
            <a:ext cx="50292" cy="6583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83280" y="2286000"/>
            <a:ext cx="20116" cy="658368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2286000"/>
            <a:ext cx="8503920" cy="10972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632" y="2395728"/>
            <a:ext cx="2743200" cy="49377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STQC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4448" y="2395728"/>
            <a:ext cx="5056632" cy="470513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19" b="0" i="0" dirty="0">
                <a:solidFill>
                  <a:srgbClr val="E8E8E8"/>
                </a:solidFill>
                <a:latin typeface="Arial"/>
              </a:rPr>
              <a:t>- Submission evidence pack: 8-12 weeks -&gt; 1-3 days
- First-pack effort reduction: 90-95%
- Hard-rule checks: foreign characters, STQC ER coverage, missing sections</a:t>
            </a:r>
          </a:p>
          <a:p>
            <a:pPr algn="l"/>
            <a:endParaRPr sz="819" b="0" i="0" dirty="0">
              <a:solidFill>
                <a:srgbClr val="E8E8E8"/>
              </a:solidFill>
              <a:latin typeface="Arial"/>
            </a:endParaRPr>
          </a:p>
          <a:p>
            <a:pPr algn="l"/>
            <a:endParaRPr sz="819" b="0" i="0" dirty="0">
              <a:solidFill>
                <a:srgbClr val="E8E8E8"/>
              </a:solidFill>
              <a:latin typeface="Arial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20040" y="2944368"/>
            <a:ext cx="3063240" cy="475488"/>
          </a:xfrm>
          <a:prstGeom prst="rect">
            <a:avLst/>
          </a:prstGeom>
          <a:solidFill>
            <a:srgbClr val="0B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383280" y="2944368"/>
            <a:ext cx="5440680" cy="475488"/>
          </a:xfrm>
          <a:prstGeom prst="rect">
            <a:avLst/>
          </a:prstGeom>
          <a:solidFill>
            <a:srgbClr val="0B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2944368"/>
            <a:ext cx="50292" cy="47548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383280" y="2944368"/>
            <a:ext cx="20116" cy="475488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0040" y="2944368"/>
            <a:ext cx="8503920" cy="10972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4632" y="3054096"/>
            <a:ext cx="2743200" cy="3108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PG3 Firmware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4448" y="2992446"/>
            <a:ext cx="5056632" cy="60939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40" b="0" i="0" dirty="0">
                <a:solidFill>
                  <a:srgbClr val="E8E8E8"/>
                </a:solidFill>
                <a:latin typeface="Arial"/>
              </a:rPr>
              <a:t>- Firmware first draft and validation: </a:t>
            </a:r>
            <a:r>
              <a:rPr lang="en-US" sz="840" b="0" i="0" dirty="0">
                <a:solidFill>
                  <a:srgbClr val="E8E8E8"/>
                </a:solidFill>
                <a:latin typeface="Arial"/>
              </a:rPr>
              <a:t>12</a:t>
            </a:r>
            <a:r>
              <a:rPr sz="840" b="0" i="0" dirty="0">
                <a:solidFill>
                  <a:srgbClr val="E8E8E8"/>
                </a:solidFill>
                <a:latin typeface="Arial"/>
              </a:rPr>
              <a:t>-</a:t>
            </a:r>
            <a:r>
              <a:rPr lang="en-US" sz="840" b="0" i="0" dirty="0">
                <a:solidFill>
                  <a:srgbClr val="E8E8E8"/>
                </a:solidFill>
                <a:latin typeface="Arial"/>
              </a:rPr>
              <a:t>1</a:t>
            </a:r>
            <a:r>
              <a:rPr sz="840" b="0" i="0" dirty="0">
                <a:solidFill>
                  <a:srgbClr val="E8E8E8"/>
                </a:solidFill>
                <a:latin typeface="Arial"/>
              </a:rPr>
              <a:t>5 </a:t>
            </a:r>
            <a:r>
              <a:rPr lang="en-US" sz="840" b="0" i="0" dirty="0">
                <a:solidFill>
                  <a:srgbClr val="E8E8E8"/>
                </a:solidFill>
                <a:latin typeface="Arial"/>
              </a:rPr>
              <a:t>months</a:t>
            </a:r>
            <a:r>
              <a:rPr sz="840" b="0" i="0" dirty="0">
                <a:solidFill>
                  <a:srgbClr val="E8E8E8"/>
                </a:solidFill>
                <a:latin typeface="Arial"/>
              </a:rPr>
              <a:t> -&gt; </a:t>
            </a:r>
            <a:r>
              <a:rPr lang="en-US" sz="840" b="0" i="0" dirty="0">
                <a:solidFill>
                  <a:srgbClr val="E8E8E8"/>
                </a:solidFill>
                <a:latin typeface="Arial"/>
              </a:rPr>
              <a:t>8-10 months</a:t>
            </a:r>
            <a:r>
              <a:rPr sz="840" b="0" i="0" dirty="0">
                <a:solidFill>
                  <a:srgbClr val="E8E8E8"/>
                </a:solidFill>
                <a:latin typeface="Arial"/>
              </a:rPr>
              <a:t>
- Faster first loop: 45-60%
- Context injected: datasheet, PRD, SDK, BSP, OS/RTOS</a:t>
            </a:r>
          </a:p>
          <a:p>
            <a:pPr algn="l"/>
            <a:endParaRPr sz="840" b="0" i="0" dirty="0">
              <a:solidFill>
                <a:srgbClr val="E8E8E8"/>
              </a:solidFill>
              <a:latin typeface="Arial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20040" y="3419856"/>
            <a:ext cx="3063240" cy="65836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383280" y="3419856"/>
            <a:ext cx="5440680" cy="65836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0040" y="3419856"/>
            <a:ext cx="50292" cy="65836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383280" y="3419856"/>
            <a:ext cx="20116" cy="658368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0040" y="3419856"/>
            <a:ext cx="8503920" cy="10972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4632" y="3529584"/>
            <a:ext cx="2743200" cy="49377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JTAG + QA Gate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84448" y="3529584"/>
            <a:ext cx="5056632" cy="350865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40" b="0" i="0" dirty="0">
                <a:solidFill>
                  <a:srgbClr val="E8E8E8"/>
                </a:solidFill>
                <a:latin typeface="Arial"/>
              </a:rPr>
              <a:t>- JTAG root cause: 1-2 days -&gt; under 2 hours
- QA release triage: 2-3 days -&gt; under 4 hours
- NOT_READY creates next-release Jira priorities</a:t>
            </a:r>
          </a:p>
          <a:p>
            <a:pPr algn="l"/>
            <a:endParaRPr sz="840" b="0" i="0" dirty="0">
              <a:solidFill>
                <a:srgbClr val="E8E8E8"/>
              </a:solidFill>
              <a:latin typeface="Arial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20040" y="4078224"/>
            <a:ext cx="3063240" cy="932688"/>
          </a:xfrm>
          <a:prstGeom prst="rect">
            <a:avLst/>
          </a:prstGeom>
          <a:solidFill>
            <a:srgbClr val="0B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383280" y="4078224"/>
            <a:ext cx="5440680" cy="932688"/>
          </a:xfrm>
          <a:prstGeom prst="rect">
            <a:avLst/>
          </a:prstGeom>
          <a:solidFill>
            <a:srgbClr val="0B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20040" y="4078224"/>
            <a:ext cx="50292" cy="93268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383280" y="4078224"/>
            <a:ext cx="20116" cy="932688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20040" y="4078224"/>
            <a:ext cx="8503920" cy="10972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84632" y="4187952"/>
            <a:ext cx="2743200" cy="7680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30" b="1" i="0">
                <a:solidFill>
                  <a:srgbClr val="FFFFFF"/>
                </a:solidFill>
                <a:latin typeface="Arial"/>
              </a:rPr>
              <a:t>Agentic AI execution pattern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84448" y="4187952"/>
            <a:ext cx="5056632" cy="466281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10" b="0" i="0" dirty="0">
                <a:solidFill>
                  <a:srgbClr val="E8E8E8"/>
                </a:solidFill>
                <a:latin typeface="Arial"/>
              </a:rPr>
              <a:t>- Reusable agents: PRD ingestion, firmware generation, JTAG debug, QA gate, STQC
- Evidence traceability: Confluence -&gt; Jira -&gt; GitHub -&gt; QA -&gt; audit pack
- Human choice retained at story selection and release gate</a:t>
            </a:r>
          </a:p>
          <a:p>
            <a:pPr algn="l"/>
            <a:endParaRPr sz="810" b="0" i="0" dirty="0">
              <a:solidFill>
                <a:srgbClr val="E8E8E8"/>
              </a:solidFill>
              <a:latin typeface="Arial"/>
            </a:endParaRPr>
          </a:p>
          <a:p>
            <a:pPr algn="l"/>
            <a:endParaRPr sz="810" b="0" i="0" dirty="0">
              <a:solidFill>
                <a:srgbClr val="E8E8E8"/>
              </a:solidFill>
              <a:latin typeface="Arial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20040" y="5010912"/>
            <a:ext cx="3063240" cy="107899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383280" y="5010912"/>
            <a:ext cx="5440680" cy="107899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20040" y="5010912"/>
            <a:ext cx="50292" cy="10789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383280" y="5010912"/>
            <a:ext cx="20116" cy="1078992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20040" y="5010912"/>
            <a:ext cx="8503920" cy="10972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84632" y="5120640"/>
            <a:ext cx="2743200" cy="9144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30" b="1" i="0">
                <a:solidFill>
                  <a:srgbClr val="FFFFFF"/>
                </a:solidFill>
                <a:latin typeface="Arial"/>
              </a:rPr>
              <a:t>LLM selection strategies and token optimization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84448" y="5120640"/>
            <a:ext cx="5056632" cy="9144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790" b="0" i="0">
                <a:solidFill>
                  <a:srgbClr val="E8E8E8"/>
                </a:solidFill>
                <a:latin typeface="Arial"/>
              </a:rPr>
              <a:t>- Token reduction: 35-45% using routed context and retrieval
- STQC prompt caching: 80%+ reusable guideline/datasheet context on repeat runs
- Compact evidence summaries reduce review and audit-prep cost</a:t>
            </a:r>
          </a:p>
          <a:p>
            <a:pPr algn="l"/>
            <a:endParaRPr sz="790" b="0" i="0">
              <a:solidFill>
                <a:srgbClr val="E8E8E8"/>
              </a:solidFill>
              <a:latin typeface="Arial"/>
            </a:endParaRPr>
          </a:p>
          <a:p>
            <a:pPr algn="l"/>
            <a:endParaRPr sz="790" b="0" i="0">
              <a:solidFill>
                <a:srgbClr val="E8E8E8"/>
              </a:solidFill>
              <a:latin typeface="Arial"/>
            </a:endParaRPr>
          </a:p>
          <a:p>
            <a:pPr algn="l"/>
            <a:endParaRPr sz="790" b="0" i="0">
              <a:solidFill>
                <a:srgbClr val="E8E8E8"/>
              </a:solidFill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320040" y="6272784"/>
            <a:ext cx="8503920" cy="219456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9  /  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4632" y="6234869"/>
            <a:ext cx="8138160" cy="276999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0000"/>
                </a:solidFill>
                <a:latin typeface="Arial"/>
              </a:rPr>
              <a:t>FOCUS: AEPLO loops across PRD, PG3 firmware, JTAG, QA and STQC until READY.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385D4FBCD491449E1D36F0103336E0" ma:contentTypeVersion="3" ma:contentTypeDescription="Create a new document." ma:contentTypeScope="" ma:versionID="05b8c16f72a465d94175fee1a9f0cdb1">
  <xsd:schema xmlns:xsd="http://www.w3.org/2001/XMLSchema" xmlns:xs="http://www.w3.org/2001/XMLSchema" xmlns:p="http://schemas.microsoft.com/office/2006/metadata/properties" xmlns:ns2="e94ddfc3-4734-4b9a-ae26-16534f892664" targetNamespace="http://schemas.microsoft.com/office/2006/metadata/properties" ma:root="true" ma:fieldsID="5da84732ee269f2f8c69a64254ea57c1" ns2:_="">
    <xsd:import namespace="e94ddfc3-4734-4b9a-ae26-16534f89266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4ddfc3-4734-4b9a-ae26-16534f8926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64E7DF-7969-461F-8D79-4E2223D5DA1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0049F5-D881-4A27-9198-FB7AEB41FA35}">
  <ds:schemaRefs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www.w3.org/XML/1998/namespace"/>
    <ds:schemaRef ds:uri="http://purl.org/dc/dcmitype/"/>
    <ds:schemaRef ds:uri="e94ddfc3-4734-4b9a-ae26-16534f892664"/>
  </ds:schemaRefs>
</ds:datastoreItem>
</file>

<file path=customXml/itemProps3.xml><?xml version="1.0" encoding="utf-8"?>
<ds:datastoreItem xmlns:ds="http://schemas.openxmlformats.org/officeDocument/2006/customXml" ds:itemID="{F3521981-0FA2-42A5-9139-0A1170FE2067}">
  <ds:schemaRefs>
    <ds:schemaRef ds:uri="e94ddfc3-4734-4b9a-ae26-16534f89266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872</TotalTime>
  <Words>1068</Words>
  <Application>Microsoft Office PowerPoint</Application>
  <PresentationFormat>On-screen Show (4:3)</PresentationFormat>
  <Paragraphs>129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Aptos</vt:lpstr>
      <vt:lpstr>Arial</vt:lpstr>
      <vt:lpstr>Calibri</vt:lpstr>
      <vt:lpstr>Honeywell Sans TT Extrabold</vt:lpstr>
      <vt:lpstr>Honeywell Sans TT Light</vt:lpstr>
      <vt:lpstr>Honeywell Sans TT Medium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Shrivastava, Shyam</dc:creator>
  <cp:keywords/>
  <dc:description>generated using python-pptx</dc:description>
  <cp:lastModifiedBy>Shrivastava, Shyam</cp:lastModifiedBy>
  <cp:revision>18</cp:revision>
  <dcterms:created xsi:type="dcterms:W3CDTF">2013-01-27T09:14:16Z</dcterms:created>
  <dcterms:modified xsi:type="dcterms:W3CDTF">2026-06-18T05:42:01Z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0x010100F3385D4FBCD491449E1D36F0103336E0</vt:lpwstr>
  </property>
</Properties>
</file>