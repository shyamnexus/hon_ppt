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389120" y="388620"/>
            <a:ext cx="5669280" cy="5669280"/>
          </a:xfrm>
          <a:prstGeom prst="ellipse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74920" y="1074420"/>
            <a:ext cx="4297680" cy="4297680"/>
          </a:xfrm>
          <a:prstGeom prst="ellipse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97880" y="1897380"/>
            <a:ext cx="2651760" cy="2651760"/>
          </a:xfrm>
          <a:prstGeom prst="ellipse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188720"/>
            <a:ext cx="73152" cy="7315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24728" y="1691640"/>
            <a:ext cx="73152" cy="7315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71616" y="2194560"/>
            <a:ext cx="73152" cy="7315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18504" y="2697480"/>
            <a:ext cx="73152" cy="7315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65392" y="3200400"/>
            <a:ext cx="73152" cy="7315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12280" y="1188720"/>
            <a:ext cx="73152" cy="7315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9168" y="1691640"/>
            <a:ext cx="73152" cy="7315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06056" y="2194560"/>
            <a:ext cx="73152" cy="7315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52944" y="2697480"/>
            <a:ext cx="73152" cy="7315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99832" y="3200400"/>
            <a:ext cx="73152" cy="7315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188720"/>
            <a:ext cx="73152" cy="7315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93608" y="1691640"/>
            <a:ext cx="73152" cy="7315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" y="1005840"/>
            <a:ext cx="54864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AI-DRIVEN EMBEDDED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1664208"/>
            <a:ext cx="54864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PRODUCT LIFECYCLE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2322576"/>
            <a:ext cx="54864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400" b="1" i="0">
                <a:solidFill>
                  <a:srgbClr val="00C8F0"/>
                </a:solidFill>
                <a:latin typeface="Segoe UI"/>
              </a:rPr>
              <a:t>ORCHESTRATOR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2608" y="3063240"/>
            <a:ext cx="1143000" cy="310896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3063240"/>
            <a:ext cx="11430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VERSION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" y="3730752"/>
            <a:ext cx="5303520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350" b="0" i="1">
                <a:solidFill>
                  <a:srgbClr val="B8D0EC"/>
                </a:solidFill>
                <a:latin typeface="Segoe UI"/>
              </a:rPr>
              <a:t>3-minute executive story: PRD -&gt; firmware -&gt; JTAG evidence -&gt; QA READY -&gt; STQC submission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" y="4892040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6080A8"/>
                </a:solidFill>
                <a:latin typeface="Segoe UI"/>
              </a:rPr>
              <a:t>Atharva | Manas | Sheraaz | Shyam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6528816"/>
            <a:ext cx="6858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1 / 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528816"/>
            <a:ext cx="13716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FF8C00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57200"/>
            <a:ext cx="850392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8503920" cy="1645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89888"/>
            <a:ext cx="854964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300" b="0" i="1">
                <a:solidFill>
                  <a:srgbClr val="B8D0EC"/>
                </a:solidFill>
                <a:latin typeface="Segoe UI"/>
              </a:rPr>
              <a:t>NPI gates rely on disconnected requirements, Jira tickets, Confluence knowledge, GitHub code, JTAG/SWD evidence and QA results -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" y="2221992"/>
            <a:ext cx="512064" cy="4572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21992"/>
            <a:ext cx="512064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203704"/>
            <a:ext cx="173736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25496"/>
            <a:ext cx="2359152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5848" y="2221992"/>
            <a:ext cx="512064" cy="457200"/>
          </a:xfrm>
          <a:prstGeom prst="round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2221992"/>
            <a:ext cx="512064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BUG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2203704"/>
            <a:ext cx="173736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25496"/>
            <a:ext cx="2359152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36207" y="2221992"/>
            <a:ext cx="512064" cy="4572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7" y="2221992"/>
            <a:ext cx="512064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7999" y="2203704"/>
            <a:ext cx="173736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25496"/>
            <a:ext cx="2359152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5488" y="4370832"/>
            <a:ext cx="512064" cy="45720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370832"/>
            <a:ext cx="512064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TRACE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352544"/>
            <a:ext cx="173736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74336"/>
            <a:ext cx="2359152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355848" y="4370832"/>
            <a:ext cx="512064" cy="45720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55848" y="4370832"/>
            <a:ext cx="512064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JTAG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77640" y="4352544"/>
            <a:ext cx="173736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74336"/>
            <a:ext cx="2359152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36207" y="4370832"/>
            <a:ext cx="512064" cy="457200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36207" y="4370832"/>
            <a:ext cx="512064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7999" y="4352544"/>
            <a:ext cx="173736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74336"/>
            <a:ext cx="2359152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B8D0EC"/>
                </a:solidFill>
                <a:latin typeface="Segoe UI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6528816"/>
            <a:ext cx="6858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2 / 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6528816"/>
            <a:ext cx="13716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0040" y="411480"/>
            <a:ext cx="2057400" cy="292608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411480"/>
            <a:ext cx="205740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841248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8503920" cy="16459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85496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Connects Jira, Confluence, GitHub, Copilot, ROVO Studio, Atlassian MCP and JTAG/SWD evidence into one embedded PDLC optimization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492240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5720" cy="7498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2139696"/>
            <a:ext cx="617220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Jira | Confluence | GitHub | Copilot | ROVO Studio | JTAG/SWD |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715768"/>
            <a:ext cx="45720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492240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5720" cy="74980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14600" y="3017520"/>
            <a:ext cx="617220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Unified Knowledge Graph | Semantic Traceability Engine |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63440" y="3593592"/>
            <a:ext cx="45720" cy="12801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492240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5720" cy="74980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14600" y="3895344"/>
            <a:ext cx="617220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Atlassian MCP | JTAG Accelerator | Fault Analyzer | Release Agent |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3444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4471416"/>
            <a:ext cx="45720" cy="12801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492240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5720" cy="7498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14600" y="4773167"/>
            <a:ext cx="617220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CI/CD Hooks | Controlled Auto-Fix | Auto-PR | Release Gate |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44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663440" y="5349239"/>
            <a:ext cx="45720" cy="1280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492240" cy="7498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5720" cy="74980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14600" y="5650992"/>
            <a:ext cx="617220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0" i="0">
                <a:solidFill>
                  <a:srgbClr val="B8D0EC"/>
                </a:solidFill>
                <a:latin typeface="Segoe UI"/>
              </a:rPr>
              <a:t>PG1 Risk Plan | PG3 RCA + PR | PG5 READY / NOT_READY |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6528816"/>
            <a:ext cx="6858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3 / 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528816"/>
            <a:ext cx="13716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0040" y="411480"/>
            <a:ext cx="2057400" cy="292608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411480"/>
            <a:ext cx="205740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PRD TO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841248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Confluence PRD Becomes Pickable Jira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8503920" cy="16459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854964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0" i="1">
                <a:solidFill>
                  <a:srgbClr val="B8D0EC"/>
                </a:solidFill>
                <a:latin typeface="Segoe UI"/>
              </a:rPr>
              <a:t>Epics and stories are created from the PRD hosted on Confluence, guided by SDE Elements and PSJIRA. The user picks the work item and AEPLO carries the acceptance context forward.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212848"/>
            <a:ext cx="1965960" cy="35661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212848"/>
            <a:ext cx="1965960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6696" y="2542032"/>
            <a:ext cx="603504" cy="603504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542032"/>
            <a:ext cx="603504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10128"/>
            <a:ext cx="1691640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50" b="1" i="0">
                <a:solidFill>
                  <a:srgbClr val="00A89A"/>
                </a:solidFill>
                <a:latin typeface="Segoe UI"/>
              </a:rPr>
              <a:t>PRD Source of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" y="3886200"/>
            <a:ext cx="1664208" cy="1508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30" b="0" i="0">
                <a:solidFill>
                  <a:srgbClr val="B8D0EC"/>
                </a:solidFill>
                <a:latin typeface="Segoe UI"/>
              </a:rPr>
              <a:t>Confluence PRD, architecture notes, release intent and regulatory scope are ingested.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76856" y="3950208"/>
            <a:ext cx="201168" cy="4572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96312" y="2212848"/>
            <a:ext cx="1965960" cy="35661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96312" y="2212848"/>
            <a:ext cx="196596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172968" y="2542032"/>
            <a:ext cx="603504" cy="603504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72968" y="2542032"/>
            <a:ext cx="603504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3310128"/>
            <a:ext cx="1691640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50" b="1" i="0">
                <a:solidFill>
                  <a:srgbClr val="0072C6"/>
                </a:solidFill>
                <a:latin typeface="Segoe UI"/>
              </a:rPr>
              <a:t>SDE Elements + PSJIRA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42616" y="3886200"/>
            <a:ext cx="1664208" cy="1508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30" b="0" i="0">
                <a:solidFill>
                  <a:srgbClr val="B8D0EC"/>
                </a:solidFill>
                <a:latin typeface="Segoe UI"/>
              </a:rPr>
              <a:t>AI maps requirements into epics, stories, acceptance criteria and trace links.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3128" y="3950208"/>
            <a:ext cx="201168" cy="4572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72583" y="2212848"/>
            <a:ext cx="1965960" cy="35661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72583" y="2212848"/>
            <a:ext cx="19659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349239" y="2542032"/>
            <a:ext cx="603504" cy="603504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9239" y="2542032"/>
            <a:ext cx="603504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743" y="3310128"/>
            <a:ext cx="1691640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50" b="1" i="0">
                <a:solidFill>
                  <a:srgbClr val="8B5CF6"/>
                </a:solidFill>
                <a:latin typeface="Segoe UI"/>
              </a:rPr>
              <a:t>User Picks 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18887" y="3886200"/>
            <a:ext cx="1664208" cy="1508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30" b="0" i="0">
                <a:solidFill>
                  <a:srgbClr val="B8D0EC"/>
                </a:solidFill>
                <a:latin typeface="Segoe UI"/>
              </a:rPr>
              <a:t>Epics and stories are listed for the developer or product owner to select.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399" y="3950208"/>
            <a:ext cx="201168" cy="4572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48855" y="2212848"/>
            <a:ext cx="1965960" cy="356616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48855" y="2212848"/>
            <a:ext cx="196596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25511" y="2542032"/>
            <a:ext cx="603504" cy="603504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25511" y="2542032"/>
            <a:ext cx="603504" cy="6035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6015" y="3310128"/>
            <a:ext cx="1691640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50" b="1" i="0">
                <a:solidFill>
                  <a:srgbClr val="00D48A"/>
                </a:solidFill>
                <a:latin typeface="Segoe UI"/>
              </a:rPr>
              <a:t>Branch + QA Context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59" y="3886200"/>
            <a:ext cx="1664208" cy="1508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30" b="0" i="0">
                <a:solidFill>
                  <a:srgbClr val="B8D0EC"/>
                </a:solidFill>
                <a:latin typeface="Segoe UI"/>
              </a:rPr>
              <a:t>A feature branch is created with PRD clauses, QA inputs and validation expectations attached.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6080760"/>
            <a:ext cx="7772400" cy="384048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7498079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80" b="1" i="0">
                <a:solidFill>
                  <a:srgbClr val="00D48A"/>
                </a:solidFill>
                <a:latin typeface="Segoe UI"/>
              </a:rPr>
              <a:t>Outcome: every branch starts with traceable PRD intent, Jira work item, QA input and release-gate evidence plan.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6528816"/>
            <a:ext cx="6858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4 / 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528816"/>
            <a:ext cx="13716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0040" y="411480"/>
            <a:ext cx="2057400" cy="292608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411480"/>
            <a:ext cx="205740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PG3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841248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PG3 Firmware Generation and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8503920" cy="16459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85496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0" i="1">
                <a:solidFill>
                  <a:srgbClr val="B8D0EC"/>
                </a:solidFill>
                <a:latin typeface="Segoe UI"/>
              </a:rPr>
              <a:t>At PG3, AEPLO generates firmware/code from the datasheet and PRD. SDK, BSP, OS/RTOS, compiler and board context are injected before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06040" cy="3246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06040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76272"/>
            <a:ext cx="23317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072C6"/>
                </a:solidFill>
                <a:latin typeface="Segoe UI"/>
              </a:rPr>
              <a:t>Context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06040"/>
            <a:ext cx="2331720" cy="2587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B8D0EC"/>
                </a:solidFill>
                <a:latin typeface="Segoe UI"/>
              </a:rPr>
              <a:t>- Datasheet and register map
- PRD acceptance criteria
- SDK/BSP and HAL
- OS/RTOS constraints
- Board and memory limits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2057400"/>
            <a:ext cx="2606040" cy="3246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3552" y="2057400"/>
            <a:ext cx="260604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2176272"/>
            <a:ext cx="23317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  <a:latin typeface="Segoe UI"/>
              </a:rPr>
              <a:t>Firmware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06040"/>
            <a:ext cx="2331720" cy="2587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B8D0EC"/>
                </a:solidFill>
                <a:latin typeface="Segoe UI"/>
              </a:rPr>
              <a:t>- Driver skeletons
- Peripheral init code
- Configuration tables
- Unit and HIL test hooks
- Review-ready feature branch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057400"/>
            <a:ext cx="2606040" cy="3246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057400"/>
            <a:ext cx="260604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176272"/>
            <a:ext cx="23317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0D48A"/>
                </a:solidFill>
                <a:latin typeface="Segoe UI"/>
              </a:rPr>
              <a:t>Evidence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606040"/>
            <a:ext cx="2331720" cy="25877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B8D0EC"/>
                </a:solidFill>
                <a:latin typeface="Segoe UI"/>
              </a:rPr>
              <a:t>- Datasheet conformance checks
- PRD trace verification
- Static and unit checks
- JTAG/SWD hardware evidence
- Ready / Not Ready signal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3657600"/>
            <a:ext cx="320040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70448" y="3657600"/>
            <a:ext cx="320040" cy="5486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5687568"/>
            <a:ext cx="7772400" cy="56692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824728"/>
            <a:ext cx="74523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8C00"/>
                </a:solidFill>
                <a:latin typeface="Segoe UI"/>
              </a:rPr>
              <a:t>JTAG Agent adds hardware-backed proof: registers, memory dumps, stack frames, peripheral state and probe logs.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6528816"/>
            <a:ext cx="6858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5 /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528816"/>
            <a:ext cx="13716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0040" y="411480"/>
            <a:ext cx="2057400" cy="29260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411480"/>
            <a:ext cx="205740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QA RELEASE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841248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Closed Loop Until QA Says READY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8503920" cy="1645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85496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0" i="1">
                <a:solidFill>
                  <a:srgbClr val="B8D0EC"/>
                </a:solidFill>
                <a:latin typeface="Segoe UI"/>
              </a:rPr>
              <a:t>Feature branch, PRD criteria, QA inputs and JTAG evidence are validated together. A NOT_READY decision becomes prioritized Jira work for the next release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12848"/>
            <a:ext cx="2286000" cy="117043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212848"/>
            <a:ext cx="45720" cy="117043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2514600"/>
            <a:ext cx="438912" cy="43891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514600"/>
            <a:ext cx="438912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7592" y="2340864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0072C6"/>
                </a:solidFill>
                <a:latin typeface="Segoe UI"/>
              </a:rPr>
              <a:t>Feature Branch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2670048"/>
            <a:ext cx="1417320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80" b="0" i="0">
                <a:solidFill>
                  <a:srgbClr val="B8D0EC"/>
                </a:solidFill>
                <a:latin typeface="Segoe UI"/>
              </a:rPr>
              <a:t>Selected story, generated code and linked PR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993392"/>
            <a:ext cx="2286000" cy="117043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46120" y="1993392"/>
            <a:ext cx="45720" cy="11704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10712" y="2295144"/>
            <a:ext cx="438912" cy="43891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0712" y="2295144"/>
            <a:ext cx="438912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9352" y="2121408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  <a:latin typeface="Segoe UI"/>
              </a:rPr>
              <a:t>QA Inputs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9352" y="2450592"/>
            <a:ext cx="1417320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80" b="0" i="0">
                <a:solidFill>
                  <a:srgbClr val="B8D0EC"/>
                </a:solidFill>
                <a:latin typeface="Segoe UI"/>
              </a:rPr>
              <a:t>Regression, HIL, field issues and acceptance tests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80" y="2212848"/>
            <a:ext cx="2286000" cy="117043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97880" y="2212848"/>
            <a:ext cx="45720" cy="117043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62472" y="2514600"/>
            <a:ext cx="438912" cy="43891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62472" y="2514600"/>
            <a:ext cx="438912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1112" y="2340864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00A89A"/>
                </a:solidFill>
                <a:latin typeface="Segoe UI"/>
              </a:rPr>
              <a:t>Validate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1112" y="2670048"/>
            <a:ext cx="1417320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80" b="0" i="0">
                <a:solidFill>
                  <a:srgbClr val="B8D0EC"/>
                </a:solidFill>
                <a:latin typeface="Segoe UI"/>
              </a:rPr>
              <a:t>PRD, datasheet, code, tests and JTAG evidence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0" y="4709160"/>
            <a:ext cx="2286000" cy="117043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54880" y="4709160"/>
            <a:ext cx="45720" cy="1170432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919472" y="5010912"/>
            <a:ext cx="438912" cy="438912"/>
          </a:xfrm>
          <a:prstGeom prst="ellipse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9472" y="5010912"/>
            <a:ext cx="438912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4837176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FF3A3A"/>
                </a:solidFill>
                <a:latin typeface="Segoe UI"/>
              </a:rPr>
              <a:t>NOT_READY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8112" y="5166360"/>
            <a:ext cx="1417320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80" b="0" i="0">
                <a:solidFill>
                  <a:srgbClr val="B8D0EC"/>
                </a:solidFill>
                <a:latin typeface="Segoe UI"/>
              </a:rPr>
              <a:t>Create defects, stories and priority order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1640" y="4709160"/>
            <a:ext cx="2286000" cy="1170432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691640" y="4709160"/>
            <a:ext cx="45720" cy="117043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856232" y="5010912"/>
            <a:ext cx="438912" cy="43891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56232" y="5010912"/>
            <a:ext cx="438912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04872" y="4837176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00D48A"/>
                </a:solidFill>
                <a:latin typeface="Segoe UI"/>
              </a:rPr>
              <a:t>READY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04872" y="5166360"/>
            <a:ext cx="1417320" cy="47548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80" b="0" i="0">
                <a:solidFill>
                  <a:srgbClr val="B8D0EC"/>
                </a:solidFill>
                <a:latin typeface="Segoe UI"/>
              </a:rPr>
              <a:t>Release candidate cleared with evidence pack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80360" y="2743200"/>
            <a:ext cx="347472" cy="4572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532120" y="2743200"/>
            <a:ext cx="347472" cy="4572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675120" y="3383280"/>
            <a:ext cx="45720" cy="126187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94760" y="5285232"/>
            <a:ext cx="914400" cy="4572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103120" y="3675887"/>
            <a:ext cx="45720" cy="98755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18688" y="3675887"/>
            <a:ext cx="2697480" cy="59436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64992" y="3822191"/>
            <a:ext cx="24231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60" b="1" i="0">
                <a:solidFill>
                  <a:srgbClr val="8B5CF6"/>
                </a:solidFill>
                <a:latin typeface="Segoe UI"/>
              </a:rPr>
              <a:t>QA gate guides the next-release backlog until READY is achieved.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6528816"/>
            <a:ext cx="6858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6 / 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6528816"/>
            <a:ext cx="13716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0040" y="411480"/>
            <a:ext cx="2057400" cy="292608"/>
          </a:xfrm>
          <a:prstGeom prst="round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411480"/>
            <a:ext cx="205740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PG5 STQC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841248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The Star: STQC Agent for BIS Certification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8503920" cy="16459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854964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20" b="0" i="1">
                <a:solidFill>
                  <a:srgbClr val="B8D0EC"/>
                </a:solidFill>
                <a:latin typeface="Segoe UI"/>
              </a:rPr>
              <a:t>All IoT security and surveillance devices need BIS certification governed by STQC guidelines. This applies to in-house designs and BTS sales.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2606040" cy="38404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2606040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30552"/>
            <a:ext cx="23317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F5C518"/>
                </a:solidFill>
                <a:latin typeface="Segoe U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60320"/>
            <a:ext cx="2331720" cy="3182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Earlier, developers spent months crawling code, creating evidence, validating rules and packaging documents for auditors.
AEPLO compresses this to days with repeatable evidence generation.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2011680"/>
            <a:ext cx="2606040" cy="38404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3552" y="2011680"/>
            <a:ext cx="2606040" cy="4572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2130552"/>
            <a:ext cx="23317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00C8F0"/>
                </a:solidFill>
                <a:latin typeface="Segoe UI"/>
              </a:rPr>
              <a:t>What STQC Agent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560320"/>
            <a:ext cx="2331720" cy="3182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B8D0EC"/>
                </a:solidFill>
                <a:latin typeface="Segoe UI"/>
              </a:rPr>
              <a:t>- Crawls source and configuration
- Creates audit evidence
- Enforces hard rules, including no foreign characters
- Checks STQC ER guideline coverage
- Validates submission readiness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011680"/>
            <a:ext cx="2606040" cy="38404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011680"/>
            <a:ext cx="260604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130552"/>
            <a:ext cx="23317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50" b="1" i="0">
                <a:solidFill>
                  <a:srgbClr val="00D48A"/>
                </a:solidFill>
                <a:latin typeface="Segoe UI"/>
              </a:rPr>
              <a:t>If Not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560320"/>
            <a:ext cx="2331720" cy="3182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B8D0EC"/>
                </a:solidFill>
                <a:latin typeface="Segoe UI"/>
              </a:rPr>
              <a:t>- Highlights the exact failing section
- Explains the missing evidence
- Creates Jira tickets and stories
- Sends fixes back through PG3 and QA gate
- Re-checks until submission-ready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6108192"/>
            <a:ext cx="685800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8448" y="6144768"/>
            <a:ext cx="653796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30" b="1" i="0">
                <a:solidFill>
                  <a:srgbClr val="F5C518"/>
                </a:solidFill>
                <a:latin typeface="Segoe UI"/>
              </a:rPr>
              <a:t>Output: READY for STQC submission, or NOT_READY with actionable evidence gaps and Jira remediation.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6528816"/>
            <a:ext cx="6858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7 /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528816"/>
            <a:ext cx="13716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0040" y="411480"/>
            <a:ext cx="2057400" cy="292608"/>
          </a:xfrm>
          <a:prstGeom prst="round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411480"/>
            <a:ext cx="205740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841248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Segoe UI"/>
              </a:rPr>
              <a:t>Realistic Quantified 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8503920" cy="16459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85496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70" b="0" i="1">
                <a:solidFill>
                  <a:srgbClr val="B8D0EC"/>
                </a:solidFill>
                <a:latin typeface="Segoe UI"/>
              </a:rPr>
              <a:t>Pilot-ready targets for efficiency, time saved and token optimization. Values are framed as measured/expected ranges for a controlled demo-to-pilot rollout.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4206240" cy="12070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45720" cy="120700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2084832"/>
            <a:ext cx="2057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  <a:latin typeface="Segoe UI"/>
              </a:rPr>
              <a:t>STQC Evidence Pack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084832"/>
            <a:ext cx="178308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6-10 weeks -&gt; 2-4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2487168"/>
            <a:ext cx="37947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B8D0EC"/>
                </a:solidFill>
                <a:latin typeface="Segoe UI"/>
              </a:rPr>
              <a:t>85-92% effort reduction for first submission pack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79" y="2011680"/>
            <a:ext cx="4206240" cy="12070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79" y="2011680"/>
            <a:ext cx="45720" cy="1207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1" y="2084832"/>
            <a:ext cx="2057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  <a:latin typeface="Segoe UI"/>
              </a:rPr>
              <a:t>PG3 Firmware 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59" y="2084832"/>
            <a:ext cx="178308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3-5 days -&gt; 1-2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1" y="2487168"/>
            <a:ext cx="37947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B8D0EC"/>
                </a:solidFill>
                <a:latin typeface="Segoe UI"/>
              </a:rPr>
              <a:t>45-60% faster first draft and validation loop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3429000"/>
            <a:ext cx="4206240" cy="12070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429000"/>
            <a:ext cx="45720" cy="120700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3502152"/>
            <a:ext cx="2057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0072C6"/>
                </a:solidFill>
                <a:latin typeface="Segoe UI"/>
              </a:rPr>
              <a:t>JTAG Root Cause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502152"/>
            <a:ext cx="178308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1-2 days -&gt; under 2 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904488"/>
            <a:ext cx="37947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B8D0EC"/>
                </a:solidFill>
                <a:latin typeface="Segoe UI"/>
              </a:rPr>
              <a:t>70-90% faster hardware-backed diagnosis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79" y="3429000"/>
            <a:ext cx="4206240" cy="1207008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54879" y="3429000"/>
            <a:ext cx="45720" cy="1207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19471" y="3502152"/>
            <a:ext cx="2057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Segoe UI"/>
              </a:rPr>
              <a:t>QA Gate Triage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502152"/>
            <a:ext cx="178308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2-3 days -&gt; under 4 hours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1" y="3904488"/>
            <a:ext cx="37947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19" b="0" i="0">
                <a:solidFill>
                  <a:srgbClr val="B8D0EC"/>
                </a:solidFill>
                <a:latin typeface="Segoe UI"/>
              </a:rPr>
              <a:t>60-75% faster release priority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4983480"/>
            <a:ext cx="8503920" cy="109728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983480"/>
            <a:ext cx="45720" cy="109728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102352"/>
            <a:ext cx="19202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00C8F0"/>
                </a:solidFill>
                <a:latin typeface="Segoe UI"/>
              </a:rPr>
              <a:t>Token Optimization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5102352"/>
            <a:ext cx="626364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B8D0EC"/>
                </a:solidFill>
                <a:latin typeface="Segoe UI"/>
              </a:rPr>
              <a:t>35-45% lower token use through routed context, PRD/datasheet chunk retrieval, prompt caching for STQC guidelines, and compact evidence summaries. Repeated STQC runs can reuse 80%+ of guideline and datasheet context.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272784"/>
            <a:ext cx="8183879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00D48A"/>
                </a:solidFill>
                <a:latin typeface="Segoe UI"/>
              </a:rPr>
              <a:t>Close: AEPLO keeps looping across PG3, JTAG, QA and STQC until the release is READY.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6528816"/>
            <a:ext cx="6858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900" b="0" i="0">
                <a:solidFill>
                  <a:srgbClr val="6080A8"/>
                </a:solidFill>
                <a:latin typeface="Segoe UI"/>
              </a:rPr>
              <a:t>8 / 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528816"/>
            <a:ext cx="13716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