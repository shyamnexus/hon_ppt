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9"/>
  </p:notesMasterIdLst>
  <p:handoutMasterIdLst>
    <p:handoutMasterId r:id="rId20"/>
  </p:handoutMasterIdLst>
  <p:sldIdLst>
    <p:sldId id="268" r:id="rId5"/>
    <p:sldId id="257" r:id="rId6"/>
    <p:sldId id="259" r:id="rId8"/>
    <p:sldId id="261" r:id="rId10"/>
    <p:sldId id="262" r:id="rId11"/>
    <p:sldId id="270" r:id="rId12"/>
    <p:sldId id="264" r:id="rId14"/>
    <p:sldId id="263" r:id="rId13"/>
    <p:sldId id="269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6B6B6B"/>
    <a:srgbClr val="D719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34CE74-0792-4501-A99F-2CF3CFA1166E}" v="107" dt="2026-06-15T13:19:31.730"/>
    <p1510:client id="{14B4AA2C-2FF3-3A7D-B1B7-20FF86D16280}" v="2" dt="2026-06-15T12:34:32.869"/>
    <p1510:client id="{7F5A5EC7-A3F4-41AD-9141-CF10EA960EAA}" v="100" dt="2026-06-16T07:29:49.578"/>
    <p1510:client id="{CB6C0A9B-3727-4295-98CD-6FB636046EBB}" v="2" dt="2026-06-16T07:27:29.8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535" autoAdjust="0"/>
  </p:normalViewPr>
  <p:slideViewPr>
    <p:cSldViewPr snapToGrid="0">
      <p:cViewPr>
        <p:scale>
          <a:sx n="125" d="100"/>
          <a:sy n="125" d="100"/>
        </p:scale>
        <p:origin x="1194" y="-90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8" Type="http://schemas.openxmlformats.org/officeDocument/2006/relationships/slide" Target="slides/slide4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8" Type="http://schemas.openxmlformats.org/officeDocument/2006/relationships/slide" Target="slides/slide14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544E3D8-A955-9E63-0E7D-EED82BC9D2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E6C963-9598-4857-33EC-EC247C74CFD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FAB91F-961D-4A07-BD14-A68507151E78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BB287B-2CEB-664E-026B-0B714746E6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8E3EBC-5078-7A91-7401-F292C1911C7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BCF262-CA4D-493A-BF7B-3F5A47362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91139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F9780D-A041-4638-B6BA-87BB754D206F}" type="datetimeFigureOut">
              <a:rPr lang="en-US" smtClean="0"/>
              <a:t>6/16/2026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99C4E8-DCB7-4C66-B47F-361D1DFDA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0235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 we are presenting the AEPLO JTAG Accelerator for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Embedded PDLC AI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Optimisation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The story is simple: connect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planning data, code, AI assistance, and JTAG evidence so we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 move faster from discovery to validated launch readiness.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6076E56-C255-4CAD-BA1A-93AA2E49E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8AB7C5-5590-7BCB-C58B-AC5F2E7F6A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618791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Problem :</a:t>
            </a:r>
            <a:br>
              <a:rPr lang="en-US"/>
            </a:br>
            <a:r>
              <a:rPr lang="en-US"/>
              <a:t>Embedded PDLC data is fragmented. Jira, Confluence, GitHub,</a:t>
            </a:r>
          </a:p>
          <a:p>
            <a:r>
              <a:rPr lang="en-US"/>
              <a:t>QA results, and JTAG/SWD hardware evidence often sit in</a:t>
            </a:r>
          </a:p>
          <a:p>
            <a:r>
              <a:rPr lang="en-US"/>
              <a:t>separate places. That slows decisions across PG1, PG3, and PG5</a:t>
            </a:r>
          </a:p>
          <a:p>
            <a:r>
              <a:rPr lang="en-US"/>
              <a:t>and makes launch readiness harder to prove.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286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"The architecture connects Jira, Confluence, GitHub, Copilot,</a:t>
            </a:r>
          </a:p>
          <a:p>
            <a:r>
              <a:rPr lang="en-US"/>
              <a:t>ROVO Studio, Atlassian MCP, and JTAG/SWD evidence. AEPLO then</a:t>
            </a:r>
          </a:p>
          <a:p>
            <a:r>
              <a:rPr lang="en-US"/>
              <a:t>turns that data into orchestration, controlled fixes, gate</a:t>
            </a:r>
          </a:p>
          <a:p>
            <a:r>
              <a:rPr lang="en-US"/>
              <a:t>verdicts, and reusable launch evidence."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4958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"At PG1, AEPLO collects PRD context, Jira themes, Confluence</a:t>
            </a:r>
          </a:p>
          <a:p>
            <a:r>
              <a:rPr lang="en-US"/>
              <a:t>architecture, GitHub history, and target-board assumptions. It</a:t>
            </a:r>
          </a:p>
          <a:p>
            <a:r>
              <a:rPr lang="en-US"/>
              <a:t>maps PDLC risks and embedded debug hotspots, then produces a</a:t>
            </a:r>
          </a:p>
          <a:p>
            <a:r>
              <a:rPr lang="en-US"/>
              <a:t>risk-backed demo scope and validation plan."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3621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"At PG3, the JTAG Accelerator converts embedded coding defects</a:t>
            </a:r>
          </a:p>
          <a:p>
            <a:r>
              <a:rPr lang="en-US"/>
              <a:t>into hardware-backed root-cause analysis. It captures registers,</a:t>
            </a:r>
          </a:p>
          <a:p>
            <a:r>
              <a:rPr lang="en-US"/>
              <a:t>stack frames, memory evidence, and probe logs, then links the</a:t>
            </a:r>
          </a:p>
          <a:p>
            <a:r>
              <a:rPr lang="en-US"/>
              <a:t>controlled fix back to GitHub and Jira."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59057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"This slide shows three real-time use cases for the JTAG agent.</a:t>
            </a:r>
          </a:p>
          <a:p>
            <a:r>
              <a:rPr lang="en-US"/>
              <a:t>First, a bootloader-to-application handoff caused a </a:t>
            </a:r>
            <a:r>
              <a:rPr lang="en-US" err="1"/>
              <a:t>HardFault</a:t>
            </a:r>
            <a:endParaRPr lang="en-US"/>
          </a:p>
          <a:p>
            <a:r>
              <a:rPr lang="en-US"/>
              <a:t>because </a:t>
            </a:r>
            <a:r>
              <a:rPr lang="en-US" err="1"/>
              <a:t>SysTick</a:t>
            </a:r>
            <a:r>
              <a:rPr lang="en-US"/>
              <a:t> was enabled but the application vector table had</a:t>
            </a:r>
          </a:p>
          <a:p>
            <a:r>
              <a:rPr lang="en-US"/>
              <a:t>no </a:t>
            </a:r>
            <a:r>
              <a:rPr lang="en-US" err="1"/>
              <a:t>SysTick</a:t>
            </a:r>
            <a:r>
              <a:rPr lang="en-US"/>
              <a:t> handler. The agent correlated the PC, vector table,</a:t>
            </a:r>
          </a:p>
          <a:p>
            <a:r>
              <a:rPr lang="en-US"/>
              <a:t>and peripheral state and reduced diagnosis from days to about</a:t>
            </a:r>
          </a:p>
          <a:p>
            <a:r>
              <a:rPr lang="en-US"/>
              <a:t>45 minutes.</a:t>
            </a:r>
          </a:p>
          <a:p>
            <a:endParaRPr lang="en-US"/>
          </a:p>
          <a:p>
            <a:r>
              <a:rPr lang="en-US"/>
              <a:t>Second, the agent emulated a sub-zero ADC condition at room</a:t>
            </a:r>
          </a:p>
          <a:p>
            <a:r>
              <a:rPr lang="en-US"/>
              <a:t>temperature. That allowed driver </a:t>
            </a:r>
            <a:r>
              <a:rPr lang="en-US" err="1"/>
              <a:t>reinitialisation</a:t>
            </a:r>
            <a:r>
              <a:rPr lang="en-US"/>
              <a:t> and gain</a:t>
            </a:r>
          </a:p>
          <a:p>
            <a:r>
              <a:rPr lang="en-US"/>
              <a:t>adjustment to be validated without waiting for thermal chamber</a:t>
            </a:r>
          </a:p>
          <a:p>
            <a:r>
              <a:rPr lang="en-US"/>
              <a:t>cycling.</a:t>
            </a:r>
          </a:p>
          <a:p>
            <a:endParaRPr lang="en-US"/>
          </a:p>
          <a:p>
            <a:r>
              <a:rPr lang="en-US"/>
              <a:t>Third, for a boot failure after flashing a new build, the agent</a:t>
            </a:r>
          </a:p>
          <a:p>
            <a:r>
              <a:rPr lang="en-US"/>
              <a:t>traced the Program Counter and identified execution going to</a:t>
            </a:r>
          </a:p>
          <a:p>
            <a:r>
              <a:rPr lang="en-US"/>
              <a:t>system ROM instead of internal flash. The key message is that</a:t>
            </a:r>
          </a:p>
          <a:p>
            <a:r>
              <a:rPr lang="en-US"/>
              <a:t>JTAG evidence becomes actionable AI context, not just a debug</a:t>
            </a:r>
          </a:p>
          <a:p>
            <a:r>
              <a:rPr lang="en-US"/>
              <a:t>artifact."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84156-8AE9-4423-952A-88BA8F9A5A49}" type="slidenum">
              <a:rPr lang="en-US" smtClean="0"/>
              <a:t>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4013F-CC9D-DB38-4883-8B125F1E99B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12596155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"At PG5, AEPLO evaluates code, QA results, traceability, and</a:t>
            </a:r>
          </a:p>
          <a:p>
            <a:r>
              <a:rPr lang="en-US"/>
              <a:t>JTAG/SWD evidence together. The gatekeeper produces a clear</a:t>
            </a:r>
          </a:p>
          <a:p>
            <a:r>
              <a:rPr lang="en-US"/>
              <a:t>READY or NOT_READY verdict, plus a prioritized remediation list</a:t>
            </a:r>
          </a:p>
          <a:p>
            <a:r>
              <a:rPr lang="en-US"/>
              <a:t>for validation and launch preparation.“</a:t>
            </a:r>
          </a:p>
          <a:p>
            <a:r>
              <a:rPr lang="en-US"/>
              <a:t>We also Plan to demo a STQC Agent as part of PG5 , All IOT based Surveillance devices (Cameras and NVRs) need to be BIS certified and in order to do so , need to go through a very strict STQC audit.</a:t>
            </a:r>
          </a:p>
          <a:p>
            <a:r>
              <a:rPr lang="en-US"/>
              <a:t>The STQC team updates the Guidelines from time to time, tightening the security norms a little further at each revision.</a:t>
            </a:r>
          </a:p>
          <a:p>
            <a:endParaRPr lang="en-US"/>
          </a:p>
          <a:p>
            <a:r>
              <a:rPr lang="en-US"/>
              <a:t>Developers take  months to traverse through the code, and Create evidences, Validate them and do a thorough Code/Hardware Review.</a:t>
            </a:r>
          </a:p>
          <a:p>
            <a:r>
              <a:rPr lang="en-US"/>
              <a:t>AEPLO’s STQC feature reduces this time frame to Days.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8166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"QA2Release closes the loop. Test failures and JTAG evidence</a:t>
            </a:r>
          </a:p>
          <a:p>
            <a:r>
              <a:rPr lang="en-US"/>
              <a:t>feed root-cause analysis, test </a:t>
            </a:r>
            <a:r>
              <a:rPr lang="en-US" err="1"/>
              <a:t>optimisation</a:t>
            </a:r>
            <a:r>
              <a:rPr lang="en-US"/>
              <a:t>, and next-release</a:t>
            </a:r>
          </a:p>
          <a:p>
            <a:r>
              <a:rPr lang="en-US"/>
              <a:t>learning. The output becomes Jira actions, Confluence summaries,</a:t>
            </a:r>
          </a:p>
          <a:p>
            <a:r>
              <a:rPr lang="en-US"/>
              <a:t>and better evidence for the next gate.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1254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"The matrix connects the demo to measurable judging criteria.</a:t>
            </a:r>
          </a:p>
          <a:p>
            <a:r>
              <a:rPr lang="en-US" dirty="0"/>
              <a:t>We show a 41 percent lead-time drop, 60 percent fewer projected</a:t>
            </a:r>
          </a:p>
          <a:p>
            <a:r>
              <a:rPr lang="en-US" dirty="0"/>
              <a:t>defect escapes, 85 percent BA hosting readiness, and measurable</a:t>
            </a:r>
          </a:p>
          <a:p>
            <a:r>
              <a:rPr lang="en-US" dirty="0"/>
              <a:t>agentic AI execution metrics including handoff success, tool</a:t>
            </a:r>
          </a:p>
          <a:p>
            <a:r>
              <a:rPr lang="en-US" dirty="0"/>
              <a:t>calling accuracy, and prompt caching </a:t>
            </a:r>
            <a:r>
              <a:rPr lang="en-US" dirty="0" err="1"/>
              <a:t>utilisation</a:t>
            </a:r>
            <a:r>
              <a:rPr lang="en-US" dirty="0"/>
              <a:t>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2330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37CD1-81F4-4E54-BFDF-E16D2184C663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C3EB2-E1A6-47BA-8593-B34734AEB315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4CBE-979D-4D21-8390-5BC5AB12AD11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095C7-9F5A-4A6C-9FA1-9161E0A3FFBB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AA869-C9B3-402C-B5B3-1BFF8B6EA432}" type="datetime1">
              <a:rPr lang="en-US" smtClean="0"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B0153-82DD-487D-96F5-1F203E6321BD}" type="datetime1">
              <a:rPr lang="en-US" smtClean="0"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ED799-78FF-416B-8AA1-69E05E041B9D}" type="datetime1">
              <a:rPr lang="en-US" smtClean="0"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9602E-1BB0-4F2C-9C65-984B82A5027C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EBBC4-B7AA-4360-AFB8-953CB36DF14B}" type="datetime1">
              <a:rPr lang="en-US" smtClean="0"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1A519-C67A-420F-A0A0-AFE7A3A0FAF9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29E2E-F8F7-42F4-AD5C-445F524D0C4A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954EFD-6F0B-4429-9B43-F009676198DC}" type="datetime1">
              <a:rPr lang="en-US" smtClean="0"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256032" y="1051560"/>
            <a:ext cx="6398518" cy="6771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AI-DRIVEN EMBEDDED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 LIFECYCLE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ORCHESTRATOR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VERSION 10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7772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1" u="none" strike="noStrike" kern="1200" cap="none" spc="0" normalizeH="0" baseline="0" noProof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3-Minute Embedded Lifecycle Intelligence
PRD -&gt; PG3 Firmware -&gt; JTAG Evidence -&gt; QA Ready -&gt; STQC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5486400" cy="2616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Atharva | Manas |</a:t>
            </a:r>
            <a:r>
              <a:rPr kumimoji="0" lang="en-US" sz="11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Sheraaz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|Shyam</a:t>
            </a:r>
            <a:endParaRPr kumimoji="0" sz="11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9" name="Rectangle 228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B8B8B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  /  9</a:t>
            </a:r>
          </a:p>
        </p:txBody>
      </p:sp>
      <p:pic>
        <p:nvPicPr>
          <p:cNvPr id="237" name="Picture 236">
            <a:extLst>
              <a:ext uri="{FF2B5EF4-FFF2-40B4-BE49-F238E27FC236}">
                <a16:creationId xmlns:a16="http://schemas.microsoft.com/office/drawing/2014/main" id="{67AC3E27-C892-3B9F-ED91-B1E734C41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545" y="1535563"/>
            <a:ext cx="3118134" cy="3118134"/>
          </a:xfrm>
          <a:prstGeom prst="rect">
            <a:avLst/>
          </a:prstGeom>
          <a:ln/>
        </p:spPr>
      </p:pic>
      <p:sp>
        <p:nvSpPr>
          <p:cNvPr id="238" name="Rectangle 23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TextBox 23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32588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137160"/>
            <a:ext cx="822960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71920"/>
                </a:solidFill>
                <a:latin typeface="Arial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457200"/>
            <a:ext cx="850392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Arial"/>
              </a:rPr>
              <a:t>Embedded PDLC Data Is Fragmented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61872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389888"/>
            <a:ext cx="8503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E8E8E8"/>
                </a:solidFill>
                <a:latin typeface="Arial"/>
              </a:rPr>
              <a:t>NPI gates rely on disconnected requirements, Jira tickets, Confluence knowledge, GitHub code, JTAG/SWD evidence and QA results — slowing decisions from PG1 to PG5.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84632" y="222199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4632" y="2221992"/>
            <a:ext cx="457200" cy="5232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Arial"/>
              </a:rPr>
              <a:t>PG1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Discovery
Blind 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Risks and debug hotspots are not visible early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0" y="205740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64992" y="222199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364992" y="222199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50208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Late Defect
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4992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MCU faults surface after coding and integration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05740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080759" y="2057400"/>
            <a:ext cx="269748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245351" y="2221992"/>
            <a:ext cx="457200" cy="45720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245351" y="222199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0567" y="222199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Tool Chain
Fragmentation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5351" y="280720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ROVO, Copilot, Jira, GitHub and JTAG need orchestration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0040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20040" y="420624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484632" y="437083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84632" y="437083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9848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PDLC
Trace Gaps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Requirements, code, tests and evidence drift apart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0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3200400" y="4206240"/>
            <a:ext cx="2697480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3364992" y="4370832"/>
            <a:ext cx="457200" cy="457200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64992" y="4370832"/>
            <a:ext cx="457200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Arial"/>
              </a:rPr>
              <a:t>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50208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Embedded
Hardware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4992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JTAG/SWD evidence stays outside lifecycle decisions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080759" y="4206240"/>
            <a:ext cx="2697480" cy="193852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080759" y="4206240"/>
            <a:ext cx="269748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6245351" y="4370832"/>
            <a:ext cx="457200" cy="45720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245351" y="4370832"/>
            <a:ext cx="457200" cy="5232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Arial"/>
              </a:rPr>
              <a:t>PG5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0567" y="4370832"/>
            <a:ext cx="178308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Launch Gate
Uncertainty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45351" y="4956048"/>
            <a:ext cx="2359152" cy="10058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Readiness depends on manual proof and subjective reviews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2  /  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AEPLO Platform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Connects Jira, Confluence, GitHub, Copilot, ROVO Studio, Atlassian MCP and JTAG/SWD evidence into one embedded PDLC optimisation platform.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65960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1965960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CONNECTED INPUTS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31720" y="1965960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331720" y="1965960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487168" y="2130552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Jira · Confluence · GitHub · Copilot · ROVO Studio · JTAG/SWD · QA Results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715768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0" y="2715768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320040" y="2843784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0040" y="2843784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DATA INTEGRATION LAYER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31720" y="2843784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331720" y="2843784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487168" y="3008376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Unified Knowledge Graph  ·  Semantic Traceability Engine  ·  Version 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3593592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572000" y="3593592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320040" y="3721608"/>
            <a:ext cx="1874519" cy="749808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20040" y="3721608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AEPLO ORCHESTRATION CORE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3721608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331720" y="3721608"/>
            <a:ext cx="41148" cy="7498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487168" y="3886200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Atlassian MCP · JTAG Accelerator · Fault Analyzer · Release Agent · QA Agent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471416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572000" y="4471416"/>
            <a:ext cx="45720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320040" y="4599431"/>
            <a:ext cx="1874519" cy="749808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0040" y="4599431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AUTOMATION &amp; GATING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331720" y="4599431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2331720" y="4599431"/>
            <a:ext cx="41148" cy="74980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487168" y="4764023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CI/CD Hooks  ·  Controlled Auto-Fix  ·  Auto-PR  ·  Release Gate  ·  Remediation Actions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5349239"/>
            <a:ext cx="45720" cy="12801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572000" y="5349239"/>
            <a:ext cx="45720" cy="128016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320040" y="5477256"/>
            <a:ext cx="1874519" cy="749808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20040" y="5477256"/>
            <a:ext cx="1874519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NPI GATE OUTCOMES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31720" y="5477256"/>
            <a:ext cx="6510528" cy="749808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331720" y="5477256"/>
            <a:ext cx="41148" cy="74980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487168" y="5641848"/>
            <a:ext cx="6236208" cy="4572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PG1 Risk Plan · PG3 RCA + PR · PG5 READY / NOT_READY · Audit 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3  /  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PRD TO BACKLOG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622792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Confluence PRD -&gt; Pickable Jira Work</a:t>
            </a:r>
            <a:r>
              <a:rPr sz="2800" b="1" i="0" err="1">
                <a:solidFill>
                  <a:srgbClr val="FFFFFF"/>
                </a:solidFill>
                <a:latin typeface="Arial"/>
              </a:rPr>
              <a:t/>
            </a:r>
            <a:endParaRPr sz="2800" b="1" i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Epics and stories are created from the PRD hosted on Confluence, guided by SDE Elements and PSJIRA. The user picks work items and AEPLO carries acceptance context into the branch.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7472" y="3296412"/>
            <a:ext cx="8449056" cy="27432"/>
          </a:xfrm>
          <a:prstGeom prst="rect">
            <a:avLst/>
          </a:prstGeom>
          <a:solidFill>
            <a:srgbClr val="0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47472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47472" y="2011680"/>
            <a:ext cx="2633472" cy="4572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280160" y="2926080"/>
            <a:ext cx="768096" cy="768096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0160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7520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043123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068726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094329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119932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145535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47472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A70E17"/>
                </a:solidFill>
                <a:latin typeface="Arial"/>
              </a:rPr>
              <a:t>INGEST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Confluence PRD + Context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2999232"/>
            <a:ext cx="2304288" cy="1463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1208" y="3749040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Reads PRD, SDE Elements, architecture notes, release intent, security scope and PSJIRA conventions.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00400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0" y="2011680"/>
            <a:ext cx="2633472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133088" y="2926080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133088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70448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96051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5921654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947257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972860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998463" y="3295498"/>
            <a:ext cx="18288" cy="2926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0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71920"/>
                </a:solidFill>
                <a:latin typeface="Arial"/>
              </a:rPr>
              <a:t>CREATE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Epics, Stories and Criteria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64992" y="2999232"/>
            <a:ext cx="2304288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19856" y="3728791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Maps requirements into epics, stories, acceptance criteria, trace links and validation evidence expectations.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53328" y="2011680"/>
            <a:ext cx="2633472" cy="4133087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053328" y="2011680"/>
            <a:ext cx="2633472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>
            <a:off x="6986016" y="2926080"/>
            <a:ext cx="768096" cy="76809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86016" y="2926080"/>
            <a:ext cx="768096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8" y="2148840"/>
            <a:ext cx="2633472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D71920"/>
                </a:solidFill>
                <a:latin typeface="Arial"/>
              </a:rPr>
              <a:t>PICK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53328" y="2578608"/>
            <a:ext cx="2633472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User Selects Work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19" y="2999232"/>
            <a:ext cx="2304288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300405" y="3728791"/>
            <a:ext cx="2304288" cy="28346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Lists stories for the user to pick, then creates a feature branch with PRD clauses and QA inputs attached.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4  /  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PG3 DEVELOPMENT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PG3 Firmware Generation and Validation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At PG3, AEPLO generates firmware/code from datasheet and PRD, injecting SDK, BSP, compiler, OS/RTOS and board context before validation.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93392"/>
            <a:ext cx="196596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46988" y="2212848"/>
            <a:ext cx="512064" cy="51206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46988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D71920"/>
                </a:solidFill>
                <a:latin typeface="Arial"/>
              </a:rPr>
              <a:t>DATASHEET + PRD 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Requirement, register map, interface contract and acceptance criteria define the work.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59152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578608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592324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606040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2619756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633472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647188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660904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674620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688336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702052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15768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2729484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2496312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496312" y="1993392"/>
            <a:ext cx="1965960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3223260" y="2212848"/>
            <a:ext cx="512064" cy="512064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23260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06040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D71920"/>
                </a:solidFill>
                <a:latin typeface="Arial"/>
              </a:rPr>
              <a:t>SDK / OS / RTOS INJECTION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24328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SDK, BSP, HAL, compiler, memory map, OS/RTOS and board constraints are injected.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35424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4754880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768596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782312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96028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809744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4823460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837176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850892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864608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4878324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4892040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4905756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4672583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672583" y="1993392"/>
            <a:ext cx="1965960" cy="4572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5399531" y="2212848"/>
            <a:ext cx="512064" cy="512064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399531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82311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E8E8E8"/>
                </a:solidFill>
                <a:latin typeface="Arial"/>
              </a:rPr>
              <a:t>FIRMWARE GENERATION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00599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Driver skeletons, peripheral init, configuration tables and test hooks are generated.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5" y="2763774"/>
            <a:ext cx="314919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931151" y="2660904"/>
            <a:ext cx="13716" cy="25603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944867" y="2671572"/>
            <a:ext cx="13716" cy="23469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6958583" y="2682240"/>
            <a:ext cx="13716" cy="2133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972299" y="2692908"/>
            <a:ext cx="13716" cy="19202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986015" y="2703576"/>
            <a:ext cx="13716" cy="1706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6999731" y="2714244"/>
            <a:ext cx="13716" cy="14935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7013447" y="2724912"/>
            <a:ext cx="13716" cy="12801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7027163" y="2735580"/>
            <a:ext cx="13716" cy="106679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040879" y="2746248"/>
            <a:ext cx="13716" cy="8534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054595" y="2756916"/>
            <a:ext cx="13716" cy="6400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068311" y="2767584"/>
            <a:ext cx="13716" cy="42671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082027" y="2778252"/>
            <a:ext cx="13716" cy="21336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ounded Rectangle 65"/>
          <p:cNvSpPr/>
          <p:nvPr/>
        </p:nvSpPr>
        <p:spPr>
          <a:xfrm>
            <a:off x="6848855" y="1993392"/>
            <a:ext cx="1965960" cy="192024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848855" y="1993392"/>
            <a:ext cx="1965960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Oval 67"/>
          <p:cNvSpPr/>
          <p:nvPr/>
        </p:nvSpPr>
        <p:spPr>
          <a:xfrm>
            <a:off x="7575803" y="2212848"/>
            <a:ext cx="512064" cy="512064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575803" y="2212848"/>
            <a:ext cx="512064" cy="5120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58583" y="2852928"/>
            <a:ext cx="1746504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2E7D32"/>
                </a:solidFill>
                <a:latin typeface="Arial"/>
              </a:rPr>
              <a:t>VALIDATED FEATURE BRANCH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76871" y="3273552"/>
            <a:ext cx="1709928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880" b="0" i="0">
                <a:solidFill>
                  <a:srgbClr val="E8E8E8"/>
                </a:solidFill>
                <a:latin typeface="Arial"/>
              </a:rPr>
              <a:t>Generated code becomes a review-ready branch with tests, evidence and PRD traceability.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" y="4224528"/>
            <a:ext cx="8503920" cy="914400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320040" y="4224528"/>
            <a:ext cx="45720" cy="9144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502920" y="4315968"/>
            <a:ext cx="274320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71920"/>
                </a:solidFill>
                <a:latin typeface="Arial"/>
              </a:rPr>
              <a:t>DATASHEET AND HARDWARE EVIDENCE LANE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" y="4645152"/>
            <a:ext cx="809244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E8E8E8"/>
                </a:solidFill>
                <a:latin typeface="Arial"/>
              </a:rPr>
              <a:t>Checks: datasheet conformance | PRD trace | static/unit validation | JTAG/SWD registers, stack frames, memory dumps, peripheral state and probe logs.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0040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320040" y="5394960"/>
            <a:ext cx="45720" cy="868680"/>
          </a:xfrm>
          <a:prstGeom prst="rect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48056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A70E17"/>
                </a:solidFill>
                <a:latin typeface="Arial"/>
              </a:rPr>
              <a:t>Faster Draft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8056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Firmware first draft moves from days to guided PG3 actions.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200400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3200400" y="5394960"/>
            <a:ext cx="45720" cy="86868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3328416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D71920"/>
                </a:solidFill>
                <a:latin typeface="Arial"/>
              </a:rPr>
              <a:t>Traceable Validation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328416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Every generated file links PRD, datasheet, QA and hardware evidence.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080759" y="5394960"/>
            <a:ext cx="2697480" cy="868680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6080759" y="5394960"/>
            <a:ext cx="45720" cy="8686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6208775" y="5468112"/>
            <a:ext cx="2450592" cy="2560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2E7D32"/>
                </a:solidFill>
                <a:latin typeface="Arial"/>
              </a:rPr>
              <a:t>PG3 Ready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08775" y="5760720"/>
            <a:ext cx="245059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930" b="0" i="0">
                <a:solidFill>
                  <a:srgbClr val="E8E8E8"/>
                </a:solidFill>
                <a:latin typeface="Arial"/>
              </a:rPr>
              <a:t>Validated firmware flows into QA release and STQC readiness gates.</a:t>
            </a:r>
          </a:p>
        </p:txBody>
      </p:sp>
      <p:sp>
        <p:nvSpPr>
          <p:cNvPr id="88" name="Rectangle 87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B8B8B8"/>
                </a:solidFill>
                <a:latin typeface="Arial"/>
              </a:rPr>
              <a:t>5  /  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  <a:ln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sp>
        <p:nvSpPr>
          <p:cNvPr id="92" name="Rectangle 91"/>
          <p:cNvSpPr/>
          <p:nvPr/>
        </p:nvSpPr>
        <p:spPr>
          <a:xfrm>
            <a:off x="0" y="0"/>
            <a:ext cx="9144000" cy="254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9AA3D-9E9D-0F14-F0DD-124AABEDB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494532-563A-EC02-1800-5D90A66210E7}"/>
              </a:ext>
            </a:extLst>
          </p:cNvPr>
          <p:cNvSpPr/>
          <p:nvPr/>
        </p:nvSpPr>
        <p:spPr>
          <a:xfrm>
            <a:off x="0" y="-338684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55DA41-095B-D3E1-3B4E-71A7755DB23C}"/>
              </a:ext>
            </a:extLst>
          </p:cNvPr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B0703DB-49DE-3174-2D07-184ED8F20F0B}"/>
              </a:ext>
            </a:extLst>
          </p:cNvPr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60829D-C4FD-331E-BC12-68026E61127A}"/>
              </a:ext>
            </a:extLst>
          </p:cNvPr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JTAG DEBUG COPILOT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5E541-162F-9DB4-E1A2-5C72979D8E3F}"/>
              </a:ext>
            </a:extLst>
          </p:cNvPr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2800" b="1" i="0">
                <a:solidFill>
                  <a:srgbClr val="FFFFFF"/>
                </a:solidFill>
                <a:latin typeface="Arial"/>
              </a:rPr>
              <a:t>Agent JTAG Debugging: From Failure to Fix</a:t>
            </a:r>
            <a:endParaRPr sz="2800" b="1" i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2BAD0A-C1E0-C9D9-2574-7883A375CD20}"/>
              </a:ext>
            </a:extLst>
          </p:cNvPr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EC86AF2-44E5-04CC-ED51-AF652062FB84}"/>
              </a:ext>
            </a:extLst>
          </p:cNvPr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8309E7-BBF2-586F-5AB2-0A46BAECF76B}"/>
              </a:ext>
            </a:extLst>
          </p:cNvPr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6  /  9</a:t>
            </a:r>
          </a:p>
        </p:txBody>
      </p:sp>
      <p:sp>
        <p:nvSpPr>
          <p:cNvPr id="110" name="Rounded Rectangle 26">
            <a:extLst>
              <a:ext uri="{FF2B5EF4-FFF2-40B4-BE49-F238E27FC236}">
                <a16:creationId xmlns:a16="http://schemas.microsoft.com/office/drawing/2014/main" id="{2445ED3F-2AB1-3F8D-A939-B69AE27EBC13}"/>
              </a:ext>
            </a:extLst>
          </p:cNvPr>
          <p:cNvSpPr/>
          <p:nvPr/>
        </p:nvSpPr>
        <p:spPr>
          <a:xfrm>
            <a:off x="4502150" y="1490472"/>
            <a:ext cx="4568724" cy="4946904"/>
          </a:xfrm>
          <a:prstGeom prst="roundRect">
            <a:avLst>
              <a:gd name="adj" fmla="val 11746"/>
            </a:avLst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44AC20B-5D09-003C-2025-C797143DE1F4}"/>
              </a:ext>
            </a:extLst>
          </p:cNvPr>
          <p:cNvSpPr/>
          <p:nvPr/>
        </p:nvSpPr>
        <p:spPr>
          <a:xfrm>
            <a:off x="4810753" y="2366569"/>
            <a:ext cx="4049046" cy="2858107"/>
          </a:xfrm>
          <a:prstGeom prst="rect">
            <a:avLst/>
          </a:prstGeom>
          <a:noFill/>
          <a:ln w="28575">
            <a:solidFill>
              <a:schemeClr val="bg1">
                <a:lumMod val="75000"/>
              </a:schemeClr>
            </a:solidFill>
            <a:prstDash val="dash"/>
            <a:round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FB0001D-1A63-F1BE-E4E3-B66F768455B1}"/>
              </a:ext>
            </a:extLst>
          </p:cNvPr>
          <p:cNvSpPr txBox="1"/>
          <p:nvPr/>
        </p:nvSpPr>
        <p:spPr>
          <a:xfrm>
            <a:off x="6084349" y="1687471"/>
            <a:ext cx="349439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>
                <a:solidFill>
                  <a:srgbClr val="FF0000"/>
                </a:solidFill>
                <a:latin typeface="Segoe UI"/>
              </a:rPr>
              <a:t>JTAG - Agent Workflow </a:t>
            </a:r>
            <a:endParaRPr kumimoji="0" lang="en-US" sz="1050" b="1" i="0" u="none" strike="noStrike" kern="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DE047CA-0461-A46B-6632-ACB3C62E2A2E}"/>
              </a:ext>
            </a:extLst>
          </p:cNvPr>
          <p:cNvSpPr/>
          <p:nvPr/>
        </p:nvSpPr>
        <p:spPr>
          <a:xfrm>
            <a:off x="4882531" y="1945289"/>
            <a:ext cx="3877804" cy="3585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Bug/Story Ticket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4A937C22-EAF7-2997-D9AE-17BBC2D64CFA}"/>
              </a:ext>
            </a:extLst>
          </p:cNvPr>
          <p:cNvSpPr/>
          <p:nvPr/>
        </p:nvSpPr>
        <p:spPr>
          <a:xfrm>
            <a:off x="4891575" y="2451696"/>
            <a:ext cx="3877804" cy="597404"/>
          </a:xfrm>
          <a:prstGeom prst="rect">
            <a:avLst/>
          </a:prstGeom>
          <a:solidFill>
            <a:srgbClr val="6B6B6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JTAG Orchestrator</a:t>
            </a:r>
          </a:p>
          <a:p>
            <a:pPr algn="ctr"/>
            <a:r>
              <a:rPr lang="en-US" sz="1200" b="1">
                <a:solidFill>
                  <a:schemeClr val="bg1"/>
                </a:solidFill>
              </a:rPr>
              <a:t>-Context Extraction                  -Tool / Agent Routing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592E2B0C-1C6C-CD74-1B82-7F74F73A6468}"/>
              </a:ext>
            </a:extLst>
          </p:cNvPr>
          <p:cNvSpPr/>
          <p:nvPr/>
        </p:nvSpPr>
        <p:spPr>
          <a:xfrm>
            <a:off x="4881976" y="4540287"/>
            <a:ext cx="3887402" cy="586257"/>
          </a:xfrm>
          <a:prstGeom prst="rect">
            <a:avLst/>
          </a:prstGeom>
          <a:solidFill>
            <a:srgbClr val="6B6B6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Target MCU - Hardware</a:t>
            </a:r>
          </a:p>
          <a:p>
            <a:pPr algn="ctr"/>
            <a:r>
              <a:rPr lang="en-US" sz="1100" b="1">
                <a:solidFill>
                  <a:schemeClr val="bg1"/>
                </a:solidFill>
              </a:rPr>
              <a:t>(STM32 , Cortex-M)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EDAA72A7-4FAD-6747-6CD6-8FBB7F6216F7}"/>
              </a:ext>
            </a:extLst>
          </p:cNvPr>
          <p:cNvSpPr/>
          <p:nvPr/>
        </p:nvSpPr>
        <p:spPr>
          <a:xfrm>
            <a:off x="4891575" y="5321118"/>
            <a:ext cx="3887402" cy="4161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Git Provider</a:t>
            </a:r>
          </a:p>
          <a:p>
            <a:pPr algn="ctr"/>
            <a:r>
              <a:rPr lang="en-US" sz="1200">
                <a:solidFill>
                  <a:schemeClr val="bg1"/>
                </a:solidFill>
              </a:rPr>
              <a:t>- Branch + PR Creation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1C4652-5DCC-DC32-F083-E36A98C2F115}"/>
              </a:ext>
            </a:extLst>
          </p:cNvPr>
          <p:cNvSpPr/>
          <p:nvPr/>
        </p:nvSpPr>
        <p:spPr>
          <a:xfrm>
            <a:off x="4872932" y="5847457"/>
            <a:ext cx="3887402" cy="4161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Jira Ticket</a:t>
            </a:r>
          </a:p>
          <a:p>
            <a:pPr algn="ctr"/>
            <a:r>
              <a:rPr lang="en-US" sz="1200" b="1">
                <a:solidFill>
                  <a:srgbClr val="FFFFFF"/>
                </a:solidFill>
              </a:rPr>
              <a:t>RCA | Logs | Review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7C28E6D-2A93-4EDB-FFF6-E89C3D566DAE}"/>
              </a:ext>
            </a:extLst>
          </p:cNvPr>
          <p:cNvSpPr/>
          <p:nvPr/>
        </p:nvSpPr>
        <p:spPr>
          <a:xfrm>
            <a:off x="5794540" y="3318510"/>
            <a:ext cx="2234641" cy="187137"/>
          </a:xfrm>
          <a:prstGeom prst="rect">
            <a:avLst/>
          </a:prstGeom>
          <a:solidFill>
            <a:srgbClr val="A9A9A9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  <a:p>
            <a:r>
              <a:rPr lang="en-US" sz="1200" b="1">
                <a:solidFill>
                  <a:schemeClr val="tx1">
                    <a:lumMod val="50000"/>
                    <a:lumOff val="50000"/>
                  </a:schemeClr>
                </a:solidFill>
                <a:latin typeface="Segoe UI"/>
              </a:rPr>
              <a:t>Sub Agents (Multi-Agent)</a:t>
            </a:r>
          </a:p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1D3F4EFE-E6F3-6BAB-B41A-48728434BB3A}"/>
              </a:ext>
            </a:extLst>
          </p:cNvPr>
          <p:cNvSpPr/>
          <p:nvPr/>
        </p:nvSpPr>
        <p:spPr>
          <a:xfrm>
            <a:off x="4572000" y="3547950"/>
            <a:ext cx="762730" cy="466779"/>
          </a:xfrm>
          <a:prstGeom prst="roundRect">
            <a:avLst>
              <a:gd name="adj" fmla="val 18499"/>
            </a:avLst>
          </a:prstGeom>
          <a:solidFill>
            <a:srgbClr val="D7192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Fault Analyzer</a:t>
            </a: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AB6E3101-DB27-A0B5-C335-E935C3062232}"/>
              </a:ext>
            </a:extLst>
          </p:cNvPr>
          <p:cNvSpPr/>
          <p:nvPr/>
        </p:nvSpPr>
        <p:spPr>
          <a:xfrm>
            <a:off x="5405065" y="3546537"/>
            <a:ext cx="762730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Variable Tracer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9CACA3A9-BF1F-4F6E-92B2-781133C05EB0}"/>
              </a:ext>
            </a:extLst>
          </p:cNvPr>
          <p:cNvSpPr/>
          <p:nvPr/>
        </p:nvSpPr>
        <p:spPr>
          <a:xfrm>
            <a:off x="6223074" y="3544875"/>
            <a:ext cx="845379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Peripheral Inspector</a:t>
            </a:r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164AD8DF-0DE4-748F-9A4D-87F4D4664363}"/>
              </a:ext>
            </a:extLst>
          </p:cNvPr>
          <p:cNvSpPr/>
          <p:nvPr/>
        </p:nvSpPr>
        <p:spPr>
          <a:xfrm>
            <a:off x="7131797" y="3558609"/>
            <a:ext cx="929183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Probing</a:t>
            </a:r>
          </a:p>
          <a:p>
            <a:pPr algn="ctr"/>
            <a:r>
              <a:rPr lang="en-US" sz="1100">
                <a:solidFill>
                  <a:schemeClr val="bg1"/>
                </a:solidFill>
              </a:rPr>
              <a:t>Agent</a:t>
            </a: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3D646080-BE49-03D2-A2BE-303A231C5BCF}"/>
              </a:ext>
            </a:extLst>
          </p:cNvPr>
          <p:cNvSpPr/>
          <p:nvPr/>
        </p:nvSpPr>
        <p:spPr>
          <a:xfrm>
            <a:off x="8117907" y="3548451"/>
            <a:ext cx="929183" cy="466779"/>
          </a:xfrm>
          <a:prstGeom prst="roundRect">
            <a:avLst>
              <a:gd name="adj" fmla="val 18499"/>
            </a:avLst>
          </a:prstGeom>
          <a:solidFill>
            <a:srgbClr val="D7192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Controlled Auto Fix</a:t>
            </a:r>
          </a:p>
        </p:txBody>
      </p:sp>
      <p:sp>
        <p:nvSpPr>
          <p:cNvPr id="104" name="Arrow: Down 103">
            <a:extLst>
              <a:ext uri="{FF2B5EF4-FFF2-40B4-BE49-F238E27FC236}">
                <a16:creationId xmlns:a16="http://schemas.microsoft.com/office/drawing/2014/main" id="{2AA5FC09-C06B-315D-DCCD-8FE40D6E7F9B}"/>
              </a:ext>
            </a:extLst>
          </p:cNvPr>
          <p:cNvSpPr/>
          <p:nvPr/>
        </p:nvSpPr>
        <p:spPr>
          <a:xfrm>
            <a:off x="5504125" y="4141791"/>
            <a:ext cx="302217" cy="360402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5" name="Arrow: Down 104">
            <a:extLst>
              <a:ext uri="{FF2B5EF4-FFF2-40B4-BE49-F238E27FC236}">
                <a16:creationId xmlns:a16="http://schemas.microsoft.com/office/drawing/2014/main" id="{91CE8768-4D42-B265-E3E2-58801801B7FC}"/>
              </a:ext>
            </a:extLst>
          </p:cNvPr>
          <p:cNvSpPr/>
          <p:nvPr/>
        </p:nvSpPr>
        <p:spPr>
          <a:xfrm rot="10800000">
            <a:off x="7893183" y="4117634"/>
            <a:ext cx="315732" cy="360143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66F2210-3F96-A27A-6B09-A69EBA95F8CA}"/>
              </a:ext>
            </a:extLst>
          </p:cNvPr>
          <p:cNvSpPr txBox="1"/>
          <p:nvPr/>
        </p:nvSpPr>
        <p:spPr>
          <a:xfrm>
            <a:off x="5928541" y="4251271"/>
            <a:ext cx="1964642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>
                <a:solidFill>
                  <a:srgbClr val="FF0000"/>
                </a:solidFill>
                <a:latin typeface="Segoe UI"/>
              </a:rPr>
              <a:t>Physical Interface to Hardware</a:t>
            </a:r>
          </a:p>
        </p:txBody>
      </p:sp>
      <p:sp>
        <p:nvSpPr>
          <p:cNvPr id="107" name="Arrow: Down 106">
            <a:extLst>
              <a:ext uri="{FF2B5EF4-FFF2-40B4-BE49-F238E27FC236}">
                <a16:creationId xmlns:a16="http://schemas.microsoft.com/office/drawing/2014/main" id="{A58741E5-B20A-73D8-DC6F-A26668ED1160}"/>
              </a:ext>
            </a:extLst>
          </p:cNvPr>
          <p:cNvSpPr/>
          <p:nvPr/>
        </p:nvSpPr>
        <p:spPr>
          <a:xfrm>
            <a:off x="6629062" y="3080827"/>
            <a:ext cx="238477" cy="21865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12C948-7DFB-8225-D1A6-C259F4111B20}"/>
              </a:ext>
            </a:extLst>
          </p:cNvPr>
          <p:cNvSpPr txBox="1"/>
          <p:nvPr/>
        </p:nvSpPr>
        <p:spPr>
          <a:xfrm>
            <a:off x="6913592" y="3090316"/>
            <a:ext cx="511151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>
                <a:solidFill>
                  <a:srgbClr val="C00000"/>
                </a:solidFill>
                <a:latin typeface="Segoe UI"/>
              </a:rPr>
              <a:t>A2A</a:t>
            </a:r>
            <a:endParaRPr lang="en-US" sz="1300" b="1">
              <a:solidFill>
                <a:srgbClr val="C00000"/>
              </a:solidFill>
              <a:latin typeface="Segoe UI"/>
            </a:endParaRPr>
          </a:p>
        </p:txBody>
      </p:sp>
      <p:sp>
        <p:nvSpPr>
          <p:cNvPr id="112" name="Rounded Rectangle 71">
            <a:extLst>
              <a:ext uri="{FF2B5EF4-FFF2-40B4-BE49-F238E27FC236}">
                <a16:creationId xmlns:a16="http://schemas.microsoft.com/office/drawing/2014/main" id="{8AA13838-9DB4-74F6-C927-58E428D39838}"/>
              </a:ext>
            </a:extLst>
          </p:cNvPr>
          <p:cNvSpPr/>
          <p:nvPr/>
        </p:nvSpPr>
        <p:spPr>
          <a:xfrm>
            <a:off x="232337" y="1574798"/>
            <a:ext cx="4032557" cy="35478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050" b="1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8FF9C45-E82C-C26B-0593-8C7808AA6235}"/>
              </a:ext>
            </a:extLst>
          </p:cNvPr>
          <p:cNvSpPr/>
          <p:nvPr/>
        </p:nvSpPr>
        <p:spPr>
          <a:xfrm>
            <a:off x="232337" y="1574798"/>
            <a:ext cx="63625" cy="3547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5DD612C8-DEA0-7526-5232-37363E748859}"/>
              </a:ext>
            </a:extLst>
          </p:cNvPr>
          <p:cNvGrpSpPr/>
          <p:nvPr/>
        </p:nvGrpSpPr>
        <p:grpSpPr>
          <a:xfrm>
            <a:off x="232336" y="2154232"/>
            <a:ext cx="4055965" cy="1323236"/>
            <a:chOff x="58373" y="2985722"/>
            <a:chExt cx="2697480" cy="868680"/>
          </a:xfrm>
        </p:grpSpPr>
        <p:sp>
          <p:nvSpPr>
            <p:cNvPr id="121" name="Rounded Rectangle 75">
              <a:extLst>
                <a:ext uri="{FF2B5EF4-FFF2-40B4-BE49-F238E27FC236}">
                  <a16:creationId xmlns:a16="http://schemas.microsoft.com/office/drawing/2014/main" id="{CE3941D8-2543-9F45-1EE7-2C7E01A38D67}"/>
                </a:ext>
              </a:extLst>
            </p:cNvPr>
            <p:cNvSpPr/>
            <p:nvPr/>
          </p:nvSpPr>
          <p:spPr>
            <a:xfrm>
              <a:off x="58373" y="2985722"/>
              <a:ext cx="2697480" cy="868680"/>
            </a:xfrm>
            <a:prstGeom prst="roundRect">
              <a:avLst>
                <a:gd name="adj" fmla="val 6877"/>
              </a:avLst>
            </a:prstGeom>
            <a:solidFill>
              <a:srgbClr val="0F284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4935DE6C-837F-D3F7-062F-7E7B781C7910}"/>
                </a:ext>
              </a:extLst>
            </p:cNvPr>
            <p:cNvSpPr/>
            <p:nvPr/>
          </p:nvSpPr>
          <p:spPr>
            <a:xfrm>
              <a:off x="58373" y="2985722"/>
              <a:ext cx="45720" cy="868680"/>
            </a:xfrm>
            <a:prstGeom prst="rect">
              <a:avLst/>
            </a:prstGeom>
            <a:solidFill>
              <a:srgbClr val="00A8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25" name="Rounded Rectangle 75">
            <a:extLst>
              <a:ext uri="{FF2B5EF4-FFF2-40B4-BE49-F238E27FC236}">
                <a16:creationId xmlns:a16="http://schemas.microsoft.com/office/drawing/2014/main" id="{A148F514-4E3B-EE65-E6B2-AB3E6E9040EE}"/>
              </a:ext>
            </a:extLst>
          </p:cNvPr>
          <p:cNvSpPr/>
          <p:nvPr/>
        </p:nvSpPr>
        <p:spPr>
          <a:xfrm>
            <a:off x="213581" y="3566076"/>
            <a:ext cx="4055965" cy="1540277"/>
          </a:xfrm>
          <a:prstGeom prst="roundRect">
            <a:avLst>
              <a:gd name="adj" fmla="val 6877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BEF358D-44DD-4B4B-5451-559406E54F3D}"/>
              </a:ext>
            </a:extLst>
          </p:cNvPr>
          <p:cNvSpPr/>
          <p:nvPr/>
        </p:nvSpPr>
        <p:spPr>
          <a:xfrm>
            <a:off x="217505" y="3565386"/>
            <a:ext cx="83576" cy="1540277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ounded Rectangle 79">
            <a:extLst>
              <a:ext uri="{FF2B5EF4-FFF2-40B4-BE49-F238E27FC236}">
                <a16:creationId xmlns:a16="http://schemas.microsoft.com/office/drawing/2014/main" id="{EFD6A22B-8B15-C890-08EA-4798E6253AF8}"/>
              </a:ext>
            </a:extLst>
          </p:cNvPr>
          <p:cNvSpPr/>
          <p:nvPr/>
        </p:nvSpPr>
        <p:spPr>
          <a:xfrm>
            <a:off x="239330" y="5176572"/>
            <a:ext cx="4025563" cy="996241"/>
          </a:xfrm>
          <a:prstGeom prst="roundRect">
            <a:avLst>
              <a:gd name="adj" fmla="val 5959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A6BDB28-FBDE-4636-E6CA-4AC350B48D8C}"/>
              </a:ext>
            </a:extLst>
          </p:cNvPr>
          <p:cNvSpPr txBox="1"/>
          <p:nvPr/>
        </p:nvSpPr>
        <p:spPr>
          <a:xfrm>
            <a:off x="275497" y="1592219"/>
            <a:ext cx="3968932" cy="62755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1200" b="1" i="0">
                <a:solidFill>
                  <a:srgbClr val="FF0000"/>
                </a:solidFill>
                <a:latin typeface="Arial"/>
              </a:rPr>
              <a:t>JTAG Agent – Real time Use cases</a:t>
            </a:r>
          </a:p>
          <a:p>
            <a:pPr algn="l"/>
            <a:endParaRPr lang="en-US" sz="1100" b="1">
              <a:solidFill>
                <a:srgbClr val="FF8C00"/>
              </a:solidFill>
              <a:latin typeface="Segoe UI"/>
            </a:endParaRPr>
          </a:p>
          <a:p>
            <a:endParaRPr lang="en-US" sz="1100" b="1">
              <a:solidFill>
                <a:srgbClr val="00D48A"/>
              </a:solidFill>
              <a:latin typeface="Segoe UI"/>
            </a:endParaRPr>
          </a:p>
          <a:p>
            <a:r>
              <a:rPr lang="en-US" sz="1100" b="1">
                <a:solidFill>
                  <a:srgbClr val="2E7D32"/>
                </a:solidFill>
                <a:latin typeface="Arial"/>
              </a:rPr>
              <a:t>Bootloader -&gt; Application Handoff Failure (Hard Fault)</a:t>
            </a:r>
          </a:p>
          <a:p>
            <a:endParaRPr lang="en-US" sz="1100" b="1">
              <a:solidFill>
                <a:srgbClr val="00D48A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</a:t>
            </a:r>
            <a:r>
              <a:rPr lang="en-US" sz="930">
                <a:solidFill>
                  <a:srgbClr val="E8E8E8"/>
                </a:solidFill>
                <a:latin typeface="Arial"/>
              </a:rPr>
              <a:t>: Bootloader enabled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SysTick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timer; application's vector table had no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SysTick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handler →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HardFault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on jump.</a:t>
            </a: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identified root cause in 45 minutes (vs. 2–3 days manual debugging) by correlating PC, vector tables, and peripheral state.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2E7D32"/>
                </a:solidFill>
                <a:latin typeface="Arial"/>
              </a:rPr>
              <a:t>Emulating sub zero temperature condition at room temperature</a:t>
            </a: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ADC stalled at negative temperature; fix required driver </a:t>
            </a:r>
            <a:r>
              <a:rPr lang="en-US" sz="1000" err="1">
                <a:solidFill>
                  <a:srgbClr val="E8E8E8"/>
                </a:solidFill>
                <a:latin typeface="Arial"/>
              </a:rPr>
              <a:t>reinit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 with gain adjustment.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simulated cold ADC state at 25°C, enabling root-cause fix and validation without thermal chamber—saved 1 week of thermal cycling.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2E7D32"/>
                </a:solidFill>
                <a:latin typeface="Arial"/>
              </a:rPr>
              <a:t>Boot Failure due to Incorrect Boot Configuration</a:t>
            </a: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Device failed to boot into application after flashing new build on new hardware, all looked good.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traced Program Counter (PC) and identified execution redirecting to system ROM instead of internal flash.</a:t>
            </a: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pPr algn="l"/>
            <a:endParaRPr sz="1100" b="1" i="0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7D4E16F-AFAB-0026-531E-F65A232C42BE}"/>
              </a:ext>
            </a:extLst>
          </p:cNvPr>
          <p:cNvSpPr/>
          <p:nvPr/>
        </p:nvSpPr>
        <p:spPr>
          <a:xfrm>
            <a:off x="217504" y="5183072"/>
            <a:ext cx="60553" cy="996241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8A8D32-1D50-667D-BFF9-05C2E63A0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689" y="4565958"/>
            <a:ext cx="524578" cy="524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7194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PG5 STQC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STQC Agent for BIS Certification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The star of PG5: IoT security and surveillance devices need BIS certification governed by STQC guidelines for in-house designs and BTS sales.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50292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5488" y="2395728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" y="239572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483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Arial"/>
              </a:rPr>
              <a:t>Creates STQC
Audit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60604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Crawls code, configuration and evidence sources to prepare auditor-ready STQC artifacts.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5488" y="390448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390448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59359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Guideline Verdict:
READY / NOT_READY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Checks STQC ER guidance, hard rules such as no foreign characters, and submission completeness.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02920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502920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75488" y="541324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541324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10235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Jira Remediation
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62356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Every NOT_READY result highlights the failing section and creates stories or defects to fix 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965960"/>
            <a:ext cx="3182112" cy="449884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23560" y="1965960"/>
            <a:ext cx="3182112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23560" y="2029968"/>
            <a:ext cx="318211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71920"/>
                </a:solidFill>
                <a:latin typeface="Arial"/>
              </a:rPr>
              <a:t>STQC SUBMISSION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2423160"/>
            <a:ext cx="3182112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824728" y="2542032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824728" y="2542032"/>
            <a:ext cx="2779776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2706624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2706624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743200"/>
            <a:ext cx="1316736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7D32"/>
                </a:solidFill>
                <a:latin typeface="Arial"/>
              </a:rPr>
              <a:t>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3337453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Evidence pack ready.
Cleared for auditor review.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224528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824728" y="4224528"/>
            <a:ext cx="2779776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629400" y="4389120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9400" y="4389120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4425696"/>
            <a:ext cx="1417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71920"/>
                </a:solidFill>
                <a:latin typeface="Arial"/>
              </a:rPr>
              <a:t>NOT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88736" y="5060357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Guideline gaps found.
Create Jira stories.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8  /  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QA RELEASE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QA Release Gate Closed Loop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3891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Feature branch, PRD criteria, QA inputs and JTAG evidence are validated together. NOT_READY decisions become prioritized next-release work.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834640"/>
            <a:ext cx="36576" cy="7040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47472" y="2231136"/>
            <a:ext cx="621792" cy="621792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47472" y="223113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02996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3000" y="2029968"/>
            <a:ext cx="45720" cy="1353312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98448" y="210312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E8E8"/>
                </a:solidFill>
                <a:latin typeface="Arial"/>
              </a:rPr>
              <a:t>Validate Release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252374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QA results, PRD acceptance criteria, generated firmware tests and JTAG evidence are mapped together.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343400"/>
            <a:ext cx="36576" cy="7040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47472" y="3739896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7472" y="373989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53872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43000" y="3538728"/>
            <a:ext cx="45720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98448" y="361188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71920"/>
                </a:solidFill>
                <a:latin typeface="Arial"/>
              </a:rPr>
              <a:t>Extract Readiness Gaps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8448" y="403250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AI correlates failures with commits, Jira issues, Confluence decisions, RTOS timing and hardware evidence.</a:t>
            </a:r>
          </a:p>
        </p:txBody>
      </p:sp>
      <p:sp>
        <p:nvSpPr>
          <p:cNvPr id="23" name="Oval 22"/>
          <p:cNvSpPr/>
          <p:nvPr/>
        </p:nvSpPr>
        <p:spPr>
          <a:xfrm>
            <a:off x="347472" y="5248656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47472" y="5248656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047488"/>
            <a:ext cx="7662672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43000" y="5047488"/>
            <a:ext cx="45720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298448" y="5120640"/>
            <a:ext cx="7132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  <a:latin typeface="Arial"/>
              </a:rPr>
              <a:t>Guide Next Release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5541264"/>
            <a:ext cx="713232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E8E8"/>
                </a:solidFill>
                <a:latin typeface="Arial"/>
              </a:rPr>
              <a:t>Automated stories and priorities are created until the release gate returns READY.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7  /  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QUANTIFIED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Efficiency, Time Saved and Token Optimization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458200" cy="40233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40" b="0" i="1">
                <a:solidFill>
                  <a:srgbClr val="E8E8E8"/>
                </a:solidFill>
                <a:latin typeface="Arial"/>
              </a:rPr>
              <a:t>Realistic pilot targets for the reduced 3-minute V10 story: measurable STQC acceleration, PG3 generation, JTAG debugging, QA triage and LLM cost control.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01952"/>
            <a:ext cx="8503920" cy="418795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850392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901952"/>
            <a:ext cx="306324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1975104"/>
            <a:ext cx="30632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75104"/>
            <a:ext cx="544068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KEY METRIC 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2286000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50292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83280" y="2286000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2286000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" y="2395728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STQC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395728"/>
            <a:ext cx="5056632" cy="470513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9" b="0" i="0" dirty="0">
                <a:solidFill>
                  <a:srgbClr val="E8E8E8"/>
                </a:solidFill>
                <a:latin typeface="Arial"/>
              </a:rPr>
              <a:t>- Submission evidence pack: 8-12 weeks -&gt; 1-3 days
- First-pack effort reduction: 90-95%
- Hard-rule checks: foreign characters, STQC ER coverage, missing sections</a:t>
            </a:r>
          </a:p>
          <a:p>
            <a:pPr algn="l"/>
            <a:r>
              <a:rPr sz="819" b="0" i="0" dirty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endParaRPr sz="819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20040" y="2944368"/>
            <a:ext cx="306324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83280" y="2944368"/>
            <a:ext cx="544068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2944368"/>
            <a:ext cx="50292" cy="4754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83280" y="2944368"/>
            <a:ext cx="20116" cy="4754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2944368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" y="3054096"/>
            <a:ext cx="2743200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PG3 Firmware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3054096"/>
            <a:ext cx="5056632" cy="3508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>- Firmware first draft and validation: 3-5 days -&gt; 1-2 days
- Faster first loop: 45-60%
- Context injected: datasheet, PRD, SDK, BSP, OS/RTOS</a:t>
            </a:r>
            <a:r>
              <a:rPr lang="en-US" sz="840" dirty="0">
                <a:solidFill>
                  <a:srgbClr val="E8E8E8"/>
                </a:solidFill>
                <a:latin typeface="Arial"/>
              </a:rPr>
              <a:t/>
            </a:r>
            <a:r>
              <a:rPr sz="840" b="0" i="0" dirty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419856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83280" y="3419856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3419856"/>
            <a:ext cx="50292" cy="65836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383280" y="3419856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3419856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" y="3529584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JTAG + QA Gate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3529584"/>
            <a:ext cx="5056632" cy="3508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>- JTAG root cause: 1-2 days -&gt; under 2 hours
- QA release triage: 2-3 days -&gt; under 4 hours
- NOT_READY creates next-release Jira priorities</a:t>
            </a:r>
            <a:r>
              <a:rPr lang="en-US" sz="840" dirty="0">
                <a:solidFill>
                  <a:srgbClr val="E8E8E8"/>
                </a:solidFill>
                <a:latin typeface="Arial"/>
              </a:rPr>
              <a:t/>
            </a:r>
            <a:r>
              <a:rPr sz="840" b="0" i="0" dirty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078224"/>
            <a:ext cx="306324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83280" y="4078224"/>
            <a:ext cx="544068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4078224"/>
            <a:ext cx="50292" cy="9326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383280" y="4078224"/>
            <a:ext cx="20116" cy="9326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4078224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4632" y="4187952"/>
            <a:ext cx="274320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Agentic AI execution pattern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84448" y="4187952"/>
            <a:ext cx="5056632" cy="466281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0" b="0" i="0" dirty="0">
                <a:solidFill>
                  <a:srgbClr val="E8E8E8"/>
                </a:solidFill>
                <a:latin typeface="Arial"/>
              </a:rPr>
              <a:t>- Reusable agents: PRD ingestion, firmware generation, JTAG debug, QA gate, STQC
- Evidence traceability: Confluence -&gt; Jira -&gt; GitHub -&gt; QA -&gt; audit pack
- Human choice retained at story selection and release gate</a:t>
            </a:r>
          </a:p>
          <a:p>
            <a:pPr algn="l"/>
            <a:r>
              <a:rPr sz="810" b="0" i="0" dirty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r>
              <a:rPr sz="810" b="0" i="0" dirty="0">
                <a:solidFill>
                  <a:srgbClr val="E8E8E8"/>
                </a:solidFill>
                <a:latin typeface="Arial"/>
              </a:rPr>
              <a:t/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5010912"/>
            <a:ext cx="306324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3280" y="5010912"/>
            <a:ext cx="544068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20040" y="5010912"/>
            <a:ext cx="50292" cy="10789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383280" y="5010912"/>
            <a:ext cx="20116" cy="107899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0040" y="5010912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4632" y="5120640"/>
            <a:ext cx="2743200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LLM selection strategies and token optimization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4448" y="5120640"/>
            <a:ext cx="5056632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Token reduction: 35-45% using routed context and retrieval
- STQC prompt caching: 80%+ reusable guideline/datasheet context on repeat runs
- Compact evidence summaries reduce review and audit-prep cost</a:t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/>
            </a:r>
          </a:p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20040" y="6272784"/>
            <a:ext cx="8503920" cy="21945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2920" y="6318504"/>
            <a:ext cx="8138160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2E7D32"/>
                </a:solidFill>
                <a:latin typeface="Arial"/>
              </a:rPr>
              <a:t>FOCUS: AEPLO loops across PRD, PG3 firmware, JTAG, QA and STQC until READY.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9  /  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385D4FBCD491449E1D36F0103336E0" ma:contentTypeVersion="3" ma:contentTypeDescription="Create a new document." ma:contentTypeScope="" ma:versionID="05b8c16f72a465d94175fee1a9f0cdb1">
  <xsd:schema xmlns:xsd="http://www.w3.org/2001/XMLSchema" xmlns:xs="http://www.w3.org/2001/XMLSchema" xmlns:p="http://schemas.microsoft.com/office/2006/metadata/properties" xmlns:ns2="e94ddfc3-4734-4b9a-ae26-16534f892664" targetNamespace="http://schemas.microsoft.com/office/2006/metadata/properties" ma:root="true" ma:fieldsID="5da84732ee269f2f8c69a64254ea57c1" ns2:_="">
    <xsd:import namespace="e94ddfc3-4734-4b9a-ae26-16534f89266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4ddfc3-4734-4b9a-ae26-16534f89266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6F64E7DF-7969-461F-8D79-4E2223D5DA1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3521981-0FA2-42A5-9139-0A1170FE2067}">
  <ds:schemaRefs>
    <ds:schemaRef ds:uri="e94ddfc3-4734-4b9a-ae26-16534f89266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A70049F5-D881-4A27-9198-FB7AEB41FA35}">
  <ds:schemaRefs>
    <ds:schemaRef ds:uri="e94ddfc3-4734-4b9a-ae26-16534f892664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2747</Words>
  <Application>Microsoft Office PowerPoint</Application>
  <PresentationFormat>On-screen Show (4:3)</PresentationFormat>
  <Paragraphs>402</Paragraphs>
  <Slides>14</Slides>
  <Notes>14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Shrivastava, Shyam</dc:creator>
  <cp:keywords/>
  <dc:description>generated using python-pptx</dc:description>
  <cp:lastModifiedBy>Shrivastava, Shyam</cp:lastModifiedBy>
  <cp:revision>1</cp:revision>
  <dcterms:created xsi:type="dcterms:W3CDTF">2013-01-27T09:14:16Z</dcterms:created>
  <dcterms:modified xsi:type="dcterms:W3CDTF">2026-06-17T05:45:01Z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0x010100F3385D4FBCD491449E1D36F0103336E0</vt:lpwstr>
  </property>
</Properties>
</file>