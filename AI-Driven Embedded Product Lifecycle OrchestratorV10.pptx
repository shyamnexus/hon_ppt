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68" r:id="rId5"/>
    <p:sldId id="257" r:id="rId6"/>
    <p:sldId id="270" r:id="rId10"/>
    <p:sldId id="263" r:id="rId12"/>
    <p:sldId id="269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B6B6B"/>
    <a:srgbClr val="D719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34CE74-0792-4501-A99F-2CF3CFA1166E}" v="107" dt="2026-06-15T13:19:31.730"/>
    <p1510:client id="{14B4AA2C-2FF3-3A7D-B1B7-20FF86D16280}" v="2" dt="2026-06-15T12:34:32.869"/>
    <p1510:client id="{7F5A5EC7-A3F4-41AD-9141-CF10EA960EAA}" v="100" dt="2026-06-16T07:29:49.578"/>
    <p1510:client id="{CB6C0A9B-3727-4295-98CD-6FB636046EBB}" v="2" dt="2026-06-16T07:27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535" autoAdjust="0"/>
  </p:normalViewPr>
  <p:slideViewPr>
    <p:cSldViewPr snapToGrid="0">
      <p:cViewPr>
        <p:scale>
          <a:sx n="125" d="100"/>
          <a:sy n="125" d="100"/>
        </p:scale>
        <p:origin x="474" y="-15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0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544E3D8-A955-9E63-0E7D-EED82BC9D2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6C963-9598-4857-33EC-EC247C74CFD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AB91F-961D-4A07-BD14-A68507151E78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B287B-2CEB-664E-026B-0B714746E6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E3EBC-5078-7A91-7401-F292C1911C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CF262-CA4D-493A-BF7B-3F5A47362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91139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presenting the AEPLO JTAG Accelerator for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Embedded PDLC AI Optimization. The story is simple: connect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planning data, code, AI assistance, and JTAG evidence so we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 move faster from discovery to validated launch readiness.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AB7C5-5590-7BCB-C58B-AC5F2E7F6A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Problem :</a:t>
            </a:r>
            <a:br>
              <a:rPr lang="en-US"/>
            </a:br>
            <a:r>
              <a:rPr lang="en-US"/>
              <a:t>Embedded PDLC data is fragmented. Jira, Confluence, GitHub,</a:t>
            </a:r>
          </a:p>
          <a:p>
            <a:r>
              <a:rPr lang="en-US"/>
              <a:t>QA results, and JTAG/SWD hardware evidence often sit in</a:t>
            </a:r>
          </a:p>
          <a:p>
            <a:r>
              <a:rPr lang="en-US"/>
              <a:t>separate places. That slows decisions across PG1, PG3, and PG5</a:t>
            </a:r>
          </a:p>
          <a:p>
            <a:r>
              <a:rPr lang="en-US"/>
              <a:t>and makes launch readiness harder to prove.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286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"This slide shows three real-time use cases for the JTAG agent.</a:t>
            </a:r>
          </a:p>
          <a:p>
            <a:r>
              <a:rPr lang="en-US" dirty="0"/>
              <a:t>First, a bootloader-to-application handoff caused a </a:t>
            </a:r>
            <a:r>
              <a:rPr lang="en-US" dirty="0" err="1"/>
              <a:t>HardFault</a:t>
            </a:r>
            <a:endParaRPr lang="en-US" dirty="0"/>
          </a:p>
          <a:p>
            <a:r>
              <a:rPr lang="en-US" dirty="0"/>
              <a:t>because </a:t>
            </a:r>
            <a:r>
              <a:rPr lang="en-US" dirty="0" err="1"/>
              <a:t>SysTick</a:t>
            </a:r>
            <a:r>
              <a:rPr lang="en-US" dirty="0"/>
              <a:t> was enabled but the application vector table had</a:t>
            </a:r>
          </a:p>
          <a:p>
            <a:r>
              <a:rPr lang="en-US" dirty="0"/>
              <a:t>no </a:t>
            </a:r>
            <a:r>
              <a:rPr lang="en-US" dirty="0" err="1"/>
              <a:t>SysTick</a:t>
            </a:r>
            <a:r>
              <a:rPr lang="en-US" dirty="0"/>
              <a:t> handler. The agent correlated the PC, vector table,</a:t>
            </a:r>
          </a:p>
          <a:p>
            <a:r>
              <a:rPr lang="en-US" dirty="0"/>
              <a:t>and peripheral state and reduced diagnosis from days to about</a:t>
            </a:r>
          </a:p>
          <a:p>
            <a:r>
              <a:rPr lang="en-US" dirty="0"/>
              <a:t>45 minutes.</a:t>
            </a:r>
          </a:p>
          <a:p>
            <a:endParaRPr lang="en-US" dirty="0"/>
          </a:p>
          <a:p>
            <a:r>
              <a:rPr lang="en-US" dirty="0"/>
              <a:t>Second, the agent emulated a sub-zero ADC condition at room</a:t>
            </a:r>
          </a:p>
          <a:p>
            <a:r>
              <a:rPr lang="en-US" dirty="0"/>
              <a:t>temperature. That allowed driver </a:t>
            </a:r>
            <a:r>
              <a:rPr lang="en-US" dirty="0" err="1"/>
              <a:t>reinitialisation</a:t>
            </a:r>
            <a:r>
              <a:rPr lang="en-US" dirty="0"/>
              <a:t> and gain</a:t>
            </a:r>
          </a:p>
          <a:p>
            <a:r>
              <a:rPr lang="en-US" dirty="0"/>
              <a:t>adjustment to be validated without waiting for thermal chamber</a:t>
            </a:r>
          </a:p>
          <a:p>
            <a:r>
              <a:rPr lang="en-US" dirty="0"/>
              <a:t>cycling.</a:t>
            </a:r>
          </a:p>
          <a:p>
            <a:endParaRPr lang="en-US" dirty="0"/>
          </a:p>
          <a:p>
            <a:r>
              <a:rPr lang="en-US" dirty="0"/>
              <a:t>Third, for a boot failure after flashing a new build, the agent</a:t>
            </a:r>
          </a:p>
          <a:p>
            <a:r>
              <a:rPr lang="en-US" dirty="0"/>
              <a:t>traced the Program Counter and identified execution going to</a:t>
            </a:r>
          </a:p>
          <a:p>
            <a:r>
              <a:rPr lang="en-US" dirty="0"/>
              <a:t>system ROM instead of internal flash. The key message is that</a:t>
            </a:r>
          </a:p>
          <a:p>
            <a:r>
              <a:rPr lang="en-US" dirty="0"/>
              <a:t>JTAG evidence becomes actionable AI context, not just a debug</a:t>
            </a:r>
          </a:p>
          <a:p>
            <a:r>
              <a:rPr lang="en-US" dirty="0"/>
              <a:t>artifact."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84156-8AE9-4423-952A-88BA8F9A5A49}" type="slidenum">
              <a:rPr lang="en-US" smtClean="0"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4013F-CC9D-DB38-4883-8B125F1E99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12596155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PG5, AEPLO evaluates code, QA results, traceability, and</a:t>
            </a:r>
          </a:p>
          <a:p>
            <a:r>
              <a:rPr lang="en-US"/>
              <a:t>JTAG/SWD evidence together. The gatekeeper produces a clear</a:t>
            </a:r>
          </a:p>
          <a:p>
            <a:r>
              <a:rPr lang="en-US"/>
              <a:t>READY or NOT_READY verdict, plus a prioritized remediation list</a:t>
            </a:r>
          </a:p>
          <a:p>
            <a:r>
              <a:rPr lang="en-US"/>
              <a:t>for validation and launch preparation.“</a:t>
            </a:r>
          </a:p>
          <a:p>
            <a:r>
              <a:rPr lang="en-US"/>
              <a:t>We also Plan to demo a STQC Agent as part of PG5 , All IOT based Surveillance devices (Cameras and NVRs) need to be BIS certified and in order to do so , need to go through a very strict STQC audit.</a:t>
            </a:r>
          </a:p>
          <a:p>
            <a:r>
              <a:rPr lang="en-US"/>
              <a:t>The STQC team updates the Guidelines from time to time, tightening the security norms a little further at each revision.</a:t>
            </a:r>
          </a:p>
          <a:p>
            <a:endParaRPr lang="en-US"/>
          </a:p>
          <a:p>
            <a:r>
              <a:rPr lang="en-US"/>
              <a:t>Developers take  months to traverse through the code, and Create evidences, Validate them and do a thorough Code/Hardware Review.</a:t>
            </a:r>
          </a:p>
          <a:p>
            <a:r>
              <a:rPr lang="en-US"/>
              <a:t>AEPLO’s STQC feature reduces this time frame to Days.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8166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matrix connects the demo to measurable judging criteria.</a:t>
            </a:r>
          </a:p>
          <a:p>
            <a:r>
              <a:rPr lang="en-US" dirty="0"/>
              <a:t>We show a 41 percent lead-time drop, 60 percent fewer projected</a:t>
            </a:r>
          </a:p>
          <a:p>
            <a:r>
              <a:rPr lang="en-US" dirty="0"/>
              <a:t>defect escapes, 85 percent BA hosting readiness, and measurable</a:t>
            </a:r>
          </a:p>
          <a:p>
            <a:r>
              <a:rPr lang="en-US" dirty="0"/>
              <a:t>agentic AI execution metrics including handoff success, tool</a:t>
            </a:r>
          </a:p>
          <a:p>
            <a:r>
              <a:rPr lang="en-US" dirty="0"/>
              <a:t>calling accuracy, and prompt caching </a:t>
            </a:r>
            <a:r>
              <a:rPr lang="en-US" dirty="0" err="1"/>
              <a:t>utilisation</a:t>
            </a:r>
            <a:r>
              <a:rPr lang="en-US" dirty="0"/>
              <a:t>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2330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37CD1-81F4-4E54-BFDF-E16D2184C663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C3EB2-E1A6-47BA-8593-B34734AEB315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4CBE-979D-4D21-8390-5BC5AB12AD11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095C7-9F5A-4A6C-9FA1-9161E0A3FFBB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AA869-C9B3-402C-B5B3-1BFF8B6EA432}" type="datetime1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B0153-82DD-487D-96F5-1F203E6321BD}" type="datetime1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ED799-78FF-416B-8AA1-69E05E041B9D}" type="datetime1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9602E-1BB0-4F2C-9C65-984B82A5027C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EBBC4-B7AA-4360-AFB8-953CB36DF14B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1A519-C67A-420F-A0A0-AFE7A3A0FAF9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29E2E-F8F7-42F4-AD5C-445F524D0C4A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54EFD-6F0B-4429-9B43-F009676198DC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6398518" cy="6771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10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830997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Embedded Lifecycle Intelligence
PRD -&gt; PG3 Firmware -&gt; JTAG Evidence -&gt; QA Ready -&gt; STQC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9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235" name="Picture 234">
            <a:extLst>
              <a:ext uri="{FF2B5EF4-FFF2-40B4-BE49-F238E27FC236}">
                <a16:creationId xmlns:a16="http://schemas.microsoft.com/office/drawing/2014/main" id="{70CCAC89-0190-A7D6-EBD7-D85BFF7A9C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063" y="5233683"/>
            <a:ext cx="492289" cy="492289"/>
          </a:xfrm>
          <a:prstGeom prst="rect">
            <a:avLst/>
          </a:prstGeom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5356E3C6-FA42-00A7-E46F-58DAAF6F68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847" y="5206667"/>
            <a:ext cx="532273" cy="532273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F48DEC1-4565-2109-F0A2-0F0142F0A9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8738" y="5204460"/>
            <a:ext cx="529558" cy="529558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EF6490DE-0B74-8A98-78B6-FB57382773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2189" y="5179892"/>
            <a:ext cx="536751" cy="536751"/>
          </a:xfrm>
          <a:prstGeom prst="rect">
            <a:avLst/>
          </a:pr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24F2EB3F-5139-8979-FA15-BDD0F43C81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1121" y="5245897"/>
            <a:ext cx="460826" cy="460826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0ECC60AA-6628-92F5-EFDD-CCFB4CD8B8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9672" y="5143500"/>
            <a:ext cx="599496" cy="599496"/>
          </a:xfrm>
          <a:prstGeom prst="rect">
            <a:avLst/>
          </a:prstGeom>
        </p:spPr>
      </p:pic>
      <p:pic>
        <p:nvPicPr>
          <p:cNvPr id="250" name="Picture 249">
            <a:extLst>
              <a:ext uri="{FF2B5EF4-FFF2-40B4-BE49-F238E27FC236}">
                <a16:creationId xmlns:a16="http://schemas.microsoft.com/office/drawing/2014/main" id="{42FA650A-973E-1A45-2080-4B8A5386502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64193" y="5143500"/>
            <a:ext cx="644557" cy="644557"/>
          </a:xfrm>
          <a:prstGeom prst="rect">
            <a:avLst/>
          </a:prstGeom>
        </p:spPr>
      </p:pic>
      <p:pic>
        <p:nvPicPr>
          <p:cNvPr id="251" name="Picture 250">
            <a:extLst>
              <a:ext uri="{FF2B5EF4-FFF2-40B4-BE49-F238E27FC236}">
                <a16:creationId xmlns:a16="http://schemas.microsoft.com/office/drawing/2014/main" id="{84610CBF-870A-A388-25E3-A00F411745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30452" y="5172946"/>
            <a:ext cx="477468" cy="57350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84632"/>
            <a:ext cx="2011680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LIFECYCLE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Combined Lifecycle 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25880"/>
            <a:ext cx="8449056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Pages 2, 3, 4, 5 and 7 compressed into one V9-style flow: problem and architecture, PRD-to-work selection, PG3 generation and QA release gating.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090672"/>
            <a:ext cx="768096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000" b="1" i="0">
                <a:solidFill>
                  <a:srgbClr val="00A89A"/>
                </a:solidFill>
                <a:latin typeface="Segoe UI"/>
              </a:rPr>
              <a:t>UNIFY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Problem +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127248"/>
            <a:ext cx="2304288" cy="2834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0" i="0">
                <a:solidFill>
                  <a:srgbClr val="B8D0EC"/>
                </a:solidFill>
                <a:latin typeface="Segoe UI"/>
              </a:rPr>
              <a:t>Fragmented PRD, Jira, Confluence, GitHub, QA and hardware evidence are connected into AEPLO's knowledge graph and orchestration core.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33088" y="3090672"/>
            <a:ext cx="768096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000" b="1" i="0">
                <a:solidFill>
                  <a:srgbClr val="0072C6"/>
                </a:solidFill>
                <a:latin typeface="Segoe UI"/>
              </a:rPr>
              <a:t>PICK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PRD -&gt; Epics -&gt; Branch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64992" y="3127248"/>
            <a:ext cx="2304288" cy="2834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0" i="0">
                <a:solidFill>
                  <a:srgbClr val="B8D0EC"/>
                </a:solidFill>
                <a:latin typeface="Segoe UI"/>
              </a:rPr>
              <a:t>Confluence PRD guided by SDE Elements and PSJIRA creates epics/stories for users to pick; selected work creates a feature branch.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86016" y="3090672"/>
            <a:ext cx="768096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000" b="1" i="0">
                <a:solidFill>
                  <a:srgbClr val="00D48A"/>
                </a:solidFill>
                <a:latin typeface="Segoe UI"/>
              </a:rPr>
              <a:t>VALIDATE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PG3 Firmware -&gt; QA Gate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2999232"/>
            <a:ext cx="2304288" cy="1463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7920" y="3127248"/>
            <a:ext cx="2304288" cy="2834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20" b="0" i="0">
                <a:solidFill>
                  <a:srgbClr val="B8D0EC"/>
                </a:solidFill>
                <a:latin typeface="Segoe UI"/>
              </a:rPr>
              <a:t>Datasheet + PRD + SDK/BSP + OS/RTOS generate firmware; QA inputs, PRD and JTAG evidence produce READY / NOT_READY.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0040" y="6400800"/>
            <a:ext cx="8503920" cy="31089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0040" y="6400800"/>
            <a:ext cx="45720" cy="310896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6400800"/>
            <a:ext cx="82296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00A89A"/>
                </a:solidFill>
                <a:latin typeface="Segoe UI"/>
              </a:rPr>
              <a:t>Output: users pick traceable work, create feature branches, validate PG3 firmware with JTAG evidence, and loop through QA until READY.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6556248"/>
            <a:ext cx="41148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6080A8"/>
                </a:solidFill>
                <a:latin typeface="Segoe UI"/>
              </a:rPr>
              <a:t>2  /  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6556248"/>
            <a:ext cx="77724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9AA3D-9E9D-0F14-F0DD-124AABED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494532-563A-EC02-1800-5D90A66210E7}"/>
              </a:ext>
            </a:extLst>
          </p:cNvPr>
          <p:cNvSpPr/>
          <p:nvPr/>
        </p:nvSpPr>
        <p:spPr>
          <a:xfrm>
            <a:off x="0" y="-338684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55DA41-095B-D3E1-3B4E-71A7755DB23C}"/>
              </a:ext>
            </a:extLst>
          </p:cNvPr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B0703DB-49DE-3174-2D07-184ED8F20F0B}"/>
              </a:ext>
            </a:extLst>
          </p:cNvPr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0829D-C4FD-331E-BC12-68026E61127A}"/>
              </a:ext>
            </a:extLst>
          </p:cNvPr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JTAG DEBUG 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5E541-162F-9DB4-E1A2-5C72979D8E3F}"/>
              </a:ext>
            </a:extLst>
          </p:cNvPr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2800" b="1" i="0">
                <a:solidFill>
                  <a:srgbClr val="FFFFFF"/>
                </a:solidFill>
                <a:latin typeface="Arial"/>
              </a:rPr>
              <a:t>Agent JTAG Debugging: From Failure to Fix</a:t>
            </a:r>
            <a:endParaRPr sz="2800" b="1" i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2BAD0A-C1E0-C9D9-2574-7883A375CD20}"/>
              </a:ext>
            </a:extLst>
          </p:cNvPr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C86AF2-44E5-04CC-ED51-AF652062FB84}"/>
              </a:ext>
            </a:extLst>
          </p:cNvPr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8309E7-BBF2-586F-5AB2-0A46BAECF76B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9</a:t>
            </a:r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2445ED3F-2AB1-3F8D-A939-B69AE27EBC13}"/>
              </a:ext>
            </a:extLst>
          </p:cNvPr>
          <p:cNvSpPr/>
          <p:nvPr/>
        </p:nvSpPr>
        <p:spPr>
          <a:xfrm>
            <a:off x="4502150" y="1490472"/>
            <a:ext cx="4568724" cy="4946904"/>
          </a:xfrm>
          <a:prstGeom prst="roundRect">
            <a:avLst>
              <a:gd name="adj" fmla="val 11746"/>
            </a:avLst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44AC20B-5D09-003C-2025-C797143DE1F4}"/>
              </a:ext>
            </a:extLst>
          </p:cNvPr>
          <p:cNvSpPr/>
          <p:nvPr/>
        </p:nvSpPr>
        <p:spPr>
          <a:xfrm>
            <a:off x="4810753" y="2366569"/>
            <a:ext cx="4049046" cy="2858107"/>
          </a:xfrm>
          <a:prstGeom prst="rect">
            <a:avLst/>
          </a:prstGeom>
          <a:noFill/>
          <a:ln w="28575">
            <a:solidFill>
              <a:schemeClr val="bg1">
                <a:lumMod val="75000"/>
              </a:schemeClr>
            </a:solidFill>
            <a:prstDash val="dash"/>
            <a:round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B0001D-1A63-F1BE-E4E3-B66F768455B1}"/>
              </a:ext>
            </a:extLst>
          </p:cNvPr>
          <p:cNvSpPr txBox="1"/>
          <p:nvPr/>
        </p:nvSpPr>
        <p:spPr>
          <a:xfrm>
            <a:off x="6084349" y="1687471"/>
            <a:ext cx="349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srgbClr val="FF0000"/>
                </a:solidFill>
                <a:latin typeface="Segoe UI"/>
              </a:rPr>
              <a:t>JTAG - Agent Workflow </a:t>
            </a:r>
            <a:endParaRPr kumimoji="0" lang="en-US" sz="105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DE047CA-0461-A46B-6632-ACB3C62E2A2E}"/>
              </a:ext>
            </a:extLst>
          </p:cNvPr>
          <p:cNvSpPr/>
          <p:nvPr/>
        </p:nvSpPr>
        <p:spPr>
          <a:xfrm>
            <a:off x="4882531" y="1945289"/>
            <a:ext cx="3877804" cy="358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Bug/Story Ticket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A937C22-EAF7-2997-D9AE-17BBC2D64CFA}"/>
              </a:ext>
            </a:extLst>
          </p:cNvPr>
          <p:cNvSpPr/>
          <p:nvPr/>
        </p:nvSpPr>
        <p:spPr>
          <a:xfrm>
            <a:off x="4891575" y="2451696"/>
            <a:ext cx="3877804" cy="597404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JTAG Orchestrator</a:t>
            </a:r>
          </a:p>
          <a:p>
            <a:pPr algn="ctr"/>
            <a:r>
              <a:rPr lang="en-US" sz="1200" b="1">
                <a:solidFill>
                  <a:schemeClr val="bg1"/>
                </a:solidFill>
              </a:rPr>
              <a:t>-Context Extraction                  -Tool / Agent Routing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92E2B0C-1C6C-CD74-1B82-7F74F73A6468}"/>
              </a:ext>
            </a:extLst>
          </p:cNvPr>
          <p:cNvSpPr/>
          <p:nvPr/>
        </p:nvSpPr>
        <p:spPr>
          <a:xfrm>
            <a:off x="4881976" y="4540287"/>
            <a:ext cx="3887402" cy="586257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Target MCU - Hardware</a:t>
            </a:r>
          </a:p>
          <a:p>
            <a:pPr algn="ctr"/>
            <a:r>
              <a:rPr lang="en-US" sz="1100" b="1">
                <a:solidFill>
                  <a:schemeClr val="bg1"/>
                </a:solidFill>
              </a:rPr>
              <a:t>(STM32 , Cortex-M)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DAA72A7-4FAD-6747-6CD6-8FBB7F6216F7}"/>
              </a:ext>
            </a:extLst>
          </p:cNvPr>
          <p:cNvSpPr/>
          <p:nvPr/>
        </p:nvSpPr>
        <p:spPr>
          <a:xfrm>
            <a:off x="4891575" y="5321118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Git Provider</a:t>
            </a:r>
          </a:p>
          <a:p>
            <a:pPr algn="ctr"/>
            <a:r>
              <a:rPr lang="en-US" sz="1200">
                <a:solidFill>
                  <a:schemeClr val="bg1"/>
                </a:solidFill>
              </a:rPr>
              <a:t>- Branch + PR Creation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1C4652-5DCC-DC32-F083-E36A98C2F115}"/>
              </a:ext>
            </a:extLst>
          </p:cNvPr>
          <p:cNvSpPr/>
          <p:nvPr/>
        </p:nvSpPr>
        <p:spPr>
          <a:xfrm>
            <a:off x="4872932" y="5847457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Jira Ticket</a:t>
            </a:r>
          </a:p>
          <a:p>
            <a:pPr algn="ctr"/>
            <a:r>
              <a:rPr lang="en-US" sz="1200" b="1">
                <a:solidFill>
                  <a:srgbClr val="FFFFFF"/>
                </a:solidFill>
              </a:rPr>
              <a:t>RCA | Logs | Review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7C28E6D-2A93-4EDB-FFF6-E89C3D566DAE}"/>
              </a:ext>
            </a:extLst>
          </p:cNvPr>
          <p:cNvSpPr/>
          <p:nvPr/>
        </p:nvSpPr>
        <p:spPr>
          <a:xfrm>
            <a:off x="5794540" y="3318510"/>
            <a:ext cx="2234641" cy="187137"/>
          </a:xfrm>
          <a:prstGeom prst="rect">
            <a:avLst/>
          </a:prstGeom>
          <a:solidFill>
            <a:srgbClr val="A9A9A9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  <a:p>
            <a:r>
              <a:rPr lang="en-US" sz="1200" b="1">
                <a:solidFill>
                  <a:schemeClr val="tx1">
                    <a:lumMod val="50000"/>
                    <a:lumOff val="50000"/>
                  </a:schemeClr>
                </a:solidFill>
                <a:latin typeface="Segoe UI"/>
              </a:rPr>
              <a:t>Sub Agents (Multi-Agent)</a:t>
            </a:r>
          </a:p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D3F4EFE-E6F3-6BAB-B41A-48728434BB3A}"/>
              </a:ext>
            </a:extLst>
          </p:cNvPr>
          <p:cNvSpPr/>
          <p:nvPr/>
        </p:nvSpPr>
        <p:spPr>
          <a:xfrm>
            <a:off x="4572000" y="3547950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Fault Analyzer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AB6E3101-DB27-A0B5-C335-E935C3062232}"/>
              </a:ext>
            </a:extLst>
          </p:cNvPr>
          <p:cNvSpPr/>
          <p:nvPr/>
        </p:nvSpPr>
        <p:spPr>
          <a:xfrm>
            <a:off x="5405065" y="3546537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Variable Tracer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9CACA3A9-BF1F-4F6E-92B2-781133C05EB0}"/>
              </a:ext>
            </a:extLst>
          </p:cNvPr>
          <p:cNvSpPr/>
          <p:nvPr/>
        </p:nvSpPr>
        <p:spPr>
          <a:xfrm>
            <a:off x="6223074" y="3544875"/>
            <a:ext cx="845379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Peripheral Inspector</a:t>
            </a: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164AD8DF-0DE4-748F-9A4D-87F4D4664363}"/>
              </a:ext>
            </a:extLst>
          </p:cNvPr>
          <p:cNvSpPr/>
          <p:nvPr/>
        </p:nvSpPr>
        <p:spPr>
          <a:xfrm>
            <a:off x="7131797" y="3558609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Probing</a:t>
            </a:r>
          </a:p>
          <a:p>
            <a:pPr algn="ctr"/>
            <a:r>
              <a:rPr lang="en-US" sz="1100">
                <a:solidFill>
                  <a:schemeClr val="bg1"/>
                </a:solidFill>
              </a:rPr>
              <a:t>Agent</a:t>
            </a: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D646080-BE49-03D2-A2BE-303A231C5BCF}"/>
              </a:ext>
            </a:extLst>
          </p:cNvPr>
          <p:cNvSpPr/>
          <p:nvPr/>
        </p:nvSpPr>
        <p:spPr>
          <a:xfrm>
            <a:off x="8117907" y="3548451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Controlled Auto Fix</a:t>
            </a:r>
          </a:p>
        </p:txBody>
      </p:sp>
      <p:sp>
        <p:nvSpPr>
          <p:cNvPr id="104" name="Arrow: Down 103">
            <a:extLst>
              <a:ext uri="{FF2B5EF4-FFF2-40B4-BE49-F238E27FC236}">
                <a16:creationId xmlns:a16="http://schemas.microsoft.com/office/drawing/2014/main" id="{2AA5FC09-C06B-315D-DCCD-8FE40D6E7F9B}"/>
              </a:ext>
            </a:extLst>
          </p:cNvPr>
          <p:cNvSpPr/>
          <p:nvPr/>
        </p:nvSpPr>
        <p:spPr>
          <a:xfrm>
            <a:off x="5504125" y="4141791"/>
            <a:ext cx="302217" cy="360402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5" name="Arrow: Down 104">
            <a:extLst>
              <a:ext uri="{FF2B5EF4-FFF2-40B4-BE49-F238E27FC236}">
                <a16:creationId xmlns:a16="http://schemas.microsoft.com/office/drawing/2014/main" id="{91CE8768-4D42-B265-E3E2-58801801B7FC}"/>
              </a:ext>
            </a:extLst>
          </p:cNvPr>
          <p:cNvSpPr/>
          <p:nvPr/>
        </p:nvSpPr>
        <p:spPr>
          <a:xfrm rot="10800000">
            <a:off x="7893183" y="4117634"/>
            <a:ext cx="315732" cy="360143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66F2210-3F96-A27A-6B09-A69EBA95F8CA}"/>
              </a:ext>
            </a:extLst>
          </p:cNvPr>
          <p:cNvSpPr txBox="1"/>
          <p:nvPr/>
        </p:nvSpPr>
        <p:spPr>
          <a:xfrm>
            <a:off x="5928541" y="4251271"/>
            <a:ext cx="1964642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FF0000"/>
                </a:solidFill>
                <a:latin typeface="Segoe UI"/>
              </a:rPr>
              <a:t>Physical Interface to Hardware</a:t>
            </a:r>
          </a:p>
        </p:txBody>
      </p:sp>
      <p:sp>
        <p:nvSpPr>
          <p:cNvPr id="107" name="Arrow: Down 106">
            <a:extLst>
              <a:ext uri="{FF2B5EF4-FFF2-40B4-BE49-F238E27FC236}">
                <a16:creationId xmlns:a16="http://schemas.microsoft.com/office/drawing/2014/main" id="{A58741E5-B20A-73D8-DC6F-A26668ED1160}"/>
              </a:ext>
            </a:extLst>
          </p:cNvPr>
          <p:cNvSpPr/>
          <p:nvPr/>
        </p:nvSpPr>
        <p:spPr>
          <a:xfrm>
            <a:off x="6629062" y="3080827"/>
            <a:ext cx="238477" cy="21865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12C948-7DFB-8225-D1A6-C259F4111B20}"/>
              </a:ext>
            </a:extLst>
          </p:cNvPr>
          <p:cNvSpPr txBox="1"/>
          <p:nvPr/>
        </p:nvSpPr>
        <p:spPr>
          <a:xfrm>
            <a:off x="6913592" y="3090316"/>
            <a:ext cx="511151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C00000"/>
                </a:solidFill>
                <a:latin typeface="Segoe UI"/>
              </a:rPr>
              <a:t>A2A</a:t>
            </a:r>
            <a:endParaRPr lang="en-US" sz="1300" b="1">
              <a:solidFill>
                <a:srgbClr val="C00000"/>
              </a:solidFill>
              <a:latin typeface="Segoe UI"/>
            </a:endParaRPr>
          </a:p>
        </p:txBody>
      </p:sp>
      <p:sp>
        <p:nvSpPr>
          <p:cNvPr id="112" name="Rounded Rectangle 71">
            <a:extLst>
              <a:ext uri="{FF2B5EF4-FFF2-40B4-BE49-F238E27FC236}">
                <a16:creationId xmlns:a16="http://schemas.microsoft.com/office/drawing/2014/main" id="{8AA13838-9DB4-74F6-C927-58E428D39838}"/>
              </a:ext>
            </a:extLst>
          </p:cNvPr>
          <p:cNvSpPr/>
          <p:nvPr/>
        </p:nvSpPr>
        <p:spPr>
          <a:xfrm>
            <a:off x="232337" y="1574798"/>
            <a:ext cx="4032557" cy="35478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50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8FF9C45-E82C-C26B-0593-8C7808AA6235}"/>
              </a:ext>
            </a:extLst>
          </p:cNvPr>
          <p:cNvSpPr/>
          <p:nvPr/>
        </p:nvSpPr>
        <p:spPr>
          <a:xfrm>
            <a:off x="232337" y="1574798"/>
            <a:ext cx="63625" cy="3547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DD612C8-DEA0-7526-5232-37363E748859}"/>
              </a:ext>
            </a:extLst>
          </p:cNvPr>
          <p:cNvGrpSpPr/>
          <p:nvPr/>
        </p:nvGrpSpPr>
        <p:grpSpPr>
          <a:xfrm>
            <a:off x="232336" y="2154232"/>
            <a:ext cx="4055965" cy="1323236"/>
            <a:chOff x="58373" y="2985722"/>
            <a:chExt cx="2697480" cy="868680"/>
          </a:xfrm>
        </p:grpSpPr>
        <p:sp>
          <p:nvSpPr>
            <p:cNvPr id="121" name="Rounded Rectangle 75">
              <a:extLst>
                <a:ext uri="{FF2B5EF4-FFF2-40B4-BE49-F238E27FC236}">
                  <a16:creationId xmlns:a16="http://schemas.microsoft.com/office/drawing/2014/main" id="{CE3941D8-2543-9F45-1EE7-2C7E01A38D67}"/>
                </a:ext>
              </a:extLst>
            </p:cNvPr>
            <p:cNvSpPr/>
            <p:nvPr/>
          </p:nvSpPr>
          <p:spPr>
            <a:xfrm>
              <a:off x="58373" y="2985722"/>
              <a:ext cx="2697480" cy="868680"/>
            </a:xfrm>
            <a:prstGeom prst="roundRect">
              <a:avLst>
                <a:gd name="adj" fmla="val 6877"/>
              </a:avLst>
            </a:prstGeom>
            <a:solidFill>
              <a:srgbClr val="0F28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935DE6C-837F-D3F7-062F-7E7B781C7910}"/>
                </a:ext>
              </a:extLst>
            </p:cNvPr>
            <p:cNvSpPr/>
            <p:nvPr/>
          </p:nvSpPr>
          <p:spPr>
            <a:xfrm>
              <a:off x="58373" y="2985722"/>
              <a:ext cx="45720" cy="868680"/>
            </a:xfrm>
            <a:prstGeom prst="rect">
              <a:avLst/>
            </a:prstGeom>
            <a:solidFill>
              <a:srgbClr val="00A8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25" name="Rounded Rectangle 75">
            <a:extLst>
              <a:ext uri="{FF2B5EF4-FFF2-40B4-BE49-F238E27FC236}">
                <a16:creationId xmlns:a16="http://schemas.microsoft.com/office/drawing/2014/main" id="{A148F514-4E3B-EE65-E6B2-AB3E6E9040EE}"/>
              </a:ext>
            </a:extLst>
          </p:cNvPr>
          <p:cNvSpPr/>
          <p:nvPr/>
        </p:nvSpPr>
        <p:spPr>
          <a:xfrm>
            <a:off x="213581" y="3566076"/>
            <a:ext cx="4055965" cy="1540277"/>
          </a:xfrm>
          <a:prstGeom prst="roundRect">
            <a:avLst>
              <a:gd name="adj" fmla="val 6877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EF358D-44DD-4B4B-5451-559406E54F3D}"/>
              </a:ext>
            </a:extLst>
          </p:cNvPr>
          <p:cNvSpPr/>
          <p:nvPr/>
        </p:nvSpPr>
        <p:spPr>
          <a:xfrm>
            <a:off x="217505" y="3565386"/>
            <a:ext cx="83576" cy="1540277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79">
            <a:extLst>
              <a:ext uri="{FF2B5EF4-FFF2-40B4-BE49-F238E27FC236}">
                <a16:creationId xmlns:a16="http://schemas.microsoft.com/office/drawing/2014/main" id="{EFD6A22B-8B15-C890-08EA-4798E6253AF8}"/>
              </a:ext>
            </a:extLst>
          </p:cNvPr>
          <p:cNvSpPr/>
          <p:nvPr/>
        </p:nvSpPr>
        <p:spPr>
          <a:xfrm>
            <a:off x="239330" y="5176572"/>
            <a:ext cx="4025563" cy="996241"/>
          </a:xfrm>
          <a:prstGeom prst="roundRect">
            <a:avLst>
              <a:gd name="adj" fmla="val 5959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6BDB28-FBDE-4636-E6CA-4AC350B48D8C}"/>
              </a:ext>
            </a:extLst>
          </p:cNvPr>
          <p:cNvSpPr txBox="1"/>
          <p:nvPr/>
        </p:nvSpPr>
        <p:spPr>
          <a:xfrm>
            <a:off x="275497" y="1592219"/>
            <a:ext cx="3968932" cy="62755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1200" b="1" i="0">
                <a:solidFill>
                  <a:srgbClr val="FF0000"/>
                </a:solidFill>
                <a:latin typeface="Arial"/>
              </a:rPr>
              <a:t>JTAG Agent – Real time Use cases</a:t>
            </a:r>
          </a:p>
          <a:p>
            <a:pPr algn="l"/>
            <a:endParaRPr lang="en-US" sz="1100" b="1">
              <a:solidFill>
                <a:srgbClr val="FF8C00"/>
              </a:solidFill>
              <a:latin typeface="Segoe UI"/>
            </a:endParaRP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100" b="1">
                <a:solidFill>
                  <a:srgbClr val="2E7D32"/>
                </a:solidFill>
                <a:latin typeface="Arial"/>
              </a:rPr>
              <a:t>Bootloader -&gt; Application Handoff Failure (Hard Fault)</a:t>
            </a: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</a:t>
            </a:r>
            <a:r>
              <a:rPr lang="en-US" sz="930">
                <a:solidFill>
                  <a:srgbClr val="E8E8E8"/>
                </a:solidFill>
                <a:latin typeface="Arial"/>
              </a:rPr>
              <a:t>: Bootloader enabled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timer; application's vector table had no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handler →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HardFault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on jump.</a:t>
            </a: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identified root cause in 45 minutes (vs. 2–3 days manual debugging) by correlating PC, vector tables, and peripheral state.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Emulating sub zero temperature condition at room temperature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ADC stalled at negative temperature; fix required driver </a:t>
            </a:r>
            <a:r>
              <a:rPr lang="en-US" sz="1000" err="1">
                <a:solidFill>
                  <a:srgbClr val="E8E8E8"/>
                </a:solidFill>
                <a:latin typeface="Arial"/>
              </a:rPr>
              <a:t>reinit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 with gain adjustment.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simulated cold ADC state at 25°C, enabling root-cause fix and validation without thermal chamber—saved 1 week of thermal cycling.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Boot Failure due to Incorrect Boot Configuration</a:t>
            </a: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Device failed to boot into application after flashing new build on new hardware, all looked good.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traced Program Counter (PC) and identified execution redirecting to system ROM instead of internal flash.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pPr algn="l"/>
            <a:endParaRPr sz="1100" b="1" i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7D4E16F-AFAB-0026-531E-F65A232C42BE}"/>
              </a:ext>
            </a:extLst>
          </p:cNvPr>
          <p:cNvSpPr/>
          <p:nvPr/>
        </p:nvSpPr>
        <p:spPr>
          <a:xfrm>
            <a:off x="217504" y="5183072"/>
            <a:ext cx="60553" cy="996241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8A8D32-1D50-667D-BFF9-05C2E63A0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689" y="4565958"/>
            <a:ext cx="524578" cy="5245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084FAC-DE6F-98B6-5DF1-27751E41F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064" y="4625018"/>
            <a:ext cx="392241" cy="471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19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STQC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STQC Agent for BIS Certification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The star of PG5: IoT security and surveillance devices need BIS certification governed by STQC guidelines for in-house designs and BTS sales.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Creates STQC
Audit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Crawls code, configuration and evidence sources to prepare auditor-ready STQC artifacts.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Guideline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Checks STQC ER guidance, hard rules such as no foreign characters, and submission completeness.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Jira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result highlights the failing section and creates stories or defects to fix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STQC SUBMISSION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316736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337453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Evidence pack ready.
Cleared for auditor review.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8736" y="5060357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Guideline gaps found.
Create Jira stories.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QUANTIFIED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Efficiency, Time Saved and Token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Realistic pilot targets for the reduced 3-minute V10 story: measurable STQC acceleration, PG3 generation, JTAG debugging, QA triage and LLM cost control.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STQC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70513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>- Submission evidence pack: 8-12 weeks -&gt; 1-3 days
- First-pack effort reduction: 90-95%
- Hard-rule checks: foreign characters, STQC ER coverage, missing sections</a:t>
            </a: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PG3 Firmware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Firmware first draft and validation: 3-5 days -&gt; 1-2 days
- Faster first loop: 45-60%
- Context injected: datasheet, PRD, SDK, BSP, OS/RTOS</a:t>
            </a:r>
          </a:p>
          <a:p>
            <a:pPr algn="l"/>
            <a:endParaRPr sz="84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JTAG + QA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JTAG root cause: 1-2 days -&gt; under 2 hours
- QA release triage: 2-3 days -&gt; under 4 hours
- NOT_READY creates next-release Jira priorities</a:t>
            </a:r>
          </a:p>
          <a:p>
            <a:pPr algn="l"/>
            <a:endParaRPr sz="84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execution pattern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46628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>- Reusable agents: PRD ingestion, firmware generation, JTAG debug, QA gate, STQC
- Evidence traceability: Confluence -&gt; Jira -&gt; GitHub -&gt; QA -&gt; audit pack
- Human choice retained at story selection and release gate</a:t>
            </a:r>
          </a:p>
          <a:p>
            <a:pPr algn="l"/>
            <a:endParaRPr sz="810" b="0" i="0" dirty="0">
              <a:solidFill>
                <a:srgbClr val="E8E8E8"/>
              </a:solidFill>
              <a:latin typeface="Arial"/>
            </a:endParaRPr>
          </a:p>
          <a:p>
            <a:pPr algn="l"/>
            <a:endParaRPr sz="81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LLM selection strategies and token optimization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35-45% using routed context and retrieval
- STQC prompt caching: 80%+ reusable guideline/datasheet context on repeat runs
- Compact evidence summaries reduce review and audit-prep cost</a:t>
            </a: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2E7D32"/>
                </a:solidFill>
                <a:latin typeface="Arial"/>
              </a:rPr>
              <a:t>FOCUS: AEPLO loops across PRD, PG3 firmware, JTAG, QA and STQC until READY.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385D4FBCD491449E1D36F0103336E0" ma:contentTypeVersion="3" ma:contentTypeDescription="Create a new document." ma:contentTypeScope="" ma:versionID="05b8c16f72a465d94175fee1a9f0cdb1">
  <xsd:schema xmlns:xsd="http://www.w3.org/2001/XMLSchema" xmlns:xs="http://www.w3.org/2001/XMLSchema" xmlns:p="http://schemas.microsoft.com/office/2006/metadata/properties" xmlns:ns2="e94ddfc3-4734-4b9a-ae26-16534f892664" targetNamespace="http://schemas.microsoft.com/office/2006/metadata/properties" ma:root="true" ma:fieldsID="5da84732ee269f2f8c69a64254ea57c1" ns2:_="">
    <xsd:import namespace="e94ddfc3-4734-4b9a-ae26-16534f8926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4ddfc3-4734-4b9a-ae26-16534f8926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70049F5-D881-4A27-9198-FB7AEB41FA35}">
  <ds:schemaRefs>
    <ds:schemaRef ds:uri="e94ddfc3-4734-4b9a-ae26-16534f892664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3521981-0FA2-42A5-9139-0A1170FE2067}">
  <ds:schemaRefs>
    <ds:schemaRef ds:uri="e94ddfc3-4734-4b9a-ae26-16534f89266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6F64E7DF-7969-461F-8D79-4E2223D5DA13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1927</Words>
  <Application>Microsoft Office PowerPoint</Application>
  <PresentationFormat>On-screen Show (4:3)</PresentationFormat>
  <Paragraphs>267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3</cp:revision>
  <dcterms:created xsi:type="dcterms:W3CDTF">2013-01-27T09:14:16Z</dcterms:created>
  <dcterms:modified xsi:type="dcterms:W3CDTF">2026-06-17T10:26:16Z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0x010100F3385D4FBCD491449E1D36F0103336E0</vt:lpwstr>
  </property>
</Properties>
</file>