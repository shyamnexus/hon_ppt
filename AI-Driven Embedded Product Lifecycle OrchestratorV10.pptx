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68" r:id="rId5"/>
    <p:sldId id="257" r:id="rId6"/>
    <p:sldId id="270" r:id="rId7"/>
    <p:sldId id="263" r:id="rId8"/>
    <p:sldId id="269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>
        <p:scale>
          <a:sx n="100" d="100"/>
          <a:sy n="100" d="100"/>
        </p:scale>
        <p:origin x="1914" y="3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"Today we are showing AEPLO, the AI-driven embedded product lifecycle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orchestrator. The 3-minute story is PRD to firmware, firmware to JTAG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evidence, evidence to QA release readiness, and finally STQC submission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readiness for regulated IoT security and surveillance products."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embedded PDLC data is</a:t>
            </a:r>
          </a:p>
          <a:p>
            <a:r>
              <a:rPr lang="en-US" dirty="0"/>
              <a:t>fragmented across Confluence, Jira, GitHub, QA and hardware evidence, and</a:t>
            </a:r>
          </a:p>
          <a:p>
            <a:r>
              <a:rPr lang="en-US" dirty="0"/>
              <a:t>AEPLO brings it into one orchestration layer. Then the  Confluence PRD,</a:t>
            </a:r>
          </a:p>
          <a:p>
            <a:r>
              <a:rPr lang="en-US" dirty="0"/>
              <a:t>guided by SDE Elements and PSJIRA, creates epics and stories. </a:t>
            </a:r>
          </a:p>
          <a:p>
            <a:r>
              <a:rPr lang="en-US" dirty="0"/>
              <a:t>Next, the  user picks a story and creates a feature branch with PRD and QA context.</a:t>
            </a:r>
          </a:p>
          <a:p>
            <a:r>
              <a:rPr lang="en-US" dirty="0"/>
              <a:t>Next , at PG3, AEPLO generates firmware from the datasheet and PRD,</a:t>
            </a:r>
          </a:p>
          <a:p>
            <a:r>
              <a:rPr lang="en-US" dirty="0"/>
              <a:t>injecting SDK, BSP and OS or RTOS context, then validates it against the</a:t>
            </a:r>
          </a:p>
          <a:p>
            <a:r>
              <a:rPr lang="en-US" dirty="0"/>
              <a:t>datasheet and acceptance criteria. Finally, QA inputs, PRD criteria and</a:t>
            </a:r>
          </a:p>
          <a:p>
            <a:r>
              <a:rPr lang="en-US" dirty="0"/>
              <a:t>JTAG evidence produce READY or NOT_READY; NOT_READY becomes the priority</a:t>
            </a:r>
          </a:p>
          <a:p>
            <a:r>
              <a:rPr lang="en-US" dirty="0"/>
              <a:t>list for the next release loop.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 The JTAG  agent starts from a bug or</a:t>
            </a:r>
          </a:p>
          <a:p>
            <a:r>
              <a:rPr lang="en-US" dirty="0"/>
              <a:t>story ticket, routes context to the JTAG orchestrator, connects to the</a:t>
            </a:r>
          </a:p>
          <a:p>
            <a:r>
              <a:rPr lang="en-US" dirty="0"/>
              <a:t>target MCU, and returns Git PR and Jira evidence. </a:t>
            </a:r>
          </a:p>
          <a:p>
            <a:r>
              <a:rPr lang="en-US" dirty="0"/>
              <a:t>In the demo we will  diagnose a</a:t>
            </a:r>
          </a:p>
          <a:p>
            <a:r>
              <a:rPr lang="en-US" dirty="0"/>
              <a:t>bootloader-to-application </a:t>
            </a:r>
            <a:r>
              <a:rPr lang="en-US" dirty="0" err="1"/>
              <a:t>HardFault</a:t>
            </a:r>
            <a:r>
              <a:rPr lang="en-US" dirty="0"/>
              <a:t> in 45 minutes, simulate sub-zero ADC</a:t>
            </a:r>
          </a:p>
          <a:p>
            <a:r>
              <a:rPr lang="en-US" dirty="0"/>
              <a:t>behavior at room temperature, and trace a boot failure to execution</a:t>
            </a:r>
          </a:p>
          <a:p>
            <a:r>
              <a:rPr lang="en-US" dirty="0"/>
              <a:t>redirecting to system ROM instead of internal flash."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star of the show is the PG5 STQC agent. IoT security and surveillance</a:t>
            </a:r>
          </a:p>
          <a:p>
            <a:r>
              <a:rPr lang="en-US" dirty="0"/>
              <a:t>devices need BIS certification governed by STQC guidelines, for both</a:t>
            </a:r>
          </a:p>
          <a:p>
            <a:r>
              <a:rPr lang="en-US" dirty="0"/>
              <a:t>in-house designs and BTS sales. Earlier, developers spent months creating</a:t>
            </a:r>
          </a:p>
          <a:p>
            <a:r>
              <a:rPr lang="en-US" dirty="0"/>
              <a:t>evidence, validating code and preparing auditor submissions. The STQC</a:t>
            </a:r>
          </a:p>
          <a:p>
            <a:r>
              <a:rPr lang="en-US" dirty="0"/>
              <a:t>agent crawls the code, creates evidence, enforces hard rules like no</a:t>
            </a:r>
          </a:p>
          <a:p>
            <a:r>
              <a:rPr lang="en-US" dirty="0"/>
              <a:t>foreign characters, checks STQC ER guidelines, and decides whether the</a:t>
            </a:r>
          </a:p>
          <a:p>
            <a:r>
              <a:rPr lang="en-US" dirty="0"/>
              <a:t>submission pack is ready. If not, it highlights the section and creates</a:t>
            </a:r>
          </a:p>
          <a:p>
            <a:r>
              <a:rPr lang="en-US" dirty="0"/>
              <a:t>Jira tickets or stories for remediation."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realistic impact is material: STQC evidence preparation drops from</a:t>
            </a:r>
          </a:p>
          <a:p>
            <a:r>
              <a:rPr lang="en-US" dirty="0"/>
              <a:t>8 to 12 weeks into 1 to 3 days, PG3 firmware loops are 45 to 60 percent faster, JTAG root</a:t>
            </a:r>
          </a:p>
          <a:p>
            <a:r>
              <a:rPr lang="en-US" dirty="0"/>
              <a:t>cause is reduced to under two hours, and routed context plus prompt caching</a:t>
            </a:r>
          </a:p>
          <a:p>
            <a:r>
              <a:rPr lang="en-US" dirty="0"/>
              <a:t>cuts token use by about 35 to 45 percent. AEPLO keeps looping until QA says</a:t>
            </a:r>
          </a:p>
          <a:p>
            <a:r>
              <a:rPr lang="en-US" dirty="0"/>
              <a:t>READY."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84632"/>
            <a:ext cx="2011680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COMBINED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39087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lang="en-US" sz="2300" b="1" i="0" dirty="0">
                <a:solidFill>
                  <a:srgbClr val="FFFFFF"/>
                </a:solidFill>
                <a:latin typeface="Segoe UI"/>
              </a:rPr>
              <a:t>From Fragmentation to Release Readiness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8449056" cy="1463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3584448"/>
            <a:ext cx="8375904" cy="32004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84048" y="2057399"/>
            <a:ext cx="1554480" cy="3956521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057400"/>
            <a:ext cx="155448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96112" y="2350008"/>
            <a:ext cx="530352" cy="53035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83280"/>
            <a:ext cx="1225296" cy="1280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 dirty="0">
                <a:solidFill>
                  <a:srgbClr val="B8D0EC"/>
                </a:solidFill>
                <a:latin typeface="Segoe UI"/>
              </a:rPr>
              <a:t>Fragmented PRD, Jira, Confluence, GitHub, QA and hardware evidence slow PG1-to-PG5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98241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0802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03362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103120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03120" y="2057400"/>
            <a:ext cx="155448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615184" y="2350008"/>
            <a:ext cx="530352" cy="53035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15184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383280"/>
            <a:ext cx="1225296" cy="12801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1136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AEPLO connects inputs into a knowledge graph, orchestration core, automation and release-gate outcomes.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588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70149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727094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752697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822191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822191" y="2057400"/>
            <a:ext cx="155448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334255" y="2350008"/>
            <a:ext cx="530352" cy="53035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34255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19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A89A"/>
                </a:solidFill>
                <a:latin typeface="Segoe UI"/>
              </a:rPr>
              <a:t>PRD -&gt; Stories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3383280"/>
            <a:ext cx="1225296" cy="12801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950207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Confluence PRD guided by SDE Elements and PSJIRA creates epics/stories for users to pick and branch.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2056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4616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7176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41264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541264" y="2057400"/>
            <a:ext cx="155448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053328" y="2350008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53328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0992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PG3 Firmware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05856" y="3383280"/>
            <a:ext cx="1225296" cy="1280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0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Datasheet + PRD + SDK/BSP + OS/RTOS context generate and validate firmware/code.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403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13963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16523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19084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7260336" y="2057400"/>
            <a:ext cx="1554480" cy="395652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260336" y="2057400"/>
            <a:ext cx="155448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7772400" y="2350008"/>
            <a:ext cx="530352" cy="53035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0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064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QA Closed Loop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24928" y="3383280"/>
            <a:ext cx="1225296" cy="12801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88352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QA inputs, PRD and JTAG evidence produce READY / NOT_READY; gaps become next-release priorities.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" y="6144768"/>
            <a:ext cx="8503920" cy="310896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6144768"/>
            <a:ext cx="45720" cy="31089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2920" y="6144768"/>
            <a:ext cx="8229600" cy="18004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930" b="1" i="0" dirty="0">
                <a:solidFill>
                  <a:srgbClr val="FF0000"/>
                </a:solidFill>
                <a:latin typeface="Segoe UI"/>
              </a:rPr>
              <a:t>Output: users pick traceable work, create feature branches, validate PG3 firmware with JTAG evidence, and loop through QA until READY.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75320" y="6565392"/>
            <a:ext cx="411480" cy="14630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2  / 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6565392"/>
            <a:ext cx="777240" cy="14630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26965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217504" y="94148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51648" y="87396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169498" y="380619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295962" y="925887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301890" y="985412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>
                <a:solidFill>
                  <a:srgbClr val="FF8C00"/>
                </a:solidFill>
                <a:latin typeface="Segoe UI"/>
              </a:rPr>
              <a:t>JTAG Agent – Real time Use cases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974723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49547" y="1372707"/>
            <a:ext cx="4032557" cy="1091488"/>
            <a:chOff x="50326" y="2959098"/>
            <a:chExt cx="2662915" cy="895304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0326" y="2959098"/>
              <a:ext cx="2662915" cy="895303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50" dirty="0"/>
                <a:t>Bootloader -&gt; Application Handoff Failure (Hard Fault)</a:t>
              </a:r>
            </a:p>
            <a:p>
              <a:r>
                <a:rPr lang="en-US" sz="1050" dirty="0"/>
                <a:t>Problem: Bootloader enabled </a:t>
              </a:r>
              <a:r>
                <a:rPr lang="en-US" sz="1050" dirty="0" err="1"/>
                <a:t>SysTick</a:t>
              </a:r>
              <a:r>
                <a:rPr lang="en-US" sz="1050" dirty="0"/>
                <a:t> timer; application's vector table had no </a:t>
              </a:r>
              <a:r>
                <a:rPr lang="en-US" sz="1050" dirty="0" err="1"/>
                <a:t>SysTick</a:t>
              </a:r>
              <a:r>
                <a:rPr lang="en-US" sz="1050" dirty="0"/>
                <a:t> handler → </a:t>
              </a:r>
              <a:r>
                <a:rPr lang="en-US" sz="1050" dirty="0" err="1"/>
                <a:t>HardFault</a:t>
              </a:r>
              <a:r>
                <a:rPr lang="en-US" sz="1050" dirty="0"/>
                <a:t> on jump.</a:t>
              </a:r>
            </a:p>
            <a:p>
              <a:r>
                <a:rPr lang="en-US" sz="1050" dirty="0"/>
                <a:t>Solution: Agent identified root cause in 45 minutes (vs. 2–3 days manual debugging) by correlating PC, vector tables, and peripheral state.</a:t>
              </a:r>
              <a:endParaRPr sz="1050" dirty="0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2" y="2985722"/>
              <a:ext cx="48557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70704" y="2507390"/>
            <a:ext cx="4020371" cy="109148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/>
              <a:t>Emulating sub zero temperature condition at room temperature</a:t>
            </a:r>
          </a:p>
          <a:p>
            <a:r>
              <a:rPr lang="en-US" sz="1050" dirty="0"/>
              <a:t>Problem: ADC stalled at negative temperature; fix required driver </a:t>
            </a:r>
            <a:r>
              <a:rPr lang="en-US" sz="1050" dirty="0" err="1"/>
              <a:t>reinit</a:t>
            </a:r>
            <a:r>
              <a:rPr lang="en-US" sz="1050" dirty="0"/>
              <a:t> with gain adjustment.</a:t>
            </a:r>
          </a:p>
          <a:p>
            <a:r>
              <a:rPr lang="en-US" sz="1050" dirty="0"/>
              <a:t>Solution: Agent simulated cold ADC state at 25°C, enabling root-cause fix and validation without thermal chamber—saved 1 week of thermal cycling.</a:t>
            </a:r>
            <a:endParaRPr sz="1050"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79005" y="2522869"/>
            <a:ext cx="45719" cy="10520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329760" y="3647103"/>
            <a:ext cx="2053844" cy="2090198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/>
              <a:t>Boot Failure due to Incorrect Boot Configuration</a:t>
            </a:r>
          </a:p>
          <a:p>
            <a:r>
              <a:rPr lang="en-US" sz="1100" dirty="0"/>
              <a:t>Problem: Device failed to boot into application after flashing new build on new hardware, all looked good.</a:t>
            </a:r>
          </a:p>
          <a:p>
            <a:endParaRPr lang="en-US" sz="1100" dirty="0"/>
          </a:p>
          <a:p>
            <a:r>
              <a:rPr lang="en-US" sz="1100" dirty="0"/>
              <a:t>Solution: Agent traced Program Counter (PC) and identified execution redirecting to system ROM instead of internal flash.</a:t>
            </a:r>
            <a:endParaRPr sz="1100" dirty="0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94447" y="3659211"/>
            <a:ext cx="45719" cy="20780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9525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765923" y="807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 dirty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084FAC-DE6F-98B6-5DF1-27751E41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064" y="4625018"/>
            <a:ext cx="392241" cy="4711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BA4E16-C92C-34B9-4B39-66324B258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7924" y="3080827"/>
            <a:ext cx="1993980" cy="336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E8E8E8"/>
                </a:solidFill>
                <a:latin typeface="Arial"/>
              </a:rPr>
              <a:t>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2992446"/>
            <a:ext cx="5056632" cy="60939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12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-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1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5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months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 -&gt;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8-10 months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" y="6234869"/>
            <a:ext cx="8138160" cy="27699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0000"/>
                </a:solidFill>
                <a:latin typeface="Arial"/>
              </a:rPr>
              <a:t>FOCUS: AEPLO loops across PRD, PG3 firmware, JTAG, QA and STQC until READY.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1218</Words>
  <Application>Microsoft Office PowerPoint</Application>
  <PresentationFormat>On-screen Show (4:3)</PresentationFormat>
  <Paragraphs>147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6</cp:revision>
  <dcterms:created xsi:type="dcterms:W3CDTF">2013-01-27T09:14:16Z</dcterms:created>
  <dcterms:modified xsi:type="dcterms:W3CDTF">2026-06-17T11:39:01Z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