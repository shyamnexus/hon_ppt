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8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67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2" d="100"/>
          <a:sy n="102" d="100"/>
        </p:scale>
        <p:origin x="3504" y="1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F9780D-A041-4638-B6BA-87BB754D206F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99C4E8-DCB7-4C66-B47F-361D1DFDA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023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 We are  presenting AEPLO V3 [code name for our project]— an AI platform that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orchestrates the entire embedded product lifecycle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6076E56-C255-4CAD-BA1A-93AA2E49E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8791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32471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256032" y="1051560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AI-DRIVEN EMBEDDED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 LIFECYCLE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ORCHESTRATOR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VERSION 3.0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7772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1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End-to-End Embedded Intelligence
Faster  |  Safer  |  Predictable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5486400" cy="2616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Atharva | Manas |</a:t>
            </a:r>
            <a:r>
              <a:rPr kumimoji="0" lang="en-US" sz="11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Sheraaz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|Shyam</a:t>
            </a:r>
            <a:endParaRPr kumimoji="0" sz="1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9" name="Rectangle 228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B8B8B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  /  10</a:t>
            </a:r>
          </a:p>
        </p:txBody>
      </p:sp>
      <p:pic>
        <p:nvPicPr>
          <p:cNvPr id="237" name="Picture 236">
            <a:extLst>
              <a:ext uri="{FF2B5EF4-FFF2-40B4-BE49-F238E27FC236}">
                <a16:creationId xmlns:a16="http://schemas.microsoft.com/office/drawing/2014/main" id="{67AC3E27-C892-3B9F-ED91-B1E734C41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545" y="1535563"/>
            <a:ext cx="3118134" cy="3118134"/>
          </a:xfrm>
          <a:prstGeom prst="rect">
            <a:avLst/>
          </a:prstGeom>
          <a:ln/>
        </p:spPr>
      </p:pic>
      <p:sp>
        <p:nvSpPr>
          <p:cNvPr id="238" name="Rectangle 23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2588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37160"/>
            <a:ext cx="82296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71920"/>
                </a:solidFill>
                <a:latin typeface="Arial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57200"/>
            <a:ext cx="850392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Embedded PDLC Data Is Fragmented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389888"/>
            <a:ext cx="8503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8E8E8"/>
                </a:solidFill>
                <a:latin typeface="Arial"/>
              </a:rPr>
              <a:t>NPI gates rely on disconnected requirements, Jira tickets, Confluence knowledge, GitHub code, JTAG/SWD evidence and QA results — slowing decisions from PG1 to PG5.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4632" y="222199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2221992"/>
            <a:ext cx="457200" cy="5232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Arial"/>
              </a:rPr>
              <a:t>PG1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Discovery
Blind 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Risks and debug hotspots are not visible early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0" y="205740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64992" y="222199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64992" y="222199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Late Defect
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MCU faults surface after coding and integration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080759" y="2057400"/>
            <a:ext cx="269748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5351" y="2221992"/>
            <a:ext cx="457200" cy="45720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5351" y="222199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0567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Tool Chain
Fragmentation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5351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ROVO, Copilot, Jira, GitHub and JTAG need orchestration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420624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84632" y="437083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4632" y="437083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PDLC
Trace Gaps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Requirements, code, tests and evidence drift apart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0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200400" y="4206240"/>
            <a:ext cx="2697480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3364992" y="4370832"/>
            <a:ext cx="457200" cy="457200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64992" y="437083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50208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Embedded
Hardware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4992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JTAG/SWD evidence stays outside lifecycle decisions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80759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080759" y="420624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245351" y="437083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45351" y="4370832"/>
            <a:ext cx="457200" cy="5232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Arial"/>
              </a:rPr>
              <a:t>PG5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7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Launch Gate
Uncertainty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1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Readiness depends on manual proof and subjective reviews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2  /  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1" y="749808"/>
            <a:ext cx="8500965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Arial"/>
              </a:rPr>
              <a:t>AEPLO Platform for Embedded PDLC AI Optimization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767328" y="2944367"/>
            <a:ext cx="1609344" cy="160934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944355" y="3121394"/>
            <a:ext cx="1255288" cy="1255288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603444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594447" y="3866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567612" y="40010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523398" y="41313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462561" y="425470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386142" y="43690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295449" y="447248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192033" y="45631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5077664" y="463960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54298" y="47004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824047" y="47446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689140" y="47714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1884" y="478048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414627" y="47714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279720" y="47446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149469" y="47004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026104" y="463960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3911734" y="45631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808318" y="447248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3717625" y="43690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641206" y="425470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580369" y="41313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36155" y="40010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3509320" y="3866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3500324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3509320" y="3591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3536155" y="34567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580369" y="33265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641206" y="320314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3717625" y="30887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808318" y="298535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3911734" y="28946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4026103" y="281824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4149469" y="27574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279720" y="27131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4414627" y="26863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4551884" y="267736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4689140" y="26863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4824047" y="27131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4954298" y="27574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5077664" y="281824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5192033" y="28946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5295449" y="298535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5386142" y="30887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5462561" y="320314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5523398" y="33265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5567612" y="34567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5594447" y="3591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5850332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5839223" y="38984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5806088" y="40649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5751493" y="422581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5676372" y="43781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5582012" y="451936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5470025" y="46470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5342329" y="47590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5201108" y="485341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5048778" y="492853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4887947" y="49831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4721365" y="501626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4551884" y="502737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4382402" y="501626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4215820" y="49831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4054989" y="492853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3902660" y="485341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3761438" y="47590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3633742" y="46470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3521755" y="451936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3427395" y="43781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3352274" y="422581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3297679" y="40649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3264544" y="38984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3253436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3264544" y="35594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3297679" y="33928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3352274" y="323202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3427395" y="307969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3521755" y="293847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3633742" y="28107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3761438" y="26987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3902659" y="260443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4054989" y="252931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4215820" y="24747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4382402" y="244158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4551884" y="243047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4721365" y="244158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4887947" y="24747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5048778" y="252931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5201108" y="260443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5342329" y="26987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5470025" y="28107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5582012" y="293847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5676372" y="307969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5751493" y="323202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5806088" y="33928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5839223" y="35594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6088076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6074933" y="392943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6035731" y="41265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5971140" y="431679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5882265" y="449701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5770627" y="466409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5638135" y="481517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5487058" y="4947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5319980" y="50593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5139759" y="5148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4949479" y="521277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4752397" y="52519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4551884" y="526511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4351370" y="52519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4154288" y="521277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3964008" y="5148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3783788" y="50593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3616709" y="4947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3465632" y="481517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3333140" y="466409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3221502" y="449701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3132627" y="431679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3068036" y="41265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3028834" y="392943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3015692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3028834" y="352840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3068036" y="33313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3132627" y="31410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3221502" y="29608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3333140" y="279374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3465632" y="264267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3616709" y="2510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3783787" y="23985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3964008" y="2309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Oval 139"/>
          <p:cNvSpPr/>
          <p:nvPr/>
        </p:nvSpPr>
        <p:spPr>
          <a:xfrm>
            <a:off x="4154288" y="224507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4351370" y="22058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4551884" y="219273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Oval 142"/>
          <p:cNvSpPr/>
          <p:nvPr/>
        </p:nvSpPr>
        <p:spPr>
          <a:xfrm>
            <a:off x="4752397" y="22058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Oval 143"/>
          <p:cNvSpPr/>
          <p:nvPr/>
        </p:nvSpPr>
        <p:spPr>
          <a:xfrm>
            <a:off x="4949479" y="224507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5139759" y="2309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Oval 145"/>
          <p:cNvSpPr/>
          <p:nvPr/>
        </p:nvSpPr>
        <p:spPr>
          <a:xfrm>
            <a:off x="5319980" y="23985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6"/>
          <p:cNvSpPr/>
          <p:nvPr/>
        </p:nvSpPr>
        <p:spPr>
          <a:xfrm>
            <a:off x="5487058" y="2510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Oval 147"/>
          <p:cNvSpPr/>
          <p:nvPr/>
        </p:nvSpPr>
        <p:spPr>
          <a:xfrm>
            <a:off x="5638135" y="264267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Oval 148"/>
          <p:cNvSpPr/>
          <p:nvPr/>
        </p:nvSpPr>
        <p:spPr>
          <a:xfrm>
            <a:off x="5770627" y="279374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Oval 149"/>
          <p:cNvSpPr/>
          <p:nvPr/>
        </p:nvSpPr>
        <p:spPr>
          <a:xfrm>
            <a:off x="5882265" y="296082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5971140" y="31410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Oval 151"/>
          <p:cNvSpPr/>
          <p:nvPr/>
        </p:nvSpPr>
        <p:spPr>
          <a:xfrm>
            <a:off x="6035731" y="33313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Oval 152"/>
          <p:cNvSpPr/>
          <p:nvPr/>
        </p:nvSpPr>
        <p:spPr>
          <a:xfrm>
            <a:off x="6074933" y="352840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3748694" y="3444687"/>
            <a:ext cx="1609344" cy="160934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D71920"/>
                </a:solidFill>
                <a:latin typeface="Arial"/>
              </a:rPr>
              <a:t>AEPLO
JTAG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2647370" y="2473633"/>
            <a:ext cx="1184330" cy="274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Rectangle 155"/>
          <p:cNvSpPr/>
          <p:nvPr/>
        </p:nvSpPr>
        <p:spPr>
          <a:xfrm>
            <a:off x="2633654" y="2487349"/>
            <a:ext cx="27432" cy="52139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ounded Rectangle 156"/>
          <p:cNvSpPr/>
          <p:nvPr/>
        </p:nvSpPr>
        <p:spPr>
          <a:xfrm>
            <a:off x="91440" y="137159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91440" y="1371599"/>
            <a:ext cx="27432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Oval 158"/>
          <p:cNvSpPr/>
          <p:nvPr/>
        </p:nvSpPr>
        <p:spPr>
          <a:xfrm>
            <a:off x="228600" y="1536191"/>
            <a:ext cx="274320" cy="27432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621792" y="144475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71920"/>
                </a:solidFill>
                <a:latin typeface="Arial"/>
              </a:rPr>
              <a:t>Connected Embedded
Data Foundation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28600" y="192023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Unifies Jira, Confluence, GitHub, JTAG/SWD evidence, QA and gate context.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5312298" y="2473633"/>
            <a:ext cx="1184330" cy="274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6482913" y="2487349"/>
            <a:ext cx="27432" cy="52139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ounded Rectangle 163"/>
          <p:cNvSpPr/>
          <p:nvPr/>
        </p:nvSpPr>
        <p:spPr>
          <a:xfrm>
            <a:off x="6309360" y="137159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/>
          <p:cNvSpPr/>
          <p:nvPr/>
        </p:nvSpPr>
        <p:spPr>
          <a:xfrm>
            <a:off x="6309360" y="1371599"/>
            <a:ext cx="2743200" cy="411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Oval 165"/>
          <p:cNvSpPr/>
          <p:nvPr/>
        </p:nvSpPr>
        <p:spPr>
          <a:xfrm>
            <a:off x="6446520" y="1536191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6839712" y="144475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Arial"/>
              </a:rPr>
              <a:t>JTAG Accelerator
Inside AEPLO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446520" y="192023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Hardware-backed RCA, variable tracing and peripheral inspection become PDLC evidence.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647370" y="4997012"/>
            <a:ext cx="1184330" cy="274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2633654" y="4489337"/>
            <a:ext cx="27432" cy="52139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Rounded Rectangle 170"/>
          <p:cNvSpPr/>
          <p:nvPr/>
        </p:nvSpPr>
        <p:spPr>
          <a:xfrm>
            <a:off x="91440" y="493775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91440" y="4937759"/>
            <a:ext cx="27432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Oval 172"/>
          <p:cNvSpPr/>
          <p:nvPr/>
        </p:nvSpPr>
        <p:spPr>
          <a:xfrm>
            <a:off x="228600" y="5102351"/>
            <a:ext cx="274320" cy="27432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621792" y="501091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71920"/>
                </a:solidFill>
                <a:latin typeface="Arial"/>
              </a:rPr>
              <a:t>NPI Gate
Orchestration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28600" y="548639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PG1 discovery, PG3 development and PG5 launch prep become one demo flow.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312298" y="4997012"/>
            <a:ext cx="1184330" cy="2743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6482913" y="4489337"/>
            <a:ext cx="27432" cy="52139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Rounded Rectangle 177"/>
          <p:cNvSpPr/>
          <p:nvPr/>
        </p:nvSpPr>
        <p:spPr>
          <a:xfrm>
            <a:off x="6309360" y="493775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ectangle 178"/>
          <p:cNvSpPr/>
          <p:nvPr/>
        </p:nvSpPr>
        <p:spPr>
          <a:xfrm>
            <a:off x="6309360" y="4937759"/>
            <a:ext cx="2743200" cy="4114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Oval 179"/>
          <p:cNvSpPr/>
          <p:nvPr/>
        </p:nvSpPr>
        <p:spPr>
          <a:xfrm>
            <a:off x="6446520" y="5102351"/>
            <a:ext cx="274320" cy="27432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839712" y="501091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E8E8"/>
                </a:solidFill>
                <a:latin typeface="Arial"/>
              </a:rPr>
              <a:t>AI Optimisation
Experiences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446520" y="548639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ROVO Studio, Copilot and agents optimise risks, fixes, tests and readiness.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3  /  12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AEPLO Platform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Connects Jira, Confluence, GitHub, Copilot, ROVO Studio, Atlassian MCP and JTAG/SWD evidence into one embedded PDLC optimisation platform.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965960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CONNECTED INPUTS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965960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331720" y="1965960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87168" y="2130552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Jira · Confluence · GitHub · Copilot · ROVO Studio · JTAG/SWD · QA Results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715768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0" y="2715768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20040" y="2843784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2843784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DATA INTEGRATION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843784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331720" y="2843784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87168" y="3008376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Unified Knowledge Graph  ·  Semantic Traceability Engine  ·  Version 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593592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0" y="3593592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20040" y="3721608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3721608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AEPLO ORCHESTRATION CORE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3721608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331720" y="3721608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487168" y="3886200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Atlassian MCP · JTAG Accelerator · Fault Analyzer · Release Agent · QA 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71416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572000" y="4471416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20040" y="4599431"/>
            <a:ext cx="1874519" cy="749808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0040" y="4599431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AUTOMATION &amp; GATING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4599431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331720" y="4599431"/>
            <a:ext cx="41148" cy="74980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487168" y="4764023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CI/CD Hooks  ·  Controlled Auto-Fix  ·  Auto-PR  ·  Release Gate  ·  Remediation Actions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39"/>
            <a:ext cx="45720" cy="12801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72000" y="5349239"/>
            <a:ext cx="45720" cy="12801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320040" y="5477256"/>
            <a:ext cx="1874519" cy="74980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" y="5477256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NPI GATE OUTCOMES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31720" y="5477256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331720" y="5477256"/>
            <a:ext cx="41148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487168" y="5641848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PG1 Risk Plan · PG3 RCA + PR · PG5 READY / NOT_READY · Audit 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4  / 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CONNECTED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001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Arial"/>
              </a:rPr>
              <a:t>ROVO + Copilot + Atlassian MCP + GitHub + Jira + Confluence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The demo platform brings work management, knowledge, code, AI coding assistance and hardware evidence into AEPLO's embedded PDLC optimisation loop.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65960"/>
            <a:ext cx="193852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D71920"/>
                </a:solidFill>
                <a:latin typeface="Arial"/>
              </a:rPr>
              <a:t>PLAN &amp; 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76072" y="286207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Jira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NPI epics, coding defects,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76072" y="386791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Confluence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PRD, architecture, test notes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76072" y="487375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PG1 Discovery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Risk map and demo scope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13432" y="3858768"/>
            <a:ext cx="15544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468880" y="3803904"/>
            <a:ext cx="24688" cy="1645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489454" y="3814191"/>
            <a:ext cx="21602" cy="14401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510028" y="3824478"/>
            <a:ext cx="18516" cy="1234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530602" y="3834765"/>
            <a:ext cx="15430" cy="10287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551176" y="3845052"/>
            <a:ext cx="12344" cy="822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571750" y="3855339"/>
            <a:ext cx="9258" cy="6172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592324" y="3865626"/>
            <a:ext cx="6172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612898" y="3875913"/>
            <a:ext cx="3086" cy="2057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246888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468880" y="1965960"/>
            <a:ext cx="1938528" cy="54864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57860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E8E8E8"/>
                </a:solidFill>
                <a:latin typeface="Arial"/>
              </a:rPr>
              <a:t>BUILD &amp; CODE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0604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2724912" y="2862072"/>
            <a:ext cx="256032" cy="25603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06324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GitHub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2491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Branches, PRs, reviews, evidence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0604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2724912" y="3867912"/>
            <a:ext cx="256032" cy="25603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06324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Copilot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491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Patch suggestions and explanations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0604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2724912" y="4873752"/>
            <a:ext cx="256032" cy="25603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06324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PG3 Development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2491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RCA, guarded fix and PR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62272" y="3858768"/>
            <a:ext cx="15544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617720" y="3803904"/>
            <a:ext cx="24688" cy="1645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4638294" y="3814191"/>
            <a:ext cx="21602" cy="14401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658868" y="3824478"/>
            <a:ext cx="18516" cy="1234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4679442" y="3834765"/>
            <a:ext cx="15430" cy="10287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700016" y="3845052"/>
            <a:ext cx="12344" cy="822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4720590" y="3855339"/>
            <a:ext cx="9258" cy="6172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741164" y="3865626"/>
            <a:ext cx="6172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4761738" y="3875913"/>
            <a:ext cx="3086" cy="2057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461772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4617720" y="1965960"/>
            <a:ext cx="193852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72744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D71920"/>
                </a:solidFill>
                <a:latin typeface="Arial"/>
              </a:rPr>
              <a:t>ORCHESTRATE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75488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4873752" y="286207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1208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Atlassian MCP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7375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Jira + Confluence actions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75488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4873752" y="386791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21208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AEPLO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7375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Agent routing and PDLC knowledge graph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5488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4873752" y="487375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21208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ROVO Studio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375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NPI demo cockpit and AI experience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11112" y="3858768"/>
            <a:ext cx="15544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6766560" y="3803904"/>
            <a:ext cx="24688" cy="1645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6787134" y="3814191"/>
            <a:ext cx="21602" cy="14401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6807708" y="3824478"/>
            <a:ext cx="18516" cy="1234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6828282" y="3834765"/>
            <a:ext cx="15430" cy="10287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6848856" y="3845052"/>
            <a:ext cx="12344" cy="822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6869430" y="3855339"/>
            <a:ext cx="9258" cy="6172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6890004" y="3865626"/>
            <a:ext cx="6172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6910578" y="3875913"/>
            <a:ext cx="3086" cy="2057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676656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6766560" y="1965960"/>
            <a:ext cx="1938528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87628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2E7D32"/>
                </a:solidFill>
                <a:latin typeface="Arial"/>
              </a:rPr>
              <a:t>VALIDATE &amp; LAUNCH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90372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7022592" y="2862072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36092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JTAG Accelerator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2259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MCU register, memory and probe evidence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90372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7022592" y="3867912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36092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Release Gate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259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READY / NOT_READY with action list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90372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7022592" y="4873752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736092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PG5 Launch Prep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2259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Validation proof and governance pack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20040" y="6355080"/>
            <a:ext cx="8503920" cy="31089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502920" y="6391656"/>
            <a:ext cx="8138160" cy="14630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69" b="1" i="0">
                <a:solidFill>
                  <a:srgbClr val="2E7D32"/>
                </a:solidFill>
                <a:latin typeface="Arial"/>
              </a:rPr>
              <a:t>COMMON IDEA: AEPLO connects enterprise collaboration tools with embedded hardware evidence to optimise NPI gate decisions.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5  /  12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PG1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PG1 Discovery — AI Risk &amp; Scope Optimisation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AEPLO starts before coding: it connects PRD content, Jira themes, Confluence context, GitHub history and target-board data to shape a risk-backed embedded demo plan.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3296412"/>
            <a:ext cx="8449056" cy="27432"/>
          </a:xfrm>
          <a:prstGeom prst="rect">
            <a:avLst/>
          </a:prstGeom>
          <a:solidFill>
            <a:srgbClr val="0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47472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7472" y="2011680"/>
            <a:ext cx="2633472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80160" y="2926080"/>
            <a:ext cx="768096" cy="768096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043123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068726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94329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119932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145535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A70E17"/>
                </a:solidFill>
                <a:latin typeface="Arial"/>
              </a:rPr>
              <a:t>COLLECT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NPI + Embedded 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2999232"/>
            <a:ext cx="2304288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1208" y="3749040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E8E8E8"/>
                </a:solidFill>
                <a:latin typeface="Arial"/>
              </a:rPr>
              <a:t>Ingests PRD, Jira epics, Confluence architecture notes, GitHub defect history and target-board assumptions.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0" y="2011680"/>
            <a:ext cx="2633472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133088" y="2926080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33088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70448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96051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921654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947257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972860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98463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0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71920"/>
                </a:solidFill>
                <a:latin typeface="Arial"/>
              </a:rPr>
              <a:t>MAP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PDLC Risk &amp; Traceability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999232"/>
            <a:ext cx="2304288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19856" y="3728791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Builds a lifecycle graph from requirements to code areas, tests, JTAG debug hotspots and validation evidence needs.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53328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053328" y="2011680"/>
            <a:ext cx="2633472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986016" y="2926080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86016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71920"/>
                </a:solidFill>
                <a:latin typeface="Arial"/>
              </a:rPr>
              <a:t>PLAN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3328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PG1 Demo Readiness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19" y="2999232"/>
            <a:ext cx="2304288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00405" y="3728791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Produces a risk-backed demo scope, board setup checklist, debug scenario and PG3 development entry criteria.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6  /  12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PG3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PG3 Development — AEPLO JTAG Accelerator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Inside AEPLO, the JTAG Accelerator converts embedded coding defects into hardware-backed RCA, controlled code fixes, GitHub PRs and Jira evidence.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196596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46988" y="2212848"/>
            <a:ext cx="512064" cy="51206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6988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D71920"/>
                </a:solidFill>
                <a:latin typeface="Arial"/>
              </a:rPr>
              <a:t>JIRA / CONFLUENCE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Bug, requirement, architecture note and PG3 acceptance criteria define the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578608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592324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606040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619756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633472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647188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660904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674620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688336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702052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15768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29484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496312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496312" y="1993392"/>
            <a:ext cx="196596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223260" y="2212848"/>
            <a:ext cx="512064" cy="51206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23260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D71920"/>
                </a:solidFill>
                <a:latin typeface="Arial"/>
              </a:rPr>
              <a:t>JTAG ORCHESTRATOR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24328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Routes requests across AEPLO, IDE, J-Link probe and target MCU session.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35424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754880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768596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82312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96028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809744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823460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837176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850892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864608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878324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892040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905756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672583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672583" y="1993392"/>
            <a:ext cx="196596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5399531" y="2212848"/>
            <a:ext cx="512064" cy="512064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99531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82311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E8E8E8"/>
                </a:solidFill>
                <a:latin typeface="Arial"/>
              </a:rPr>
              <a:t>SPECIALIST AGENTS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599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Fault Analyzer, Variable Tracer, Peripheral Inspector and Memory Parser collaborate.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5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931151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944867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958583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972299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986015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999731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013447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027163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040879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054595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068311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082027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848855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848855" y="1993392"/>
            <a:ext cx="196596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7575803" y="2212848"/>
            <a:ext cx="512064" cy="512064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75803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58583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E7D32"/>
                </a:solidFill>
                <a:latin typeface="Arial"/>
              </a:rPr>
              <a:t>CONTROLLED AUTO-FIX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76871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Copilot-assisted patch becomes a GitHub branch, PR and review-ready Jira update.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" y="4224528"/>
            <a:ext cx="8503920" cy="9144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320040" y="4224528"/>
            <a:ext cx="45720" cy="9144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02920" y="4315968"/>
            <a:ext cx="274320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71920"/>
                </a:solidFill>
                <a:latin typeface="Arial"/>
              </a:rPr>
              <a:t>PHYSICAL DEBUG EVIDENCE LANE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4645152"/>
            <a:ext cx="809244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Target MCU: STM32 / Cortex-M  |  Interface: JTAG/SWD  |  Evidence: HardFault registers, stack frames, memory dumps, peripheral state, probe logs and GitHub PR links.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320040" y="5394960"/>
            <a:ext cx="45720" cy="86868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48056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70E17"/>
                </a:solidFill>
                <a:latin typeface="Arial"/>
              </a:rPr>
              <a:t>Faster RCA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8056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Days of manual setup become guided ROVO/Copilot actions.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200400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3200400" y="5394960"/>
            <a:ext cx="45720" cy="86868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328416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71920"/>
                </a:solidFill>
                <a:latin typeface="Arial"/>
              </a:rPr>
              <a:t>Traceable Fixes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8416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Every patch links Jira, Confluence, GitHub and hardware evidence.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80759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6080759" y="5394960"/>
            <a:ext cx="45720" cy="868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208775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Arial"/>
              </a:rPr>
              <a:t>PG3 Ready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08775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Validated fixes flow into PG5 launch preparation gates.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7  /  12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PG5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Arial"/>
              </a:rPr>
              <a:t>PG5 Validation &amp; Launch Preparation Gatekeeper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AEPLO evaluates launch readiness using code, QA, traceability and JTAG/SWD evidence. The outcome is an unambiguous gate verdict with action-ready remediation.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50292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5488" y="2395728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" y="239572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483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Arial"/>
              </a:rPr>
              <a:t>Validates PG5
Launch Readiness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60604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Coverage, static analysis, regression status, traceability, hardware proof and launch evidence are checked together.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5488" y="390448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390448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59359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Structured Verdict:
READY / NOT_READY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Binary, unambiguous gate decision with confidence score, Jira evidence summary and GitHub PR links.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02920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502920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75488" y="541324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541324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10235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Clear Remediation
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62356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Every NOT_READY verdict includes a prioritized action list: which test, fix, evidence or launch artefact must be updated.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965960"/>
            <a:ext cx="3182112" cy="449884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23560" y="1965960"/>
            <a:ext cx="3182112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23560" y="2029968"/>
            <a:ext cx="318211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71920"/>
                </a:solidFill>
                <a:latin typeface="Arial"/>
              </a:rPr>
              <a:t>RELEASE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2423160"/>
            <a:ext cx="3182112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824728" y="2542032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824728" y="2542032"/>
            <a:ext cx="2779776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2706624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2706624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743200"/>
            <a:ext cx="123444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7D32"/>
                </a:solidFill>
                <a:latin typeface="Arial"/>
              </a:rPr>
              <a:t>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3246120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All gates passed.
Cleared for release.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224528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824728" y="4224528"/>
            <a:ext cx="2779776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629400" y="4389120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9400" y="4389120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4425696"/>
            <a:ext cx="1417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71920"/>
                </a:solidFill>
                <a:latin typeface="Arial"/>
              </a:rPr>
              <a:t>NOT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79592" y="4937760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3 blockers found.
See remediation list.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8  /  12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QA2RELEASE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QA2Release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Creates a closed-loop embedded PDLC: QA results and JTAG evidence drive root-cause analysis, test optimisation and next-release learning.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34640"/>
            <a:ext cx="36576" cy="7040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47472" y="2231136"/>
            <a:ext cx="621792" cy="62179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" y="223113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02996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3000" y="2029968"/>
            <a:ext cx="45720" cy="135331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98448" y="210312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8E8"/>
                </a:solidFill>
                <a:latin typeface="Arial"/>
              </a:rPr>
              <a:t>Analyze QA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52374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All QA failures and hardware evidence are ingested — unit, integration, HIL, system tests, JTAG registers and probe logs are mapped together.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343400"/>
            <a:ext cx="36576" cy="7040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47472" y="3739896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" y="373989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53872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43000" y="3538728"/>
            <a:ext cx="45720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98448" y="361188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71920"/>
                </a:solidFill>
                <a:latin typeface="Arial"/>
              </a:rPr>
              <a:t>Extract Root Causes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03250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AI correlates failures with commits, Jira issues, Confluence decisions, RTOS timing deltas and JTAG/SWD evidence. Root causes are ranked by confidence.</a:t>
            </a:r>
          </a:p>
        </p:txBody>
      </p:sp>
      <p:sp>
        <p:nvSpPr>
          <p:cNvPr id="23" name="Oval 22"/>
          <p:cNvSpPr/>
          <p:nvPr/>
        </p:nvSpPr>
        <p:spPr>
          <a:xfrm>
            <a:off x="347472" y="5248656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" y="524865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04748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43000" y="5047488"/>
            <a:ext cx="45720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98448" y="512064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Arial"/>
              </a:rPr>
              <a:t>Generate Next-Release Improvements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554126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Automated improvement tickets are raised with code suggestions, test additions, coverage targets and launch-prep actions for the next NPI cycle.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" y="6400800"/>
            <a:ext cx="8503920" cy="31089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0040" y="6400800"/>
            <a:ext cx="45720" cy="31089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6400800"/>
            <a:ext cx="8229600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E8E8"/>
                </a:solidFill>
                <a:latin typeface="Arial"/>
              </a:rPr>
              <a:t>CLOSED-LOOP LIFECYCLE: QA → Root Cause → Next Release Plan → Better QA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9  / 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DEMO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Demo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Live demonstration of how AEPLO executes the NPI gate pipeline from PG1 discovery through PG3 JTAG-accelerated development to PG5 validation and launch prep.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2697480" cy="427939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2697480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4632" y="2103120"/>
            <a:ext cx="1188720" cy="256032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2103120"/>
            <a:ext cx="1188720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STAGE 1</a:t>
            </a:r>
          </a:p>
        </p:txBody>
      </p:sp>
      <p:sp>
        <p:nvSpPr>
          <p:cNvPr id="13" name="Oval 12"/>
          <p:cNvSpPr/>
          <p:nvPr/>
        </p:nvSpPr>
        <p:spPr>
          <a:xfrm>
            <a:off x="1284732" y="2487168"/>
            <a:ext cx="768096" cy="768096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84732" y="2487168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01568"/>
            <a:ext cx="242316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A70E17"/>
                </a:solidFill>
                <a:latin typeface="Arial"/>
              </a:rPr>
              <a:t>PG1 → Discovery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3913632"/>
            <a:ext cx="2368296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4005072"/>
            <a:ext cx="2331720" cy="2103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• ROVO Studio cockpit opens NPI scenario
• Jira + Confluence + GitHub context ingested
• AEPLO maps embedded PDLC risks
• Demo scope and board setup are generated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54096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088843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123590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158337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193084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200400" y="1993392"/>
            <a:ext cx="2697480" cy="427939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0" y="1993392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364992" y="2103120"/>
            <a:ext cx="1188720" cy="25603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364992" y="2103120"/>
            <a:ext cx="1188720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STAGE 2</a:t>
            </a:r>
          </a:p>
        </p:txBody>
      </p:sp>
      <p:sp>
        <p:nvSpPr>
          <p:cNvPr id="27" name="Oval 26"/>
          <p:cNvSpPr/>
          <p:nvPr/>
        </p:nvSpPr>
        <p:spPr>
          <a:xfrm>
            <a:off x="4165092" y="2487168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65092" y="2487168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3401568"/>
            <a:ext cx="242316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71920"/>
                </a:solidFill>
                <a:latin typeface="Arial"/>
              </a:rPr>
              <a:t>PG3 → Development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64992" y="3913632"/>
            <a:ext cx="2368296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83280" y="4005072"/>
            <a:ext cx="2331720" cy="2103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• JTAG Accelerator attaches to target MCU
• Fault Analyzer captures register evidence
• Copilot proposes guarded fix
• GitHub PR links code and hardware proof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34456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69203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003950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038697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073444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080759" y="1993392"/>
            <a:ext cx="2697480" cy="427939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080759" y="1993392"/>
            <a:ext cx="269748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245351" y="2103120"/>
            <a:ext cx="1188720" cy="256032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45351" y="2103120"/>
            <a:ext cx="1188720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STAGE 3</a:t>
            </a:r>
          </a:p>
        </p:txBody>
      </p:sp>
      <p:sp>
        <p:nvSpPr>
          <p:cNvPr id="41" name="Oval 40"/>
          <p:cNvSpPr/>
          <p:nvPr/>
        </p:nvSpPr>
        <p:spPr>
          <a:xfrm>
            <a:off x="7045451" y="2487168"/>
            <a:ext cx="768096" cy="768096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045451" y="2487168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19" y="3401568"/>
            <a:ext cx="242316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E8E8"/>
                </a:solidFill>
                <a:latin typeface="Arial"/>
              </a:rPr>
              <a:t>PG5 → Validation &amp; Launch Prep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45351" y="3913632"/>
            <a:ext cx="2368296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63639" y="4005072"/>
            <a:ext cx="2331720" cy="2103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• QA and JTAG evidence feed Release Gate
• READY / NOT_READY verdict issued
• Jira actions and Confluence summary created
• Next NPI learning loop is updated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10  /  12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BUSINESS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Business Outcomes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Measured outcomes for the Coding Embedded Workstream: connected platform data, hardware-backed debugging, AI optimisation and NPI gate confidence.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420624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02920" y="2176272"/>
            <a:ext cx="548640" cy="54864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17627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8483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Reduced
Defect Leakage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066544"/>
            <a:ext cx="1143000" cy="646331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3600" b="1" i="0" dirty="0">
                <a:solidFill>
                  <a:srgbClr val="2E7D32"/>
                </a:solidFill>
                <a:latin typeface="Arial"/>
              </a:rPr>
              <a:t>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65176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fewer post-release defects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2651760"/>
            <a:ext cx="3877056" cy="1463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279806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ML defect prediction + auto-test generation eliminates the most common escape vectors before firmware ships.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79" y="199339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54879" y="1993392"/>
            <a:ext cx="420624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937759" y="2176272"/>
            <a:ext cx="548640" cy="54864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37759" y="217627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59" y="208483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Faster Firmware
RCA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2066544"/>
            <a:ext cx="114300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2400" b="1" i="0" dirty="0">
                <a:solidFill>
                  <a:srgbClr val="D71920"/>
                </a:solidFill>
                <a:latin typeface="Arial"/>
              </a:rPr>
              <a:t>&lt;30m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39" y="265176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from ticket to root cause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9471" y="2651760"/>
            <a:ext cx="3877056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37759" y="279806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JTAG Orchestrator captures HardFault registers, stack frames and memory evidence without manual tool switching.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32511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4325112"/>
            <a:ext cx="420624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02920" y="4507992"/>
            <a:ext cx="548640" cy="54864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50799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PG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41655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NPI Gate
Confidence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398264"/>
            <a:ext cx="1143000" cy="3693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b="1" i="0" dirty="0">
                <a:solidFill>
                  <a:srgbClr val="D71920"/>
                </a:solidFill>
                <a:latin typeface="Arial"/>
              </a:rPr>
              <a:t>PG1/3/5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498348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demo-ready decisions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" y="4983480"/>
            <a:ext cx="3877056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2920" y="512978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AEPLO turns Discovery, Development and Validation evidence into clear decisions and action lists.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79" y="432511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54879" y="4325112"/>
            <a:ext cx="420624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4937759" y="4507992"/>
            <a:ext cx="548640" cy="54864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937759" y="450799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3559" y="441655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Embedded PDLC
Optimisation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35239" y="4398264"/>
            <a:ext cx="114300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E8E8E8"/>
                </a:solidFill>
                <a:latin typeface="Arial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39" y="498348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risk, test and fix focus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19471" y="4983480"/>
            <a:ext cx="3877056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937759" y="512978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ROVO Studio, Copilot and AEPLO agents optimise work across planning, coding, validation and launch preparation.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11  /  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Criteria &amp; Key Metric Focus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458200" cy="40233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40" b="0" i="1">
                <a:solidFill>
                  <a:srgbClr val="E8E8E8"/>
                </a:solidFill>
                <a:latin typeface="Arial"/>
              </a:rPr>
              <a:t>Updated with current demo values: measurable stream value, BA-hosting readiness, live execution proof, agentic AI governance and LLM/token efficiency.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01952"/>
            <a:ext cx="8503920" cy="418795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850392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901952"/>
            <a:ext cx="306324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1975104"/>
            <a:ext cx="30632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75104"/>
            <a:ext cx="544068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KEY METRIC 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2286000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50292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83280" y="2286000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2286000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" y="2395728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Stream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395728"/>
            <a:ext cx="5056632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E8E8E8"/>
                </a:solidFill>
                <a:latin typeface="Arial"/>
              </a:rPr>
              <a:t>- PDLC lead time: 41% drop (PG1-&gt;PG5 workflow 4.8h -&gt; 2.8h)</a:t>
            </a:r>
          </a:p>
          <a:p>
            <a:pPr algn="l"/>
            <a:r>
              <a:rPr sz="819" b="0" i="0">
                <a:solidFill>
                  <a:srgbClr val="E8E8E8"/>
                </a:solidFill>
                <a:latin typeface="Arial"/>
              </a:rPr>
              <a:t>- Defect leakage: 60% fewer projected escapes</a:t>
            </a:r>
          </a:p>
          <a:p>
            <a:pPr algn="l"/>
            <a:r>
              <a:rPr sz="819" b="0" i="0">
                <a:solidFill>
                  <a:srgbClr val="E8E8E8"/>
                </a:solidFill>
                <a:latin typeface="Arial"/>
              </a:rPr>
              <a:t>- Productivity saving: 320 hrs in 2026 H2; 760 hrs in 2027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944368"/>
            <a:ext cx="306324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83280" y="2944368"/>
            <a:ext cx="544068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2944368"/>
            <a:ext cx="50292" cy="4754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83280" y="2944368"/>
            <a:ext cx="20116" cy="4754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2944368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" y="3054096"/>
            <a:ext cx="2743200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Platformization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3054096"/>
            <a:ext cx="5056632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BA-org hosting readiness: 85%</a:t>
            </a:r>
          </a:p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Sandbox deployment, SSO path and MCP connectors ready; prod hardening pending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419856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83280" y="3419856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3419856"/>
            <a:ext cx="50292" cy="65836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383280" y="3419856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3419856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" y="3529584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Live Execution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3529584"/>
            <a:ext cx="5056632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Working prototype: 100% PG1 / PG3 / PG5 demo flow completed</a:t>
            </a:r>
          </a:p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Active impact: Jira evidence + GitHub PR + Confluence summary generated in run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078224"/>
            <a:ext cx="306324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83280" y="4078224"/>
            <a:ext cx="544068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4078224"/>
            <a:ext cx="50292" cy="9326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383280" y="4078224"/>
            <a:ext cx="20116" cy="9326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4078224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4632" y="4187952"/>
            <a:ext cx="274320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Agentic AI design pattern compliance
[Agents orchestration, routing protocols,
MCP Servers, Skills, etc]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84448" y="4187952"/>
            <a:ext cx="5056632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Inter-agent handoff success: 92%</a:t>
            </a:r>
          </a:p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Twin simulation accuracy: 88%</a:t>
            </a:r>
          </a:p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Reusable tools/skills: 9 of 12 (75%)</a:t>
            </a:r>
          </a:p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MCP usage relevancy: 100% of Jira/Confluence actions mapped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010912"/>
            <a:ext cx="306324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3280" y="5010912"/>
            <a:ext cx="544068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20040" y="5010912"/>
            <a:ext cx="50292" cy="10789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383280" y="5010912"/>
            <a:ext cx="20116" cy="107899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0040" y="5010912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4632" y="5120640"/>
            <a:ext cx="2743200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 dirty="0">
                <a:solidFill>
                  <a:srgbClr val="FFFFFF"/>
                </a:solidFill>
                <a:latin typeface="Arial"/>
              </a:rPr>
              <a:t>LLM selection strategies
[GitHub Copilot &amp; OpenAI] &amp; AI Token
usage Optimization
[LLM selection, Context Management,
and Prompt engineering]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4448" y="5120640"/>
            <a:ext cx="5056632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Token reduction: 41% (baseline prompt pack vs routed context)</a:t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Cost/request savings: 36%</a:t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Tool-calling JSON accuracy: 96%</a:t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Prompt caching utilization: 68%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0040" y="6272784"/>
            <a:ext cx="8503920" cy="21945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2920" y="6318504"/>
            <a:ext cx="8138160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2E7D32"/>
                </a:solidFill>
                <a:latin typeface="Arial"/>
              </a:rPr>
              <a:t>FOCUS: show quantified PDLC impact with a reusable, hosted, agentic-AI execution pattern.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12  /  13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657600" y="228600"/>
            <a:ext cx="6400800" cy="640080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297680" y="868680"/>
            <a:ext cx="5120640" cy="512064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029200" y="1600200"/>
            <a:ext cx="3657600" cy="3657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760720" y="2331720"/>
            <a:ext cx="2194560" cy="21945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38284" y="34088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022873" y="37225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976789" y="403325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900475" y="433791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794668" y="46336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660384" y="491754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498919" y="51869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311826" y="543919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00908" y="567190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868196" y="588282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15930" y="60699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346542" y="62313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062624" y="63656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766911" y="64714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62251" y="65477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151578" y="659387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837884" y="66092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524189" y="659387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213516" y="65477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908856" y="64714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613143" y="63656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329225" y="62313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5059837" y="60699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4807571" y="588282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4574859" y="567190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363941" y="543919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4176848" y="51869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4015383" y="491754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3881099" y="46336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775292" y="433791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698978" y="403325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3652894" y="37225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637484" y="34088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3652894" y="30951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3698978" y="278451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3775292" y="24798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3881099" y="21841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4015383" y="190022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4176848" y="163083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4363941" y="13785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4574859" y="114585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4807571" y="9349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5059837" y="74784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5329225" y="58638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5613143" y="45209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5908856" y="34629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6213516" y="2699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6524189" y="22389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6837883" y="2084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7151578" y="22389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7462251" y="2699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7766911" y="34629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8062624" y="45209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8346542" y="58638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8615930" y="74784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8868196" y="9349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9100908" y="114585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9311826" y="13785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9498919" y="163083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9660384" y="190022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9794668" y="21841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9900475" y="24798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9976789" y="278451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10022873" y="30951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6832854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7054584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6832854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6611123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6611123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6832854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7054584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7276314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7054584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6832854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6611123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6389393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6389393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6389393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6611123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6832854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7054584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7276314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7276314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7498044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7276314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7054584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6832854" y="41719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6611123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6389393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6167663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6167663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6167663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6167663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6389393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6611123" y="276377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6832854" y="263575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7054584" y="276377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7276314" y="289178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7498044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7498044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7498044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7719774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7498044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7276314" y="41719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7054584" y="42999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6832854" y="44279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6611123" y="42999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6389393" y="41719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6167663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5945933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5945933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5945933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5945933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5945933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6167663" y="276377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6389393" y="263575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6611123" y="25077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6832854" y="23797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7054584" y="25077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7276314" y="263575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7498044" y="276377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7719774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7719774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7719774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7719774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347472" y="658368"/>
            <a:ext cx="50292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71920"/>
                </a:solidFill>
                <a:latin typeface="Arial"/>
              </a:rPr>
              <a:t>CONCLUSION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47472" y="987552"/>
            <a:ext cx="5303520" cy="960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Transform Embedded PDLC
from PG1 to PG5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47472" y="2029968"/>
            <a:ext cx="4956047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347472" y="2322576"/>
            <a:ext cx="256032" cy="25603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621792" y="2432304"/>
            <a:ext cx="502920" cy="36576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261872" y="2249424"/>
            <a:ext cx="41148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70E17"/>
                </a:solidFill>
                <a:latin typeface="Arial"/>
              </a:rPr>
              <a:t>From fragmented embedded data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61872" y="2615184"/>
            <a:ext cx="4069080" cy="8229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Jira, Confluence, GitHub, QA and JTAG/SWD evidence become one connected AEPLO PDLC foundation.</a:t>
            </a:r>
          </a:p>
        </p:txBody>
      </p:sp>
      <p:sp>
        <p:nvSpPr>
          <p:cNvPr id="140" name="Oval 139"/>
          <p:cNvSpPr/>
          <p:nvPr/>
        </p:nvSpPr>
        <p:spPr>
          <a:xfrm>
            <a:off x="347472" y="3739896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621792" y="3849624"/>
            <a:ext cx="502920" cy="3657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1261872" y="3666744"/>
            <a:ext cx="41148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71920"/>
                </a:solidFill>
                <a:latin typeface="Arial"/>
              </a:rPr>
              <a:t>To intelligent NPI action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61872" y="4032504"/>
            <a:ext cx="4069080" cy="8229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Atlassian MCP, ROVO Studio, Copilot and AEPLO agents drive PG1 discovery, PG3 development and PG5 launch readiness.</a:t>
            </a:r>
          </a:p>
        </p:txBody>
      </p:sp>
      <p:sp>
        <p:nvSpPr>
          <p:cNvPr id="144" name="Oval 143"/>
          <p:cNvSpPr/>
          <p:nvPr/>
        </p:nvSpPr>
        <p:spPr>
          <a:xfrm>
            <a:off x="347472" y="5157216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621792" y="5266944"/>
            <a:ext cx="502920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1261872" y="5084064"/>
            <a:ext cx="41148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Arial"/>
              </a:rPr>
              <a:t>Optimise every gate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61872" y="5449824"/>
            <a:ext cx="4069080" cy="8229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The JTAG Accelerator adds hardware-backed RCA and controlled fixes to AI-optimised validation and launch decisions.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12  /  12</a:t>
            </a:r>
          </a:p>
        </p:txBody>
      </p:sp>
      <p:pic>
        <p:nvPicPr>
          <p:cNvPr id="148" name="Picture 147">
            <a:extLst>
              <a:ext uri="{FF2B5EF4-FFF2-40B4-BE49-F238E27FC236}">
                <a16:creationId xmlns:a16="http://schemas.microsoft.com/office/drawing/2014/main" id="{DD5A924B-3180-1590-5F67-0356FA8DD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424" y="2578608"/>
            <a:ext cx="2875434" cy="1700784"/>
          </a:xfrm>
          <a:prstGeom prst="rect">
            <a:avLst/>
          </a:prstGeom>
          <a:ln/>
        </p:spPr>
      </p:pic>
      <p:sp>
        <p:nvSpPr>
          <p:cNvPr id="155" name="Rectangle 15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1666</Words>
  <Application>Microsoft Office PowerPoint</Application>
  <PresentationFormat>On-screen Show (4:3)</PresentationFormat>
  <Paragraphs>232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Shrivastava, Shyam</dc:creator>
  <cp:keywords/>
  <dc:description>generated using python-pptx</dc:description>
  <cp:lastModifiedBy>Shrivastava, Shyam</cp:lastModifiedBy>
  <cp:revision>6</cp:revision>
  <dcterms:created xsi:type="dcterms:W3CDTF">2013-01-27T09:14:16Z</dcterms:created>
  <dcterms:modified xsi:type="dcterms:W3CDTF">2026-06-12T16:21:50Z</dcterms:modified>
  <cp:category/>
</cp:coreProperties>
</file>