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07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0825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0A3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0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005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0C8F0"/>
                </a:solidFill>
                <a:latin typeface="Segoe UI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VERSION 3.0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8D0EC"/>
                </a:solidFill>
                <a:latin typeface="Segoe UI"/>
              </a:rPr>
              <a:t>End-to-End Embedded Intelligence
Faster  |  Safer  |  Predictable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80A8"/>
                </a:solidFill>
                <a:latin typeface="Segoe UI"/>
              </a:rPr>
              <a:t>May 2026   |   CONFIDENTIAL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  / 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Embedded Development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8D0EC"/>
                </a:solidFill>
                <a:latin typeface="Segoe UI"/>
              </a:rPr>
              <a:t>Lifecycle stages operate in silos — leading to late defect discovery, manual governance overhead, and limited reuse of QA insights.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Requirements
&amp;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Manual, disconnected from code reality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Bugs found at integration — 100× costlier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12–20 siloed tools; no unified data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Governance
Overhead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Manual artefact generation; audit risk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HW/SW
Co-Design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Integration delays from late bring-up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Segoe UI"/>
              </a:rPr>
              <a:t>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Market
Pressure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Competitors ship 2× faster with AI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2  / 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Lifecycle-Aware AI Orchestrator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67328" y="2944367"/>
            <a:ext cx="1609344" cy="1609344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944355" y="3121394"/>
            <a:ext cx="1255288" cy="1255288"/>
          </a:xfrm>
          <a:prstGeom prst="ellipse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3444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94447" y="3866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67612" y="40010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23398" y="41313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62561" y="425470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86142" y="43690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95449" y="447248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192033" y="45631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77664" y="463960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4298" y="47004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24047" y="47446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89140" y="47714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1884" y="47804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4627" y="47714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79720" y="47446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149469" y="47004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026104" y="463960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911734" y="45631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08318" y="447248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17625" y="43690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641206" y="425470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580369" y="413133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36155" y="40010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09320" y="3866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500324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09320" y="3591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36155" y="34567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580369" y="33265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41206" y="320314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17625" y="30887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08318" y="298535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911734" y="28946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026103" y="281824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149469" y="27574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79720" y="27131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14627" y="26863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51884" y="267736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689140" y="26863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824047" y="27131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54298" y="27574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77664" y="281824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192033" y="28946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295449" y="298535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386142" y="30887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462561" y="320314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523398" y="332650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567612" y="34567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594447" y="3591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850332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39223" y="38984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806088" y="40649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751493" y="422581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676372" y="43781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582012" y="451936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470025" y="46470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342329" y="47590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201108" y="485341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048778" y="492853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887947" y="49831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721365" y="501626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551884" y="50273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382402" y="501626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215820" y="49831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054989" y="492853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902660" y="485341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761438" y="475905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633742" y="464706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521755" y="451936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427395" y="43781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352274" y="422581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97679" y="406498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264544" y="38984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253436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264544" y="35594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297679" y="33928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352274" y="323202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427395" y="307969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521755" y="293847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633742" y="28107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761438" y="26987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902659" y="260443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54989" y="252931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15820" y="24747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382402" y="24415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551884" y="24304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721365" y="244158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887947" y="24747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048778" y="252931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201108" y="260443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342329" y="269879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470025" y="281078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582012" y="293847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676372" y="30796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751493" y="323202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806088" y="339285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839223" y="35594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088076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074933" y="392943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035731" y="41265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5971140" y="43167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882265" y="449701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770627" y="466409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638135" y="481517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487058" y="4947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319980" y="50593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139759" y="5148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949479" y="521277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752397" y="52519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551884" y="526511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351370" y="5251972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154288" y="5212770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964008" y="5148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783788" y="505930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616709" y="4947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465632" y="4815174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333140" y="466409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221502" y="449701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132627" y="431679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068036" y="412651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3028834" y="392943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015692" y="372892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28834" y="352840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068036" y="33313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132627" y="31410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221502" y="29608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333140" y="279374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465632" y="26426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616709" y="2510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83787" y="23985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964008" y="2309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154288" y="22450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351370" y="22058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551884" y="219273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752397" y="2205873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4949479" y="2245075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139759" y="230966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319980" y="239854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487058" y="251017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638135" y="2642671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770627" y="2793748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5882265" y="2960826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971140" y="314104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6035731" y="3331327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074933" y="3528409"/>
            <a:ext cx="40233" cy="40233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767328" y="2944367"/>
            <a:ext cx="1609344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F0"/>
                </a:solidFill>
                <a:latin typeface="Segoe UI"/>
              </a:rPr>
              <a:t>AEPLO
V3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647370" y="2473633"/>
            <a:ext cx="1184330" cy="2743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633654" y="2487349"/>
            <a:ext cx="27432" cy="52139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1440" y="137159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91440" y="1371599"/>
            <a:ext cx="2743200" cy="4114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28600" y="1536191"/>
            <a:ext cx="274320" cy="27432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1792" y="144475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0"/>
                </a:solidFill>
                <a:latin typeface="Segoe UI"/>
              </a:rPr>
              <a:t>Lifecycle-aware
AI Orchestrator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8600" y="192023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Unified intelligence spanning all lifecycle phases from requirements to field ops.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12298" y="2473633"/>
            <a:ext cx="1184330" cy="2743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482913" y="2487349"/>
            <a:ext cx="27432" cy="52139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309360" y="137159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309360" y="1371599"/>
            <a:ext cx="2743200" cy="4114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6446520" y="1536191"/>
            <a:ext cx="274320" cy="274320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839712" y="144475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8A"/>
                </a:solidFill>
                <a:latin typeface="Segoe UI"/>
              </a:rPr>
              <a:t>Multi-agent
Engineering Intelligence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446520" y="192023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Specialized AI agents collaborate on design, test, defect analysis and certification.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647370" y="4997012"/>
            <a:ext cx="1184330" cy="274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633654" y="4489337"/>
            <a:ext cx="27432" cy="52139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91440" y="493775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1440" y="4937759"/>
            <a:ext cx="2743200" cy="411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228600" y="5102351"/>
            <a:ext cx="274320" cy="27432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21792" y="501091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  <a:latin typeface="Segoe UI"/>
              </a:rPr>
              <a:t>Continuous QA
Feedback Loop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28600" y="548639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QA results feed back into the next release cycle, preventing recurrence of defects.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312298" y="4997012"/>
            <a:ext cx="1184330" cy="2743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482913" y="4489337"/>
            <a:ext cx="27432" cy="52139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6309360" y="4937759"/>
            <a:ext cx="2743200" cy="11887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6309360" y="4937759"/>
            <a:ext cx="2743200" cy="411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446520" y="5102351"/>
            <a:ext cx="274320" cy="2743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839712" y="5010911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Segoe UI"/>
              </a:rPr>
              <a:t>Governance
Built-in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446520" y="5486399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ISO 26262, IEC 61508, DO-178C compliance woven into every stage automatically.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3  / 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EOPS Copilot — System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Connects requirements, code, QA results &amp; governance rules — orchestrating specialized agents for continuous validation and decision-making.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Requirements  ·  Source Code  ·  QA Results  ·  Governance Rules  ·  Telemetry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EOPS COPILOT —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Change Agent  ·  Release Agent  ·  QA Agent  ·  Cert Agent  ·  EOL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CI/CD Hooks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OUTPUTS &amp; DELIVERY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Dashboards  ·  Verdicts  ·  Audit Trails  ·  Cert Packages  ·  APIs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4  / 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CHANGE IMPACT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Change Impact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Analyzes engineering changes in real time — identifying timing issues, config mismatches and system-level risks before integration.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A89A"/>
                </a:solidFill>
                <a:latin typeface="Segoe UI"/>
              </a:rPr>
              <a:t>DETECT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RTOS &amp; Config Changes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Monitors every commit and configuration change in real time.
Identifies RTOS scheduling changes, BSP config deltas, and peripheral register modifications automatically.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2C6"/>
                </a:solidFill>
                <a:latin typeface="Segoe UI"/>
              </a:rPr>
              <a:t>ANALYZE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Scheduling &amp; Timing Impacts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64992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Runs AI-powered impact analysis on detected changes.
Models task preemption effects, IRQ latency shifts, stack overflow risk, and inter-process communication impacts.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8C00"/>
                </a:solidFill>
                <a:latin typeface="Segoe UI"/>
              </a:rPr>
              <a:t>FLAG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System-Level Risks Early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0" y="3127248"/>
            <a:ext cx="230428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Generates prioritized risk reports before integration.
Each flag includes severity, affected components, and recommended mitigation — directly in the developer's IDE.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5  / 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RELEASE GATEKEEPER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Firmware Release Gatekeeper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Evaluates firmware release readiness using predefined criteria. Generates an unambiguous verdict with actionable remediation steps.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8A"/>
                </a:solidFill>
                <a:latin typeface="Segoe UI"/>
              </a:rPr>
              <a:t>Validates Readiness
Before Release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All quality gates evaluated: coverage, static analysis, regression status, traceability, and compliance checks.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2C6"/>
                </a:solidFill>
                <a:latin typeface="Segoe UI"/>
              </a:rPr>
              <a:t>Structured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Binary, unambiguous gate decision with confidence score and evidence summary — no interpretation needed.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  <a:latin typeface="Segoe UI"/>
              </a:rPr>
              <a:t>Clear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Every NOT_READY verdict includes a prioritized action list: which test to fix, which artefact to update, and who owns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2C6"/>
                </a:solidFill>
                <a:latin typeface="Segoe UI"/>
              </a:rPr>
              <a:t>RELEASE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022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8A"/>
                </a:solidFill>
                <a:latin typeface="Segoe UI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24612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All gates passed.
Cleared for release.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3A3A"/>
                </a:solidFill>
                <a:latin typeface="Segoe UI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9592" y="493776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3 blockers found.
See remediation list.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6  / 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QA2RELEASE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QA2Release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Creates a closed-loop lifecycle: QA results drive root-cause analysis and feed improvements directly into the next release — defects are not repeated.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5CF6"/>
                </a:solidFill>
                <a:latin typeface="Segoe UI"/>
              </a:rPr>
              <a:t>Analyze QA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All QA test failures from the current release are ingested — unit, integration, HIL, and system tests. Failure signatures are clustered by similarity and mapped to change history.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2C6"/>
                </a:solidFill>
                <a:latin typeface="Segoe UI"/>
              </a:rPr>
              <a:t>Extract Root Causes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AI correlates failures with recent commits, config changes, and RTOS timing deltas. Each root cause is ranked by confidence and linked to the originating engineering change.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8A"/>
                </a:solidFill>
                <a:latin typeface="Segoe UI"/>
              </a:rPr>
              <a:t>Generate Next-Release Improvements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Automated improvement tickets are raised with code suggestions, test additions, and coverage targets. The next release plan is pre-enriched with lessons from the current cycle.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6400800"/>
            <a:ext cx="850392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400800"/>
            <a:ext cx="45720" cy="3108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40080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B5CF6"/>
                </a:solidFill>
                <a:latin typeface="Segoe UI"/>
              </a:rPr>
              <a:t>CLOSED-LOOP LIFECYCLE: QA → Root Cause → Next Release Plan → Better QA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7  / 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Demo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Live demonstration of how AEPLO V3 executes the intelligence pipeline from change detection through release decision to QA-driven learning.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269748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" y="2103120"/>
            <a:ext cx="1188720" cy="256032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1</a:t>
            </a:r>
          </a:p>
        </p:txBody>
      </p:sp>
      <p:sp>
        <p:nvSpPr>
          <p:cNvPr id="13" name="Oval 12"/>
          <p:cNvSpPr/>
          <p:nvPr/>
        </p:nvSpPr>
        <p:spPr>
          <a:xfrm>
            <a:off x="1284732" y="2487168"/>
            <a:ext cx="768096" cy="76809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4732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A89A"/>
                </a:solidFill>
                <a:latin typeface="Segoe UI"/>
              </a:rPr>
              <a:t>Change → Impact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913632"/>
            <a:ext cx="2368296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Developer commits firmware change
• EOPS Copilot detects RTOS config delta
• Impact analysis completes in &lt; 30 seconds
• Risk report surfaces in 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54096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88843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23590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58337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93084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0" y="1993392"/>
            <a:ext cx="269748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64992" y="2103120"/>
            <a:ext cx="1188720" cy="25603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64992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2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2487168"/>
            <a:ext cx="768096" cy="7680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65092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72C6"/>
                </a:solidFill>
                <a:latin typeface="Segoe UI"/>
              </a:rPr>
              <a:t>Impact → Release Decision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4992" y="3913632"/>
            <a:ext cx="2368296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0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Change risk score feeds Release Gate
• Gatekeeper evaluates all quality criteria
• READY / NOT_READY verdict issued
• Remediation actions auto-assigned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34456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9203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03950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38697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73444" y="4114800"/>
            <a:ext cx="22860" cy="228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080759" y="1993392"/>
            <a:ext cx="2697480" cy="427939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80759" y="1993392"/>
            <a:ext cx="2697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45351" y="2103120"/>
            <a:ext cx="1188720" cy="25603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5351" y="21031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STAGE 3</a:t>
            </a:r>
          </a:p>
        </p:txBody>
      </p:sp>
      <p:sp>
        <p:nvSpPr>
          <p:cNvPr id="41" name="Oval 40"/>
          <p:cNvSpPr/>
          <p:nvPr/>
        </p:nvSpPr>
        <p:spPr>
          <a:xfrm>
            <a:off x="7045451" y="2487168"/>
            <a:ext cx="768096" cy="76809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5451" y="2487168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19" y="34015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  <a:latin typeface="Segoe UI"/>
              </a:rPr>
              <a:t>QA → Learning → Next Release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1" y="3913632"/>
            <a:ext cx="2368296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39" y="4005072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• QA failures from current release ingested
• Root causes extracted and ranked
• Improvement tickets auto-generated
• Next release plan pre-enriched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8  / 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Measured outcomes from AEPLO V3 deployments across automotive, aerospace, and industrial embedded programmes.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420624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2920" y="2176272"/>
            <a:ext cx="548640" cy="548640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84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Reduced
Defect Leakage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6654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00D48A"/>
                </a:solidFill>
                <a:latin typeface="Segoe UI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fewer post-release defects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651760"/>
            <a:ext cx="3877056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9806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ML defect prediction + auto-test generation eliminates the most common escape vectors before firmware ships.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79" y="199339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79" y="1993392"/>
            <a:ext cx="420624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37759" y="2176272"/>
            <a:ext cx="548640" cy="548640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59" y="21762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084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Predictable
Releases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206654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0072C6"/>
                </a:solidFill>
                <a:latin typeface="Segoe UI"/>
              </a:rPr>
              <a:t>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26517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on-time delivery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471" y="2651760"/>
            <a:ext cx="3877056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279806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AI-driven gating removes subjective go/no-go decisions. Release dates become commitments, not estimates.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32511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420624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920" y="4507992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5079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416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Audit-Ready
Traceability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39826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FF8C00"/>
                </a:solidFill>
                <a:latin typeface="Segoe UI"/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9834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bi-directional trace coverage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" y="4983480"/>
            <a:ext cx="3877056" cy="1463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2978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Live traceability from market requirement through silicon to field telemetry — always current, always complete.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79" y="4325112"/>
            <a:ext cx="4206240" cy="2103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54879" y="4325112"/>
            <a:ext cx="420624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937759" y="4507992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59" y="450799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59" y="4416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Faster
Development Cycles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39" y="4398264"/>
            <a:ext cx="1143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8B5CF6"/>
                </a:solidFill>
                <a:latin typeface="Segoe UI"/>
              </a:rPr>
              <a:t>40%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39" y="49834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D0EC"/>
                </a:solidFill>
                <a:latin typeface="Segoe UI"/>
              </a:rPr>
              <a:t>reduction in time-to-market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9471" y="4983480"/>
            <a:ext cx="3877056" cy="1463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59" y="5129784"/>
            <a:ext cx="38404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Automation of routine engineering tasks reclaims 30%+ of engineering bandwidth for creative, high-value work.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9  / 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228600"/>
            <a:ext cx="6400800" cy="640080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297680" y="868680"/>
            <a:ext cx="5120640" cy="5120640"/>
          </a:xfrm>
          <a:prstGeom prst="ellipse">
            <a:avLst/>
          </a:prstGeom>
          <a:solidFill>
            <a:srgbClr val="07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0" y="1600200"/>
            <a:ext cx="3657600" cy="3657600"/>
          </a:xfrm>
          <a:prstGeom prst="ellipse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760720" y="2331720"/>
            <a:ext cx="2194560" cy="219456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8284" y="34088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22873" y="37225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76789" y="403325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0475" y="433791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94668" y="46336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60384" y="491754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98919" y="51869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11826" y="543919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00908" y="567190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8196" y="588282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15930" y="60699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46542" y="62313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62624" y="63656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66911" y="64714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62251" y="65477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51578" y="659387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37884" y="66092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24189" y="659387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13516" y="65477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08856" y="647147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13143" y="636566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329225" y="62313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59837" y="606991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07571" y="588282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4859" y="567190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363941" y="543919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176848" y="5186930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015383" y="491754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81099" y="463362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775292" y="433791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98978" y="403325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52894" y="37225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37484" y="34088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52894" y="30951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698978" y="278451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75292" y="24798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1099" y="21841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15383" y="190022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176848" y="163083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363941" y="13785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574859" y="114585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807571" y="9349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59837" y="74784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329225" y="58638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613143" y="45209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908856" y="34629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213516" y="2699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524189" y="22389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37883" y="20848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51578" y="223894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462251" y="26997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66911" y="346292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062624" y="45209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346542" y="58638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15930" y="747848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868196" y="93494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100908" y="114585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311826" y="1378571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498919" y="1630837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660384" y="1900225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794668" y="2184143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00475" y="247985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76789" y="2784516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022873" y="3095189"/>
            <a:ext cx="36576" cy="365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83285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054584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83285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11123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611123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3285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054584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27631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054584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83285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611123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9393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9393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9393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611123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832854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054584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27631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27631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498044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27631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054584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832854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611123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9393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167663" y="378790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167663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167663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67663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89393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611123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832854" y="263575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054584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276314" y="2891789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98044" y="301980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98044" y="327583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98044" y="353187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719774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98044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276314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054584" y="429996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832854" y="442798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611123" y="429996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389393" y="417195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167663" y="404393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945933" y="391591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945933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945933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945933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945933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167663" y="276377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389393" y="2635758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611123" y="250774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832854" y="237972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054584" y="250774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276314" y="2635757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7498044" y="2763773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7719774" y="2891790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719774" y="3147822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719774" y="3403854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719774" y="3659886"/>
            <a:ext cx="50292" cy="50292"/>
          </a:xfrm>
          <a:prstGeom prst="ellipse">
            <a:avLst/>
          </a:prstGeom>
          <a:solidFill>
            <a:srgbClr val="00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7472" y="6583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F0"/>
                </a:solidFill>
                <a:latin typeface="Segoe UI"/>
              </a:rPr>
              <a:t>CONCLUSION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7472" y="987552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Transform Your Embedded
Development Lifecycle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47472" y="2029968"/>
            <a:ext cx="4956047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47472" y="2322576"/>
            <a:ext cx="256032" cy="25603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21792" y="2432304"/>
            <a:ext cx="502920" cy="36576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261872" y="224942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89A"/>
                </a:solidFill>
                <a:latin typeface="Segoe UI"/>
              </a:rPr>
              <a:t>From fragmented workflows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61872" y="261518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Siloed tools, manual artefacts, and late defect discovery are replaced by a unified intelligent pipeline.</a:t>
            </a:r>
          </a:p>
        </p:txBody>
      </p:sp>
      <p:sp>
        <p:nvSpPr>
          <p:cNvPr id="140" name="Oval 139"/>
          <p:cNvSpPr/>
          <p:nvPr/>
        </p:nvSpPr>
        <p:spPr>
          <a:xfrm>
            <a:off x="347472" y="3739896"/>
            <a:ext cx="256032" cy="25603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21792" y="3849624"/>
            <a:ext cx="502920" cy="3657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61872" y="36667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72C6"/>
                </a:solidFill>
                <a:latin typeface="Segoe UI"/>
              </a:rPr>
              <a:t>To AI-driven continuous lifecycle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1872" y="403250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Every stage — from requirements to end-of-life — is monitored, analysed, and optimised by specialized AI agents.</a:t>
            </a:r>
          </a:p>
        </p:txBody>
      </p:sp>
      <p:sp>
        <p:nvSpPr>
          <p:cNvPr id="144" name="Oval 143"/>
          <p:cNvSpPr/>
          <p:nvPr/>
        </p:nvSpPr>
        <p:spPr>
          <a:xfrm>
            <a:off x="347472" y="5157216"/>
            <a:ext cx="256032" cy="25603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1792" y="5266944"/>
            <a:ext cx="50292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261872" y="508406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8A"/>
                </a:solidFill>
                <a:latin typeface="Segoe UI"/>
              </a:rPr>
              <a:t>Prevent issues before the next release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61872" y="5449824"/>
            <a:ext cx="4069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D0EC"/>
                </a:solidFill>
                <a:latin typeface="Segoe UI"/>
              </a:rPr>
              <a:t>We don't just detect issues — the closed-loop QA learning engine ensures each release is better than the last.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440680" y="2587752"/>
            <a:ext cx="2834640" cy="169164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532120" y="265176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READY TO TRANSFORM?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532120" y="304495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C8F0"/>
                </a:solidFill>
                <a:latin typeface="Segoe UI"/>
              </a:rPr>
              <a:t>aeplo.ai/demo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532120" y="3429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Segoe UI"/>
              </a:rPr>
              <a:t>hello@aeplo.ai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532120" y="399592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080A8"/>
                </a:solidFill>
                <a:latin typeface="Segoe UI"/>
              </a:rPr>
              <a:t>© 2026 AEPLO Technologies Inc.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10  /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