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3657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600200"/>
            <a:ext cx="12191695" cy="18288"/>
          </a:xfrm>
          <a:prstGeom prst="rect">
            <a:avLst/>
          </a:prstGeom>
          <a:solidFill>
            <a:srgbClr val="11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3716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55279" y="42976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72237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79" y="1014983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79" y="130759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60020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892807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18541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247802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277063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306324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335584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364845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394106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55279" y="4233672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4526280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55279" y="4818888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5111496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5404104"/>
            <a:ext cx="3977639" cy="5486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275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31936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61120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90304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1948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4867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77856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07040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936224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265408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594592" y="137160"/>
            <a:ext cx="5486" cy="62636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716768" y="128016"/>
            <a:ext cx="457200" cy="4572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44784" y="25603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" y="155448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CONNECTED EMBEDDED DATA. INTELLIGENT PDLC ACTION.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" y="50292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00C8F0"/>
                </a:solidFill>
                <a:latin typeface="Segoe UI"/>
              </a:rPr>
              <a:t>REAL NPI IMPACT.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896112"/>
            <a:ext cx="7223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B8D0EC"/>
                </a:solidFill>
                <a:latin typeface="Segoe UI"/>
              </a:rPr>
              <a:t>AEPLO unifies Jira, Confluence, GitHub, Copilot, ROVO Studio and JTAG/SWD evidence to optimise embedded PDLC decisions across PG1, PG3 and PG5.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109728"/>
            <a:ext cx="3794760" cy="8961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68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ONE AEPLO PLATFORM.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02920"/>
            <a:ext cx="3063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EMBEDDED. PDLC. AI OPTIMISATION.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758952"/>
            <a:ext cx="3017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30" b="0" i="0">
                <a:solidFill>
                  <a:srgbClr val="B8D0EC"/>
                </a:solidFill>
                <a:latin typeface="Segoe UI"/>
              </a:rPr>
              <a:t>JTAG Accelerator is a native AEPLO capability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6032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6032" y="1225296"/>
            <a:ext cx="36576" cy="3108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39696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139696" y="1225296"/>
            <a:ext cx="36576" cy="31089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9424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23360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3360" y="1225296"/>
            <a:ext cx="36576" cy="31089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33088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07024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07024" y="1225296"/>
            <a:ext cx="3657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16752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90688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790688" y="1225296"/>
            <a:ext cx="36576" cy="31089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00416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74352" y="1225296"/>
            <a:ext cx="1664208" cy="310896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674352" y="1225296"/>
            <a:ext cx="36576" cy="31089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0" y="1298448"/>
            <a:ext cx="14173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4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9456" y="1755648"/>
            <a:ext cx="166420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9456" y="1755648"/>
            <a:ext cx="1664208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1865376"/>
            <a:ext cx="151790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1. EMBEDDED DATA SOURCES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" y="2139696"/>
            <a:ext cx="14447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D48A"/>
                </a:solidFill>
                <a:latin typeface="Segoe UI"/>
              </a:rPr>
              <a:t>Discovery + engineering context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" y="2505456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20624" y="2642616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2578608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Jira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2734056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NPI epics, defects, decisions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9184" y="3108960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20624" y="3246120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3182112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Confluence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3337560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PRD, architecture, lessons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3712464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20624" y="3849624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0080" y="3785616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GitHub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3941064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Code, PRs, branches, reviews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9184" y="4315968"/>
            <a:ext cx="144475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20624" y="4453128"/>
            <a:ext cx="164592" cy="16459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0080" y="4389120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JTAG/SWD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544568"/>
            <a:ext cx="109728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MCU registers, memory, traces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911096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075688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075688" y="1755648"/>
            <a:ext cx="1847088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148840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2. UNIFIED PDLC FOUNDATION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85416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72C6"/>
                </a:solidFill>
                <a:latin typeface="Segoe UI"/>
              </a:rPr>
              <a:t>Single source of truth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85416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2276856" y="2642616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96312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96312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Requirements -&gt; code -&gt; test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185416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276856" y="3246120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96312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Knowledge Graph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96312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Board, firmware, defect links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85416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76856" y="3849624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496312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Evidence Lake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6312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Logs, dumps, probe sessions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85416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276856" y="4453128"/>
            <a:ext cx="164592" cy="16459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96312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NPI Context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6312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PG1 / PG3 / PG5 gates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3950208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114800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114800" y="1755648"/>
            <a:ext cx="1847088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187952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3. AEPLO ORCHESTRATION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24528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FF8C00"/>
                </a:solidFill>
                <a:latin typeface="Segoe UI"/>
              </a:rPr>
              <a:t>Work that flows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24528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315968" y="2642616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35424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Atlassian MCP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35424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Jira + Confluence actions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24528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315968" y="3246120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5424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JTAG Accelerator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5424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Hardware-backed RCA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24528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315968" y="3849624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535424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Release Gate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35424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READY / NOT_READY verdict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224528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315968" y="4453128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535424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GitHub Automation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35424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Branch, PR, review evidence</a:t>
            </a:r>
          </a:p>
        </p:txBody>
      </p:sp>
      <p:sp>
        <p:nvSpPr>
          <p:cNvPr id="127" name="Right Arrow 126"/>
          <p:cNvSpPr/>
          <p:nvPr/>
        </p:nvSpPr>
        <p:spPr>
          <a:xfrm>
            <a:off x="5989320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6153912" y="1755648"/>
            <a:ext cx="184708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153912" y="1755648"/>
            <a:ext cx="1847088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27064" y="1865376"/>
            <a:ext cx="17007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4. AI-POWERED EXPERIENCES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2139696"/>
            <a:ext cx="16276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8B5CF6"/>
                </a:solidFill>
                <a:latin typeface="Segoe UI"/>
              </a:rPr>
              <a:t>Actionable intelligence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63640" y="2505456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355080" y="2642616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74536" y="257860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ROVO Studio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74536" y="273405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NPI demo cockpit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108960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355080" y="324612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574536" y="3182112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Copilot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74536" y="333756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Code fix and explanation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63640" y="3712464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355080" y="38496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574536" y="3785616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AI Agents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74536" y="3941064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Fault, variable, peripheral RCA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63640" y="4315968"/>
            <a:ext cx="162763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355080" y="4453128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574536" y="4389120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AI Optimisation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74536" y="4544568"/>
            <a:ext cx="128016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Risk, tests, fixes, readiness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8028432" y="3355848"/>
            <a:ext cx="274320" cy="182880"/>
          </a:xfrm>
          <a:prstGeom prst="rightArrow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193024" y="1755648"/>
            <a:ext cx="1755648" cy="33375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193024" y="1755648"/>
            <a:ext cx="1755648" cy="54864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266176" y="1865376"/>
            <a:ext cx="160934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Segoe UI"/>
              </a:rPr>
              <a:t>5. NPI GATE OUTCOMES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02752" y="2139696"/>
            <a:ext cx="15361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30" b="0" i="0">
                <a:solidFill>
                  <a:srgbClr val="00A89A"/>
                </a:solidFill>
                <a:latin typeface="Segoe UI"/>
              </a:rPr>
              <a:t>Demo aligned to phases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302752" y="2505456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394192" y="2642616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613648" y="2578608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PG1 Discovery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613648" y="2734056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Risk-backed scope and plan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302752" y="3108960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394192" y="3246120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613648" y="3182112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PG3 Development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13648" y="3337560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RCA, patch, PR, evidence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302752" y="3712464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394192" y="3849624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613648" y="3785616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PG5 Validation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613648" y="3941064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Launch readiness action list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302752" y="4315968"/>
            <a:ext cx="1536192" cy="4389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394192" y="4453128"/>
            <a:ext cx="164592" cy="16459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613648" y="4389120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" b="1" i="0">
                <a:solidFill>
                  <a:srgbClr val="FFFFFF"/>
                </a:solidFill>
                <a:latin typeface="Segoe UI"/>
              </a:rPr>
              <a:t>PDLC Impact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13648" y="4544568"/>
            <a:ext cx="11887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" b="0" i="0">
                <a:solidFill>
                  <a:srgbClr val="B8D0EC"/>
                </a:solidFill>
                <a:latin typeface="Segoe UI"/>
              </a:rPr>
              <a:t>Faster debug, better decisions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49840" y="1572768"/>
            <a:ext cx="1847088" cy="3584448"/>
          </a:xfrm>
          <a:prstGeom prst="roundRect">
            <a:avLst/>
          </a:prstGeom>
          <a:solidFill>
            <a:srgbClr val="1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0149840" y="1572768"/>
            <a:ext cx="1847088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0259568" y="1719072"/>
            <a:ext cx="1572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20" b="1" i="0">
                <a:solidFill>
                  <a:srgbClr val="FFFFFF"/>
                </a:solidFill>
                <a:latin typeface="Segoe UI"/>
              </a:rPr>
              <a:t>BUSINESS VALUE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77856" y="1956816"/>
            <a:ext cx="153619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70" b="1" i="0">
                <a:solidFill>
                  <a:srgbClr val="B8D0EC"/>
                </a:solidFill>
                <a:latin typeface="Segoe UI"/>
              </a:rPr>
              <a:t>THAT EMBEDDED TEAMS CARE ABOUT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287000" y="2331720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0405872" y="2450592"/>
            <a:ext cx="219456" cy="21945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716768" y="2404872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0D48A"/>
                </a:solidFill>
                <a:latin typeface="Segoe UI"/>
              </a:rPr>
              <a:t>ACCELERATE NPI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16768" y="2551176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PG1 risk to PG5 launch evidence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287000" y="2953512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405872" y="3072384"/>
            <a:ext cx="219456" cy="21945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716768" y="3026664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FF8C00"/>
                </a:solidFill>
                <a:latin typeface="Segoe UI"/>
              </a:rPr>
              <a:t>REDUCE DEBUG CYCLE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716768" y="3172968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JTAG-backed RCA and patches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0287000" y="3575304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0405872" y="3694176"/>
            <a:ext cx="219456" cy="21945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716768" y="3648456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B5CF6"/>
                </a:solidFill>
                <a:latin typeface="Segoe UI"/>
              </a:rPr>
              <a:t>IMPROVE QUALITY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716768" y="3794760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AI-focused tests and gates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287000" y="4197096"/>
            <a:ext cx="1572768" cy="4572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405872" y="4315968"/>
            <a:ext cx="219456" cy="21945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716768" y="4270248"/>
            <a:ext cx="98755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00C8F0"/>
                </a:solidFill>
                <a:latin typeface="Segoe UI"/>
              </a:rPr>
              <a:t>STRENGTHEN GOVERNANCE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716768" y="4416552"/>
            <a:ext cx="987552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30" b="0" i="0">
                <a:solidFill>
                  <a:srgbClr val="B8D0EC"/>
                </a:solidFill>
                <a:latin typeface="Segoe UI"/>
              </a:rPr>
              <a:t>Traceability and proof in Jira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56032" y="5358384"/>
            <a:ext cx="6629400" cy="713232"/>
          </a:xfrm>
          <a:prstGeom prst="round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75488" y="544982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FROM NPI DATA TO EMBEDDED IMPACT</a:t>
            </a:r>
          </a:p>
        </p:txBody>
      </p:sp>
      <p:sp>
        <p:nvSpPr>
          <p:cNvPr id="191" name="Oval 190"/>
          <p:cNvSpPr/>
          <p:nvPr/>
        </p:nvSpPr>
        <p:spPr>
          <a:xfrm>
            <a:off x="685800" y="5687568"/>
            <a:ext cx="310896" cy="3108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580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8463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Collect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1148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Jira + Confluence</a:t>
            </a:r>
          </a:p>
        </p:txBody>
      </p:sp>
      <p:sp>
        <p:nvSpPr>
          <p:cNvPr id="195" name="Right Arrow 194"/>
          <p:cNvSpPr/>
          <p:nvPr/>
        </p:nvSpPr>
        <p:spPr>
          <a:xfrm>
            <a:off x="108813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691640" y="5687568"/>
            <a:ext cx="310896" cy="31089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69164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49047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Unify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1732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AEPLO PDLC graph</a:t>
            </a:r>
          </a:p>
        </p:txBody>
      </p:sp>
      <p:sp>
        <p:nvSpPr>
          <p:cNvPr id="200" name="Right Arrow 199"/>
          <p:cNvSpPr/>
          <p:nvPr/>
        </p:nvSpPr>
        <p:spPr>
          <a:xfrm>
            <a:off x="209397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697480" y="5687568"/>
            <a:ext cx="310896" cy="31089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69748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9631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Orchestrate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2316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Atlassian MCP</a:t>
            </a:r>
          </a:p>
        </p:txBody>
      </p:sp>
      <p:sp>
        <p:nvSpPr>
          <p:cNvPr id="205" name="Right Arrow 204"/>
          <p:cNvSpPr/>
          <p:nvPr/>
        </p:nvSpPr>
        <p:spPr>
          <a:xfrm>
            <a:off x="309981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3703320" y="5687568"/>
            <a:ext cx="310896" cy="31089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370332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50215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Diagnose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42900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JTAG Accelerator</a:t>
            </a:r>
          </a:p>
        </p:txBody>
      </p:sp>
      <p:sp>
        <p:nvSpPr>
          <p:cNvPr id="210" name="Right Arrow 209"/>
          <p:cNvSpPr/>
          <p:nvPr/>
        </p:nvSpPr>
        <p:spPr>
          <a:xfrm>
            <a:off x="410565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09160" y="5687568"/>
            <a:ext cx="310896" cy="31089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70916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0799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Optimise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43484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ROVO + Copilot</a:t>
            </a:r>
          </a:p>
        </p:txBody>
      </p:sp>
      <p:sp>
        <p:nvSpPr>
          <p:cNvPr id="215" name="Right Arrow 214"/>
          <p:cNvSpPr/>
          <p:nvPr/>
        </p:nvSpPr>
        <p:spPr>
          <a:xfrm>
            <a:off x="5111496" y="5742432"/>
            <a:ext cx="320040" cy="182880"/>
          </a:xfrm>
          <a:prstGeom prst="rightArrow">
            <a:avLst/>
          </a:prstGeom>
          <a:solidFill>
            <a:srgbClr val="B8D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715000" y="5687568"/>
            <a:ext cx="310896" cy="31089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5715000" y="5751576"/>
            <a:ext cx="310896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513832" y="6044184"/>
            <a:ext cx="713232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30" b="1" i="0">
                <a:solidFill>
                  <a:srgbClr val="FFFFFF"/>
                </a:solidFill>
                <a:latin typeface="Segoe UI"/>
              </a:rPr>
              <a:t>Impact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440680" y="6163056"/>
            <a:ext cx="868680" cy="10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90" b="0" i="0">
                <a:solidFill>
                  <a:srgbClr val="B8D0EC"/>
                </a:solidFill>
                <a:latin typeface="Segoe UI"/>
              </a:rPr>
              <a:t>PG5 launch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114032" y="5358384"/>
            <a:ext cx="4736592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296912" y="5468112"/>
            <a:ext cx="1005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00C8F0"/>
                </a:solidFill>
                <a:latin typeface="Segoe UI"/>
              </a:rPr>
              <a:t>DEMO PHASES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7315200" y="5715000"/>
            <a:ext cx="1298448" cy="256032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315200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PG1  Discovery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796528" y="5715000"/>
            <a:ext cx="1298448" cy="25603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8796528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PG3  Development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10277856" y="5715000"/>
            <a:ext cx="1298448" cy="256032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277856" y="5769864"/>
            <a:ext cx="1298448" cy="7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Segoe UI"/>
              </a:rPr>
              <a:t>PG5  Validation &amp; Launch Prep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0" y="6419088"/>
            <a:ext cx="12191695" cy="365760"/>
          </a:xfrm>
          <a:prstGeom prst="rect">
            <a:avLst/>
          </a:prstGeom>
          <a:solidFill>
            <a:srgbClr val="D7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256032" y="6510528"/>
            <a:ext cx="301752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1" i="0">
                <a:solidFill>
                  <a:srgbClr val="05142E"/>
                </a:solidFill>
                <a:latin typeface="Segoe UI"/>
              </a:rPr>
              <a:t>Better Together. Built for Embedded PDLC Impact.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657600" y="6510528"/>
            <a:ext cx="813816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10" b="0" i="0">
                <a:solidFill>
                  <a:srgbClr val="05142E"/>
                </a:solidFill>
                <a:latin typeface="Segoe UI"/>
              </a:rPr>
              <a:t>ROVO Studio | Copilot | Atlassian MCP | GitHub | Jira | Confluence | AEPLO JTAG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