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62356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365760"/>
            <a:ext cx="201168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800" b="1" i="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234440"/>
            <a:ext cx="5394960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Arial"/>
              </a:rPr>
              <a:t>AI-DRIVEN EMBEDDED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847088"/>
            <a:ext cx="5394960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Arial"/>
              </a:rPr>
              <a:t>PRODUCT LIFECYCLE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459736"/>
            <a:ext cx="5394960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3100" b="1" i="0">
                <a:solidFill>
                  <a:srgbClr val="D71920"/>
                </a:solidFill>
                <a:latin typeface="Arial"/>
              </a:rPr>
              <a:t>ORCHESTRATOR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246120"/>
            <a:ext cx="1143000" cy="310896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3282696"/>
            <a:ext cx="1143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VERSION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886200"/>
            <a:ext cx="4983480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  <a:latin typeface="Arial"/>
              </a:rPr>
              <a:t>3-minute executive story: PRD -&gt; firmware -&gt; JTAG evidence -&gt; QA READY -&gt; STQC submission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74920"/>
            <a:ext cx="36576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DDDDDD"/>
                </a:solidFill>
                <a:latin typeface="Arial"/>
              </a:rPr>
              <a:t>Atharva | Manas | Sheraaz | Shyam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28816"/>
            <a:ext cx="9144000" cy="329184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6611112"/>
            <a:ext cx="50292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AI-Driven Embedded Product Lifecycle Orchestrator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6601968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Arial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"/>
            <a:ext cx="914400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8872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"/>
            <a:ext cx="24231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1" i="0">
                <a:solidFill>
                  <a:srgbClr val="686868"/>
                </a:solidFill>
                <a:latin typeface="Arial"/>
              </a:rPr>
              <a:t>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749808"/>
            <a:ext cx="8183879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 i="0">
                <a:solidFill>
                  <a:srgbClr val="242424"/>
                </a:solidFill>
                <a:latin typeface="Arial"/>
              </a:rPr>
              <a:t>Embedded PDLC Data Is Fragmented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1234440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81328"/>
            <a:ext cx="84124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30" b="0" i="1">
                <a:solidFill>
                  <a:srgbClr val="242424"/>
                </a:solidFill>
                <a:latin typeface="Arial"/>
              </a:rPr>
              <a:t>NPI gates rely on disconnected requirements, Jira tickets, Confluence knowledge, GitHub code, JTAG/SWD evidence and QA results - slowing decisions from PG1 to PG5.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2176272"/>
            <a:ext cx="26974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176272"/>
            <a:ext cx="2697480" cy="64008"/>
          </a:xfrm>
          <a:prstGeom prst="rect">
            <a:avLst/>
          </a:prstGeom>
          <a:solidFill>
            <a:srgbClr val="E8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8" y="2377440"/>
            <a:ext cx="566928" cy="402336"/>
          </a:xfrm>
          <a:prstGeom prst="roundRect">
            <a:avLst/>
          </a:prstGeom>
          <a:solidFill>
            <a:srgbClr val="E8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2423160"/>
            <a:ext cx="56692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80" b="1" i="0">
                <a:solidFill>
                  <a:srgbClr val="FFFFFF"/>
                </a:solidFill>
                <a:latin typeface="Arial"/>
              </a:rPr>
              <a:t>PG1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322576"/>
            <a:ext cx="173736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70" b="1" i="0">
                <a:solidFill>
                  <a:srgbClr val="242424"/>
                </a:solidFill>
                <a:latin typeface="Arial"/>
              </a:rPr>
              <a:t>Discovery
Blind Spots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2889504"/>
            <a:ext cx="2359152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9" b="0" i="0">
                <a:solidFill>
                  <a:srgbClr val="686868"/>
                </a:solidFill>
                <a:latin typeface="Arial"/>
              </a:rPr>
              <a:t>Risks and debug hotspots are not visible early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2176272"/>
            <a:ext cx="26974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0" y="2176272"/>
            <a:ext cx="2697480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55848" y="2377440"/>
            <a:ext cx="566928" cy="402336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55848" y="2423160"/>
            <a:ext cx="56692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80" b="1" i="0">
                <a:solidFill>
                  <a:srgbClr val="FFFFFF"/>
                </a:solidFill>
                <a:latin typeface="Arial"/>
              </a:rPr>
              <a:t>BUG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2322576"/>
            <a:ext cx="173736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70" b="1" i="0">
                <a:solidFill>
                  <a:srgbClr val="242424"/>
                </a:solidFill>
                <a:latin typeface="Arial"/>
              </a:rPr>
              <a:t>Late Defect
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889504"/>
            <a:ext cx="2359152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9" b="0" i="0">
                <a:solidFill>
                  <a:srgbClr val="686868"/>
                </a:solidFill>
                <a:latin typeface="Arial"/>
              </a:rPr>
              <a:t>MCU faults surface after coding and integration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80759" y="2176272"/>
            <a:ext cx="26974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80759" y="2176272"/>
            <a:ext cx="2697480" cy="64008"/>
          </a:xfrm>
          <a:prstGeom prst="rect">
            <a:avLst/>
          </a:prstGeom>
          <a:solidFill>
            <a:srgbClr val="6542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36207" y="2377440"/>
            <a:ext cx="566928" cy="402336"/>
          </a:xfrm>
          <a:prstGeom prst="roundRect">
            <a:avLst/>
          </a:prstGeom>
          <a:solidFill>
            <a:srgbClr val="6542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36207" y="2423160"/>
            <a:ext cx="56692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80" b="1" i="0">
                <a:solidFill>
                  <a:srgbClr val="FFFFFF"/>
                </a:solidFill>
                <a:latin typeface="Arial"/>
              </a:rPr>
              <a:t>TOOL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19" y="2322576"/>
            <a:ext cx="173736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70" b="1" i="0">
                <a:solidFill>
                  <a:srgbClr val="242424"/>
                </a:solidFill>
                <a:latin typeface="Arial"/>
              </a:rPr>
              <a:t>Tool Chain
Fragmentation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5351" y="2889504"/>
            <a:ext cx="2359152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9" b="0" i="0">
                <a:solidFill>
                  <a:srgbClr val="686868"/>
                </a:solidFill>
                <a:latin typeface="Arial"/>
              </a:rPr>
              <a:t>ROVO, Copilot, Jira, GitHub and JTAG need orchestration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4032504"/>
            <a:ext cx="26974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4032504"/>
            <a:ext cx="2697480" cy="64008"/>
          </a:xfrm>
          <a:prstGeom prst="rect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75488" y="4233672"/>
            <a:ext cx="566928" cy="402336"/>
          </a:xfrm>
          <a:prstGeom prst="roundRect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" y="4279392"/>
            <a:ext cx="56692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80" b="1" i="0">
                <a:solidFill>
                  <a:srgbClr val="FFFFFF"/>
                </a:solidFill>
                <a:latin typeface="Arial"/>
              </a:rPr>
              <a:t>TRACE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4178808"/>
            <a:ext cx="173736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70" b="1" i="0">
                <a:solidFill>
                  <a:srgbClr val="242424"/>
                </a:solidFill>
                <a:latin typeface="Arial"/>
              </a:rPr>
              <a:t>PDLC
Trace Gaps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" y="4745736"/>
            <a:ext cx="2359152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9" b="0" i="0">
                <a:solidFill>
                  <a:srgbClr val="686868"/>
                </a:solidFill>
                <a:latin typeface="Arial"/>
              </a:rPr>
              <a:t>Requirements, code, tests and evidence drift apart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00400" y="4032504"/>
            <a:ext cx="26974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0" y="4032504"/>
            <a:ext cx="2697480" cy="64008"/>
          </a:xfrm>
          <a:prstGeom prst="rect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355848" y="4233672"/>
            <a:ext cx="566928" cy="402336"/>
          </a:xfrm>
          <a:prstGeom prst="roundRect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55848" y="4279392"/>
            <a:ext cx="56692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80" b="1" i="0">
                <a:solidFill>
                  <a:srgbClr val="FFFFFF"/>
                </a:solidFill>
                <a:latin typeface="Arial"/>
              </a:rPr>
              <a:t>JTAG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4178808"/>
            <a:ext cx="173736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70" b="1" i="0">
                <a:solidFill>
                  <a:srgbClr val="242424"/>
                </a:solidFill>
                <a:latin typeface="Arial"/>
              </a:rPr>
              <a:t>Embedded
Hardware Gap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64992" y="4745736"/>
            <a:ext cx="2359152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9" b="0" i="0">
                <a:solidFill>
                  <a:srgbClr val="686868"/>
                </a:solidFill>
                <a:latin typeface="Arial"/>
              </a:rPr>
              <a:t>JTAG/SWD evidence stays outside lifecycle decisions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80759" y="4032504"/>
            <a:ext cx="26974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80759" y="4032504"/>
            <a:ext cx="2697480" cy="64008"/>
          </a:xfrm>
          <a:prstGeom prst="rect">
            <a:avLst/>
          </a:prstGeom>
          <a:solidFill>
            <a:srgbClr val="B88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236207" y="4233672"/>
            <a:ext cx="566928" cy="402336"/>
          </a:xfrm>
          <a:prstGeom prst="roundRect">
            <a:avLst/>
          </a:prstGeom>
          <a:solidFill>
            <a:srgbClr val="B88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36207" y="4279392"/>
            <a:ext cx="56692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80" b="1" i="0">
                <a:solidFill>
                  <a:srgbClr val="FFFFFF"/>
                </a:solidFill>
                <a:latin typeface="Arial"/>
              </a:rPr>
              <a:t>PG5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19" y="4178808"/>
            <a:ext cx="173736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70" b="1" i="0">
                <a:solidFill>
                  <a:srgbClr val="242424"/>
                </a:solidFill>
                <a:latin typeface="Arial"/>
              </a:rPr>
              <a:t>Launch Gate
Uncertainty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45351" y="4745736"/>
            <a:ext cx="2359152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9" b="0" i="0">
                <a:solidFill>
                  <a:srgbClr val="686868"/>
                </a:solidFill>
                <a:latin typeface="Arial"/>
              </a:rPr>
              <a:t>Readiness depends on manual proof and subjective reviews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28816"/>
            <a:ext cx="9144000" cy="329184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20040" y="6611112"/>
            <a:ext cx="50292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AI-Driven Embedded Product Lifecycle Orchestrator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94192" y="6601968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Arial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"/>
            <a:ext cx="914400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8872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"/>
            <a:ext cx="24231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1" i="0">
                <a:solidFill>
                  <a:srgbClr val="686868"/>
                </a:solidFill>
                <a:latin typeface="Arial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749808"/>
            <a:ext cx="8183879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 i="0">
                <a:solidFill>
                  <a:srgbClr val="242424"/>
                </a:solidFill>
                <a:latin typeface="Arial"/>
              </a:rPr>
              <a:t>AEPLO Platform 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1234440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81328"/>
            <a:ext cx="841248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80" b="0" i="1">
                <a:solidFill>
                  <a:srgbClr val="242424"/>
                </a:solidFill>
                <a:latin typeface="Arial"/>
              </a:rPr>
              <a:t>Connects Jira, Confluence, GitHub, Copilot, ROVO Studio, Atlassian MCP and JTAG/SWD evidence into one embedded PDLC optimization platform.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84248"/>
            <a:ext cx="1920240" cy="603504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148840"/>
            <a:ext cx="186537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Arial"/>
              </a:rPr>
              <a:t>CONNECTED 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06040" y="1984248"/>
            <a:ext cx="6126480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6040" y="1984248"/>
            <a:ext cx="54864" cy="6035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8920" y="2157984"/>
            <a:ext cx="576072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19" b="0" i="0">
                <a:solidFill>
                  <a:srgbClr val="242424"/>
                </a:solidFill>
                <a:latin typeface="Arial"/>
              </a:rPr>
              <a:t>Jira | Confluence | GitHub | Copilot | ROVO Studio | JTAG/SWD | QA Results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770632"/>
            <a:ext cx="1920240" cy="603504"/>
          </a:xfrm>
          <a:prstGeom prst="roundRect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935224"/>
            <a:ext cx="186537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Arial"/>
              </a:rPr>
              <a:t>DATA INTEGRATION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06040" y="2770632"/>
            <a:ext cx="6126480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06040" y="2770632"/>
            <a:ext cx="54864" cy="603504"/>
          </a:xfrm>
          <a:prstGeom prst="rect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2944368"/>
            <a:ext cx="576072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19" b="0" i="0">
                <a:solidFill>
                  <a:srgbClr val="242424"/>
                </a:solidFill>
                <a:latin typeface="Arial"/>
              </a:rPr>
              <a:t>Unified Knowledge Graph | Semantic Traceability Engine | Version History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557015"/>
            <a:ext cx="1920240" cy="603504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3721607"/>
            <a:ext cx="186537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Arial"/>
              </a:rPr>
              <a:t>AEPLO ORCHESTRATION CORE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06040" y="3557015"/>
            <a:ext cx="6126480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06040" y="3557015"/>
            <a:ext cx="54864" cy="6035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8920" y="3730751"/>
            <a:ext cx="576072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19" b="0" i="0">
                <a:solidFill>
                  <a:srgbClr val="242424"/>
                </a:solidFill>
                <a:latin typeface="Arial"/>
              </a:rPr>
              <a:t>Atlassian MCP | JTAG Accelerator | Fault Analyzer | Release Agent | QA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343400"/>
            <a:ext cx="1920240" cy="603504"/>
          </a:xfrm>
          <a:prstGeom prst="roundRect">
            <a:avLst/>
          </a:prstGeom>
          <a:solidFill>
            <a:srgbClr val="6542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52" y="4507992"/>
            <a:ext cx="186537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Arial"/>
              </a:rPr>
              <a:t>AUTOMATION &amp; GATING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06040" y="4343400"/>
            <a:ext cx="6126480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06040" y="4343400"/>
            <a:ext cx="54864" cy="603504"/>
          </a:xfrm>
          <a:prstGeom prst="rect">
            <a:avLst/>
          </a:prstGeom>
          <a:solidFill>
            <a:srgbClr val="6542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88920" y="4517136"/>
            <a:ext cx="576072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19" b="0" i="0">
                <a:solidFill>
                  <a:srgbClr val="242424"/>
                </a:solidFill>
                <a:latin typeface="Arial"/>
              </a:rPr>
              <a:t>CI/CD Hooks | Controlled Auto-Fix | Auto-PR | Release Gate | Remediation Actions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129783"/>
            <a:ext cx="1920240" cy="603504"/>
          </a:xfrm>
          <a:prstGeom prst="roundRect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5294375"/>
            <a:ext cx="186537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Arial"/>
              </a:rPr>
              <a:t>NPI GATE OUTCOMES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06040" y="5129783"/>
            <a:ext cx="6126480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606040" y="5129783"/>
            <a:ext cx="54864" cy="603504"/>
          </a:xfrm>
          <a:prstGeom prst="rect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88920" y="5303519"/>
            <a:ext cx="576072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19" b="0" i="0">
                <a:solidFill>
                  <a:srgbClr val="242424"/>
                </a:solidFill>
                <a:latin typeface="Arial"/>
              </a:rPr>
              <a:t>PG1 Risk Plan | PG3 RCA + PR | PG5 READY / NOT_READY | Audit Evidence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28816"/>
            <a:ext cx="9144000" cy="329184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6611112"/>
            <a:ext cx="50292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AI-Driven Embedded Product Lifecycle Orchestrator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6601968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Arial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"/>
            <a:ext cx="914400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8872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"/>
            <a:ext cx="24231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1" i="0">
                <a:solidFill>
                  <a:srgbClr val="686868"/>
                </a:solidFill>
                <a:latin typeface="Arial"/>
              </a:rPr>
              <a:t>PRD TO BACKLOG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749808"/>
            <a:ext cx="8183879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 i="0">
                <a:solidFill>
                  <a:srgbClr val="242424"/>
                </a:solidFill>
                <a:latin typeface="Arial"/>
              </a:rPr>
              <a:t>Confluence PRD Becomes Pickable Jira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1234440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81328"/>
            <a:ext cx="84124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80" b="0" i="1">
                <a:solidFill>
                  <a:srgbClr val="242424"/>
                </a:solidFill>
                <a:latin typeface="Arial"/>
              </a:rPr>
              <a:t>Epics and stories are created from the PRD hosted on Confluence, guided by SDE Elements and PSJIRA. The user picks the work item and AEPLO carries the acceptance context forward.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2788920"/>
            <a:ext cx="1965960" cy="248716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788920"/>
            <a:ext cx="1965960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3081528"/>
            <a:ext cx="566928" cy="566928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255264"/>
            <a:ext cx="566928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776472"/>
            <a:ext cx="169164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40" b="1" i="0">
                <a:solidFill>
                  <a:srgbClr val="D71920"/>
                </a:solidFill>
                <a:latin typeface="Arial"/>
              </a:rPr>
              <a:t>PRD Source of Truth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4233672"/>
            <a:ext cx="1627632" cy="7132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90" b="0" i="0">
                <a:solidFill>
                  <a:srgbClr val="242424"/>
                </a:solidFill>
                <a:latin typeface="Arial"/>
              </a:rPr>
              <a:t>Confluence PRD, architecture notes, release intent and regulatory scope are ingested.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4087368"/>
            <a:ext cx="201168" cy="3657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496312" y="2788920"/>
            <a:ext cx="1965960" cy="248716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96312" y="2788920"/>
            <a:ext cx="1965960" cy="64008"/>
          </a:xfrm>
          <a:prstGeom prst="rect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182112" y="3081528"/>
            <a:ext cx="566928" cy="566928"/>
          </a:xfrm>
          <a:prstGeom prst="ellipse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82112" y="3255264"/>
            <a:ext cx="566928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33472" y="3776472"/>
            <a:ext cx="169164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40" b="1" i="0">
                <a:solidFill>
                  <a:srgbClr val="0066A4"/>
                </a:solidFill>
                <a:latin typeface="Arial"/>
              </a:rPr>
              <a:t>SDE Elements + PSJIRA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60904" y="4233672"/>
            <a:ext cx="1627632" cy="7132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90" b="0" i="0">
                <a:solidFill>
                  <a:srgbClr val="242424"/>
                </a:solidFill>
                <a:latin typeface="Arial"/>
              </a:rPr>
              <a:t>AI maps requirements into epics, stories, acceptance criteria and trace links.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62272" y="4087368"/>
            <a:ext cx="201168" cy="3657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672583" y="2788920"/>
            <a:ext cx="1965960" cy="248716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72583" y="2788920"/>
            <a:ext cx="1965960" cy="64008"/>
          </a:xfrm>
          <a:prstGeom prst="rect">
            <a:avLst/>
          </a:prstGeom>
          <a:solidFill>
            <a:srgbClr val="6542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358383" y="3081528"/>
            <a:ext cx="566928" cy="566928"/>
          </a:xfrm>
          <a:prstGeom prst="ellipse">
            <a:avLst/>
          </a:prstGeom>
          <a:solidFill>
            <a:srgbClr val="6542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58383" y="3255264"/>
            <a:ext cx="566928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9743" y="3776472"/>
            <a:ext cx="169164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40" b="1" i="0">
                <a:solidFill>
                  <a:srgbClr val="6542A6"/>
                </a:solidFill>
                <a:latin typeface="Arial"/>
              </a:rPr>
              <a:t>User Picks Work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37175" y="4233672"/>
            <a:ext cx="1627632" cy="7132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90" b="0" i="0">
                <a:solidFill>
                  <a:srgbClr val="242424"/>
                </a:solidFill>
                <a:latin typeface="Arial"/>
              </a:rPr>
              <a:t>Epics and stories are listed for the developer or product owner to select.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38543" y="4087368"/>
            <a:ext cx="201168" cy="3657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848855" y="2788920"/>
            <a:ext cx="1965960" cy="248716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48855" y="2788920"/>
            <a:ext cx="1965960" cy="64008"/>
          </a:xfrm>
          <a:prstGeom prst="rect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34655" y="3081528"/>
            <a:ext cx="566928" cy="566928"/>
          </a:xfrm>
          <a:prstGeom prst="ellipse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34655" y="3255264"/>
            <a:ext cx="566928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86015" y="3776472"/>
            <a:ext cx="169164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40" b="1" i="0">
                <a:solidFill>
                  <a:srgbClr val="008A4B"/>
                </a:solidFill>
                <a:latin typeface="Arial"/>
              </a:rPr>
              <a:t>Branch + QA Context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13447" y="4233672"/>
            <a:ext cx="1627632" cy="7132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90" b="0" i="0">
                <a:solidFill>
                  <a:srgbClr val="242424"/>
                </a:solidFill>
                <a:latin typeface="Arial"/>
              </a:rPr>
              <a:t>A feature branch is created with PRD clauses, QA inputs and validation expectations attached.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715000"/>
            <a:ext cx="7772400" cy="384048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15584"/>
            <a:ext cx="7498079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80" b="1" i="0">
                <a:solidFill>
                  <a:srgbClr val="FFFFFF"/>
                </a:solidFill>
                <a:latin typeface="Arial"/>
              </a:rPr>
              <a:t>Outcome: every branch starts with traceable PRD intent, Jira work item, QA input and release-gate evidence plan.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28816"/>
            <a:ext cx="9144000" cy="329184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6611112"/>
            <a:ext cx="50292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AI-Driven Embedded Product Lifecycle Orchestrator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4192" y="6601968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Arial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rm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"/>
            <a:ext cx="914400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8872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"/>
            <a:ext cx="24231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1" i="0">
                <a:solidFill>
                  <a:srgbClr val="686868"/>
                </a:solidFill>
                <a:latin typeface="Arial"/>
              </a:rPr>
              <a:t>PG3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749808"/>
            <a:ext cx="8183879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PG3 Firmware Generation and Validation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1234440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81328"/>
            <a:ext cx="841248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80" b="0" i="1">
                <a:solidFill>
                  <a:srgbClr val="FFFFFF"/>
                </a:solidFill>
                <a:latin typeface="Arial"/>
              </a:rPr>
              <a:t>At PG3, AEPLO generates firmware/code from the datasheet and PRD. SDK, BSP, OS/RTOS, compiler and board context are injected before validation.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" y="2167128"/>
            <a:ext cx="2606040" cy="3063240"/>
          </a:xfrm>
          <a:prstGeom prst="roundRect">
            <a:avLst/>
          </a:prstGeom>
          <a:solidFill>
            <a:srgbClr val="C8C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0040" y="2121408"/>
            <a:ext cx="2606040" cy="306324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121408"/>
            <a:ext cx="73152" cy="3063240"/>
          </a:xfrm>
          <a:prstGeom prst="rect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" y="2240280"/>
            <a:ext cx="23317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0066A4"/>
                </a:solidFill>
                <a:latin typeface="Arial"/>
              </a:rPr>
              <a:t>Context Injection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2688336"/>
            <a:ext cx="2331720" cy="23682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0" b="0" i="0">
                <a:solidFill>
                  <a:srgbClr val="242424"/>
                </a:solidFill>
                <a:latin typeface="Arial"/>
              </a:rPr>
              <a:t>- Datasheet and register map
- PRD acceptance criteria
- SDK/BSP and HAL
- OS/RTOS constraints
- Board and memory limits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0128" y="2167128"/>
            <a:ext cx="2606040" cy="3063240"/>
          </a:xfrm>
          <a:prstGeom prst="roundRect">
            <a:avLst/>
          </a:prstGeom>
          <a:solidFill>
            <a:srgbClr val="C8C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73552" y="2121408"/>
            <a:ext cx="2606040" cy="306324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3552" y="2121408"/>
            <a:ext cx="73152" cy="306324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38144" y="2240280"/>
            <a:ext cx="23317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D71920"/>
                </a:solidFill>
                <a:latin typeface="Arial"/>
              </a:rPr>
              <a:t>Firmware Generation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8144" y="2688336"/>
            <a:ext cx="2331720" cy="23682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0" b="0" i="0">
                <a:solidFill>
                  <a:srgbClr val="242424"/>
                </a:solidFill>
                <a:latin typeface="Arial"/>
              </a:rPr>
              <a:t>- Driver skeletons
- Peripheral init code
- Configuration tables
- Unit and HIL test hooks
- Review-ready feature branch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4496" y="2167128"/>
            <a:ext cx="2606040" cy="3063240"/>
          </a:xfrm>
          <a:prstGeom prst="roundRect">
            <a:avLst/>
          </a:prstGeom>
          <a:solidFill>
            <a:srgbClr val="C8C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0" y="2121408"/>
            <a:ext cx="2606040" cy="306324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2121408"/>
            <a:ext cx="73152" cy="3063240"/>
          </a:xfrm>
          <a:prstGeom prst="rect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2240280"/>
            <a:ext cx="23317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008A4B"/>
                </a:solidFill>
                <a:latin typeface="Arial"/>
              </a:rPr>
              <a:t>Evidence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2688336"/>
            <a:ext cx="2331720" cy="23682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0" b="0" i="0">
                <a:solidFill>
                  <a:srgbClr val="242424"/>
                </a:solidFill>
                <a:latin typeface="Arial"/>
              </a:rPr>
              <a:t>- Datasheet conformance checks
- PRD trace verification
- Static and unit checks
- JTAG/SWD hardware evidence
- Ready / Not Ready signal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577840"/>
            <a:ext cx="7589520" cy="493776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715000"/>
            <a:ext cx="726948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60" b="1" i="0">
                <a:solidFill>
                  <a:srgbClr val="FFFFFF"/>
                </a:solidFill>
                <a:latin typeface="Arial"/>
              </a:rPr>
              <a:t>JTAG Agent adds hardware-backed proof: registers, memory dumps, stack frames, peripheral state and probe logs.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28816"/>
            <a:ext cx="9144000" cy="329184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6611112"/>
            <a:ext cx="50292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AI-Driven Embedded Product Lifecycle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6601968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Arial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"/>
            <a:ext cx="914400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8872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"/>
            <a:ext cx="24231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1" i="0">
                <a:solidFill>
                  <a:srgbClr val="686868"/>
                </a:solidFill>
                <a:latin typeface="Arial"/>
              </a:rPr>
              <a:t>JTAG DEBUG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749808"/>
            <a:ext cx="8183879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Agent JTAG Debugging: From Failure to Fix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1234440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81328"/>
            <a:ext cx="841248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0" i="1">
                <a:solidFill>
                  <a:srgbClr val="FFFFFF"/>
                </a:solidFill>
                <a:latin typeface="Arial"/>
              </a:rPr>
              <a:t>V9 page 8 inserted into the 3-minute flow: the JTAG agent turns live hardware state into root cause, controlled fixes, Jira evidence and release-gate proof.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1993392"/>
            <a:ext cx="2606040" cy="260604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jtag_v9_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2112264"/>
            <a:ext cx="2359152" cy="235915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20040" y="4773168"/>
            <a:ext cx="2606040" cy="841248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919472"/>
            <a:ext cx="233172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JTAG - Agent 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193792"/>
            <a:ext cx="233172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60" b="0" i="0">
                <a:solidFill>
                  <a:srgbClr val="FFFFFF"/>
                </a:solidFill>
                <a:latin typeface="Arial"/>
              </a:rPr>
              <a:t>Bug/Story -&gt; Orchestrator -&gt; MCU -&gt; Git PR + Jira RCA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27248" y="1993392"/>
            <a:ext cx="5696712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27248" y="1993392"/>
            <a:ext cx="73152" cy="10789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084832"/>
            <a:ext cx="33375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80" b="1" i="0">
                <a:solidFill>
                  <a:srgbClr val="D71920"/>
                </a:solidFill>
                <a:latin typeface="Arial"/>
              </a:rPr>
              <a:t>Bootloader -&gt; Application Handoff Failure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2377440"/>
            <a:ext cx="425196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40" b="0" i="0">
                <a:solidFill>
                  <a:srgbClr val="242424"/>
                </a:solidFill>
                <a:latin typeface="Arial"/>
              </a:rPr>
              <a:t>SysTick enabled in bootloader, but application vector table had no SysTick handler. Agent correlated PC, vector tables and peripheral state.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52944" y="2231136"/>
            <a:ext cx="1078992" cy="43891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6096" y="2313432"/>
            <a:ext cx="932688" cy="1280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45 min RCA vs 2-3 days manual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27248" y="3310128"/>
            <a:ext cx="5696712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27248" y="3310128"/>
            <a:ext cx="73152" cy="1078992"/>
          </a:xfrm>
          <a:prstGeom prst="rect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10128" y="3401568"/>
            <a:ext cx="33375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80" b="1" i="0">
                <a:solidFill>
                  <a:srgbClr val="0066A4"/>
                </a:solidFill>
                <a:latin typeface="Arial"/>
              </a:rPr>
              <a:t>Sub-zero ADC Emulation at Room Temp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10128" y="3694176"/>
            <a:ext cx="425196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40" b="0" i="0">
                <a:solidFill>
                  <a:srgbClr val="242424"/>
                </a:solidFill>
                <a:latin typeface="Arial"/>
              </a:rPr>
              <a:t>ADC stalled at negative temperature. Agent simulated cold ADC state at 25C to validate driver reinit and gain adjustment.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52944" y="3547872"/>
            <a:ext cx="1078992" cy="438912"/>
          </a:xfrm>
          <a:prstGeom prst="roundRect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6096" y="3630168"/>
            <a:ext cx="932688" cy="1280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Saved 1 week thermal cycling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7248" y="4626864"/>
            <a:ext cx="5696712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27248" y="4626864"/>
            <a:ext cx="73152" cy="1078992"/>
          </a:xfrm>
          <a:prstGeom prst="rect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4718304"/>
            <a:ext cx="33375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80" b="1" i="0">
                <a:solidFill>
                  <a:srgbClr val="008A4B"/>
                </a:solidFill>
                <a:latin typeface="Arial"/>
              </a:rPr>
              <a:t>Boot Failure from Incorrect Configuration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10128" y="5010912"/>
            <a:ext cx="425196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40" b="0" i="0">
                <a:solidFill>
                  <a:srgbClr val="242424"/>
                </a:solidFill>
                <a:latin typeface="Arial"/>
              </a:rPr>
              <a:t>After flashing a new build, all checks looked normal. Agent traced Program Counter and found execution redirected to system ROM instead of flash.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52944" y="4864608"/>
            <a:ext cx="1078992" cy="438912"/>
          </a:xfrm>
          <a:prstGeom prst="roundRect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26096" y="4946904"/>
            <a:ext cx="932688" cy="1280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Hardware-backed evidence for fix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27248" y="5989320"/>
            <a:ext cx="5696712" cy="32004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73552" y="6071616"/>
            <a:ext cx="5394960" cy="1097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80" b="1" i="0">
                <a:solidFill>
                  <a:srgbClr val="FFFFFF"/>
                </a:solidFill>
                <a:latin typeface="Arial"/>
              </a:rPr>
              <a:t>A2A physical interface to hardware: Fault Analyzer | Variable Tracer | Peripheral Inspector | Probing Agent | Controlled Auto Fix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28816"/>
            <a:ext cx="9144000" cy="329184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6611112"/>
            <a:ext cx="50292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AI-Driven Embedded Product Lifecycle Orchestrator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6601968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Arial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"/>
            <a:ext cx="914400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8872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"/>
            <a:ext cx="24231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1" i="0">
                <a:solidFill>
                  <a:srgbClr val="686868"/>
                </a:solidFill>
                <a:latin typeface="Arial"/>
              </a:rPr>
              <a:t>QA RELEASE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749808"/>
            <a:ext cx="8183879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 i="0">
                <a:solidFill>
                  <a:srgbClr val="242424"/>
                </a:solidFill>
                <a:latin typeface="Arial"/>
              </a:rPr>
              <a:t>Closed Loop Until QA Says READY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1234440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81328"/>
            <a:ext cx="841248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80" b="0" i="1">
                <a:solidFill>
                  <a:srgbClr val="242424"/>
                </a:solidFill>
                <a:latin typeface="Arial"/>
              </a:rPr>
              <a:t>Feature branch, PRD criteria, QA inputs and JTAG evidence are validated together. A NOT_READY decision becomes prioritized Jira work for the next release loop.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67712"/>
            <a:ext cx="228600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67712"/>
            <a:ext cx="64008" cy="1115568"/>
          </a:xfrm>
          <a:prstGeom prst="rect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2560320"/>
            <a:ext cx="420624" cy="420624"/>
          </a:xfrm>
          <a:prstGeom prst="ellipse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688336"/>
            <a:ext cx="420624" cy="1280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7592" y="2386584"/>
            <a:ext cx="14173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1" i="0">
                <a:solidFill>
                  <a:srgbClr val="0066A4"/>
                </a:solidFill>
                <a:latin typeface="Arial"/>
              </a:rPr>
              <a:t>Feature Branch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2706624"/>
            <a:ext cx="14173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30" b="0" i="0">
                <a:solidFill>
                  <a:srgbClr val="242424"/>
                </a:solidFill>
                <a:latin typeface="Arial"/>
              </a:rPr>
              <a:t>Selected story, generated code and linked PR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6120" y="2084831"/>
            <a:ext cx="228600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46120" y="2084831"/>
            <a:ext cx="64008" cy="1115568"/>
          </a:xfrm>
          <a:prstGeom prst="rect">
            <a:avLst/>
          </a:prstGeom>
          <a:solidFill>
            <a:srgbClr val="E8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29000" y="2377439"/>
            <a:ext cx="420624" cy="420624"/>
          </a:xfrm>
          <a:prstGeom prst="ellipse">
            <a:avLst/>
          </a:prstGeom>
          <a:solidFill>
            <a:srgbClr val="E8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2505455"/>
            <a:ext cx="420624" cy="1280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9352" y="2203703"/>
            <a:ext cx="14173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1" i="0">
                <a:solidFill>
                  <a:srgbClr val="E87900"/>
                </a:solidFill>
                <a:latin typeface="Arial"/>
              </a:rPr>
              <a:t>QA Inputs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9352" y="2523743"/>
            <a:ext cx="14173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30" b="0" i="0">
                <a:solidFill>
                  <a:srgbClr val="242424"/>
                </a:solidFill>
                <a:latin typeface="Arial"/>
              </a:rPr>
              <a:t>Regression, HIL, field issues and acceptance tests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97880" y="2267712"/>
            <a:ext cx="228600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97880" y="2267712"/>
            <a:ext cx="64008" cy="111556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80760" y="2560320"/>
            <a:ext cx="420624" cy="42062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0760" y="2688336"/>
            <a:ext cx="420624" cy="1280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11112" y="2386584"/>
            <a:ext cx="14173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1" i="0">
                <a:solidFill>
                  <a:srgbClr val="D71920"/>
                </a:solidFill>
                <a:latin typeface="Arial"/>
              </a:rPr>
              <a:t>Validate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11112" y="2706624"/>
            <a:ext cx="14173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30" b="0" i="0">
                <a:solidFill>
                  <a:srgbClr val="242424"/>
                </a:solidFill>
                <a:latin typeface="Arial"/>
              </a:rPr>
              <a:t>PRD, datasheet, code, tests and JTAG evidence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0" y="4617720"/>
            <a:ext cx="228600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0" y="4617720"/>
            <a:ext cx="64008" cy="1115568"/>
          </a:xfrm>
          <a:prstGeom prst="rect">
            <a:avLst/>
          </a:prstGeom>
          <a:solidFill>
            <a:srgbClr val="A6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937760" y="4910328"/>
            <a:ext cx="420624" cy="420624"/>
          </a:xfrm>
          <a:prstGeom prst="ellipse">
            <a:avLst/>
          </a:prstGeom>
          <a:solidFill>
            <a:srgbClr val="A6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37760" y="5038344"/>
            <a:ext cx="420624" cy="1280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8112" y="4736592"/>
            <a:ext cx="14173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1" i="0">
                <a:solidFill>
                  <a:srgbClr val="A61218"/>
                </a:solidFill>
                <a:latin typeface="Arial"/>
              </a:rPr>
              <a:t>NOT_READY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68112" y="5056632"/>
            <a:ext cx="14173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30" b="0" i="0">
                <a:solidFill>
                  <a:srgbClr val="242424"/>
                </a:solidFill>
                <a:latin typeface="Arial"/>
              </a:rPr>
              <a:t>Create defects, stories and priority order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691640" y="4617720"/>
            <a:ext cx="228600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91640" y="4617720"/>
            <a:ext cx="64008" cy="1115568"/>
          </a:xfrm>
          <a:prstGeom prst="rect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874520" y="4910328"/>
            <a:ext cx="420624" cy="420624"/>
          </a:xfrm>
          <a:prstGeom prst="ellipse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74520" y="5038344"/>
            <a:ext cx="420624" cy="1280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04872" y="4736592"/>
            <a:ext cx="14173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1" i="0">
                <a:solidFill>
                  <a:srgbClr val="008A4B"/>
                </a:solidFill>
                <a:latin typeface="Arial"/>
              </a:rPr>
              <a:t>READY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04872" y="5056632"/>
            <a:ext cx="14173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30" b="0" i="0">
                <a:solidFill>
                  <a:srgbClr val="242424"/>
                </a:solidFill>
                <a:latin typeface="Arial"/>
              </a:rPr>
              <a:t>Release candidate cleared with evidence pack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54680" y="3703320"/>
            <a:ext cx="2834640" cy="566928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10128" y="3858768"/>
            <a:ext cx="2523744" cy="1280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80" b="1" i="0">
                <a:solidFill>
                  <a:srgbClr val="FFFFFF"/>
                </a:solidFill>
                <a:latin typeface="Arial"/>
              </a:rPr>
              <a:t>QA gate guides the next-release backlog until READY is achieved.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28816"/>
            <a:ext cx="9144000" cy="329184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0040" y="6611112"/>
            <a:ext cx="50292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AI-Driven Embedded Product Lifecycle Orchestrator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94192" y="6601968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Arial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q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"/>
            <a:ext cx="914400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8872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"/>
            <a:ext cx="24231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1" i="0">
                <a:solidFill>
                  <a:srgbClr val="686868"/>
                </a:solidFill>
                <a:latin typeface="Arial"/>
              </a:rPr>
              <a:t>PG5 STQC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749808"/>
            <a:ext cx="8183879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The Star: STQC Agent for BIS Certification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1234440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81328"/>
            <a:ext cx="8412480" cy="4023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80" b="0" i="1">
                <a:solidFill>
                  <a:srgbClr val="FFFFFF"/>
                </a:solidFill>
                <a:latin typeface="Arial"/>
              </a:rPr>
              <a:t>All IoT security and surveillance devices need BIS certification governed by STQC guidelines. This applies to in-house designs and BTS sales.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" y="2075688"/>
            <a:ext cx="2606040" cy="3703320"/>
          </a:xfrm>
          <a:prstGeom prst="roundRect">
            <a:avLst/>
          </a:prstGeom>
          <a:solidFill>
            <a:srgbClr val="C8C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0040" y="2029968"/>
            <a:ext cx="2606040" cy="370332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029968"/>
            <a:ext cx="73152" cy="3703320"/>
          </a:xfrm>
          <a:prstGeom prst="rect">
            <a:avLst/>
          </a:prstGeom>
          <a:solidFill>
            <a:srgbClr val="B88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" y="2148840"/>
            <a:ext cx="23317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B88300"/>
                </a:solidFill>
                <a:latin typeface="Arial"/>
              </a:rPr>
              <a:t>Why It Matters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2596896"/>
            <a:ext cx="2331720" cy="30083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9" b="0" i="0">
                <a:solidFill>
                  <a:srgbClr val="242424"/>
                </a:solidFill>
                <a:latin typeface="Arial"/>
              </a:rPr>
              <a:t>Earlier, developers spent months crawling code, creating evidence, validating rules and packaging documents for auditors.
AEPLO compresses this to days with repeatable evidence generation.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0128" y="2075688"/>
            <a:ext cx="2606040" cy="3703320"/>
          </a:xfrm>
          <a:prstGeom prst="roundRect">
            <a:avLst/>
          </a:prstGeom>
          <a:solidFill>
            <a:srgbClr val="C8C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73552" y="2029968"/>
            <a:ext cx="2606040" cy="370332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3552" y="2029968"/>
            <a:ext cx="73152" cy="37033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38144" y="2148840"/>
            <a:ext cx="23317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D71920"/>
                </a:solidFill>
                <a:latin typeface="Arial"/>
              </a:rPr>
              <a:t>What STQC Agent Does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8144" y="2596896"/>
            <a:ext cx="2331720" cy="30083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19" b="0" i="0">
                <a:solidFill>
                  <a:srgbClr val="242424"/>
                </a:solidFill>
                <a:latin typeface="Arial"/>
              </a:rPr>
              <a:t>- Crawls source and configuration
- Creates audit evidence
- Enforces hard rules, including no foreign characters
- Checks STQC ER guideline coverage
- Validates submission readiness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4496" y="2075688"/>
            <a:ext cx="2606040" cy="3703320"/>
          </a:xfrm>
          <a:prstGeom prst="roundRect">
            <a:avLst/>
          </a:prstGeom>
          <a:solidFill>
            <a:srgbClr val="C8C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0" y="2029968"/>
            <a:ext cx="2606040" cy="370332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2029968"/>
            <a:ext cx="73152" cy="3703320"/>
          </a:xfrm>
          <a:prstGeom prst="rect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2148840"/>
            <a:ext cx="23317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008A4B"/>
                </a:solidFill>
                <a:latin typeface="Arial"/>
              </a:rPr>
              <a:t>If Not Ready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2596896"/>
            <a:ext cx="2331720" cy="30083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19" b="0" i="0">
                <a:solidFill>
                  <a:srgbClr val="242424"/>
                </a:solidFill>
                <a:latin typeface="Arial"/>
              </a:rPr>
              <a:t>- Highlights the exact failing section
- Explains the missing evidence
- Creates Jira tickets and stories
- Sends fixes back through PG3 and QA gate
- Re-checks until submission-ready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1560" y="5998464"/>
            <a:ext cx="7040880" cy="34747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07008" y="6089904"/>
            <a:ext cx="6720840" cy="1280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69" b="1" i="0">
                <a:solidFill>
                  <a:srgbClr val="FFFFFF"/>
                </a:solidFill>
                <a:latin typeface="Arial"/>
              </a:rPr>
              <a:t>Output: READY for STQC submission, or NOT_READY with actionable evidence gaps and Jira remediation.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28816"/>
            <a:ext cx="9144000" cy="329184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6611112"/>
            <a:ext cx="50292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AI-Driven Embedded Product Lifecycle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6601968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Arial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"/>
            <a:ext cx="914400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8872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"/>
            <a:ext cx="24231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1" i="0">
                <a:solidFill>
                  <a:srgbClr val="686868"/>
                </a:solidFill>
                <a:latin typeface="Arial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749808"/>
            <a:ext cx="8183879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 i="0">
                <a:solidFill>
                  <a:srgbClr val="242424"/>
                </a:solidFill>
                <a:latin typeface="Arial"/>
              </a:rPr>
              <a:t>Realistic Quantified Results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1234440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81328"/>
            <a:ext cx="84124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40" b="0" i="1">
                <a:solidFill>
                  <a:srgbClr val="242424"/>
                </a:solidFill>
                <a:latin typeface="Arial"/>
              </a:rPr>
              <a:t>Pilot-ready targets for efficiency, time saved and token optimization. Values are framed as measured/expected ranges for a controlled demo-to-pilot rollout.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2057400"/>
            <a:ext cx="420624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73152" cy="102412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2167128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1" i="0">
                <a:solidFill>
                  <a:srgbClr val="D71920"/>
                </a:solidFill>
                <a:latin typeface="Arial"/>
              </a:rPr>
              <a:t>STQC Evidence Pack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59" y="2130552"/>
            <a:ext cx="214884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1220" b="1" i="0">
                <a:solidFill>
                  <a:srgbClr val="242424"/>
                </a:solidFill>
                <a:latin typeface="Arial"/>
              </a:rPr>
              <a:t>6-10 weeks -&gt; 2-4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2532888"/>
            <a:ext cx="3877056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19" b="0" i="0">
                <a:solidFill>
                  <a:srgbClr val="686868"/>
                </a:solidFill>
                <a:latin typeface="Arial"/>
              </a:rPr>
              <a:t>85-92% effort reduction for first submission pack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79" y="2057400"/>
            <a:ext cx="420624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54879" y="2057400"/>
            <a:ext cx="73152" cy="1024128"/>
          </a:xfrm>
          <a:prstGeom prst="rect">
            <a:avLst/>
          </a:prstGeom>
          <a:solidFill>
            <a:srgbClr val="E8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9471" y="2167128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1" i="0">
                <a:solidFill>
                  <a:srgbClr val="E87900"/>
                </a:solidFill>
                <a:latin typeface="Arial"/>
              </a:rPr>
              <a:t>PG3 Firmware 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398" y="2130552"/>
            <a:ext cx="214884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1220" b="1" i="0">
                <a:solidFill>
                  <a:srgbClr val="242424"/>
                </a:solidFill>
                <a:latin typeface="Arial"/>
              </a:rPr>
              <a:t>3-5 days -&gt; 1-2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9471" y="2532888"/>
            <a:ext cx="3877056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19" b="0" i="0">
                <a:solidFill>
                  <a:srgbClr val="686868"/>
                </a:solidFill>
                <a:latin typeface="Arial"/>
              </a:rPr>
              <a:t>45-60% faster first draft and validation loop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3383280"/>
            <a:ext cx="420624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3383280"/>
            <a:ext cx="73152" cy="1024128"/>
          </a:xfrm>
          <a:prstGeom prst="rect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" y="3493008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1" i="0">
                <a:solidFill>
                  <a:srgbClr val="0066A4"/>
                </a:solidFill>
                <a:latin typeface="Arial"/>
              </a:rPr>
              <a:t>JTAG Root Cause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59" y="3456432"/>
            <a:ext cx="214884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1220" b="1" i="0">
                <a:solidFill>
                  <a:srgbClr val="242424"/>
                </a:solidFill>
                <a:latin typeface="Arial"/>
              </a:rPr>
              <a:t>1-2 days -&gt; under 2 hours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" y="3858768"/>
            <a:ext cx="3877056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19" b="0" i="0">
                <a:solidFill>
                  <a:srgbClr val="686868"/>
                </a:solidFill>
                <a:latin typeface="Arial"/>
              </a:rPr>
              <a:t>70-90% faster hardware-backed diagnosis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79" y="3383280"/>
            <a:ext cx="420624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54879" y="3383280"/>
            <a:ext cx="73152" cy="1024128"/>
          </a:xfrm>
          <a:prstGeom prst="rect">
            <a:avLst/>
          </a:prstGeom>
          <a:solidFill>
            <a:srgbClr val="6542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9471" y="3493008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1" i="0">
                <a:solidFill>
                  <a:srgbClr val="6542A6"/>
                </a:solidFill>
                <a:latin typeface="Arial"/>
              </a:rPr>
              <a:t>QA Gate Triage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398" y="3456432"/>
            <a:ext cx="214884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1220" b="1" i="0">
                <a:solidFill>
                  <a:srgbClr val="242424"/>
                </a:solidFill>
                <a:latin typeface="Arial"/>
              </a:rPr>
              <a:t>2-3 days -&gt; under 4 hours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19471" y="3858768"/>
            <a:ext cx="3877056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19" b="0" i="0">
                <a:solidFill>
                  <a:srgbClr val="686868"/>
                </a:solidFill>
                <a:latin typeface="Arial"/>
              </a:rPr>
              <a:t>60-75% faster release priority decisions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" y="4800600"/>
            <a:ext cx="85039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" y="4800600"/>
            <a:ext cx="73152" cy="10515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937760"/>
            <a:ext cx="192024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40" b="1" i="0">
                <a:solidFill>
                  <a:srgbClr val="D71920"/>
                </a:solidFill>
                <a:latin typeface="Arial"/>
              </a:rPr>
              <a:t>Token Optimization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4901184"/>
            <a:ext cx="626364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0" b="0" i="0">
                <a:solidFill>
                  <a:srgbClr val="242424"/>
                </a:solidFill>
                <a:latin typeface="Arial"/>
              </a:rPr>
              <a:t>35-45% lower token use through routed context, PRD/datasheet chunk retrieval, prompt caching for STQC guidelines, and compact evidence summaries. Repeated STQC runs can reuse 80%+ of guideline and datasheet context.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144768"/>
            <a:ext cx="8183879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80" b="1" i="0">
                <a:solidFill>
                  <a:srgbClr val="D71920"/>
                </a:solidFill>
                <a:latin typeface="Arial"/>
              </a:rPr>
              <a:t>Close: AEPLO keeps looping across PG3, JTAG, QA and STQC until the release is READY.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28816"/>
            <a:ext cx="9144000" cy="329184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6611112"/>
            <a:ext cx="50292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AI-Driven Embedded Product Lifecycle Orchestrator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6601968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Arial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