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46720" y="292608"/>
            <a:ext cx="3886200" cy="7315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46720" y="621792"/>
            <a:ext cx="3886200" cy="7315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950976"/>
            <a:ext cx="3886200" cy="7315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1280160"/>
            <a:ext cx="3886200" cy="7315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1609344"/>
            <a:ext cx="3886200" cy="7315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1938527"/>
            <a:ext cx="3886200" cy="7315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2267712"/>
            <a:ext cx="3886200" cy="7315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2596896"/>
            <a:ext cx="3886200" cy="7315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2926079"/>
            <a:ext cx="3886200" cy="7315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3255263"/>
            <a:ext cx="3886200" cy="7315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3584447"/>
            <a:ext cx="3886200" cy="7315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3913632"/>
            <a:ext cx="3886200" cy="7315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4242816"/>
            <a:ext cx="3886200" cy="7315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6720" y="4572000"/>
            <a:ext cx="3886200" cy="7315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46720" y="4901184"/>
            <a:ext cx="3886200" cy="7315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46720" y="5230368"/>
            <a:ext cx="3886200" cy="7315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5559552"/>
            <a:ext cx="3886200" cy="7315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46720" y="5888736"/>
            <a:ext cx="3886200" cy="7315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92440" y="292608"/>
            <a:ext cx="7315" cy="5897880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476488" y="292608"/>
            <a:ext cx="7315" cy="5897880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860536" y="292608"/>
            <a:ext cx="7315" cy="5897880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44584" y="292608"/>
            <a:ext cx="7315" cy="5897880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628632" y="292608"/>
            <a:ext cx="7315" cy="5897880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012680" y="292608"/>
            <a:ext cx="7315" cy="5897880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396728" y="292608"/>
            <a:ext cx="7315" cy="5897880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780776" y="292608"/>
            <a:ext cx="7315" cy="5897880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1164824" y="292608"/>
            <a:ext cx="7315" cy="5897880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548872" y="292608"/>
            <a:ext cx="7315" cy="5897880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932920" y="292608"/>
            <a:ext cx="7315" cy="5897880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921240" y="713232"/>
            <a:ext cx="1737360" cy="1737360"/>
          </a:xfrm>
          <a:prstGeom prst="ellipse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195560" y="987552"/>
            <a:ext cx="1188720" cy="1188720"/>
          </a:xfrm>
          <a:prstGeom prst="ellipse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497312" y="1289304"/>
            <a:ext cx="585216" cy="585216"/>
          </a:xfrm>
          <a:prstGeom prst="ellipse">
            <a:avLst/>
          </a:prstGeom>
          <a:solidFill>
            <a:srgbClr val="05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0040" y="256032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8F0"/>
                </a:solidFill>
                <a:latin typeface="Segoe UI"/>
              </a:rPr>
              <a:t>CODING EMBEDDED WORKSTREAM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0040" y="621792"/>
            <a:ext cx="818387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Segoe UI"/>
              </a:rPr>
              <a:t>AEPLO JTAG Accelerator for Embedded PDLC AI Optimisation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7472" y="1161288"/>
            <a:ext cx="795527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30" b="0" i="1">
                <a:solidFill>
                  <a:srgbClr val="B8D0EC"/>
                </a:solidFill>
                <a:latin typeface="Segoe UI"/>
              </a:rPr>
              <a:t>Common idea: make JTAG/SWD hardware evidence a native AEPLO capability, optimising the embedded product development lifecycle from discovery to launch.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732520" y="493776"/>
            <a:ext cx="3063240" cy="749808"/>
          </a:xfrm>
          <a:prstGeom prst="round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32520" y="566928"/>
            <a:ext cx="3063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NPI GATE DEMO PLAN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32520" y="859536"/>
            <a:ext cx="3063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60" b="0" i="0">
                <a:solidFill>
                  <a:srgbClr val="00C8F0"/>
                </a:solidFill>
                <a:latin typeface="Segoe UI"/>
              </a:rPr>
              <a:t>PG1 Discovery  -&gt;  PG3 Development  -&gt;  PG5 Validation &amp; Launch Prep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20040" y="1755648"/>
            <a:ext cx="3520440" cy="74980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20040" y="1755648"/>
            <a:ext cx="54864" cy="749808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4632" y="1847088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072C6"/>
                </a:solidFill>
                <a:latin typeface="Segoe UI"/>
              </a:rPr>
              <a:t>EMBEDDED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737360" y="1810512"/>
            <a:ext cx="19385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 i="0">
                <a:solidFill>
                  <a:srgbClr val="B8D0EC"/>
                </a:solidFill>
                <a:latin typeface="Segoe UI"/>
              </a:rPr>
              <a:t>MCU / RTOS / JTAG-SWD / peripherals / board evidence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069079" y="1755648"/>
            <a:ext cx="3520440" cy="74980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069079" y="1755648"/>
            <a:ext cx="54864" cy="74980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33671" y="1847088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8B5CF6"/>
                </a:solidFill>
                <a:latin typeface="Segoe UI"/>
              </a:rPr>
              <a:t>PDLC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399" y="1810512"/>
            <a:ext cx="19385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 i="0">
                <a:solidFill>
                  <a:srgbClr val="B8D0EC"/>
                </a:solidFill>
                <a:latin typeface="Segoe UI"/>
              </a:rPr>
              <a:t>Requirements -&gt; code -&gt; debug -&gt; validate -&gt; launch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818119" y="1755648"/>
            <a:ext cx="3520440" cy="74980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818119" y="1755648"/>
            <a:ext cx="54864" cy="749808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982711" y="1847088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0D48A"/>
                </a:solidFill>
                <a:latin typeface="Segoe UI"/>
              </a:rPr>
              <a:t>AI OPTIMISATION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35439" y="1810512"/>
            <a:ext cx="19385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 i="0">
                <a:solidFill>
                  <a:srgbClr val="B8D0EC"/>
                </a:solidFill>
                <a:latin typeface="Segoe UI"/>
              </a:rPr>
              <a:t>Risk scoring, RCA, test focus, controlled fixes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20040" y="2697480"/>
            <a:ext cx="11521440" cy="566928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20040" y="2697480"/>
            <a:ext cx="54864" cy="566928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2920" y="2816352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0C8F0"/>
                </a:solidFill>
                <a:latin typeface="Segoe UI"/>
              </a:rPr>
              <a:t>AEPLO CAPABILITY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121408" y="2798064"/>
            <a:ext cx="9464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9" b="0" i="0">
                <a:solidFill>
                  <a:srgbClr val="B8D0EC"/>
                </a:solidFill>
                <a:latin typeface="Segoe UI"/>
              </a:rPr>
              <a:t>JTAG Accelerator is part of AEPLO: a multi-agent embedded coding accelerator that links Jira, IDE, Git, J-Link/JTAG, target MCU evidence, AI root-cause analysis, controlled PRs and release gates.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20040" y="345643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Segoe UI"/>
              </a:rPr>
              <a:t>DEMO BY NPI GATES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20040" y="3767328"/>
            <a:ext cx="3566160" cy="1572768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20040" y="3767328"/>
            <a:ext cx="3566160" cy="54864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484632" y="3968496"/>
            <a:ext cx="548640" cy="548640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84632" y="4105656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PG1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61288" y="3941063"/>
            <a:ext cx="2514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072C6"/>
                </a:solidFill>
                <a:latin typeface="Segoe UI"/>
              </a:rPr>
              <a:t>DISCOVERY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21208" y="4407408"/>
            <a:ext cx="31546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780">
                <a:solidFill>
                  <a:srgbClr val="B8D0EC"/>
                </a:solidFill>
                <a:latin typeface="Segoe UI"/>
              </a:rPr>
              <a:t>- Ingest PRD, Jira themes, defect history and target board context.</a:t>
            </a:r>
          </a:p>
          <a:p>
            <a:pPr/>
            <a:r>
              <a:rPr sz="780">
                <a:solidFill>
                  <a:srgbClr val="B8D0EC"/>
                </a:solidFill>
                <a:latin typeface="Segoe UI"/>
              </a:rPr>
              <a:t>- AI maps PDLC risks, trace gaps and embedded debug hotspots.</a:t>
            </a:r>
          </a:p>
          <a:p>
            <a:pPr/>
            <a:r>
              <a:rPr sz="780">
                <a:solidFill>
                  <a:srgbClr val="B8D0EC"/>
                </a:solidFill>
                <a:latin typeface="Segoe UI"/>
              </a:rPr>
              <a:t>- Demo output: risk-backed scope, board setup and validation plan.</a:t>
            </a:r>
          </a:p>
        </p:txBody>
      </p:sp>
      <p:sp>
        <p:nvSpPr>
          <p:cNvPr id="66" name="Right Arrow 65"/>
          <p:cNvSpPr/>
          <p:nvPr/>
        </p:nvSpPr>
        <p:spPr>
          <a:xfrm>
            <a:off x="3931920" y="4443984"/>
            <a:ext cx="530352" cy="182880"/>
          </a:xfrm>
          <a:prstGeom prst="rightArrow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4224527" y="3767328"/>
            <a:ext cx="3566160" cy="1572768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224527" y="3767328"/>
            <a:ext cx="3566160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389119" y="3968496"/>
            <a:ext cx="548640" cy="54864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389119" y="4105656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PG3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065775" y="3941063"/>
            <a:ext cx="2514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8C00"/>
                </a:solidFill>
                <a:latin typeface="Segoe UI"/>
              </a:rPr>
              <a:t>DEVELOPMENT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425695" y="4407408"/>
            <a:ext cx="31546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780">
                <a:solidFill>
                  <a:srgbClr val="B8D0EC"/>
                </a:solidFill>
                <a:latin typeface="Segoe UI"/>
              </a:rPr>
              <a:t>- JTAG Accelerator attaches to IDE, J-Link and target MCU.</a:t>
            </a:r>
          </a:p>
          <a:p>
            <a:pPr/>
            <a:r>
              <a:rPr sz="780">
                <a:solidFill>
                  <a:srgbClr val="B8D0EC"/>
                </a:solidFill>
                <a:latin typeface="Segoe UI"/>
              </a:rPr>
              <a:t>- Fault Analyzer, Variable Tracer and Peripheral Inspector diagnose coding defects.</a:t>
            </a:r>
          </a:p>
          <a:p>
            <a:pPr/>
            <a:r>
              <a:rPr sz="780">
                <a:solidFill>
                  <a:srgbClr val="B8D0EC"/>
                </a:solidFill>
                <a:latin typeface="Segoe UI"/>
              </a:rPr>
              <a:t>- Demo output: RCA, guarded patch, PR and register/memory evidence.</a:t>
            </a:r>
          </a:p>
        </p:txBody>
      </p:sp>
      <p:sp>
        <p:nvSpPr>
          <p:cNvPr id="73" name="Right Arrow 72"/>
          <p:cNvSpPr/>
          <p:nvPr/>
        </p:nvSpPr>
        <p:spPr>
          <a:xfrm>
            <a:off x="7836407" y="4443984"/>
            <a:ext cx="530352" cy="182880"/>
          </a:xfrm>
          <a:prstGeom prst="rightArrow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8129015" y="3767328"/>
            <a:ext cx="3566160" cy="1572768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8129015" y="3767328"/>
            <a:ext cx="3566160" cy="54864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293607" y="3968496"/>
            <a:ext cx="548640" cy="548640"/>
          </a:xfrm>
          <a:prstGeom prst="ellipse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3607" y="4105656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PG5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970263" y="3941063"/>
            <a:ext cx="2514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0D48A"/>
                </a:solidFill>
                <a:latin typeface="Segoe UI"/>
              </a:rPr>
              <a:t>VALIDATION &amp; LAUNCH PREP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330183" y="4407408"/>
            <a:ext cx="31546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780">
                <a:solidFill>
                  <a:srgbClr val="B8D0EC"/>
                </a:solidFill>
                <a:latin typeface="Segoe UI"/>
              </a:rPr>
              <a:t>- AEPLO prioritises tests, checks fix evidence and updates traceability.</a:t>
            </a:r>
          </a:p>
          <a:p>
            <a:pPr/>
            <a:r>
              <a:rPr sz="780">
                <a:solidFill>
                  <a:srgbClr val="B8D0EC"/>
                </a:solidFill>
                <a:latin typeface="Segoe UI"/>
              </a:rPr>
              <a:t>- Release Gate evaluates code, QA, hardware proof and launch readiness.</a:t>
            </a:r>
          </a:p>
          <a:p>
            <a:pPr/>
            <a:r>
              <a:rPr sz="780">
                <a:solidFill>
                  <a:srgbClr val="B8D0EC"/>
                </a:solidFill>
                <a:latin typeface="Segoe UI"/>
              </a:rPr>
              <a:t>- Demo output: READY / NOT_READY verdict with action list.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320040" y="5596128"/>
            <a:ext cx="5897880" cy="822960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20040" y="5596128"/>
            <a:ext cx="54864" cy="8229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02920" y="5687568"/>
            <a:ext cx="1600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20" b="1" i="0">
                <a:solidFill>
                  <a:srgbClr val="8B5CF6"/>
                </a:solidFill>
                <a:latin typeface="Segoe UI"/>
              </a:rPr>
              <a:t>POSTER MESSAGE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02920" y="5943600"/>
            <a:ext cx="5440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 i="0">
                <a:solidFill>
                  <a:srgbClr val="B8D0EC"/>
                </a:solidFill>
                <a:latin typeface="Segoe UI"/>
              </a:rPr>
              <a:t>AEPLO optimises embedded PDLC decisions at each NPI gate: discover risk early, accelerate coding/debug with JTAG evidence, and validate launch readiness with AI gates.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510528" y="5541264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20" b="1" i="0">
                <a:solidFill>
                  <a:srgbClr val="00D48A"/>
                </a:solidFill>
                <a:latin typeface="Segoe UI"/>
              </a:rPr>
              <a:t>SUCCESS SIGNALS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510528" y="5815584"/>
            <a:ext cx="1261872" cy="74980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6510528" y="5815584"/>
            <a:ext cx="54864" cy="749808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638544" y="588873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0072C6"/>
                </a:solidFill>
                <a:latin typeface="Segoe UI"/>
              </a:rPr>
              <a:t>PG1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638544" y="619963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B8D0EC"/>
                </a:solidFill>
                <a:latin typeface="Segoe UI"/>
              </a:rPr>
              <a:t>risk clarity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7918704" y="5815584"/>
            <a:ext cx="1261872" cy="74980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918704" y="5815584"/>
            <a:ext cx="54864" cy="74980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046720" y="588873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FF8C00"/>
                </a:solidFill>
                <a:latin typeface="Segoe UI"/>
              </a:rPr>
              <a:t>&lt;30m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046720" y="619963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B8D0EC"/>
                </a:solidFill>
                <a:latin typeface="Segoe UI"/>
              </a:rPr>
              <a:t>RCA target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9326880" y="5815584"/>
            <a:ext cx="1261872" cy="74980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9326880" y="5815584"/>
            <a:ext cx="54864" cy="74980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9454896" y="588873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8B5CF6"/>
                </a:solidFill>
                <a:latin typeface="Segoe UI"/>
              </a:rPr>
              <a:t>100%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454896" y="619963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B8D0EC"/>
                </a:solidFill>
                <a:latin typeface="Segoe UI"/>
              </a:rPr>
              <a:t>evidence link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10735056" y="5815584"/>
            <a:ext cx="1097280" cy="74980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735056" y="5815584"/>
            <a:ext cx="54864" cy="749808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863072" y="5888736"/>
            <a:ext cx="8412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00D48A"/>
                </a:solidFill>
                <a:latin typeface="Segoe UI"/>
              </a:rPr>
              <a:t>PG5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863072" y="6199632"/>
            <a:ext cx="8412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B8D0EC"/>
                </a:solidFill>
                <a:latin typeface="Segoe UI"/>
              </a:rPr>
              <a:t>launch gate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20040" y="6565392"/>
            <a:ext cx="7680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080A8"/>
                </a:solidFill>
                <a:latin typeface="Segoe UI"/>
              </a:rPr>
              <a:t>Common Idea | AEPLO + JTAG Accelerator | Embedded PDLC AI Optimisation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366760" y="6565392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6080A8"/>
                </a:solidFill>
                <a:latin typeface="Segoe UI"/>
              </a:rPr>
              <a:t>One-page poster candidate for Coding Embedded Workstream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