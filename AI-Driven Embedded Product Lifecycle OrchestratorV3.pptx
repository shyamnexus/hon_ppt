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03923" cy="68580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03923" y="0"/>
            <a:ext cx="5485028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3371" y="731520"/>
            <a:ext cx="4631801" cy="5486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3371" y="5303520"/>
            <a:ext cx="4631801" cy="5486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89100" y="640080"/>
            <a:ext cx="2011680" cy="2011680"/>
          </a:xfrm>
          <a:prstGeom prst="ellipse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28035" y="3429000"/>
            <a:ext cx="1371600" cy="1371600"/>
          </a:xfrm>
          <a:prstGeom prst="ellipse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77007" y="2788920"/>
            <a:ext cx="822960" cy="822960"/>
          </a:xfrm>
          <a:prstGeom prst="ellipse">
            <a:avLst/>
          </a:prstGeom>
          <a:solidFill>
            <a:srgbClr val="004080"/>
          </a:solidFill>
          <a:ln>
            <a:solidFill>
              <a:srgbClr val="0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371600"/>
            <a:ext cx="54864" cy="91440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8872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AI-DRIVEN EMBEDDED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901952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PRODUCT 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0604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00B4D8"/>
                </a:solidFill>
                <a:latin typeface="Calibri"/>
              </a:rPr>
              <a:t>ORCHESTRATOR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29000"/>
            <a:ext cx="1188720" cy="347472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2900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VERSION 3.0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8620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D8E8"/>
                </a:solidFill>
                <a:latin typeface="Calibri"/>
              </a:rPr>
              <a:t>Autonomous AI orchestration across the full embedded
product lifecycle — from concept to end-of-life.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92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90A8"/>
                </a:solidFill>
                <a:latin typeface="Calibri"/>
              </a:rPr>
              <a:t>May 2026  |  CONFIDENTIAL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Table of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558" y="960120"/>
            <a:ext cx="11213835" cy="16459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11480" cy="41148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18872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4356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Vision, problem statement &amp; value proposition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47088"/>
            <a:ext cx="411480" cy="41148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47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8470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Problem &amp; Market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09397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Pain points in embedded product lifecycles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05456"/>
            <a:ext cx="411480" cy="41148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054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50545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Solution Overview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75234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What is AEPLO V3 and how it works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63824"/>
            <a:ext cx="411480" cy="41148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16382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1638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1071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End-to-end platform design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22191"/>
            <a:ext cx="411480" cy="41148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822191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822191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Core AI Modules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069079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Six pillars of AI-driven orchestration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480559"/>
            <a:ext cx="411480" cy="41148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48055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80559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Lifecycle Coverage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727447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Requirements → Design → Develop → Test → Deploy → EOL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138928"/>
            <a:ext cx="411480" cy="41148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1389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13892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Key Features &amp; Capabilities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38581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Differentiating capabilities deep-dive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797296"/>
            <a:ext cx="411480" cy="41148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79729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79729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Integration Ecosystem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604418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Tools, platforms &amp; partner integrations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188720"/>
            <a:ext cx="411480" cy="41148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11887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118872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Security &amp; Compliance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14356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Functional safety, ITAR, ISO 26262, IEC 61508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1847088"/>
            <a:ext cx="411480" cy="41148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1847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2280" y="18470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Performance Metrics &amp; KPIs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2280" y="209397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Quantified business &amp; engineering outcomes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505456"/>
            <a:ext cx="411480" cy="41148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25054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12280" y="250545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Case Studies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12280" y="275234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Real-world deployments &amp; results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9360" y="3163824"/>
            <a:ext cx="411480" cy="41148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316382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1638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Technology Roadmap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12280" y="341071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V3 now → V4 future milestones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3822191"/>
            <a:ext cx="411480" cy="41148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3822191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12280" y="3822191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Team &amp; Governance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12280" y="4069079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Core team, advisory board, open-source model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4480559"/>
            <a:ext cx="411480" cy="41148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09360" y="448055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4480559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Investment &amp; Pricing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12280" y="4727447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Engagement model &amp; ROI framework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138928"/>
            <a:ext cx="411480" cy="41148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0" y="51389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12280" y="513892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Call to Action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12280" y="538581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Next steps &amp; pilot programme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Vision &amp; Value Proposition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558" y="1389888"/>
            <a:ext cx="11213835" cy="16459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11430000" cy="96012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FFFF"/>
                </a:solidFill>
                <a:latin typeface="Calibri"/>
              </a:rPr>
              <a:t>"AEPLO V3 is the first full-stack autonomous AI platform that orchestrates every stage of the embedded product lifecycle — cutting development cycles by 40%, reducing post-release defects by 60%, and enabling continuous, self-optimising delivery."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51760"/>
            <a:ext cx="2651760" cy="137160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651760"/>
            <a:ext cx="2651760" cy="54864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74320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0C88E"/>
                </a:solidFill>
                <a:latin typeface="Calibri"/>
              </a:rPr>
              <a:t>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36499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0D8E8"/>
                </a:solidFill>
                <a:latin typeface="Calibri"/>
              </a:rPr>
              <a:t>Faster Time-
to-Market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2651760"/>
            <a:ext cx="2651760" cy="137160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2651760"/>
            <a:ext cx="2651760" cy="54864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74320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072C6"/>
                </a:solidFill>
                <a:latin typeface="Calibri"/>
              </a:rPr>
              <a:t>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36499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0D8E8"/>
                </a:solidFill>
                <a:latin typeface="Calibri"/>
              </a:rPr>
              <a:t>Defect Reduction
(post-release)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51760"/>
            <a:ext cx="2651760" cy="137160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51760"/>
            <a:ext cx="2651760" cy="54864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74320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7A00"/>
                </a:solidFill>
                <a:latin typeface="Calibri"/>
              </a:rPr>
              <a:t>3×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36499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0D8E8"/>
                </a:solidFill>
                <a:latin typeface="Calibri"/>
              </a:rPr>
              <a:t>Engineering
Productivity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2651760"/>
            <a:ext cx="2651760" cy="137160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2651760"/>
            <a:ext cx="2651760" cy="54864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74320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7B5EF8"/>
                </a:solidFill>
                <a:latin typeface="Calibri"/>
              </a:rPr>
              <a:t>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336499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0D8E8"/>
                </a:solidFill>
                <a:latin typeface="Calibri"/>
              </a:rPr>
              <a:t>Automation of
Routine Tasks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251960"/>
            <a:ext cx="109728" cy="32004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25196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  <a:latin typeface="Calibri"/>
              </a:rPr>
              <a:t>Targets embedded systems across automotive, aerospace, industrial IoT, medical devices &amp; consumer electronics.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764024"/>
            <a:ext cx="109728" cy="32004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76402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  <a:latin typeface="Calibri"/>
              </a:rPr>
              <a:t>Built on a model-agnostic, multi-agent AI framework: integrates LLMs, formal verification, and ML-based testing.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276088"/>
            <a:ext cx="109728" cy="32004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27608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  <a:latin typeface="Calibri"/>
              </a:rPr>
              <a:t>Enterprise-grade: compliant with ISO 26262, IEC 61508, DO-178C, MISRA C, and GDPR/ITAR requirements.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788152"/>
            <a:ext cx="109728" cy="32004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78815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  <a:latin typeface="Calibri"/>
              </a:rPr>
              <a:t>SaaS + on-premise hybrid deployment; plugs directly into existing CI/CD pipelines and tool chains.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PROBLEM &amp;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Embedded Lifecycle Is Broken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558" y="1389888"/>
            <a:ext cx="11213835" cy="16459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72768"/>
            <a:ext cx="5577840" cy="146304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572768"/>
            <a:ext cx="64008" cy="1463040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66420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7A00"/>
                </a:solidFill>
                <a:latin typeface="Calibri"/>
              </a:rPr>
              <a:t>⏱  Schedule Overruns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956816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0D8E8"/>
                </a:solidFill>
                <a:latin typeface="Calibri"/>
              </a:rPr>
              <a:t>72% of embedded projects miss their release date.
Manual requirement tracing, integration failures &amp; late bug discovery are the top causes.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572768"/>
            <a:ext cx="5577840" cy="146304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72768"/>
            <a:ext cx="64008" cy="146304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66420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2C6"/>
                </a:solidFill>
                <a:latin typeface="Calibri"/>
              </a:rPr>
              <a:t>🐛  Defect Escape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1956816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0D8E8"/>
                </a:solidFill>
                <a:latin typeface="Calibri"/>
              </a:rPr>
              <a:t>Embedded defects found post-deployment cost 100× more to fix.
Traditional test strategies miss 35–45% of critical edge-case failures.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5577840" cy="146304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200400"/>
            <a:ext cx="64008" cy="146304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32918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B5EF8"/>
                </a:solidFill>
                <a:latin typeface="Calibri"/>
              </a:rPr>
              <a:t>🔄  Tool-Chain Fragmentation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358444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0D8E8"/>
                </a:solidFill>
                <a:latin typeface="Calibri"/>
              </a:rPr>
              <a:t>Engineering teams juggle 12–20 disparate tools with no unified data model.
Context-switching overhead consumes 30% of engineering bandwidth.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200400"/>
            <a:ext cx="5577840" cy="146304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200400"/>
            <a:ext cx="64008" cy="1463040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2918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8E"/>
                </a:solidFill>
                <a:latin typeface="Calibri"/>
              </a:rPr>
              <a:t>📋  Compliance Burden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58444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0D8E8"/>
                </a:solidFill>
                <a:latin typeface="Calibri"/>
              </a:rPr>
              <a:t>Meeting IEC 61508 SIL-3 or ISO 26262 ASIL-D requires thousands of hours of manual artifact generation.
Traceability gaps lead to costly re-certifications.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828032"/>
            <a:ext cx="5577840" cy="146304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828032"/>
            <a:ext cx="64008" cy="146304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491947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Calibri"/>
              </a:rPr>
              <a:t>🔌  Hardware-Software Co-Design Gap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2120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0D8E8"/>
                </a:solidFill>
                <a:latin typeface="Calibri"/>
              </a:rPr>
              <a:t>Hardware and software teams operate in silos.
Late hardware bring-up causes 60% of integration delays in complex SoC designs.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4828032"/>
            <a:ext cx="5577840" cy="146304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4828032"/>
            <a:ext cx="64008" cy="1463040"/>
          </a:xfrm>
          <a:prstGeom prst="rect">
            <a:avLst/>
          </a:prstGeom>
          <a:solidFill>
            <a:srgbClr val="FF4080"/>
          </a:solidFill>
          <a:ln>
            <a:solidFill>
              <a:srgbClr val="FF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8232" y="491947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080"/>
                </a:solidFill>
                <a:latin typeface="Calibri"/>
              </a:rPr>
              <a:t>📈  Market Pressure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52120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0D8E8"/>
                </a:solidFill>
                <a:latin typeface="Calibri"/>
              </a:rPr>
              <a:t>Embedded software content doubles every 3 years.
Competitors shipping AI-enhanced products 2× faster — traditional methods cannot keep pace.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SOLUTION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Is AEPLO V3?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558" y="1389888"/>
            <a:ext cx="11213835" cy="16459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7132320" cy="10972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72768"/>
            <a:ext cx="67665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  <a:latin typeface="Calibri"/>
              </a:rPr>
              <a:t>AEPLO V3 is a multi-agent AI orchestration platform that sits at the intersection of your embedded development tool chain and a suite of purpose-built AI engines. It continuously monitors, analyzes, and acts across the full product lifecycle — from requirements ingestion through field telemetry-driven EOL prediction.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88920"/>
            <a:ext cx="3566160" cy="24688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3566160" cy="54864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907792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2C6"/>
                </a:solidFill>
                <a:latin typeface="Calibri"/>
              </a:rPr>
              <a:t>PERCEIVE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38328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  <a:latin typeface="Calibri"/>
              </a:rPr>
              <a:t>Unified data ingestion from all tools:
JIRA, Git, CI/CD, HW simulators,
field telemetry, regulatory databases.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2788920"/>
            <a:ext cx="3566160" cy="24688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0520" y="2788920"/>
            <a:ext cx="3566160" cy="54864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0520" y="2907792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7B5EF8"/>
                </a:solidFill>
                <a:latin typeface="Calibri"/>
              </a:rPr>
              <a:t>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38328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  <a:latin typeface="Calibri"/>
              </a:rPr>
              <a:t>Multi-agent LLM + formal methods:
requirement analysis, risk scoring,
change-impact prediction, root-cause AI.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2788920"/>
            <a:ext cx="3566160" cy="24688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2788920"/>
            <a:ext cx="3566160" cy="54864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2907792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C88E"/>
                </a:solidFill>
                <a:latin typeface="Calibri"/>
              </a:rPr>
              <a:t>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38328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  <a:latin typeface="Calibri"/>
              </a:rPr>
              <a:t>Closed-loop automation:
auto-generate tests, patches, docs,
certification artifacts &amp; release gates.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1508760"/>
            <a:ext cx="4023360" cy="37947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16002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4D8"/>
                </a:solidFill>
                <a:latin typeface="Calibri"/>
              </a:rPr>
              <a:t>AEPLO V3 AT A GLANCE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44243" y="1993392"/>
            <a:ext cx="3900464" cy="16459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21488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2148840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Core AI Agents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6032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18+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2560320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Tool Integrations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971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&lt; 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2971800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On-boarding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33832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20" y="3383280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Lifecycle Visibility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379476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ASIL-D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6920" y="3794760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Max Safety Integrity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2062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Cloud + On-prem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4206240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Deployment Options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461772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REST / gRPC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4617720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API Surface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50292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&lt; 200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5029200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Agent Response Latency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End-to-End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558" y="1389888"/>
            <a:ext cx="11213835" cy="16459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11521440" cy="804672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72768"/>
            <a:ext cx="2560320" cy="804672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73936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DATA INGESTION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7556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Git · JIRA · CI/CD · HW Sim · Field Telemetry · Regs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87168"/>
            <a:ext cx="11521440" cy="804672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487168"/>
            <a:ext cx="2560320" cy="804672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688336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UNIFIED KNOWLEDGE GRAPH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6700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Semantic Graph DB · Traceability Engine · Version History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401568"/>
            <a:ext cx="11521440" cy="804672"/>
          </a:xfrm>
          <a:prstGeom prst="rect">
            <a:avLst/>
          </a:prstGeom>
          <a:solidFill>
            <a:srgbClr val="0D2B55"/>
          </a:solidFill>
          <a:ln>
            <a:solidFill>
              <a:srgbClr val="0D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401568"/>
            <a:ext cx="2560320" cy="804672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602736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MULTI-AGENT AI 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5844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Req Agent · Design Agent · Test Agent · Defect Agent · Cert Agent · EOL Agent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315968"/>
            <a:ext cx="11521440" cy="804672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4315968"/>
            <a:ext cx="2560320" cy="804672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517136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ORCHESTRATION &amp;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4988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CI/CD Hooks · Auto-PR · Change Gating · Release Manager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230368"/>
            <a:ext cx="11521440" cy="804672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5230368"/>
            <a:ext cx="2560320" cy="804672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431536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DELIVERY &amp; COMPLIANCE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54132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Dashboards · Audit Trails · SBOM · Cert Packages · APIs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2450592"/>
            <a:ext cx="822960" cy="7315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0" y="3364992"/>
            <a:ext cx="822960" cy="7315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0" y="4279392"/>
            <a:ext cx="822960" cy="7315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0" y="5193792"/>
            <a:ext cx="822960" cy="7315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CORE AI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Six Pillars of AI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558" y="1389888"/>
            <a:ext cx="11213835" cy="16459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3749039" cy="228600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72768"/>
            <a:ext cx="3749039" cy="54864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09928"/>
            <a:ext cx="685800" cy="32004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09928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REQ-AI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7099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Requirement Intelligence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39696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• NLP-driven req parsing &amp; disambiguation
• Automatic traceability matrix generation
• Change-impact scoring &amp; conflict detection
• Supports SysML, DOORS, JIRA, plain 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1572768"/>
            <a:ext cx="3749039" cy="228600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1572768"/>
            <a:ext cx="3749039" cy="54864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7408" y="1709928"/>
            <a:ext cx="685800" cy="320040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8" y="1709928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DESIGN-AI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2936" y="17099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HW/SW Co-Design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2139696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• Architecture pattern recommendation
• AI-powered memory / power budgeting
• Interface contract verification
• RTOS &amp; BSP configuration optimisation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0456" y="1572768"/>
            <a:ext cx="3749039" cy="228600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0456" y="1572768"/>
            <a:ext cx="3749039" cy="54864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57616" y="1709928"/>
            <a:ext cx="685800" cy="32004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1709928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TEST-AI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4" y="17099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Autonomous Test Orchestrator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7616" y="2139696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• Coverage-guided test case generation
• Model-in-the-loop &amp; HIL orchestration
• Regression triage &amp; smart re-run
• Mutation testing &amp; fault injection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995928"/>
            <a:ext cx="3749039" cy="228600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995928"/>
            <a:ext cx="3749039" cy="54864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133088"/>
            <a:ext cx="685800" cy="320040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133088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DEFECT-AI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2728" y="41330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Predictive Defect &amp; Root-Cause Engine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62856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• Static + dynamic combined analysis
• ML-based defect prediction (commit-level)
• Automated root-cause hypotheses
• Cross-release defect pattern mining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70248" y="3995928"/>
            <a:ext cx="3749039" cy="228600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70248" y="3995928"/>
            <a:ext cx="3749039" cy="54864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07408" y="4133088"/>
            <a:ext cx="685800" cy="32004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07408" y="4133088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CERT-AI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02936" y="41330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Certification Autopilot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562856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• ISO 26262 / IEC 61508 artefact generation
• Gap analysis against standard checklists
• Audit-ready evidence packaging
• Regulatory change monitoring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0456" y="3995928"/>
            <a:ext cx="3749039" cy="228600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0456" y="3995928"/>
            <a:ext cx="3749039" cy="54864"/>
          </a:xfrm>
          <a:prstGeom prst="rect">
            <a:avLst/>
          </a:prstGeom>
          <a:solidFill>
            <a:srgbClr val="FF4080"/>
          </a:solidFill>
          <a:ln>
            <a:solidFill>
              <a:srgbClr val="FF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357616" y="4133088"/>
            <a:ext cx="685800" cy="320040"/>
          </a:xfrm>
          <a:prstGeom prst="rect">
            <a:avLst/>
          </a:prstGeom>
          <a:solidFill>
            <a:srgbClr val="FF4080"/>
          </a:solidFill>
          <a:ln>
            <a:solidFill>
              <a:srgbClr val="FF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57616" y="4133088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EOL-AI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3144" y="41330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End-of-Life &amp; Sustainability Agent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57616" y="4562856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• Component obsolescence early-warning
• Field telemetry → remaining-life prediction
• SBOM lifecycle management
• Circular-economy optimisation scoring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LIFECYCLE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Full Embedded Product Lifecycle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558" y="1389888"/>
            <a:ext cx="11213835" cy="16459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4160520"/>
            <a:ext cx="11521440" cy="73152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86032" y="4069080"/>
            <a:ext cx="182880" cy="256032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13816" y="4059936"/>
            <a:ext cx="201168" cy="201168"/>
          </a:xfrm>
          <a:prstGeom prst="ellipse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72768"/>
            <a:ext cx="1325880" cy="24231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1572768"/>
            <a:ext cx="1325880" cy="4572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1664208"/>
            <a:ext cx="12161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72C6"/>
                </a:solidFill>
                <a:latin typeface="Calibri"/>
              </a:rPr>
              <a:t>1. REQUIREMENTS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4904" y="2167128"/>
            <a:ext cx="731520" cy="237744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16712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REQ-AI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" y="2487168"/>
            <a:ext cx="1216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D8E8"/>
                </a:solidFill>
                <a:latin typeface="Calibri"/>
              </a:rPr>
              <a:t>Ingest
Parse
Trace
Validate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995928"/>
            <a:ext cx="54864" cy="1673352"/>
          </a:xfrm>
          <a:prstGeom prst="rect">
            <a:avLst/>
          </a:prstGeom>
          <a:solidFill>
            <a:srgbClr val="D0D8E8"/>
          </a:solidFill>
          <a:ln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231136" y="4059936"/>
            <a:ext cx="201168" cy="201168"/>
          </a:xfrm>
          <a:prstGeom prst="ellipse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37360" y="4389120"/>
            <a:ext cx="1325880" cy="22402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37360" y="4389120"/>
            <a:ext cx="1325880" cy="4572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92224" y="4480560"/>
            <a:ext cx="12161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B5EF8"/>
                </a:solidFill>
                <a:latin typeface="Calibri"/>
              </a:rPr>
              <a:t>2.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92224" y="4983480"/>
            <a:ext cx="731520" cy="237744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92224" y="4983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DESIGN-AI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92224" y="5303520"/>
            <a:ext cx="12161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D8E8"/>
                </a:solidFill>
                <a:latin typeface="Calibri"/>
              </a:rPr>
              <a:t>Model
Verify
Optimise
Budget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4233672"/>
            <a:ext cx="54864" cy="146304"/>
          </a:xfrm>
          <a:prstGeom prst="rect">
            <a:avLst/>
          </a:prstGeom>
          <a:solidFill>
            <a:srgbClr val="D0D8E8"/>
          </a:solidFill>
          <a:ln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648456" y="4059936"/>
            <a:ext cx="201168" cy="201168"/>
          </a:xfrm>
          <a:prstGeom prst="ellipse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54680" y="1572768"/>
            <a:ext cx="1325880" cy="24231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54680" y="1572768"/>
            <a:ext cx="1325880" cy="45720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9544" y="1664208"/>
            <a:ext cx="12161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C88E"/>
                </a:solidFill>
                <a:latin typeface="Calibri"/>
              </a:rPr>
              <a:t>3. DEVELOPMENT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9544" y="2167128"/>
            <a:ext cx="731520" cy="237744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9544" y="216712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DEFECT-AI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9544" y="2487168"/>
            <a:ext cx="1216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D8E8"/>
                </a:solidFill>
                <a:latin typeface="Calibri"/>
              </a:rPr>
              <a:t>Predict
Analyse
Suggest
Review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3995928"/>
            <a:ext cx="54864" cy="1673352"/>
          </a:xfrm>
          <a:prstGeom prst="rect">
            <a:avLst/>
          </a:prstGeom>
          <a:solidFill>
            <a:srgbClr val="D0D8E8"/>
          </a:solidFill>
          <a:ln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065776" y="4059936"/>
            <a:ext cx="201168" cy="201168"/>
          </a:xfrm>
          <a:prstGeom prst="ellipse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0" y="4389120"/>
            <a:ext cx="1325880" cy="22402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0" y="4389120"/>
            <a:ext cx="1325880" cy="4572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26864" y="4480560"/>
            <a:ext cx="12161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  <a:latin typeface="Calibri"/>
              </a:rPr>
              <a:t>4. TESTING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26864" y="4983480"/>
            <a:ext cx="731520" cy="237744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26864" y="4983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TEST-AI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26864" y="5303520"/>
            <a:ext cx="12161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D8E8"/>
                </a:solidFill>
                <a:latin typeface="Calibri"/>
              </a:rPr>
              <a:t>Generate
Execute
Triage
Report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66360" y="4233672"/>
            <a:ext cx="54864" cy="146304"/>
          </a:xfrm>
          <a:prstGeom prst="rect">
            <a:avLst/>
          </a:prstGeom>
          <a:solidFill>
            <a:srgbClr val="D0D8E8"/>
          </a:solidFill>
          <a:ln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83096" y="4059936"/>
            <a:ext cx="201168" cy="201168"/>
          </a:xfrm>
          <a:prstGeom prst="ellipse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89320" y="1572768"/>
            <a:ext cx="1325880" cy="24231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89320" y="1572768"/>
            <a:ext cx="1325880" cy="45720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44184" y="1664208"/>
            <a:ext cx="12161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7A00"/>
                </a:solidFill>
                <a:latin typeface="Calibri"/>
              </a:rPr>
              <a:t>5. CERTIFICATION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44184" y="2167128"/>
            <a:ext cx="731520" cy="237744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44184" y="216712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CERT-AI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4184" y="2487168"/>
            <a:ext cx="1216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D8E8"/>
                </a:solidFill>
                <a:latin typeface="Calibri"/>
              </a:rPr>
              <a:t>Audit
Generate
Gap-fill
Submit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0" y="3995928"/>
            <a:ext cx="54864" cy="1673352"/>
          </a:xfrm>
          <a:prstGeom prst="rect">
            <a:avLst/>
          </a:prstGeom>
          <a:solidFill>
            <a:srgbClr val="D0D8E8"/>
          </a:solidFill>
          <a:ln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900416" y="4059936"/>
            <a:ext cx="201168" cy="201168"/>
          </a:xfrm>
          <a:prstGeom prst="ellipse">
            <a:avLst/>
          </a:prstGeom>
          <a:solidFill>
            <a:srgbClr val="FF4080"/>
          </a:solidFill>
          <a:ln>
            <a:solidFill>
              <a:srgbClr val="FF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406640" y="4389120"/>
            <a:ext cx="1325880" cy="22402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06640" y="4389120"/>
            <a:ext cx="1325880" cy="45720"/>
          </a:xfrm>
          <a:prstGeom prst="rect">
            <a:avLst/>
          </a:prstGeom>
          <a:solidFill>
            <a:srgbClr val="FF4080"/>
          </a:solidFill>
          <a:ln>
            <a:solidFill>
              <a:srgbClr val="FF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61504" y="4480560"/>
            <a:ext cx="12161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4080"/>
                </a:solidFill>
                <a:latin typeface="Calibri"/>
              </a:rPr>
              <a:t>6. DEPLOYMENT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61504" y="4983480"/>
            <a:ext cx="731520" cy="237744"/>
          </a:xfrm>
          <a:prstGeom prst="rect">
            <a:avLst/>
          </a:prstGeom>
          <a:solidFill>
            <a:srgbClr val="FF4080"/>
          </a:solidFill>
          <a:ln>
            <a:solidFill>
              <a:srgbClr val="FF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61504" y="4983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EOL-AI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61504" y="5303520"/>
            <a:ext cx="12161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D8E8"/>
                </a:solidFill>
                <a:latin typeface="Calibri"/>
              </a:rPr>
              <a:t>Monitor
Update
SBOM
Secure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01000" y="4233672"/>
            <a:ext cx="54864" cy="146304"/>
          </a:xfrm>
          <a:prstGeom prst="rect">
            <a:avLst/>
          </a:prstGeom>
          <a:solidFill>
            <a:srgbClr val="D0D8E8"/>
          </a:solidFill>
          <a:ln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317736" y="4059936"/>
            <a:ext cx="201168" cy="201168"/>
          </a:xfrm>
          <a:prstGeom prst="ellipse">
            <a:avLst/>
          </a:prstGeom>
          <a:solidFill>
            <a:srgbClr val="9030EF"/>
          </a:solidFill>
          <a:ln>
            <a:solidFill>
              <a:srgbClr val="903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823960" y="1572768"/>
            <a:ext cx="1325880" cy="24231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823960" y="1572768"/>
            <a:ext cx="1325880" cy="45720"/>
          </a:xfrm>
          <a:prstGeom prst="rect">
            <a:avLst/>
          </a:prstGeom>
          <a:solidFill>
            <a:srgbClr val="9030EF"/>
          </a:solidFill>
          <a:ln>
            <a:solidFill>
              <a:srgbClr val="903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878824" y="1664208"/>
            <a:ext cx="12161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30EF"/>
                </a:solidFill>
                <a:latin typeface="Calibri"/>
              </a:rPr>
              <a:t>7. FIELD OPS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878824" y="2167128"/>
            <a:ext cx="731520" cy="237744"/>
          </a:xfrm>
          <a:prstGeom prst="rect">
            <a:avLst/>
          </a:prstGeom>
          <a:solidFill>
            <a:srgbClr val="9030EF"/>
          </a:solidFill>
          <a:ln>
            <a:solidFill>
              <a:srgbClr val="903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878824" y="216712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EOL-AI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78824" y="2487168"/>
            <a:ext cx="1216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D8E8"/>
                </a:solidFill>
                <a:latin typeface="Calibri"/>
              </a:rPr>
              <a:t>Telemetry
Predict
Alert
Plan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18320" y="3995928"/>
            <a:ext cx="54864" cy="1673352"/>
          </a:xfrm>
          <a:prstGeom prst="rect">
            <a:avLst/>
          </a:prstGeom>
          <a:solidFill>
            <a:srgbClr val="D0D8E8"/>
          </a:solidFill>
          <a:ln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735056" y="4059936"/>
            <a:ext cx="201168" cy="201168"/>
          </a:xfrm>
          <a:prstGeom prst="ellipse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241280" y="4389120"/>
            <a:ext cx="1325880" cy="22402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241280" y="4389120"/>
            <a:ext cx="1325880" cy="45720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96144" y="4480560"/>
            <a:ext cx="12161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7A00"/>
                </a:solidFill>
                <a:latin typeface="Calibri"/>
              </a:rPr>
              <a:t>8. END-OF-LIFE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296144" y="4983480"/>
            <a:ext cx="731520" cy="237744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296144" y="4983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EOL-AI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96144" y="5303520"/>
            <a:ext cx="12161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D8E8"/>
                </a:solidFill>
                <a:latin typeface="Calibri"/>
              </a:rPr>
              <a:t>Retire
Recycle
Archive
Comply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835640" y="4233672"/>
            <a:ext cx="54864" cy="146304"/>
          </a:xfrm>
          <a:prstGeom prst="rect">
            <a:avLst/>
          </a:prstGeom>
          <a:solidFill>
            <a:srgbClr val="D0D8E8"/>
          </a:solidFill>
          <a:ln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KEY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Differentiating Capabilities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558" y="1389888"/>
            <a:ext cx="11213835" cy="16459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5577840" cy="15544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0" y="2075688"/>
            <a:ext cx="502920" cy="502920"/>
          </a:xfrm>
          <a:prstGeom prst="ellipse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756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68249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2C6"/>
                </a:solidFill>
                <a:latin typeface="Calibri"/>
              </a:rPr>
              <a:t>Continuous Traceability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4617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0D8E8"/>
                </a:solidFill>
                <a:latin typeface="Calibri"/>
              </a:rPr>
              <a:t>Bi-directional live traceability from market requirement → silicon → firmware → field data. Automatic impact analysis for any change in under 3 seconds.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72768"/>
            <a:ext cx="5577840" cy="15544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5080" y="2075688"/>
            <a:ext cx="502920" cy="502920"/>
          </a:xfrm>
          <a:prstGeom prst="ellipse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0756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168249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8E"/>
                </a:solidFill>
                <a:latin typeface="Calibri"/>
              </a:rPr>
              <a:t>AI-Generated Test Suites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029968"/>
            <a:ext cx="4617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0D8E8"/>
                </a:solidFill>
                <a:latin typeface="Calibri"/>
              </a:rPr>
              <a:t>Automatically generates unit, integration and system test cases from requirements and design models. Achieves MC/DC coverage targets without manual test authoring.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264408"/>
            <a:ext cx="5577840" cy="15544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7200" y="3767328"/>
            <a:ext cx="502920" cy="502920"/>
          </a:xfrm>
          <a:prstGeom prst="ellipse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7673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37413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B5EF8"/>
                </a:solidFill>
                <a:latin typeface="Calibri"/>
              </a:rPr>
              <a:t>Predictive Defect Scoring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721608"/>
            <a:ext cx="4617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0D8E8"/>
                </a:solidFill>
                <a:latin typeface="Calibri"/>
              </a:rPr>
              <a:t>Commit-level defect probability scoring using ensemble ML trained on 50M+ embedded defect records. Flags high-risk changes before merge.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264408"/>
            <a:ext cx="5577840" cy="15544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5080" y="3767328"/>
            <a:ext cx="502920" cy="502920"/>
          </a:xfrm>
          <a:prstGeom prst="ellipse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7673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337413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Calibri"/>
              </a:rPr>
              <a:t>One-Click Certification Packages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3721608"/>
            <a:ext cx="4617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0D8E8"/>
                </a:solidFill>
                <a:latin typeface="Calibri"/>
              </a:rPr>
              <a:t>Generates complete IEC 61508 / ISO 26262 safety cases, FMEA, FMEDA, and DFA artefacts automatically. Reduces certification prep from weeks to hours.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4956048"/>
            <a:ext cx="5577840" cy="15544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5458968"/>
            <a:ext cx="502920" cy="502920"/>
          </a:xfrm>
          <a:prstGeom prst="ellipse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4589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06577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7A00"/>
                </a:solidFill>
                <a:latin typeface="Calibri"/>
              </a:rPr>
              <a:t>Hardware-in-the-Loop Orchestration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4617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0D8E8"/>
                </a:solidFill>
                <a:latin typeface="Calibri"/>
              </a:rPr>
              <a:t>AI-driven HIL scheduling with intelligent test prioritisation. Detects hardware anomalies via telemetry signatures and predicts board failures 72 h in advance.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956048"/>
            <a:ext cx="5577840" cy="15544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55080" y="5458968"/>
            <a:ext cx="502920" cy="502920"/>
          </a:xfrm>
          <a:prstGeom prst="ellipse">
            <a:avLst/>
          </a:prstGeom>
          <a:solidFill>
            <a:srgbClr val="FF4080"/>
          </a:solidFill>
          <a:ln>
            <a:solidFill>
              <a:srgbClr val="FF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54589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506577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080"/>
                </a:solidFill>
                <a:latin typeface="Calibri"/>
              </a:rPr>
              <a:t>Natural Language Interface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5413248"/>
            <a:ext cx="4617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0D8E8"/>
                </a:solidFill>
                <a:latin typeface="Calibri"/>
              </a:rPr>
              <a:t>Engineers query the full lifecycle using plain English. AEPLO V3 answers: What changed since last sprint that could affect ASIL-B? -- instantly.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INTEGRATIONS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Integration Ecosystem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558" y="1389888"/>
            <a:ext cx="11213835" cy="16459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5577840" cy="822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72768"/>
            <a:ext cx="54864" cy="82296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2C6"/>
                </a:solidFill>
                <a:latin typeface="Calibri"/>
              </a:rPr>
              <a:t>REQUIREMENTS &amp; ALM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5681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JIRA · IBM DOORS · Polarion · Codebeamer · Azure DevOps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572768"/>
            <a:ext cx="5577840" cy="822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572768"/>
            <a:ext cx="54864" cy="822960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2763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8E"/>
                </a:solidFill>
                <a:latin typeface="Calibri"/>
              </a:rPr>
              <a:t>SOURCE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5681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Git / GitHub · GitLab · Bitbucket · Perforce Helix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514600"/>
            <a:ext cx="5577840" cy="822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514600"/>
            <a:ext cx="54864" cy="82296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5694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5EF8"/>
                </a:solidFill>
                <a:latin typeface="Calibri"/>
              </a:rPr>
              <a:t>BUILD &amp; CI/CD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8986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Jenkins · GitLab CI · GitHub Actions · Bamboo · TeamCity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514600"/>
            <a:ext cx="5577840" cy="822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514600"/>
            <a:ext cx="54864" cy="82296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5694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MODELLING &amp; SIMULATION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986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MATLAB/Simulink · Enterprise Architect · Rhapsody · ANSYS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456432"/>
            <a:ext cx="5577840" cy="822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3456432"/>
            <a:ext cx="54864" cy="822960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51129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A00"/>
                </a:solidFill>
                <a:latin typeface="Calibri"/>
              </a:rPr>
              <a:t>STATIC ANALYSIS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404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Polyspace · Coverity · SonarQube · MISRA Checker · PRQA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456432"/>
            <a:ext cx="5577840" cy="822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456432"/>
            <a:ext cx="54864" cy="822960"/>
          </a:xfrm>
          <a:prstGeom prst="rect">
            <a:avLst/>
          </a:prstGeom>
          <a:solidFill>
            <a:srgbClr val="FF4080"/>
          </a:solidFill>
          <a:ln>
            <a:solidFill>
              <a:srgbClr val="FF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51129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4080"/>
                </a:solidFill>
                <a:latin typeface="Calibri"/>
              </a:rPr>
              <a:t>TEST PLATFORMS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8404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VectorCAST · LDRA · NI TestStand · CAPL · Robot Framework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398264"/>
            <a:ext cx="5577840" cy="822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4398264"/>
            <a:ext cx="54864" cy="82296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45312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2C6"/>
                </a:solidFill>
                <a:latin typeface="Calibri"/>
              </a:rPr>
              <a:t>HW DEBUGGERS &amp; JTAG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8231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JTAG/SWD · Lauterbach · J-Link · Green Hills Probe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4398264"/>
            <a:ext cx="5577840" cy="822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4398264"/>
            <a:ext cx="54864" cy="822960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445312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8E"/>
                </a:solidFill>
                <a:latin typeface="Calibri"/>
              </a:rPr>
              <a:t>SECURITY SCANNING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78231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Synopsys Black Duck · FOSSA · Snyk · CycloneDX SBOM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5340096"/>
            <a:ext cx="5577840" cy="822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0040" y="5340096"/>
            <a:ext cx="54864" cy="82296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539496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5EF8"/>
                </a:solidFill>
                <a:latin typeface="Calibri"/>
              </a:rPr>
              <a:t>CLOUD PLATFORMS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72414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AWS · Azure · GCP · Private Cloud · Hybrid Edge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5340096"/>
            <a:ext cx="5577840" cy="822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5340096"/>
            <a:ext cx="54864" cy="82296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39496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COMMUNICATION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72414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Slack · MS Teams · PagerDuty · ServiceNow · Email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SECURITY &amp;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Enterprise-Grade Safety &amp; Compliance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558" y="1389888"/>
            <a:ext cx="11213835" cy="16459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3703320" cy="1965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72768"/>
            <a:ext cx="3703320" cy="45720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8249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A00"/>
                </a:solidFill>
                <a:latin typeface="Calibri"/>
              </a:rPr>
              <a:t>ISO 26262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737360"/>
            <a:ext cx="1234440" cy="292608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173736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ASIL A–D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67128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Automotive functional safety. Full ASIL decomposition
support, FMEA/FTA generation, work-product automation.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572768"/>
            <a:ext cx="3703320" cy="1965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59" y="1572768"/>
            <a:ext cx="3703320" cy="4572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19" y="168249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72C6"/>
                </a:solidFill>
                <a:latin typeface="Calibri"/>
              </a:rPr>
              <a:t>IEC 61508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19" y="1737360"/>
            <a:ext cx="1234440" cy="292608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19" y="173736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SIL 1–4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2167128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Industrial functional safety. SIL target verification,
hardware/software systematic capability assessment.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3721608"/>
            <a:ext cx="3703320" cy="1965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3721608"/>
            <a:ext cx="3703320" cy="45720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39" y="383133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C88E"/>
                </a:solidFill>
                <a:latin typeface="Calibri"/>
              </a:rPr>
              <a:t>DO-178C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78439" y="3886200"/>
            <a:ext cx="1234440" cy="292608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39" y="388620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DAL A–E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4315968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Avionics software. Requirements traceability, MC/DC
coverage, structural coverage analysis automation.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721608"/>
            <a:ext cx="3703320" cy="1965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721608"/>
            <a:ext cx="3703320" cy="4572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83133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  <a:latin typeface="Calibri"/>
              </a:rPr>
              <a:t>IEC 62443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14600" y="3886200"/>
            <a:ext cx="1234440" cy="292608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14600" y="388620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SL 1–4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315968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Industrial cyber-security. Attack surface modelling,
cyber-FMEA, secure coding enforcement.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59" y="5870448"/>
            <a:ext cx="3703320" cy="1965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51959" y="5870448"/>
            <a:ext cx="3703320" cy="4572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19" y="598017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7B5EF8"/>
                </a:solidFill>
                <a:latin typeface="Calibri"/>
              </a:rPr>
              <a:t>MISRA C/C++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19" y="6035040"/>
            <a:ext cx="1234440" cy="292608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19" y="603504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19" y="6464808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Coding standard enforcement with automatic rule
violation fix suggestions via DEFECT-AI.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3879" y="5870448"/>
            <a:ext cx="3703320" cy="1965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83879" y="5870448"/>
            <a:ext cx="3703320" cy="45720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39" y="598017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A00"/>
                </a:solidFill>
                <a:latin typeface="Calibri"/>
              </a:rPr>
              <a:t>GDPR / ITAR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378439" y="6035040"/>
            <a:ext cx="1234440" cy="292608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378439" y="603504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Export Ctrl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39" y="6464808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Data residency controls, audit logging, role-based
access, air-gapped deployment option for ITAR work.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METRICS &amp; KPIS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Quantified Business &amp; Engineering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558" y="1389888"/>
            <a:ext cx="11213835" cy="16459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2743200" cy="20116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72768"/>
            <a:ext cx="2743200" cy="54864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69164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00C88E"/>
                </a:solidFill>
                <a:latin typeface="Calibri"/>
              </a:rPr>
              <a:t>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48716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Reduction in
time-to-market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01752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0D8E8"/>
                </a:solidFill>
                <a:latin typeface="Calibri"/>
              </a:rPr>
              <a:t>Validated across 3 automotive OEM pilots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1572768"/>
            <a:ext cx="2743200" cy="20116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1572768"/>
            <a:ext cx="2743200" cy="54864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169164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0072C6"/>
                </a:solidFill>
                <a:latin typeface="Calibri"/>
              </a:rPr>
              <a:t>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48716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Fewer post-release
defects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01752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0D8E8"/>
                </a:solidFill>
                <a:latin typeface="Calibri"/>
              </a:rPr>
              <a:t>ML defect predictor + auto-test coverage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1572768"/>
            <a:ext cx="2743200" cy="20116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572768"/>
            <a:ext cx="2743200" cy="54864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169164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7A00"/>
                </a:solidFill>
                <a:latin typeface="Calibri"/>
              </a:rPr>
              <a:t>3×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48716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Engineering
productivity gain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01752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0D8E8"/>
                </a:solidFill>
                <a:latin typeface="Calibri"/>
              </a:rPr>
              <a:t>Hours reclaimed from manual artefact work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98280" y="1572768"/>
            <a:ext cx="2743200" cy="201168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98280" y="1572768"/>
            <a:ext cx="2743200" cy="54864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169164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7B5EF8"/>
                </a:solidFill>
                <a:latin typeface="Calibri"/>
              </a:rPr>
              <a:t>80%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48716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Routine task
automation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301752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0D8E8"/>
                </a:solidFill>
                <a:latin typeface="Calibri"/>
              </a:rPr>
              <a:t>Docs, traces, test cases, cert artefacts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379476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Calibri"/>
              </a:rPr>
              <a:t>Additional KPIs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251960"/>
            <a:ext cx="5577840" cy="530352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3434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Requirement change turnaround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6120" y="4343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8E"/>
                </a:solidFill>
                <a:latin typeface="Calibri"/>
              </a:rPr>
              <a:t>&lt; 2 hours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3434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Previously 2–3 days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251960"/>
            <a:ext cx="5577840" cy="530352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3434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Certification prep 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4343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8E"/>
                </a:solidFill>
                <a:latin typeface="Calibri"/>
              </a:rPr>
              <a:t>−75%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43434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Weeks → hours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892040"/>
            <a:ext cx="5577840" cy="530352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9834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Test coverage target attainment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20" y="49834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8E"/>
                </a:solidFill>
                <a:latin typeface="Calibri"/>
              </a:rPr>
              <a:t>98%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49834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MC/DC for ASIL-C/D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4892040"/>
            <a:ext cx="5577840" cy="530352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49834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Mean-time-to-root-cause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9720" y="49834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8E"/>
                </a:solidFill>
                <a:latin typeface="Calibri"/>
              </a:rPr>
              <a:t>−65%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720" y="49834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DEFECT-AI automated RCA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5532120"/>
            <a:ext cx="5577840" cy="530352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6235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SBOM generation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46120" y="56235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8E"/>
                </a:solidFill>
                <a:latin typeface="Calibri"/>
              </a:rPr>
              <a:t>Real-time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89120" y="56235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Per-commit, every build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5532120"/>
            <a:ext cx="5577840" cy="530352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56235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Component obsolescence alert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89720" y="56235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8E"/>
                </a:solidFill>
                <a:latin typeface="Calibri"/>
              </a:rPr>
              <a:t>&gt; 12 months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56235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  <a:latin typeface="Calibri"/>
              </a:rPr>
              <a:t>Lead-time warning horizon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CASE STUDIES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Real-World Deployments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558" y="1389888"/>
            <a:ext cx="11213835" cy="16459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5577840" cy="233172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72768"/>
            <a:ext cx="5577840" cy="4572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636776"/>
            <a:ext cx="54864" cy="219456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Tier-1 Automotive OEM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38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72C6"/>
                </a:solidFill>
                <a:latin typeface="Calibri"/>
              </a:rPr>
              <a:t>ADAS ECU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258568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Challenge: 14-month schedule overrun on ASIL-D radar controller.
Solution: REQ-AI + CERT-AI deployed across 3 supplier teams.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35808"/>
            <a:ext cx="1554480" cy="6858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0540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72C6"/>
                </a:solidFill>
                <a:latin typeface="Calibri"/>
              </a:rPr>
              <a:t>−40%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0D8E8"/>
                </a:solidFill>
                <a:latin typeface="Calibri"/>
              </a:rPr>
              <a:t>Schedule reduction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21992" y="3035808"/>
            <a:ext cx="1554480" cy="6858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21992" y="30540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72C6"/>
                </a:solidFill>
                <a:latin typeface="Calibri"/>
              </a:rPr>
              <a:t>ASIL-D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1992" y="33832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0D8E8"/>
                </a:solidFill>
                <a:latin typeface="Calibri"/>
              </a:rPr>
              <a:t>Achieved on 1st audit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41064" y="3035808"/>
            <a:ext cx="1554480" cy="6858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41064" y="30540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72C6"/>
                </a:solidFill>
                <a:latin typeface="Calibri"/>
              </a:rPr>
              <a:t>2,400h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41064" y="33832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0D8E8"/>
                </a:solidFill>
                <a:latin typeface="Calibri"/>
              </a:rPr>
              <a:t>Saved on cert prep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572768"/>
            <a:ext cx="5577840" cy="233172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572768"/>
            <a:ext cx="5577840" cy="45720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1636776"/>
            <a:ext cx="54864" cy="2194560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Aerospace Avionics OEM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938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C88E"/>
                </a:solidFill>
                <a:latin typeface="Calibri"/>
              </a:rPr>
              <a:t>DO-178C DAL-A Flight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258568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Challenge: MC/DC coverage was stalling a critical FMS release.
Solution: TEST-AI auto-generated 8,000 test cases overnight.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035808"/>
            <a:ext cx="1554480" cy="6858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0540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88E"/>
                </a:solidFill>
                <a:latin typeface="Calibri"/>
              </a:rPr>
              <a:t>98.7%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3832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0D8E8"/>
                </a:solidFill>
                <a:latin typeface="Calibri"/>
              </a:rPr>
              <a:t>MC/DC coverage hit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9872" y="3035808"/>
            <a:ext cx="1554480" cy="6858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19872" y="30540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88E"/>
                </a:solidFill>
                <a:latin typeface="Calibri"/>
              </a:rPr>
              <a:t>6 weeks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9872" y="33832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0D8E8"/>
                </a:solidFill>
                <a:latin typeface="Calibri"/>
              </a:rPr>
              <a:t>Saved on test phase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38944" y="3035808"/>
            <a:ext cx="1554480" cy="6858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38944" y="30540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88E"/>
                </a:solidFill>
                <a:latin typeface="Calibri"/>
              </a:rPr>
              <a:t>Zero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38944" y="33832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0D8E8"/>
                </a:solidFill>
                <a:latin typeface="Calibri"/>
              </a:rPr>
              <a:t>Regression escapes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087368"/>
            <a:ext cx="5577840" cy="233172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4087368"/>
            <a:ext cx="5577840" cy="45720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0040" y="4151376"/>
            <a:ext cx="54864" cy="2194560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Industrial IoT Platform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4531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A00"/>
                </a:solidFill>
                <a:latin typeface="Calibri"/>
              </a:rPr>
              <a:t>IEC 62443 SL-3 Controller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4773168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Challenge: Firmware quality issues causing field recalls.
Solution: DEFECT-AI deployed in CI; CERT-AI for 62443 gap-fill.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550408"/>
            <a:ext cx="1554480" cy="6858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5686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7A00"/>
                </a:solidFill>
                <a:latin typeface="Calibri"/>
              </a:rPr>
              <a:t>−62%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897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0D8E8"/>
                </a:solidFill>
                <a:latin typeface="Calibri"/>
              </a:rPr>
              <a:t>Field defect rate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21992" y="5550408"/>
            <a:ext cx="1554480" cy="6858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21992" y="55686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7A00"/>
                </a:solidFill>
                <a:latin typeface="Calibri"/>
              </a:rPr>
              <a:t>$4.2M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21992" y="5897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0D8E8"/>
                </a:solidFill>
                <a:latin typeface="Calibri"/>
              </a:rPr>
              <a:t>Recall cost avoided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41064" y="5550408"/>
            <a:ext cx="1554480" cy="6858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41064" y="55686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7A00"/>
                </a:solidFill>
                <a:latin typeface="Calibri"/>
              </a:rPr>
              <a:t>3×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41064" y="5897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0D8E8"/>
                </a:solidFill>
                <a:latin typeface="Calibri"/>
              </a:rPr>
              <a:t>Release cadence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4087368"/>
            <a:ext cx="5577840" cy="233172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17920" y="4087368"/>
            <a:ext cx="5577840" cy="4572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7920" y="4151376"/>
            <a:ext cx="54864" cy="219456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Medical Device Manufacturer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44531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B5EF8"/>
                </a:solidFill>
                <a:latin typeface="Calibri"/>
              </a:rPr>
              <a:t>IEC 62304 Class C Software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4773168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Challenge: FDA 510(k) submission blocked by traceability gaps.
Solution: REQ-AI + CERT-AI rebuilt full traceability in 48 hours.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5550408"/>
            <a:ext cx="1554480" cy="6858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0" y="55686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7B5EF8"/>
                </a:solidFill>
                <a:latin typeface="Calibri"/>
              </a:rPr>
              <a:t>48 hrs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5897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0D8E8"/>
                </a:solidFill>
                <a:latin typeface="Calibri"/>
              </a:rPr>
              <a:t>Traceability rebuilt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19872" y="5550408"/>
            <a:ext cx="1554480" cy="6858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19872" y="55686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7B5EF8"/>
                </a:solidFill>
                <a:latin typeface="Calibri"/>
              </a:rPr>
              <a:t>Approved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19872" y="5897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0D8E8"/>
                </a:solidFill>
                <a:latin typeface="Calibri"/>
              </a:rPr>
              <a:t>FDA 510(k) outcome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38944" y="5550408"/>
            <a:ext cx="1554480" cy="6858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38944" y="55686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7B5EF8"/>
                </a:solidFill>
                <a:latin typeface="Calibri"/>
              </a:rPr>
              <a:t>−55%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38944" y="5897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0D8E8"/>
                </a:solidFill>
                <a:latin typeface="Calibri"/>
              </a:rPr>
              <a:t>QA overhead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TECHNOLOGY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V3 Now → V4 Future Milestones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558" y="1389888"/>
            <a:ext cx="11213835" cy="16459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2176272" cy="50292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572768"/>
            <a:ext cx="21762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Q1 2026
(GA)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075688"/>
            <a:ext cx="2176272" cy="443484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075688"/>
            <a:ext cx="54864" cy="443484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768" y="2304288"/>
            <a:ext cx="182880" cy="182880"/>
          </a:xfrm>
          <a:prstGeom prst="ellipse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221284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REQ-AI v3 GA</a:t>
            </a:r>
          </a:p>
        </p:txBody>
      </p:sp>
      <p:sp>
        <p:nvSpPr>
          <p:cNvPr id="14" name="Oval 13"/>
          <p:cNvSpPr/>
          <p:nvPr/>
        </p:nvSpPr>
        <p:spPr>
          <a:xfrm>
            <a:off x="429768" y="3310128"/>
            <a:ext cx="182880" cy="182880"/>
          </a:xfrm>
          <a:prstGeom prst="ellipse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21868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CERT-AI ISO 26262 full coverage</a:t>
            </a:r>
          </a:p>
        </p:txBody>
      </p:sp>
      <p:sp>
        <p:nvSpPr>
          <p:cNvPr id="16" name="Oval 15"/>
          <p:cNvSpPr/>
          <p:nvPr/>
        </p:nvSpPr>
        <p:spPr>
          <a:xfrm>
            <a:off x="429768" y="4315968"/>
            <a:ext cx="182880" cy="182880"/>
          </a:xfrm>
          <a:prstGeom prst="ellipse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422452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18 integrations live</a:t>
            </a:r>
          </a:p>
        </p:txBody>
      </p:sp>
      <p:sp>
        <p:nvSpPr>
          <p:cNvPr id="18" name="Oval 17"/>
          <p:cNvSpPr/>
          <p:nvPr/>
        </p:nvSpPr>
        <p:spPr>
          <a:xfrm>
            <a:off x="429768" y="5321808"/>
            <a:ext cx="182880" cy="182880"/>
          </a:xfrm>
          <a:prstGeom prst="ellipse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523036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SaaS EU + US regions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1572768"/>
            <a:ext cx="2176272" cy="502920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1760" y="1572768"/>
            <a:ext cx="21762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Q2 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2075688"/>
            <a:ext cx="2176272" cy="443484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51760" y="2075688"/>
            <a:ext cx="54864" cy="4434840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61488" y="2304288"/>
            <a:ext cx="182880" cy="182880"/>
          </a:xfrm>
          <a:prstGeom prst="ellipse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35808" y="221284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TEST-AI HIL orchestration v2</a:t>
            </a:r>
          </a:p>
        </p:txBody>
      </p:sp>
      <p:sp>
        <p:nvSpPr>
          <p:cNvPr id="26" name="Oval 25"/>
          <p:cNvSpPr/>
          <p:nvPr/>
        </p:nvSpPr>
        <p:spPr>
          <a:xfrm>
            <a:off x="2761488" y="3310128"/>
            <a:ext cx="182880" cy="182880"/>
          </a:xfrm>
          <a:prstGeom prst="ellipse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35808" y="321868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DEFECT-AI commit scoring v3</a:t>
            </a:r>
          </a:p>
        </p:txBody>
      </p:sp>
      <p:sp>
        <p:nvSpPr>
          <p:cNvPr id="28" name="Oval 27"/>
          <p:cNvSpPr/>
          <p:nvPr/>
        </p:nvSpPr>
        <p:spPr>
          <a:xfrm>
            <a:off x="2761488" y="4315968"/>
            <a:ext cx="182880" cy="182880"/>
          </a:xfrm>
          <a:prstGeom prst="ellipse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35808" y="422452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NL query interface beta</a:t>
            </a:r>
          </a:p>
        </p:txBody>
      </p:sp>
      <p:sp>
        <p:nvSpPr>
          <p:cNvPr id="30" name="Oval 29"/>
          <p:cNvSpPr/>
          <p:nvPr/>
        </p:nvSpPr>
        <p:spPr>
          <a:xfrm>
            <a:off x="2761488" y="5321808"/>
            <a:ext cx="182880" cy="182880"/>
          </a:xfrm>
          <a:prstGeom prst="ellipse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35808" y="523036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On-prem k8s packaging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83479" y="1572768"/>
            <a:ext cx="2176272" cy="50292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79" y="1572768"/>
            <a:ext cx="21762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Q3 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83479" y="2075688"/>
            <a:ext cx="2176272" cy="443484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83479" y="2075688"/>
            <a:ext cx="54864" cy="443484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093207" y="2304288"/>
            <a:ext cx="182880" cy="182880"/>
          </a:xfrm>
          <a:prstGeom prst="ellipse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67527" y="221284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EOL-AI field telemetry connector</a:t>
            </a:r>
          </a:p>
        </p:txBody>
      </p:sp>
      <p:sp>
        <p:nvSpPr>
          <p:cNvPr id="38" name="Oval 37"/>
          <p:cNvSpPr/>
          <p:nvPr/>
        </p:nvSpPr>
        <p:spPr>
          <a:xfrm>
            <a:off x="5093207" y="3310128"/>
            <a:ext cx="182880" cy="182880"/>
          </a:xfrm>
          <a:prstGeom prst="ellipse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67527" y="321868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DESIGN-AI HW co-design beta</a:t>
            </a:r>
          </a:p>
        </p:txBody>
      </p:sp>
      <p:sp>
        <p:nvSpPr>
          <p:cNvPr id="40" name="Oval 39"/>
          <p:cNvSpPr/>
          <p:nvPr/>
        </p:nvSpPr>
        <p:spPr>
          <a:xfrm>
            <a:off x="5093207" y="4315968"/>
            <a:ext cx="182880" cy="182880"/>
          </a:xfrm>
          <a:prstGeom prst="ellipse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67527" y="422452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DO-178C / DO-254 CERT-AI</a:t>
            </a:r>
          </a:p>
        </p:txBody>
      </p:sp>
      <p:sp>
        <p:nvSpPr>
          <p:cNvPr id="42" name="Oval 41"/>
          <p:cNvSpPr/>
          <p:nvPr/>
        </p:nvSpPr>
        <p:spPr>
          <a:xfrm>
            <a:off x="5093207" y="5321808"/>
            <a:ext cx="182880" cy="182880"/>
          </a:xfrm>
          <a:prstGeom prst="ellipse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67527" y="523036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Multi-project portfolio view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199" y="1572768"/>
            <a:ext cx="2176272" cy="502920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199" y="1572768"/>
            <a:ext cx="21762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Q4 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199" y="2075688"/>
            <a:ext cx="2176272" cy="443484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199" y="2075688"/>
            <a:ext cx="54864" cy="4434840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424927" y="2304288"/>
            <a:ext cx="182880" cy="182880"/>
          </a:xfrm>
          <a:prstGeom prst="ellipse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7" y="221284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DESIGN-AI GA with RTOS optimiser</a:t>
            </a:r>
          </a:p>
        </p:txBody>
      </p:sp>
      <p:sp>
        <p:nvSpPr>
          <p:cNvPr id="50" name="Oval 49"/>
          <p:cNvSpPr/>
          <p:nvPr/>
        </p:nvSpPr>
        <p:spPr>
          <a:xfrm>
            <a:off x="7424927" y="3310128"/>
            <a:ext cx="182880" cy="182880"/>
          </a:xfrm>
          <a:prstGeom prst="ellipse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99247" y="321868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Federated multi-site support</a:t>
            </a:r>
          </a:p>
        </p:txBody>
      </p:sp>
      <p:sp>
        <p:nvSpPr>
          <p:cNvPr id="52" name="Oval 51"/>
          <p:cNvSpPr/>
          <p:nvPr/>
        </p:nvSpPr>
        <p:spPr>
          <a:xfrm>
            <a:off x="7424927" y="4315968"/>
            <a:ext cx="182880" cy="182880"/>
          </a:xfrm>
          <a:prstGeom prst="ellipse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99247" y="422452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AI-generated FTA / DFMEA GA</a:t>
            </a:r>
          </a:p>
        </p:txBody>
      </p:sp>
      <p:sp>
        <p:nvSpPr>
          <p:cNvPr id="54" name="Oval 53"/>
          <p:cNvSpPr/>
          <p:nvPr/>
        </p:nvSpPr>
        <p:spPr>
          <a:xfrm>
            <a:off x="7424927" y="5321808"/>
            <a:ext cx="182880" cy="182880"/>
          </a:xfrm>
          <a:prstGeom prst="ellipse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99247" y="523036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IEC 62443 full coverage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646919" y="1572768"/>
            <a:ext cx="2176272" cy="50292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46919" y="1572768"/>
            <a:ext cx="21762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H1 2027
(V4 Preview)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075688"/>
            <a:ext cx="2176272" cy="443484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646919" y="2075688"/>
            <a:ext cx="54864" cy="443484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756647" y="2304288"/>
            <a:ext cx="182880" cy="182880"/>
          </a:xfrm>
          <a:prstGeom prst="ellipse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30967" y="221284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Autonomous on-chip verification agent</a:t>
            </a:r>
          </a:p>
        </p:txBody>
      </p:sp>
      <p:sp>
        <p:nvSpPr>
          <p:cNvPr id="62" name="Oval 61"/>
          <p:cNvSpPr/>
          <p:nvPr/>
        </p:nvSpPr>
        <p:spPr>
          <a:xfrm>
            <a:off x="9756647" y="3310128"/>
            <a:ext cx="182880" cy="182880"/>
          </a:xfrm>
          <a:prstGeom prst="ellipse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30967" y="321868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Silicon lifecycle digital twin</a:t>
            </a:r>
          </a:p>
        </p:txBody>
      </p:sp>
      <p:sp>
        <p:nvSpPr>
          <p:cNvPr id="64" name="Oval 63"/>
          <p:cNvSpPr/>
          <p:nvPr/>
        </p:nvSpPr>
        <p:spPr>
          <a:xfrm>
            <a:off x="9756647" y="4315968"/>
            <a:ext cx="182880" cy="182880"/>
          </a:xfrm>
          <a:prstGeom prst="ellipse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30967" y="422452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Self-healing firmware pipelines</a:t>
            </a:r>
          </a:p>
        </p:txBody>
      </p:sp>
      <p:sp>
        <p:nvSpPr>
          <p:cNvPr id="66" name="Oval 65"/>
          <p:cNvSpPr/>
          <p:nvPr/>
        </p:nvSpPr>
        <p:spPr>
          <a:xfrm>
            <a:off x="9756647" y="5321808"/>
            <a:ext cx="182880" cy="182880"/>
          </a:xfrm>
          <a:prstGeom prst="ellipse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30967" y="5230368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Quantum-safe crypto toolchain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" y="6446520"/>
            <a:ext cx="11521440" cy="32004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B4D8"/>
                </a:solidFill>
                <a:latin typeface="Calibri"/>
              </a:rPr>
              <a:t>V4 VISION: Fully autonomous, self-optimising embedded development with zero-human-in-the-loop for routine engineering tasks.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TEAM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People &amp; Open-Source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558" y="1389888"/>
            <a:ext cx="11213835" cy="16459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3703320" cy="164592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84632" y="1892808"/>
            <a:ext cx="640080" cy="640080"/>
          </a:xfrm>
          <a:prstGeom prst="ellipse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682496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CEO / Co-founder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048256"/>
            <a:ext cx="2606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15 yrs embedded systems leadership
Former VP Engineering, Tier-1 Automotive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572768"/>
            <a:ext cx="3703320" cy="164592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16551" y="1892808"/>
            <a:ext cx="640080" cy="640080"/>
          </a:xfrm>
          <a:prstGeom prst="ellipse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79" y="1682496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CTO / Co-founder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9" y="2048256"/>
            <a:ext cx="2606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PhD Computer Science (ML)
Former Principal Architect, Aerospace OEM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3401568"/>
            <a:ext cx="3703320" cy="164592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48471" y="3721608"/>
            <a:ext cx="640080" cy="640080"/>
          </a:xfrm>
          <a:prstGeom prst="ellipse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3511296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VP Product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3877056"/>
            <a:ext cx="2606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10 yrs product management in safety-critical
ISO 26262 / DO-178C domain expert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401568"/>
            <a:ext cx="3703320" cy="164592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4632" y="3721608"/>
            <a:ext cx="640080" cy="640080"/>
          </a:xfrm>
          <a:prstGeom prst="ellipse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3511296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Head of AI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3877056"/>
            <a:ext cx="2606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PhD AI &amp; Formal Methods
12 yrs in autonomous systems verification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59" y="5230368"/>
            <a:ext cx="3703320" cy="164592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16551" y="5550408"/>
            <a:ext cx="640080" cy="640080"/>
          </a:xfrm>
          <a:prstGeom prst="ellipse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79" y="5340096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VP Engineering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9" y="5705856"/>
            <a:ext cx="2606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20 yrs embedded SW engineering
Built 5M+ unit production firmware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79" y="5230368"/>
            <a:ext cx="3703320" cy="164592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348471" y="5550408"/>
            <a:ext cx="640080" cy="640080"/>
          </a:xfrm>
          <a:prstGeom prst="ellipse">
            <a:avLst/>
          </a:prstGeom>
          <a:solidFill>
            <a:srgbClr val="FF4080"/>
          </a:solidFill>
          <a:ln>
            <a:solidFill>
              <a:srgbClr val="FF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3999" y="5340096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CISO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3999" y="5705856"/>
            <a:ext cx="2606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  <a:latin typeface="Calibri"/>
              </a:rPr>
              <a:t>CISSP, former ITAR compliance officer
Built secure dev programs for 3 DoD primes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440680"/>
            <a:ext cx="11521440" cy="1207008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GOVERNANCE &amp; OPEN-SOURCE 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83387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0D8E8"/>
                </a:solidFill>
                <a:latin typeface="Calibri"/>
              </a:rPr>
              <a:t>Core platform: Proprietary commercial licence  |  Community plugins: Apache 2.0 open source  |  Standards-body engagement: ISO TC22 · IEC TC65 · SAE  |  Advisory board: 8 domain experts from Automotive, Aerospace, Medical &amp; Industrial sectors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INVESTMENT &amp; 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Engagement Model &amp; ROI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558" y="1389888"/>
            <a:ext cx="11213835" cy="16459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55648"/>
            <a:ext cx="3703320" cy="365760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755648"/>
            <a:ext cx="3703320" cy="4572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671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72C6"/>
                </a:solidFill>
                <a:latin typeface="Calibri"/>
              </a:rPr>
              <a:t>STARTER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78608"/>
            <a:ext cx="3429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$8,500 / 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172968"/>
            <a:ext cx="3429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Up to 15 users · 3 AI agents
2 integrations · Community support
SaaS only · Standard SLA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572768"/>
            <a:ext cx="3703320" cy="40233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572768"/>
            <a:ext cx="3703320" cy="45720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59" y="1572768"/>
            <a:ext cx="3703320" cy="320040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59" y="1572768"/>
            <a:ext cx="3703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★ RECOMMENDED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19" y="19842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C88E"/>
                </a:solidFill>
                <a:latin typeface="Calibri"/>
              </a:rPr>
              <a:t>PROFESSIONAL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19" y="2395728"/>
            <a:ext cx="3429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$24,000 / 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2990088"/>
            <a:ext cx="3429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Up to 60 users · 6 AI agents
Full integration suite · Priority support
SaaS or on-prem · 99.9% SLA
ISO 26262 / IEC 61508 CERT-AI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755648"/>
            <a:ext cx="3703320" cy="365760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755648"/>
            <a:ext cx="3703320" cy="45720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39" y="21671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B5EF8"/>
                </a:solidFill>
                <a:latin typeface="Calibri"/>
              </a:rPr>
              <a:t>ENTERPRISE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2578608"/>
            <a:ext cx="3429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Custom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3172968"/>
            <a:ext cx="3429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Unlimited users &amp; agents
Dedicated AI model fine-tuning
Air-gapped / ITAR deployment
24/7 dedicated CSM
Co-development &amp; white-label options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806440"/>
            <a:ext cx="11521440" cy="82296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852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ROI FRAMEWORK: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852160"/>
            <a:ext cx="9418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  <a:latin typeface="Calibri"/>
              </a:rPr>
              <a:t>Typical customer payback in &lt; 4 months. At $24K/mo Professional tier: avg. value capture $290K+/mo from saved engineering hours, defect avoidance, and certification acceleration.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Ready to Transform Your Embedded Lifecycle?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558" y="1389888"/>
            <a:ext cx="11213835" cy="16459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2743200" cy="4251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72768"/>
            <a:ext cx="2743200" cy="54864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1737360"/>
            <a:ext cx="640080" cy="640080"/>
          </a:xfrm>
          <a:prstGeom prst="ellipse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7373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1460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Schedule a
Technical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82112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0D8E8"/>
                </a:solidFill>
                <a:latin typeface="Calibri"/>
              </a:rPr>
              <a:t>Live walkthrough of all 6 AI agents
against your actual tool chain.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14800"/>
            <a:ext cx="2468880" cy="4572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14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Book at aeplo.ai/demo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6120" y="1572768"/>
            <a:ext cx="2743200" cy="4251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46120" y="1572768"/>
            <a:ext cx="2743200" cy="54864"/>
          </a:xfrm>
          <a:prstGeom prst="rect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97680" y="1737360"/>
            <a:ext cx="640080" cy="640080"/>
          </a:xfrm>
          <a:prstGeom prst="ellipse">
            <a:avLst/>
          </a:prstGeom>
          <a:solidFill>
            <a:srgbClr val="00C88E"/>
          </a:solidFill>
          <a:ln>
            <a:solidFill>
              <a:srgbClr val="00C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17373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251460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Join the
8-Week 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182112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0D8E8"/>
                </a:solidFill>
                <a:latin typeface="Calibri"/>
              </a:rPr>
              <a:t>Deploy on a real active project.
Full support. No commitment.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4114800"/>
            <a:ext cx="2468880" cy="4572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4114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pilot@aeplo.ai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1572768"/>
            <a:ext cx="2743200" cy="4251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1572768"/>
            <a:ext cx="2743200" cy="54864"/>
          </a:xfrm>
          <a:prstGeom prst="rect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223760" y="1737360"/>
            <a:ext cx="640080" cy="640080"/>
          </a:xfrm>
          <a:prstGeom prst="ellipse">
            <a:avLst/>
          </a:prstGeom>
          <a:solidFill>
            <a:srgbClr val="7B5EF8"/>
          </a:solidFill>
          <a:ln>
            <a:solidFill>
              <a:srgbClr val="7B5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0" y="17373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51460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Proof-of-Value
Assessment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182112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0D8E8"/>
                </a:solidFill>
                <a:latin typeface="Calibri"/>
              </a:rPr>
              <a:t>Free 3-day PoV: we analyse your
lifecycle and quantify your ROI.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4114800"/>
            <a:ext cx="2468880" cy="4572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4114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Starts within 5 business days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98280" y="1572768"/>
            <a:ext cx="2743200" cy="4251960"/>
          </a:xfrm>
          <a:prstGeom prst="rect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98280" y="1572768"/>
            <a:ext cx="2743200" cy="54864"/>
          </a:xfrm>
          <a:prstGeom prst="rect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149840" y="1737360"/>
            <a:ext cx="640080" cy="640080"/>
          </a:xfrm>
          <a:prstGeom prst="ellipse">
            <a:avLst/>
          </a:prstGeom>
          <a:solidFill>
            <a:srgbClr val="FF7A0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9840" y="17373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251460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Enterprise
Onboarding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3182112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0D8E8"/>
                </a:solidFill>
                <a:latin typeface="Calibri"/>
              </a:rPr>
              <a:t>Full deployment with integration,
training and success management.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4114800"/>
            <a:ext cx="2468880" cy="4572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35440" y="4114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enterprise@aeplo.ai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5989320"/>
            <a:ext cx="11521440" cy="658368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080760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aeplo.ai   |   hello@aeplo.ai   |   +1 (415) 000-0000   |   LinkedIn: /company/aeplo   |   GitHub: github.com/aeplo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solidFill>
              <a:srgbClr val="0A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57150" y="0"/>
            <a:ext cx="4631801" cy="685800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57150" y="2286000"/>
            <a:ext cx="4631801" cy="5486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23340" y="640080"/>
            <a:ext cx="2743200" cy="2743200"/>
          </a:xfrm>
          <a:prstGeom prst="ellipse">
            <a:avLst/>
          </a:prstGeom>
          <a:solidFill>
            <a:srgbClr val="2D3A4A"/>
          </a:solidFill>
          <a:ln>
            <a:solidFill>
              <a:srgbClr val="2D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56544" y="4206240"/>
            <a:ext cx="1645920" cy="1645920"/>
          </a:xfrm>
          <a:prstGeom prst="ellipse">
            <a:avLst/>
          </a:prstGeom>
          <a:solidFill>
            <a:srgbClr val="0A3060"/>
          </a:solidFill>
          <a:ln>
            <a:solidFill>
              <a:srgbClr val="0A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4592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346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00B4D8"/>
                </a:solidFill>
                <a:latin typeface="Calibri"/>
              </a:rPr>
              <a:t>Build better. Ship faster. Certify smarter.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0D8E8"/>
                </a:solidFill>
                <a:latin typeface="Calibri"/>
              </a:rPr>
              <a:t>AEPLO V3 — AI-Driven Embedded Product Lifecycle Orchestrator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2519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2C6"/>
                </a:solidFill>
                <a:latin typeface="Calibri"/>
              </a:rPr>
              <a:t>Website: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5196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aeplo.ai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7091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2C6"/>
                </a:solidFill>
                <a:latin typeface="Calibri"/>
              </a:rPr>
              <a:t>Email: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0916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hello@aeplo.ai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1663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2C6"/>
                </a:solidFill>
                <a:latin typeface="Calibri"/>
              </a:rPr>
              <a:t>LinkedIn: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16636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/company/aeplo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56235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2C6"/>
                </a:solidFill>
                <a:latin typeface="Calibri"/>
              </a:rPr>
              <a:t>GitHub: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62356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github.com/aeplo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35508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090"/>
                </a:solidFill>
                <a:latin typeface="Calibri"/>
              </a:rPr>
              <a:t>© 2026 AEPLO Technologies Inc. All rights reserved. Confidential.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3112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0D8E8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