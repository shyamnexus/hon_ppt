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8" r:id="rId5"/>
    <p:sldId id="257" r:id="rId6"/>
    <p:sldId id="259" r:id="rId7"/>
    <p:sldId id="261" r:id="rId8"/>
    <p:sldId id="262" r:id="rId9"/>
    <p:sldId id="270" r:id="rId10"/>
    <p:sldId id="264" r:id="rId11"/>
    <p:sldId id="263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474" y="-15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Optimization. The story is simple: connect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:</a:t>
            </a:r>
            <a:br>
              <a:rPr lang="en-US"/>
            </a:br>
            <a:r>
              <a:rPr lang="en-US"/>
              <a:t>Embedded PDLC data is fragmented. Jira, Confluence, GitHub,</a:t>
            </a:r>
          </a:p>
          <a:p>
            <a:r>
              <a:rPr lang="en-US"/>
              <a:t>QA results, and JTAG/SWD hardware evidence often sit in</a:t>
            </a:r>
          </a:p>
          <a:p>
            <a:r>
              <a:rPr lang="en-US"/>
              <a:t>separate places. That slows decisions across PG1, PG3, and PG5</a:t>
            </a:r>
          </a:p>
          <a:p>
            <a:r>
              <a:rPr lang="en-US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"The architecture connects Jira, Confluence, GitHub, Copilot,</a:t>
            </a:r>
          </a:p>
          <a:p>
            <a:r>
              <a:rPr lang="en-US"/>
              <a:t>ROVO Studio, Atlassian MCP, and JTAG/SWD evidence. AEPLO then</a:t>
            </a:r>
          </a:p>
          <a:p>
            <a:r>
              <a:rPr lang="en-US"/>
              <a:t>turns that data into orchestration, controlled fixes, gate</a:t>
            </a:r>
          </a:p>
          <a:p>
            <a:r>
              <a:rPr lang="en-US"/>
              <a:t>verdicts, and reusable launch evidence."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95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PG1, AEPLO collects PRD context, Jira themes, Confluence</a:t>
            </a:r>
          </a:p>
          <a:p>
            <a:r>
              <a:rPr lang="en-US"/>
              <a:t>architecture, GitHub history, and target-board assumptions. It</a:t>
            </a:r>
          </a:p>
          <a:p>
            <a:r>
              <a:rPr lang="en-US"/>
              <a:t>maps PDLC risks and embedded debug hotspots, then produces a</a:t>
            </a:r>
          </a:p>
          <a:p>
            <a:r>
              <a:rPr lang="en-US"/>
              <a:t>risk-backed demo scope and validation plan."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362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PG3, the JTAG Accelerator converts embedded coding defects</a:t>
            </a:r>
          </a:p>
          <a:p>
            <a:r>
              <a:rPr lang="en-US"/>
              <a:t>into hardware-backed root-cause analysis. It captures registers,</a:t>
            </a:r>
          </a:p>
          <a:p>
            <a:r>
              <a:rPr lang="en-US"/>
              <a:t>stack frames, memory evidence, and probe logs, then links the</a:t>
            </a:r>
          </a:p>
          <a:p>
            <a:r>
              <a:rPr lang="en-US"/>
              <a:t>controlled fix back to GitHub and Jira."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90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slide shows three real-time use cases for the JTAG agent.</a:t>
            </a:r>
          </a:p>
          <a:p>
            <a:r>
              <a:rPr lang="en-US" dirty="0"/>
              <a:t>First, a bootloader-to-application handoff caused a </a:t>
            </a:r>
            <a:r>
              <a:rPr lang="en-US" dirty="0" err="1"/>
              <a:t>HardFault</a:t>
            </a:r>
            <a:endParaRPr lang="en-US" dirty="0"/>
          </a:p>
          <a:p>
            <a:r>
              <a:rPr lang="en-US" dirty="0"/>
              <a:t>because </a:t>
            </a:r>
            <a:r>
              <a:rPr lang="en-US" dirty="0" err="1"/>
              <a:t>SysTick</a:t>
            </a:r>
            <a:r>
              <a:rPr lang="en-US" dirty="0"/>
              <a:t> was enabled but the application vector table had</a:t>
            </a:r>
          </a:p>
          <a:p>
            <a:r>
              <a:rPr lang="en-US" dirty="0"/>
              <a:t>no </a:t>
            </a:r>
            <a:r>
              <a:rPr lang="en-US" dirty="0" err="1"/>
              <a:t>SysTick</a:t>
            </a:r>
            <a:r>
              <a:rPr lang="en-US" dirty="0"/>
              <a:t> handler. The agent correlated the PC, vector table,</a:t>
            </a:r>
          </a:p>
          <a:p>
            <a:r>
              <a:rPr lang="en-US" dirty="0"/>
              <a:t>and peripheral state and reduced diagnosis from days to about</a:t>
            </a:r>
          </a:p>
          <a:p>
            <a:r>
              <a:rPr lang="en-US" dirty="0"/>
              <a:t>45 minutes.</a:t>
            </a:r>
          </a:p>
          <a:p>
            <a:endParaRPr lang="en-US" dirty="0"/>
          </a:p>
          <a:p>
            <a:r>
              <a:rPr lang="en-US" dirty="0"/>
              <a:t>Second, the agent emulated a sub-zero ADC condition at room</a:t>
            </a:r>
          </a:p>
          <a:p>
            <a:r>
              <a:rPr lang="en-US" dirty="0"/>
              <a:t>temperature. That allowed driver </a:t>
            </a:r>
            <a:r>
              <a:rPr lang="en-US" dirty="0" err="1"/>
              <a:t>reinitialisation</a:t>
            </a:r>
            <a:r>
              <a:rPr lang="en-US" dirty="0"/>
              <a:t> and gain</a:t>
            </a:r>
          </a:p>
          <a:p>
            <a:r>
              <a:rPr lang="en-US" dirty="0"/>
              <a:t>adjustment to be validated without waiting for thermal chamber</a:t>
            </a:r>
          </a:p>
          <a:p>
            <a:r>
              <a:rPr lang="en-US" dirty="0"/>
              <a:t>cycling.</a:t>
            </a:r>
          </a:p>
          <a:p>
            <a:endParaRPr lang="en-US" dirty="0"/>
          </a:p>
          <a:p>
            <a:r>
              <a:rPr lang="en-US" dirty="0"/>
              <a:t>Third, for a boot failure after flashing a new build, the agent</a:t>
            </a:r>
          </a:p>
          <a:p>
            <a:r>
              <a:rPr lang="en-US" dirty="0"/>
              <a:t>traced the Program Counter and identified execution going to</a:t>
            </a:r>
          </a:p>
          <a:p>
            <a:r>
              <a:rPr lang="en-US" dirty="0"/>
              <a:t>system ROM instead of internal flash. The key message is that</a:t>
            </a:r>
          </a:p>
          <a:p>
            <a:r>
              <a:rPr lang="en-US" dirty="0"/>
              <a:t>JTAG evidence becomes actionable AI context, not just a debug</a:t>
            </a:r>
          </a:p>
          <a:p>
            <a:r>
              <a:rPr lang="en-US" dirty="0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"QA2Release closes the loop. Test failures and JTAG evidence</a:t>
            </a:r>
          </a:p>
          <a:p>
            <a:r>
              <a:rPr lang="en-US"/>
              <a:t>feed root-cause analysis, test </a:t>
            </a:r>
            <a:r>
              <a:rPr lang="en-US" err="1"/>
              <a:t>optimisation</a:t>
            </a:r>
            <a:r>
              <a:rPr lang="en-US"/>
              <a:t>, and next-release</a:t>
            </a:r>
          </a:p>
          <a:p>
            <a:r>
              <a:rPr lang="en-US"/>
              <a:t>learning. The output becomes Jira actions, Confluence summaries,</a:t>
            </a:r>
          </a:p>
          <a:p>
            <a:r>
              <a:rPr lang="en-US"/>
              <a:t>and better evidence for the next gate.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254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PG5, AEPLO evaluates code, QA results, traceability, and</a:t>
            </a:r>
          </a:p>
          <a:p>
            <a:r>
              <a:rPr lang="en-US"/>
              <a:t>JTAG/SWD evidence together. The gatekeeper produces a clear</a:t>
            </a:r>
          </a:p>
          <a:p>
            <a:r>
              <a:rPr lang="en-US"/>
              <a:t>READY or NOT_READY verdict, plus a prioritized remediation list</a:t>
            </a:r>
          </a:p>
          <a:p>
            <a:r>
              <a:rPr lang="en-US"/>
              <a:t>for validation and launch preparation.“</a:t>
            </a:r>
          </a:p>
          <a:p>
            <a:r>
              <a:rPr lang="en-US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/>
              <a:t>The STQC team updates the Guidelines from time to time, tightening the security norms a little further at each revision.</a:t>
            </a:r>
          </a:p>
          <a:p>
            <a:endParaRPr lang="en-US"/>
          </a:p>
          <a:p>
            <a:r>
              <a:rPr lang="en-US"/>
              <a:t>Developers take  months to traverse through the code, and Create evidences, Validate them and do a thorough Code/Hardware Review.</a:t>
            </a:r>
          </a:p>
          <a:p>
            <a:r>
              <a:rPr lang="en-US"/>
              <a:t>AEPLO’s STQC feature reduces this time frame to Days.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83099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0CCAC89-0190-A7D6-EBD7-D85BFF7A9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63" y="5233683"/>
            <a:ext cx="492289" cy="492289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5356E3C6-FA42-00A7-E46F-58DAAF6F6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47" y="5206667"/>
            <a:ext cx="532273" cy="532273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F48DEC1-4565-2109-F0A2-0F0142F0A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738" y="5204460"/>
            <a:ext cx="529558" cy="529558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F6490DE-0B74-8A98-78B6-FB5738277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2189" y="5179892"/>
            <a:ext cx="536751" cy="536751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24F2EB3F-5139-8979-FA15-BDD0F43C8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1121" y="5245897"/>
            <a:ext cx="460826" cy="460826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0ECC60AA-6628-92F5-EFDD-CCFB4CD8B8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672" y="5143500"/>
            <a:ext cx="599496" cy="599496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42FA650A-973E-1A45-2080-4B8A538650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4193" y="5143500"/>
            <a:ext cx="644557" cy="644557"/>
          </a:xfrm>
          <a:prstGeom prst="rect">
            <a:avLst/>
          </a:prstGeom>
        </p:spPr>
      </p:pic>
      <p:pic>
        <p:nvPicPr>
          <p:cNvPr id="251" name="Picture 250">
            <a:extLst>
              <a:ext uri="{FF2B5EF4-FFF2-40B4-BE49-F238E27FC236}">
                <a16:creationId xmlns:a16="http://schemas.microsoft.com/office/drawing/2014/main" id="{84610CBF-870A-A388-25E3-A00F411745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0452" y="5172946"/>
            <a:ext cx="477468" cy="573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1F74DC85-49A3-3129-008D-3C4B8DDAA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176" y="2404872"/>
            <a:ext cx="228600" cy="2286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EB973D8-78D8-BED2-2849-CA762EBF0D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613" y="2398378"/>
            <a:ext cx="228600" cy="2286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E5BA343-5CB0-4E37-4A27-C9D988C8E4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745" y="2391883"/>
            <a:ext cx="228600" cy="2286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7A43807-B5EC-AF54-617C-3771F8793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9491" y="2377439"/>
            <a:ext cx="228600" cy="2286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C0C64B1-BDB4-284E-9CCD-EA4CA9E85D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2269" y="2363723"/>
            <a:ext cx="228600" cy="2286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62297B6D-1B0D-0F4E-64F1-7871B27103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85417" y="2318779"/>
            <a:ext cx="357776" cy="357776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EF100BB8-1248-AA41-2678-987E1B02CD1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5704" y="2377439"/>
            <a:ext cx="228600" cy="2745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PRD TO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622792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Confluence PRD -&gt; Pickable Jira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Epics and stories are created from the PRD hosted on Confluence, guided by SDE Elements and PSJIRA. The user picks work items and AEPLO carries acceptance context into the branch.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Confluence PRD +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Reads PRD, SDE Elements, architecture notes, release intent, security scope and PSJIRA conventions.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CREATE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Epics, Stories and Criteria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Maps requirements into epics, stories, acceptance criteria, trace links and validation evidence expectations.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PICK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User Selects Work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Lists stories for the user to pick, then creates a feature branch with PRD clauses and QA inputs attached.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Firmware Generation and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At PG3, AEPLO generates firmware/code from datasheet and PRD, injecting SDK, BSP, compiler, OS/RTOS and board context before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DATASHEET + PRD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Requirement, register map, interface contract and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SDK / OS / RTOS 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SDK, BSP, HAL, compiler, memory map, OS/RTOS and board constraints are injected.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FIRMWARE GENERATION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Driver skeletons, peripheral init, configuration tables and test hooks are generated.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VALIDATED FEATURE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Generated code becomes a review-ready branch with tests, evidence and PRD traceability.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DATASHEET AND HARDWARE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Checks: datasheet conformance | PRD trace | static/unit validation | JTAG/SWD registers, stack frames, memory dumps, peripheral state and probe logs.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Draft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Firmware first draft moves from days to guided PG3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Validation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generated file links PRD, datasheet, QA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firmware flows into QA release and STQC readiness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8B8B8"/>
                </a:solidFill>
                <a:latin typeface="Arial"/>
              </a:rPr>
              <a:t>5  /  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0"/>
            <a:ext cx="9144000" cy="25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084FAC-DE6F-98B6-5DF1-27751E41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064" y="4625018"/>
            <a:ext cx="392241" cy="47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 RELEASE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 Release Gate Closed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Feature branch, PRD criteria, QA inputs and JTAG evidence are validated together. NOT_READY decisions become prioritized next-release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Validate Release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QA results, PRD acceptance criteria, generated firmware tests and JTAG evidence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Readiness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and hardware evidence.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Guide Next Release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stories and priorities are created until the release gate returns READY.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star of PG5: 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3-5 days -&gt; 1-2 days
- Faster first loop: 45-60%
- Context injected: datasheet, PRD, SDK, BSP, OS/RTOS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AEPLO loops across PRD, PG3 firmware, JTAG, QA and STQC until READY.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1927</Words>
  <Application>Microsoft Office PowerPoint</Application>
  <PresentationFormat>On-screen Show (4:3)</PresentationFormat>
  <Paragraphs>267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3</cp:revision>
  <dcterms:created xsi:type="dcterms:W3CDTF">2013-01-27T09:14:16Z</dcterms:created>
  <dcterms:modified xsi:type="dcterms:W3CDTF">2026-06-17T10:26:16Z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