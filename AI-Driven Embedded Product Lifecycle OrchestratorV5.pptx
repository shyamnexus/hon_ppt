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2" d="100"/>
          <a:sy n="102" d="100"/>
        </p:scale>
        <p:origin x="3504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9780D-A041-4638-B6BA-87BB754D206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9C4E8-DCB7-4C66-B47F-361D1DFDA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0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 We are  presenting AEPLO V3 [code name for our project]— an AI platform that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orchestrates the entire embedded product lifecycle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076E56-C255-4CAD-BA1A-93AA2E49E01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791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9C4E8-DCB7-4C66-B47F-361D1DFDA22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24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0" y="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03520" y="381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03520" y="762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03520" y="1143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03520" y="1524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03520" y="1905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03520" y="2286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03520" y="2667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03520" y="3048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03520" y="3429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03520" y="3810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03520" y="4191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03520" y="4572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303520" y="4953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03520" y="5334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03520" y="5715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303520" y="6096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303520" y="6477000"/>
            <a:ext cx="3840480" cy="10972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94360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6364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8368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90372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22376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54380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86384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18388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50392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823960" y="0"/>
            <a:ext cx="10972" cy="6858000"/>
          </a:xfrm>
          <a:prstGeom prst="rect">
            <a:avLst/>
          </a:prstGeom>
          <a:solidFill>
            <a:srgbClr val="08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297680" y="297180"/>
            <a:ext cx="5852160" cy="5852160"/>
          </a:xfrm>
          <a:prstGeom prst="ellipse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4754880" y="754380"/>
            <a:ext cx="4937760" cy="4937760"/>
          </a:xfrm>
          <a:prstGeom prst="ellipse">
            <a:avLst/>
          </a:prstGeom>
          <a:solidFill>
            <a:srgbClr val="07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5303520" y="1303020"/>
            <a:ext cx="3840480" cy="3840480"/>
          </a:xfrm>
          <a:prstGeom prst="ellipse">
            <a:avLst/>
          </a:prstGeom>
          <a:solidFill>
            <a:srgbClr val="082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5943600" y="1943100"/>
            <a:ext cx="2560320" cy="2560320"/>
          </a:xfrm>
          <a:prstGeom prst="ellipse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6537960" y="2537460"/>
            <a:ext cx="1371600" cy="1371600"/>
          </a:xfrm>
          <a:prstGeom prst="ellipse">
            <a:avLst/>
          </a:prstGeom>
          <a:solidFill>
            <a:srgbClr val="0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9112666" y="5436838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932236" y="5579078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741202" y="5706723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540742" y="5818986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332092" y="5915175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8116538" y="5994697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7895409" y="6057062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7670069" y="6101885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7441907" y="6128889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7212330" y="6137910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6982752" y="6128889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6754590" y="6101885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6529250" y="6057062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6308121" y="5994697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092567" y="5915175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5883917" y="5818986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5683457" y="5706723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5492423" y="5579078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5311993" y="5436838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5143278" y="5280881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5143278" y="1142778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5311993" y="986821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5492423" y="844581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5683457" y="716936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5883917" y="604673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6092567" y="508484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6308121" y="428962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6529250" y="366597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6754590" y="321774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6982752" y="294770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7212329" y="285750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441907" y="294770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7670069" y="321774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7895409" y="366597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8116538" y="428962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8332092" y="508484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8540742" y="604673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8741202" y="716936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8932236" y="844581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9112666" y="986821"/>
            <a:ext cx="22860" cy="22860"/>
          </a:xfrm>
          <a:prstGeom prst="ellipse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8485632" y="320497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8481685" y="330541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8469871" y="340523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8450261" y="350381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8422976" y="360056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8388185" y="369486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8346102" y="378615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8296987" y="387385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8241143" y="395743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8178913" y="403636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8110681" y="411018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Oval 90"/>
          <p:cNvSpPr/>
          <p:nvPr/>
        </p:nvSpPr>
        <p:spPr>
          <a:xfrm>
            <a:off x="8036869" y="417841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Oval 91"/>
          <p:cNvSpPr/>
          <p:nvPr/>
        </p:nvSpPr>
        <p:spPr>
          <a:xfrm>
            <a:off x="7957931" y="424064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7874353" y="4296487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7786652" y="434560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7695368" y="438768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7601063" y="442247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Oval 96"/>
          <p:cNvSpPr/>
          <p:nvPr/>
        </p:nvSpPr>
        <p:spPr>
          <a:xfrm>
            <a:off x="7504319" y="444976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Oval 97"/>
          <p:cNvSpPr/>
          <p:nvPr/>
        </p:nvSpPr>
        <p:spPr>
          <a:xfrm>
            <a:off x="7405733" y="446937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Oval 98"/>
          <p:cNvSpPr/>
          <p:nvPr/>
        </p:nvSpPr>
        <p:spPr>
          <a:xfrm>
            <a:off x="7305912" y="448118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Oval 99"/>
          <p:cNvSpPr/>
          <p:nvPr/>
        </p:nvSpPr>
        <p:spPr>
          <a:xfrm>
            <a:off x="7205472" y="448513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1" name="Oval 100"/>
          <p:cNvSpPr/>
          <p:nvPr/>
        </p:nvSpPr>
        <p:spPr>
          <a:xfrm>
            <a:off x="7105031" y="448118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7005210" y="446937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" name="Oval 102"/>
          <p:cNvSpPr/>
          <p:nvPr/>
        </p:nvSpPr>
        <p:spPr>
          <a:xfrm>
            <a:off x="6906624" y="444976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Oval 103"/>
          <p:cNvSpPr/>
          <p:nvPr/>
        </p:nvSpPr>
        <p:spPr>
          <a:xfrm>
            <a:off x="6809880" y="442247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6715575" y="438768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6624291" y="434560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6536590" y="4296487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6453012" y="424064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6374074" y="417841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Oval 109"/>
          <p:cNvSpPr/>
          <p:nvPr/>
        </p:nvSpPr>
        <p:spPr>
          <a:xfrm>
            <a:off x="6300262" y="411018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6232030" y="403636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6169800" y="395743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6113956" y="387385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4" name="Oval 113"/>
          <p:cNvSpPr/>
          <p:nvPr/>
        </p:nvSpPr>
        <p:spPr>
          <a:xfrm>
            <a:off x="6064841" y="378615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6022758" y="369486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5987967" y="360056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5960682" y="350381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5941072" y="340523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5929258" y="330541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0" name="Oval 119"/>
          <p:cNvSpPr/>
          <p:nvPr/>
        </p:nvSpPr>
        <p:spPr>
          <a:xfrm>
            <a:off x="5925312" y="320497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5929258" y="310453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Oval 121"/>
          <p:cNvSpPr/>
          <p:nvPr/>
        </p:nvSpPr>
        <p:spPr>
          <a:xfrm>
            <a:off x="5941072" y="300471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Oval 122"/>
          <p:cNvSpPr/>
          <p:nvPr/>
        </p:nvSpPr>
        <p:spPr>
          <a:xfrm>
            <a:off x="5960682" y="290612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Oval 123"/>
          <p:cNvSpPr/>
          <p:nvPr/>
        </p:nvSpPr>
        <p:spPr>
          <a:xfrm>
            <a:off x="5987967" y="280938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6022758" y="271507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6064841" y="262379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Oval 126"/>
          <p:cNvSpPr/>
          <p:nvPr/>
        </p:nvSpPr>
        <p:spPr>
          <a:xfrm>
            <a:off x="6113956" y="253609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6169800" y="245251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Oval 128"/>
          <p:cNvSpPr/>
          <p:nvPr/>
        </p:nvSpPr>
        <p:spPr>
          <a:xfrm>
            <a:off x="6232030" y="237357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6300262" y="229976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6374074" y="223153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6453012" y="216930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Oval 132"/>
          <p:cNvSpPr/>
          <p:nvPr/>
        </p:nvSpPr>
        <p:spPr>
          <a:xfrm>
            <a:off x="6536590" y="211345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6624291" y="206434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Oval 134"/>
          <p:cNvSpPr/>
          <p:nvPr/>
        </p:nvSpPr>
        <p:spPr>
          <a:xfrm>
            <a:off x="6715575" y="202225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6809880" y="1987467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6906624" y="196018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7005210" y="194057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7105031" y="192875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7205472" y="192481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7305912" y="192875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7405733" y="194057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" name="Oval 142"/>
          <p:cNvSpPr/>
          <p:nvPr/>
        </p:nvSpPr>
        <p:spPr>
          <a:xfrm>
            <a:off x="7504319" y="196018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7601063" y="1987467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7695368" y="202225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6" name="Oval 145"/>
          <p:cNvSpPr/>
          <p:nvPr/>
        </p:nvSpPr>
        <p:spPr>
          <a:xfrm>
            <a:off x="7786652" y="206434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7" name="Oval 146"/>
          <p:cNvSpPr/>
          <p:nvPr/>
        </p:nvSpPr>
        <p:spPr>
          <a:xfrm>
            <a:off x="7874353" y="211345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7957931" y="216930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9" name="Oval 148"/>
          <p:cNvSpPr/>
          <p:nvPr/>
        </p:nvSpPr>
        <p:spPr>
          <a:xfrm>
            <a:off x="8036869" y="223153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8110681" y="229976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8178913" y="237357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2" name="Oval 151"/>
          <p:cNvSpPr/>
          <p:nvPr/>
        </p:nvSpPr>
        <p:spPr>
          <a:xfrm>
            <a:off x="8241143" y="245251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" name="Oval 152"/>
          <p:cNvSpPr/>
          <p:nvPr/>
        </p:nvSpPr>
        <p:spPr>
          <a:xfrm>
            <a:off x="8296987" y="253609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8346102" y="262379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5" name="Oval 154"/>
          <p:cNvSpPr/>
          <p:nvPr/>
        </p:nvSpPr>
        <p:spPr>
          <a:xfrm>
            <a:off x="8388185" y="271507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6" name="Oval 155"/>
          <p:cNvSpPr/>
          <p:nvPr/>
        </p:nvSpPr>
        <p:spPr>
          <a:xfrm>
            <a:off x="8422976" y="280938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7" name="Oval 156"/>
          <p:cNvSpPr/>
          <p:nvPr/>
        </p:nvSpPr>
        <p:spPr>
          <a:xfrm>
            <a:off x="8450261" y="290612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8" name="Oval 157"/>
          <p:cNvSpPr/>
          <p:nvPr/>
        </p:nvSpPr>
        <p:spPr>
          <a:xfrm>
            <a:off x="8469871" y="300471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9" name="Oval 158"/>
          <p:cNvSpPr/>
          <p:nvPr/>
        </p:nvSpPr>
        <p:spPr>
          <a:xfrm>
            <a:off x="8481685" y="310453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7198614" y="319811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1" name="Oval 160"/>
          <p:cNvSpPr/>
          <p:nvPr/>
        </p:nvSpPr>
        <p:spPr>
          <a:xfrm>
            <a:off x="7420344" y="332613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7198614" y="345414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6976883" y="332613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6976883" y="307009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5" name="Oval 164"/>
          <p:cNvSpPr/>
          <p:nvPr/>
        </p:nvSpPr>
        <p:spPr>
          <a:xfrm>
            <a:off x="7198614" y="294208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6" name="Oval 165"/>
          <p:cNvSpPr/>
          <p:nvPr/>
        </p:nvSpPr>
        <p:spPr>
          <a:xfrm>
            <a:off x="7420344" y="307009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7" name="Oval 166"/>
          <p:cNvSpPr/>
          <p:nvPr/>
        </p:nvSpPr>
        <p:spPr>
          <a:xfrm>
            <a:off x="7642074" y="345414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8" name="Oval 167"/>
          <p:cNvSpPr/>
          <p:nvPr/>
        </p:nvSpPr>
        <p:spPr>
          <a:xfrm>
            <a:off x="7420344" y="358216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9" name="Oval 168"/>
          <p:cNvSpPr/>
          <p:nvPr/>
        </p:nvSpPr>
        <p:spPr>
          <a:xfrm>
            <a:off x="7198614" y="371017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0" name="Oval 169"/>
          <p:cNvSpPr/>
          <p:nvPr/>
        </p:nvSpPr>
        <p:spPr>
          <a:xfrm>
            <a:off x="6976883" y="358216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1" name="Oval 170"/>
          <p:cNvSpPr/>
          <p:nvPr/>
        </p:nvSpPr>
        <p:spPr>
          <a:xfrm>
            <a:off x="6755153" y="345414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2" name="Oval 171"/>
          <p:cNvSpPr/>
          <p:nvPr/>
        </p:nvSpPr>
        <p:spPr>
          <a:xfrm>
            <a:off x="6755153" y="319811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3" name="Oval 172"/>
          <p:cNvSpPr/>
          <p:nvPr/>
        </p:nvSpPr>
        <p:spPr>
          <a:xfrm>
            <a:off x="6755153" y="294208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4" name="Oval 173"/>
          <p:cNvSpPr/>
          <p:nvPr/>
        </p:nvSpPr>
        <p:spPr>
          <a:xfrm>
            <a:off x="6976883" y="281406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5" name="Oval 174"/>
          <p:cNvSpPr/>
          <p:nvPr/>
        </p:nvSpPr>
        <p:spPr>
          <a:xfrm>
            <a:off x="7198614" y="268605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6" name="Oval 175"/>
          <p:cNvSpPr/>
          <p:nvPr/>
        </p:nvSpPr>
        <p:spPr>
          <a:xfrm>
            <a:off x="7420344" y="281406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7" name="Oval 176"/>
          <p:cNvSpPr/>
          <p:nvPr/>
        </p:nvSpPr>
        <p:spPr>
          <a:xfrm>
            <a:off x="7642074" y="294208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8" name="Oval 177"/>
          <p:cNvSpPr/>
          <p:nvPr/>
        </p:nvSpPr>
        <p:spPr>
          <a:xfrm>
            <a:off x="7642074" y="319811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9" name="Oval 178"/>
          <p:cNvSpPr/>
          <p:nvPr/>
        </p:nvSpPr>
        <p:spPr>
          <a:xfrm>
            <a:off x="7863804" y="358216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0" name="Oval 179"/>
          <p:cNvSpPr/>
          <p:nvPr/>
        </p:nvSpPr>
        <p:spPr>
          <a:xfrm>
            <a:off x="7642074" y="371017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1" name="Oval 180"/>
          <p:cNvSpPr/>
          <p:nvPr/>
        </p:nvSpPr>
        <p:spPr>
          <a:xfrm>
            <a:off x="7420344" y="383819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2" name="Oval 181"/>
          <p:cNvSpPr/>
          <p:nvPr/>
        </p:nvSpPr>
        <p:spPr>
          <a:xfrm>
            <a:off x="7198614" y="396621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3" name="Oval 182"/>
          <p:cNvSpPr/>
          <p:nvPr/>
        </p:nvSpPr>
        <p:spPr>
          <a:xfrm>
            <a:off x="6976883" y="383819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4" name="Oval 183"/>
          <p:cNvSpPr/>
          <p:nvPr/>
        </p:nvSpPr>
        <p:spPr>
          <a:xfrm>
            <a:off x="6755153" y="371017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5" name="Oval 184"/>
          <p:cNvSpPr/>
          <p:nvPr/>
        </p:nvSpPr>
        <p:spPr>
          <a:xfrm>
            <a:off x="6533423" y="358216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6" name="Oval 185"/>
          <p:cNvSpPr/>
          <p:nvPr/>
        </p:nvSpPr>
        <p:spPr>
          <a:xfrm>
            <a:off x="6533423" y="332613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7" name="Oval 186"/>
          <p:cNvSpPr/>
          <p:nvPr/>
        </p:nvSpPr>
        <p:spPr>
          <a:xfrm>
            <a:off x="6533423" y="307009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8" name="Oval 187"/>
          <p:cNvSpPr/>
          <p:nvPr/>
        </p:nvSpPr>
        <p:spPr>
          <a:xfrm>
            <a:off x="6533423" y="281406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9" name="Oval 188"/>
          <p:cNvSpPr/>
          <p:nvPr/>
        </p:nvSpPr>
        <p:spPr>
          <a:xfrm>
            <a:off x="6755153" y="268605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0" name="Oval 189"/>
          <p:cNvSpPr/>
          <p:nvPr/>
        </p:nvSpPr>
        <p:spPr>
          <a:xfrm>
            <a:off x="6976883" y="255803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1" name="Oval 190"/>
          <p:cNvSpPr/>
          <p:nvPr/>
        </p:nvSpPr>
        <p:spPr>
          <a:xfrm>
            <a:off x="7198614" y="243001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2" name="Oval 191"/>
          <p:cNvSpPr/>
          <p:nvPr/>
        </p:nvSpPr>
        <p:spPr>
          <a:xfrm>
            <a:off x="7420344" y="255803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3" name="Oval 192"/>
          <p:cNvSpPr/>
          <p:nvPr/>
        </p:nvSpPr>
        <p:spPr>
          <a:xfrm>
            <a:off x="7642074" y="2686049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4" name="Oval 193"/>
          <p:cNvSpPr/>
          <p:nvPr/>
        </p:nvSpPr>
        <p:spPr>
          <a:xfrm>
            <a:off x="7863804" y="281406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5" name="Oval 194"/>
          <p:cNvSpPr/>
          <p:nvPr/>
        </p:nvSpPr>
        <p:spPr>
          <a:xfrm>
            <a:off x="7863804" y="307009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6" name="Oval 195"/>
          <p:cNvSpPr/>
          <p:nvPr/>
        </p:nvSpPr>
        <p:spPr>
          <a:xfrm>
            <a:off x="7863804" y="332613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7" name="Oval 196"/>
          <p:cNvSpPr/>
          <p:nvPr/>
        </p:nvSpPr>
        <p:spPr>
          <a:xfrm>
            <a:off x="8085534" y="371017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8" name="Oval 197"/>
          <p:cNvSpPr/>
          <p:nvPr/>
        </p:nvSpPr>
        <p:spPr>
          <a:xfrm>
            <a:off x="7863804" y="383819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9" name="Oval 198"/>
          <p:cNvSpPr/>
          <p:nvPr/>
        </p:nvSpPr>
        <p:spPr>
          <a:xfrm>
            <a:off x="7642074" y="396621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0" name="Oval 199"/>
          <p:cNvSpPr/>
          <p:nvPr/>
        </p:nvSpPr>
        <p:spPr>
          <a:xfrm>
            <a:off x="7420344" y="409422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1" name="Oval 200"/>
          <p:cNvSpPr/>
          <p:nvPr/>
        </p:nvSpPr>
        <p:spPr>
          <a:xfrm>
            <a:off x="7198614" y="422224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2" name="Oval 201"/>
          <p:cNvSpPr/>
          <p:nvPr/>
        </p:nvSpPr>
        <p:spPr>
          <a:xfrm>
            <a:off x="6976883" y="409422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3" name="Oval 202"/>
          <p:cNvSpPr/>
          <p:nvPr/>
        </p:nvSpPr>
        <p:spPr>
          <a:xfrm>
            <a:off x="6755153" y="396621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" name="Oval 203"/>
          <p:cNvSpPr/>
          <p:nvPr/>
        </p:nvSpPr>
        <p:spPr>
          <a:xfrm>
            <a:off x="6533423" y="383819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5" name="Oval 204"/>
          <p:cNvSpPr/>
          <p:nvPr/>
        </p:nvSpPr>
        <p:spPr>
          <a:xfrm>
            <a:off x="6311693" y="371017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" name="Oval 205"/>
          <p:cNvSpPr/>
          <p:nvPr/>
        </p:nvSpPr>
        <p:spPr>
          <a:xfrm>
            <a:off x="6311693" y="345414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7" name="Oval 206"/>
          <p:cNvSpPr/>
          <p:nvPr/>
        </p:nvSpPr>
        <p:spPr>
          <a:xfrm>
            <a:off x="6311693" y="319811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8" name="Oval 207"/>
          <p:cNvSpPr/>
          <p:nvPr/>
        </p:nvSpPr>
        <p:spPr>
          <a:xfrm>
            <a:off x="6311693" y="294208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9" name="Oval 208"/>
          <p:cNvSpPr/>
          <p:nvPr/>
        </p:nvSpPr>
        <p:spPr>
          <a:xfrm>
            <a:off x="6311693" y="268605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0" name="Oval 209"/>
          <p:cNvSpPr/>
          <p:nvPr/>
        </p:nvSpPr>
        <p:spPr>
          <a:xfrm>
            <a:off x="6533423" y="255803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1" name="Oval 210"/>
          <p:cNvSpPr/>
          <p:nvPr/>
        </p:nvSpPr>
        <p:spPr>
          <a:xfrm>
            <a:off x="6755153" y="2430018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2" name="Oval 211"/>
          <p:cNvSpPr/>
          <p:nvPr/>
        </p:nvSpPr>
        <p:spPr>
          <a:xfrm>
            <a:off x="6976883" y="230200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3" name="Oval 212"/>
          <p:cNvSpPr/>
          <p:nvPr/>
        </p:nvSpPr>
        <p:spPr>
          <a:xfrm>
            <a:off x="7198614" y="217398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4" name="Oval 213"/>
          <p:cNvSpPr/>
          <p:nvPr/>
        </p:nvSpPr>
        <p:spPr>
          <a:xfrm>
            <a:off x="7420344" y="230200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5" name="Oval 214"/>
          <p:cNvSpPr/>
          <p:nvPr/>
        </p:nvSpPr>
        <p:spPr>
          <a:xfrm>
            <a:off x="7642074" y="2430017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863804" y="2558033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7" name="Oval 216"/>
          <p:cNvSpPr/>
          <p:nvPr/>
        </p:nvSpPr>
        <p:spPr>
          <a:xfrm>
            <a:off x="8085534" y="2686050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8" name="Oval 217"/>
          <p:cNvSpPr/>
          <p:nvPr/>
        </p:nvSpPr>
        <p:spPr>
          <a:xfrm>
            <a:off x="8085534" y="2942082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9" name="Oval 218"/>
          <p:cNvSpPr/>
          <p:nvPr/>
        </p:nvSpPr>
        <p:spPr>
          <a:xfrm>
            <a:off x="8085534" y="3198114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0" name="Oval 219"/>
          <p:cNvSpPr/>
          <p:nvPr/>
        </p:nvSpPr>
        <p:spPr>
          <a:xfrm>
            <a:off x="8085534" y="3454146"/>
            <a:ext cx="50292" cy="50292"/>
          </a:xfrm>
          <a:prstGeom prst="ellipse">
            <a:avLst/>
          </a:prstGeom>
          <a:solidFill>
            <a:srgbClr val="005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256032" y="1051560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AI-DRIVEN EMBEDDED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56032" y="1755648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PRODUCT LIFECYCLE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56032" y="2450592"/>
            <a:ext cx="5486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00C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ORCHESTRATOR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256032" y="3291840"/>
            <a:ext cx="1280160" cy="347472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256032" y="3291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VERSION 3.0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256032" y="3794760"/>
            <a:ext cx="50292" cy="82296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420624" y="3822191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1" u="none" strike="noStrike" kern="1200" cap="none" spc="0" normalizeH="0" baseline="0" noProof="0">
                <a:ln>
                  <a:noFill/>
                </a:ln>
                <a:solidFill>
                  <a:srgbClr val="B8D0EC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End-to-End Embedded Intelligence
Faster  |  Safer  |  Predictable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56032" y="489204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Atharva | Manas |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Sheraaz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|Shyam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256032" y="5806440"/>
            <a:ext cx="2286000" cy="41148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0" name="Rectangle 229"/>
          <p:cNvSpPr/>
          <p:nvPr/>
        </p:nvSpPr>
        <p:spPr>
          <a:xfrm>
            <a:off x="256032" y="5971031"/>
            <a:ext cx="1828800" cy="4114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256032" y="6135624"/>
            <a:ext cx="1371600" cy="41148"/>
          </a:xfrm>
          <a:prstGeom prst="rect">
            <a:avLst/>
          </a:prstGeom>
          <a:solidFill>
            <a:srgbClr val="0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080A8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  /  10</a:t>
            </a:r>
          </a:p>
        </p:txBody>
      </p:sp>
      <p:pic>
        <p:nvPicPr>
          <p:cNvPr id="237" name="Picture 236">
            <a:extLst>
              <a:ext uri="{FF2B5EF4-FFF2-40B4-BE49-F238E27FC236}">
                <a16:creationId xmlns:a16="http://schemas.microsoft.com/office/drawing/2014/main" id="{67AC3E27-C892-3B9F-ED91-B1E734C41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545" y="1535563"/>
            <a:ext cx="3118134" cy="31181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371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5720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Embedded PDLC Data Is Fragmented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8412480" cy="1463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38988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8D0EC"/>
                </a:solidFill>
                <a:latin typeface="Segoe UI"/>
              </a:rPr>
              <a:t>NPI gates rely on disconnected requirements, Jira tickets, Confluence knowledge, GitHub code, JTAG/SWD evidence and QA results — slowing decisions from PG1 to PG5.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057400"/>
            <a:ext cx="2697480" cy="193852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057400"/>
            <a:ext cx="26974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4632" y="2221992"/>
            <a:ext cx="4572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2221992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Segoe UI"/>
              </a:rPr>
              <a:t>PG1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Discovery
Blind Spots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807208"/>
            <a:ext cx="2359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Risks and debug hotspots are not visible early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057400"/>
            <a:ext cx="2697480" cy="193852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2057400"/>
            <a:ext cx="2697480" cy="45720"/>
          </a:xfrm>
          <a:prstGeom prst="rect">
            <a:avLst/>
          </a:prstGeom>
          <a:solidFill>
            <a:srgbClr val="FF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64992" y="2221992"/>
            <a:ext cx="457200" cy="457200"/>
          </a:xfrm>
          <a:prstGeom prst="roundRect">
            <a:avLst/>
          </a:prstGeom>
          <a:solidFill>
            <a:srgbClr val="FF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2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8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Late Defect
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2807208"/>
            <a:ext cx="2359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MCU faults surface after coding and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59" y="2057400"/>
            <a:ext cx="2697480" cy="193852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80759" y="2057400"/>
            <a:ext cx="26974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45351" y="2221992"/>
            <a:ext cx="45720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5351" y="2221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7" y="222199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Tool Chain
Fragmentation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1" y="2807208"/>
            <a:ext cx="2359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ROVO, Copilot, Jira, GitHub and JTAG need orchestration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206240"/>
            <a:ext cx="2697480" cy="193852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206240"/>
            <a:ext cx="2697480" cy="457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84632" y="4370832"/>
            <a:ext cx="457200" cy="457200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" y="43708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" y="437083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PDLC
Trace Gaps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4956048"/>
            <a:ext cx="2359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Requirements, code, tests and evidence drift apart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4206240"/>
            <a:ext cx="2697480" cy="193852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00400" y="4206240"/>
            <a:ext cx="2697480" cy="4572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364992" y="4370832"/>
            <a:ext cx="457200" cy="457200"/>
          </a:xfrm>
          <a:prstGeom prst="round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64992" y="43708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0208" y="437083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Embedded
Hardware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4992" y="4956048"/>
            <a:ext cx="2359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JTAG/SWD evidence stays outside lifecycle decisions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59" y="4206240"/>
            <a:ext cx="2697480" cy="193852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080759" y="4206240"/>
            <a:ext cx="2697480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245351" y="4370832"/>
            <a:ext cx="457200" cy="457200"/>
          </a:xfrm>
          <a:prstGeom prst="round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45351" y="4370832"/>
            <a:ext cx="45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Segoe UI"/>
              </a:rPr>
              <a:t>PG5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7" y="437083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Launch Gate
Uncertainty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1" y="4956048"/>
            <a:ext cx="2359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Readiness depends on manual proof and subjective reviews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1" y="749808"/>
            <a:ext cx="85009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Segoe UI"/>
              </a:rPr>
              <a:t>AEPLO Platform for Embedded PDLC AI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767328" y="2944367"/>
            <a:ext cx="1609344" cy="1609344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944355" y="3121394"/>
            <a:ext cx="1255288" cy="1255288"/>
          </a:xfrm>
          <a:prstGeom prst="ellipse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03444" y="372892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594447" y="386617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567612" y="400108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523398" y="413133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462561" y="425470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386142" y="436907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295449" y="447248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192033" y="456318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77664" y="4639600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54298" y="470043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824047" y="474465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89140" y="477148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51884" y="478048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414627" y="477148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279720" y="474465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149469" y="470043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026104" y="4639600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911734" y="456318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08318" y="447248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717625" y="436907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641206" y="425470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580369" y="413133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536155" y="400108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509320" y="386617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500324" y="372892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509320" y="359166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36155" y="345675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80369" y="332650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641206" y="320314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717625" y="308877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808318" y="298535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911734" y="289466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026103" y="2818245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149469" y="275740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279720" y="271319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414627" y="268635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551884" y="267736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689140" y="268635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824047" y="271319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954298" y="275740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077664" y="2818245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192033" y="289466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295449" y="298535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386142" y="308877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462561" y="320314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523398" y="332650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567612" y="345675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594447" y="359166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850332" y="372892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5839223" y="389840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5806088" y="406498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751493" y="422581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5676372" y="437814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5582012" y="451936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470025" y="464706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5342329" y="475905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201108" y="485341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048778" y="492853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4887947" y="498312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4721365" y="501626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4551884" y="502737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4382402" y="501626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4215820" y="498312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4054989" y="492853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3902660" y="485341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3761438" y="475905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3633742" y="464706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3521755" y="451936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3427395" y="437814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3352274" y="422581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3297679" y="406498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3264544" y="389840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3253436" y="372892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3264544" y="355944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3297679" y="339285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3352274" y="323202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3427395" y="307969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3521755" y="293847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3633742" y="281078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3761438" y="269879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3902659" y="260443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4054989" y="252931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4215820" y="247471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4382402" y="244158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4551884" y="2430475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4721365" y="244158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4887947" y="247471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5048778" y="252931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5201108" y="260443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5342329" y="269879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5470025" y="281078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5582012" y="293847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5676372" y="307969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5751493" y="323202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5806088" y="339285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5839223" y="355944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6088076" y="372892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6074933" y="392943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6035731" y="412651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5971140" y="431679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5882265" y="449701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5770627" y="466409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5638135" y="481517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5487058" y="494766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5319980" y="505930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5139759" y="514817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4949479" y="5212770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4752397" y="525197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4551884" y="5265115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4351370" y="5251972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4154288" y="5212770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3964008" y="514817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3783788" y="505930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3616709" y="494766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3465632" y="4815174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3333140" y="466409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3221502" y="449701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3132627" y="431679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3068036" y="412651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3028834" y="392943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3015692" y="372892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3028834" y="352840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3068036" y="333132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3132627" y="314104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3221502" y="296082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3333140" y="279374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3465632" y="264267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3616709" y="251017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3783787" y="239854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3964008" y="230966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4154288" y="2245075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4351370" y="220587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4551884" y="219273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4752397" y="2205873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4949479" y="2245075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5139759" y="230966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5319980" y="239854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5487058" y="251017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5638135" y="2642671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5770627" y="2793748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5882265" y="2960826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5971140" y="314104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6035731" y="3331327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6074933" y="3528409"/>
            <a:ext cx="40233" cy="40233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748694" y="3444687"/>
            <a:ext cx="1609344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0C8F0"/>
                </a:solidFill>
                <a:latin typeface="Segoe UI"/>
              </a:rPr>
              <a:t>AEPLO
JTAG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647370" y="2473633"/>
            <a:ext cx="1184330" cy="2743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2633654" y="2487349"/>
            <a:ext cx="27432" cy="52139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91440" y="1371599"/>
            <a:ext cx="2743200" cy="11887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91440" y="1371599"/>
            <a:ext cx="2743200" cy="41148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228600" y="1536191"/>
            <a:ext cx="274320" cy="274320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21792" y="1444751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0"/>
                </a:solidFill>
                <a:latin typeface="Segoe UI"/>
              </a:rPr>
              <a:t>Connected Embedded
Data Foundation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28600" y="1920239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D0EC"/>
                </a:solidFill>
                <a:latin typeface="Segoe UI"/>
              </a:rPr>
              <a:t>Unifies Jira, Confluence, GitHub, JTAG/SWD evidence, QA and gate context.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312298" y="2473633"/>
            <a:ext cx="1184330" cy="2743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6482913" y="2487349"/>
            <a:ext cx="27432" cy="52139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ounded Rectangle 163"/>
          <p:cNvSpPr/>
          <p:nvPr/>
        </p:nvSpPr>
        <p:spPr>
          <a:xfrm>
            <a:off x="6309360" y="1371599"/>
            <a:ext cx="2743200" cy="11887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6309360" y="1371599"/>
            <a:ext cx="2743200" cy="411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6446520" y="1536191"/>
            <a:ext cx="274320" cy="274320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6839712" y="1444751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8A"/>
                </a:solidFill>
                <a:latin typeface="Segoe UI"/>
              </a:rPr>
              <a:t>JTAG Accelerator
Inside AEPLO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446520" y="1920239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D0EC"/>
                </a:solidFill>
                <a:latin typeface="Segoe UI"/>
              </a:rPr>
              <a:t>Hardware-backed RCA, variable tracing and peripheral inspection become PDLC evidence.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647370" y="4997012"/>
            <a:ext cx="118433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2633654" y="4489337"/>
            <a:ext cx="27432" cy="52139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ounded Rectangle 170"/>
          <p:cNvSpPr/>
          <p:nvPr/>
        </p:nvSpPr>
        <p:spPr>
          <a:xfrm>
            <a:off x="91440" y="4937759"/>
            <a:ext cx="2743200" cy="11887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1440" y="4937759"/>
            <a:ext cx="2743200" cy="411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228600" y="5102351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621792" y="5010911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Segoe UI"/>
              </a:rPr>
              <a:t>NPI Gate
Orchestration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28600" y="5486399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D0EC"/>
                </a:solidFill>
                <a:latin typeface="Segoe UI"/>
              </a:rPr>
              <a:t>PG1 discovery, PG3 development and PG5 launch prep become one demo flow.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312298" y="4997012"/>
            <a:ext cx="118433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6482913" y="4489337"/>
            <a:ext cx="27432" cy="52139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ounded Rectangle 177"/>
          <p:cNvSpPr/>
          <p:nvPr/>
        </p:nvSpPr>
        <p:spPr>
          <a:xfrm>
            <a:off x="6309360" y="4937759"/>
            <a:ext cx="2743200" cy="11887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6309360" y="4937759"/>
            <a:ext cx="2743200" cy="411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6446520" y="5102351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839712" y="5010911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Segoe UI"/>
              </a:rPr>
              <a:t>AI Optimisation
Experiences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446520" y="5486399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D0EC"/>
                </a:solidFill>
                <a:latin typeface="Segoe UI"/>
              </a:rPr>
              <a:t>ROVO Studio, Copilot and agents optimise risks, fixes, tests and readiness.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AEPLO Platform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0EC"/>
                </a:solidFill>
                <a:latin typeface="Segoe UI"/>
              </a:rPr>
              <a:t>Connects Jira, Confluence, GitHub, Copilot, ROVO Studio, Atlassian MCP and JTAG/SWD evidence into one embedded PDLC optimisation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65960"/>
            <a:ext cx="1874519" cy="749808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965960"/>
            <a:ext cx="18745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CONNECTED 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965960"/>
            <a:ext cx="6510528" cy="74980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31720" y="1965960"/>
            <a:ext cx="41148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87168" y="2130552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Jira · Confluence · GitHub · Copilot · ROVO Studio · JTAG/SWD · QA Results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715768"/>
            <a:ext cx="45720" cy="12801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715768"/>
            <a:ext cx="45720" cy="12801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20040" y="2843784"/>
            <a:ext cx="1874519" cy="749808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2843784"/>
            <a:ext cx="18745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DATA INTEGRATION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2843784"/>
            <a:ext cx="6510528" cy="74980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31720" y="2843784"/>
            <a:ext cx="41148" cy="74980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87168" y="3008376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Unified Knowledge Graph  ·  Semantic Traceability Engine  ·  Version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593592"/>
            <a:ext cx="45720" cy="128016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0" y="3593592"/>
            <a:ext cx="45720" cy="128016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0040" y="3721608"/>
            <a:ext cx="1874519" cy="749808"/>
          </a:xfrm>
          <a:prstGeom prst="round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3721608"/>
            <a:ext cx="18745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AEPLO ORCHESTRATION 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720" y="3721608"/>
            <a:ext cx="6510528" cy="74980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331720" y="3721608"/>
            <a:ext cx="41148" cy="749808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87168" y="3886200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Atlassian MCP · JTAG Accelerator · Fault Analyzer · Release Agent · QA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471416"/>
            <a:ext cx="45720" cy="12801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0" y="4471416"/>
            <a:ext cx="45720" cy="12801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20040" y="4599431"/>
            <a:ext cx="1874519" cy="7498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4599431"/>
            <a:ext cx="18745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AUTOMATION &amp; GATING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31720" y="4599431"/>
            <a:ext cx="6510528" cy="74980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331720" y="4599431"/>
            <a:ext cx="41148" cy="7498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87168" y="4764023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CI/CD Hooks  ·  Controlled Auto-Fix  ·  Auto-PR  ·  Release Gate  ·  Remediation Actions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349239"/>
            <a:ext cx="4572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0" y="5349239"/>
            <a:ext cx="45720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20040" y="5477256"/>
            <a:ext cx="1874519" cy="749808"/>
          </a:xfrm>
          <a:prstGeom prst="round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5477256"/>
            <a:ext cx="187451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NPI GATE OUTCOMES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31720" y="5477256"/>
            <a:ext cx="6510528" cy="749808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331720" y="5477256"/>
            <a:ext cx="41148" cy="74980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87168" y="5641848"/>
            <a:ext cx="6236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PG1 Risk Plan · PG3 RCA + PR · PG5 READY / NOT_READY · Audit 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CONNECTED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Segoe UI"/>
              </a:rPr>
              <a:t>ROVO + Copilot + Atlassian MCP + GitHub + Jira + Confluence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0EC"/>
                </a:solidFill>
                <a:latin typeface="Segoe UI"/>
              </a:rPr>
              <a:t>The demo platform brings work management, knowledge, code, AI coding assistance and hardware evidence into AEPLO's embedded PDLC optimisation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65960"/>
            <a:ext cx="1938528" cy="41605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65960"/>
            <a:ext cx="1938528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2121408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0072C6"/>
                </a:solidFill>
                <a:latin typeface="Segoe UI"/>
              </a:rPr>
              <a:t>PLAN &amp; KNOWLEDGE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1664208" cy="74980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76072" y="2862072"/>
            <a:ext cx="256032" cy="256032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80720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Segoe UI"/>
              </a:rPr>
              <a:t>Jira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08152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B8D0EC"/>
                </a:solidFill>
                <a:latin typeface="Segoe UI"/>
              </a:rPr>
              <a:t>NPI epics, coding defects,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1664208" cy="74980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6072" y="3867912"/>
            <a:ext cx="256032" cy="256032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81304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Segoe UI"/>
              </a:rPr>
              <a:t>Confluence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08736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B8D0EC"/>
                </a:solidFill>
                <a:latin typeface="Segoe UI"/>
              </a:rPr>
              <a:t>PRD, architecture, test notes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09160"/>
            <a:ext cx="1664208" cy="74980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6072" y="4873752"/>
            <a:ext cx="256032" cy="256032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81888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Segoe UI"/>
              </a:rPr>
              <a:t>PG1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509320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B8D0EC"/>
                </a:solidFill>
                <a:latin typeface="Segoe UI"/>
              </a:rPr>
              <a:t>Risk map and demo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3432" y="3858768"/>
            <a:ext cx="155448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468880" y="3803904"/>
            <a:ext cx="24688" cy="16459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489454" y="3814191"/>
            <a:ext cx="21602" cy="144018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10028" y="3824478"/>
            <a:ext cx="18516" cy="12344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530602" y="3834765"/>
            <a:ext cx="15430" cy="10287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551176" y="3845052"/>
            <a:ext cx="12344" cy="8229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571750" y="3855339"/>
            <a:ext cx="9258" cy="6172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92324" y="3865626"/>
            <a:ext cx="6172" cy="41148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612898" y="3875913"/>
            <a:ext cx="3086" cy="2057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468880" y="1965960"/>
            <a:ext cx="1938528" cy="41605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468880" y="1965960"/>
            <a:ext cx="1938528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78608" y="2121408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8B5CF6"/>
                </a:solidFill>
                <a:latin typeface="Segoe UI"/>
              </a:rPr>
              <a:t>BUILD &amp; CODE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06040" y="2697480"/>
            <a:ext cx="1664208" cy="74980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724912" y="2862072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63240" y="280720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Segoe UI"/>
              </a:rPr>
              <a:t>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24912" y="308152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B8D0EC"/>
                </a:solidFill>
                <a:latin typeface="Segoe UI"/>
              </a:rPr>
              <a:t>Branches, PRs, reviews,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06040" y="3703320"/>
            <a:ext cx="1664208" cy="74980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724912" y="3867912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63240" y="381304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Segoe UI"/>
              </a:rPr>
              <a:t>Copilot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24912" y="408736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B8D0EC"/>
                </a:solidFill>
                <a:latin typeface="Segoe UI"/>
              </a:rPr>
              <a:t>Patch suggestions and explanations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06040" y="4709160"/>
            <a:ext cx="1664208" cy="74980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724912" y="4873752"/>
            <a:ext cx="256032" cy="25603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063240" y="481888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Segoe UI"/>
              </a:rPr>
              <a:t>PG3 Development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24912" y="509320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B8D0EC"/>
                </a:solidFill>
                <a:latin typeface="Segoe UI"/>
              </a:rPr>
              <a:t>RCA, guarded fix and PR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62272" y="3858768"/>
            <a:ext cx="155448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617720" y="3803904"/>
            <a:ext cx="24688" cy="16459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638294" y="3814191"/>
            <a:ext cx="21602" cy="144018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658868" y="3824478"/>
            <a:ext cx="18516" cy="12344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679442" y="3834765"/>
            <a:ext cx="15430" cy="10287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700016" y="3845052"/>
            <a:ext cx="12344" cy="8229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720590" y="3855339"/>
            <a:ext cx="9258" cy="6172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741164" y="3865626"/>
            <a:ext cx="6172" cy="41148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761738" y="3875913"/>
            <a:ext cx="3086" cy="2057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4617720" y="1965960"/>
            <a:ext cx="1938528" cy="41605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617720" y="1965960"/>
            <a:ext cx="1938528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27448" y="2121408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FF8C00"/>
                </a:solidFill>
                <a:latin typeface="Segoe UI"/>
              </a:rPr>
              <a:t>ORCHESTRATE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54880" y="2697480"/>
            <a:ext cx="1664208" cy="74980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4873752" y="2862072"/>
            <a:ext cx="256032" cy="25603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12080" y="280720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Segoe UI"/>
              </a:rPr>
              <a:t>Atlassian MCP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73752" y="308152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B8D0EC"/>
                </a:solidFill>
                <a:latin typeface="Segoe UI"/>
              </a:rPr>
              <a:t>Jira + Confluence actions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54880" y="3703320"/>
            <a:ext cx="1664208" cy="74980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4873752" y="3867912"/>
            <a:ext cx="256032" cy="25603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12080" y="381304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Segoe UI"/>
              </a:rPr>
              <a:t>AEPLO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73752" y="408736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B8D0EC"/>
                </a:solidFill>
                <a:latin typeface="Segoe UI"/>
              </a:rPr>
              <a:t>Agent routing and PDLC knowledge graph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754880" y="4709160"/>
            <a:ext cx="1664208" cy="74980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4873752" y="4873752"/>
            <a:ext cx="256032" cy="25603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212080" y="481888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Segoe UI"/>
              </a:rPr>
              <a:t>ROVO Studio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73752" y="509320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B8D0EC"/>
                </a:solidFill>
                <a:latin typeface="Segoe UI"/>
              </a:rPr>
              <a:t>NPI demo cockpit and AI experience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11112" y="3858768"/>
            <a:ext cx="155448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766560" y="3803904"/>
            <a:ext cx="24688" cy="16459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787134" y="3814191"/>
            <a:ext cx="21602" cy="144018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807708" y="3824478"/>
            <a:ext cx="18516" cy="12344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828282" y="3834765"/>
            <a:ext cx="15430" cy="10287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848856" y="3845052"/>
            <a:ext cx="12344" cy="8229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869430" y="3855339"/>
            <a:ext cx="9258" cy="6172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890004" y="3865626"/>
            <a:ext cx="6172" cy="41148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910578" y="3875913"/>
            <a:ext cx="3086" cy="2057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766560" y="1965960"/>
            <a:ext cx="1938528" cy="41605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766560" y="1965960"/>
            <a:ext cx="1938528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76288" y="2121408"/>
            <a:ext cx="1719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 i="0">
                <a:solidFill>
                  <a:srgbClr val="00D48A"/>
                </a:solidFill>
                <a:latin typeface="Segoe UI"/>
              </a:rPr>
              <a:t>VALIDATE &amp; LAUNCH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903720" y="2697480"/>
            <a:ext cx="1664208" cy="74980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7022592" y="2862072"/>
            <a:ext cx="256032" cy="256032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360920" y="280720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Segoe UI"/>
              </a:rPr>
              <a:t>JTAG Accelerator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22592" y="308152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B8D0EC"/>
                </a:solidFill>
                <a:latin typeface="Segoe UI"/>
              </a:rPr>
              <a:t>MCU register, memory and probe evidence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903720" y="3703320"/>
            <a:ext cx="1664208" cy="74980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7022592" y="3867912"/>
            <a:ext cx="256032" cy="256032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360920" y="381304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Segoe UI"/>
              </a:rPr>
              <a:t>Release Gate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22592" y="408736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B8D0EC"/>
                </a:solidFill>
                <a:latin typeface="Segoe UI"/>
              </a:rPr>
              <a:t>READY / NOT_READY with action list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903720" y="4709160"/>
            <a:ext cx="1664208" cy="74980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7022592" y="4873752"/>
            <a:ext cx="256032" cy="256032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360920" y="481888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Segoe UI"/>
              </a:rPr>
              <a:t>PG5 Launch Prep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22592" y="509320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90" b="0" i="0">
                <a:solidFill>
                  <a:srgbClr val="B8D0EC"/>
                </a:solidFill>
                <a:latin typeface="Segoe UI"/>
              </a:rPr>
              <a:t>Validation proof and governance pack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20040" y="6355080"/>
            <a:ext cx="8503920" cy="310896"/>
          </a:xfrm>
          <a:prstGeom prst="round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02920" y="6391656"/>
            <a:ext cx="8138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 b="1" i="0">
                <a:solidFill>
                  <a:srgbClr val="00D48A"/>
                </a:solidFill>
                <a:latin typeface="Segoe UI"/>
              </a:rPr>
              <a:t>COMMON IDEA: AEPLO connects enterprise collaboration tools with embedded hardware evidence to optimise NPI gate decisions.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PG1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PG1 Discovery — AI Risk &amp; Scope Optimisation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0EC"/>
                </a:solidFill>
                <a:latin typeface="Segoe UI"/>
              </a:rPr>
              <a:t>AEPLO starts before coding: it connects PRD content, Jira themes, Confluence context, GitHub history and target-board data to shape a risk-backed embedded demo plan.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3296412"/>
            <a:ext cx="8449056" cy="27432"/>
          </a:xfrm>
          <a:prstGeom prst="rect">
            <a:avLst/>
          </a:prstGeom>
          <a:solidFill>
            <a:srgbClr val="0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7472" y="2011680"/>
            <a:ext cx="2633472" cy="4133087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2011680"/>
            <a:ext cx="2633472" cy="4572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80160" y="2926080"/>
            <a:ext cx="768096" cy="768096"/>
          </a:xfrm>
          <a:prstGeom prst="ellipse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43123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68726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94329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19932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45535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2148840"/>
            <a:ext cx="2633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A89A"/>
                </a:solidFill>
                <a:latin typeface="Segoe UI"/>
              </a:rPr>
              <a:t>COLLECT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257860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NPI + Embedded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" y="2999232"/>
            <a:ext cx="2304288" cy="1463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" y="3749040"/>
            <a:ext cx="230428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B8D0EC"/>
                </a:solidFill>
                <a:latin typeface="Segoe UI"/>
              </a:rPr>
              <a:t>Ingests PRD, Jira epics, Confluence architecture notes, GitHub defect history and target-board assumptions.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2011680"/>
            <a:ext cx="2633472" cy="4133087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0" y="2011680"/>
            <a:ext cx="2633472" cy="457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133088" y="2926080"/>
            <a:ext cx="768096" cy="768096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33088" y="2926080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0448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96051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21654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7257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72860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98463" y="3295498"/>
            <a:ext cx="18288" cy="2926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0" y="2148840"/>
            <a:ext cx="2633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2C6"/>
                </a:solidFill>
                <a:latin typeface="Segoe UI"/>
              </a:rPr>
              <a:t>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257860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PDLC Risk &amp; Traceability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64992" y="2999232"/>
            <a:ext cx="2304288" cy="1463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19856" y="3728791"/>
            <a:ext cx="230428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Builds a lifecycle graph from requirements to code areas, tests, JTAG debug hotspots and validation evidence needs.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53328" y="2011680"/>
            <a:ext cx="2633472" cy="4133087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53328" y="2011680"/>
            <a:ext cx="2633472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986016" y="2926080"/>
            <a:ext cx="768096" cy="768096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86016" y="2926080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2148840"/>
            <a:ext cx="2633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  <a:latin typeface="Segoe UI"/>
              </a:rPr>
              <a:t>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2578608"/>
            <a:ext cx="2633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PG1 Demo Readiness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19" y="2999232"/>
            <a:ext cx="2304288" cy="1463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0405" y="3728791"/>
            <a:ext cx="230428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Produces a risk-backed demo scope, board setup checklist, debug scenario and PG3 development entry criteria.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PG3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PG3 Development — AEPLO JTAG Accelerator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0EC"/>
                </a:solidFill>
                <a:latin typeface="Segoe UI"/>
              </a:rPr>
              <a:t>Inside AEPLO, the JTAG Accelerator converts embedded coding defects into hardware-backed RCA, controlled code fixes, GitHub PRs and Jira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93392"/>
            <a:ext cx="1965960" cy="192024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1965960" cy="457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46988" y="2212848"/>
            <a:ext cx="512064" cy="512064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6988" y="221284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852928"/>
            <a:ext cx="1746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72C6"/>
                </a:solidFill>
                <a:latin typeface="Segoe UI"/>
              </a:rPr>
              <a:t>JIRA / CONFLUENCE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3273552"/>
            <a:ext cx="1709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B8D0EC"/>
                </a:solidFill>
                <a:latin typeface="Segoe UI"/>
              </a:rPr>
              <a:t>Bug, requirement, architecture note and PG3 acceptance criteria define the 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2763774"/>
            <a:ext cx="314919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78608" y="2660904"/>
            <a:ext cx="13716" cy="2560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92324" y="2671572"/>
            <a:ext cx="13716" cy="23469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06040" y="2682240"/>
            <a:ext cx="13716" cy="213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19756" y="2692908"/>
            <a:ext cx="13716" cy="19202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33472" y="2703576"/>
            <a:ext cx="13716" cy="1706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47188" y="2714244"/>
            <a:ext cx="13716" cy="149351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60904" y="2724912"/>
            <a:ext cx="13716" cy="12801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74620" y="2735580"/>
            <a:ext cx="13716" cy="106679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688336" y="2746248"/>
            <a:ext cx="13716" cy="8534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02052" y="2756916"/>
            <a:ext cx="13716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15768" y="2767584"/>
            <a:ext cx="13716" cy="42671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29484" y="2778252"/>
            <a:ext cx="13716" cy="2133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496312" y="1993392"/>
            <a:ext cx="1965960" cy="192024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496312" y="1993392"/>
            <a:ext cx="196596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223260" y="2212848"/>
            <a:ext cx="512064" cy="512064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23260" y="221284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2852928"/>
            <a:ext cx="1746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8C00"/>
                </a:solidFill>
                <a:latin typeface="Segoe UI"/>
              </a:rPr>
              <a:t>JTAG 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4328" y="3273552"/>
            <a:ext cx="1709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B8D0EC"/>
                </a:solidFill>
                <a:latin typeface="Segoe UI"/>
              </a:rPr>
              <a:t>Routes requests across AEPLO, IDE, J-Link probe and target MCU session.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35424" y="2763774"/>
            <a:ext cx="314919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54880" y="2660904"/>
            <a:ext cx="13716" cy="2560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68596" y="2671572"/>
            <a:ext cx="13716" cy="23469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82312" y="2682240"/>
            <a:ext cx="13716" cy="213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96028" y="2692908"/>
            <a:ext cx="13716" cy="19202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809744" y="2703576"/>
            <a:ext cx="13716" cy="1706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23460" y="2714244"/>
            <a:ext cx="13716" cy="149351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837176" y="2724912"/>
            <a:ext cx="13716" cy="12801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850892" y="2735580"/>
            <a:ext cx="13716" cy="106679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864608" y="2746248"/>
            <a:ext cx="13716" cy="8534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878324" y="2756916"/>
            <a:ext cx="13716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892040" y="2767584"/>
            <a:ext cx="13716" cy="42671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905756" y="2778252"/>
            <a:ext cx="13716" cy="2133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672583" y="1993392"/>
            <a:ext cx="1965960" cy="192024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672583" y="1993392"/>
            <a:ext cx="19659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399531" y="2212848"/>
            <a:ext cx="512064" cy="51206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99531" y="221284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82311" y="2852928"/>
            <a:ext cx="1746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B5CF6"/>
                </a:solidFill>
                <a:latin typeface="Segoe UI"/>
              </a:rPr>
              <a:t>SPECIALIST AGENTS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00599" y="3273552"/>
            <a:ext cx="1709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B8D0EC"/>
                </a:solidFill>
                <a:latin typeface="Segoe UI"/>
              </a:rPr>
              <a:t>Fault Analyzer, Variable Tracer, Peripheral Inspector and Memory Parser collaborate.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11695" y="2763774"/>
            <a:ext cx="314919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931151" y="2660904"/>
            <a:ext cx="13716" cy="2560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944867" y="2671572"/>
            <a:ext cx="13716" cy="23469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58583" y="2682240"/>
            <a:ext cx="13716" cy="213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972299" y="2692908"/>
            <a:ext cx="13716" cy="19202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986015" y="2703576"/>
            <a:ext cx="13716" cy="1706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999731" y="2714244"/>
            <a:ext cx="13716" cy="149351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013447" y="2724912"/>
            <a:ext cx="13716" cy="12801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027163" y="2735580"/>
            <a:ext cx="13716" cy="106679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040879" y="2746248"/>
            <a:ext cx="13716" cy="8534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054595" y="2756916"/>
            <a:ext cx="13716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068311" y="2767584"/>
            <a:ext cx="13716" cy="42671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082027" y="2778252"/>
            <a:ext cx="13716" cy="2133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6848855" y="1993392"/>
            <a:ext cx="1965960" cy="192024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848855" y="1993392"/>
            <a:ext cx="196596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7575803" y="2212848"/>
            <a:ext cx="512064" cy="512064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575803" y="221284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58583" y="2852928"/>
            <a:ext cx="1746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48A"/>
                </a:solidFill>
                <a:latin typeface="Segoe UI"/>
              </a:rPr>
              <a:t>CONTROLLED AUTO-FIX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76871" y="3273552"/>
            <a:ext cx="1709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 i="0">
                <a:solidFill>
                  <a:srgbClr val="B8D0EC"/>
                </a:solidFill>
                <a:latin typeface="Segoe UI"/>
              </a:rPr>
              <a:t>Copilot-assisted patch becomes a GitHub branch, PR and review-ready Jira update.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0040" y="4224528"/>
            <a:ext cx="8503920" cy="9144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20040" y="4224528"/>
            <a:ext cx="45720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2920" y="43159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  <a:latin typeface="Segoe UI"/>
              </a:rPr>
              <a:t>PHYSICAL DEBUG EVIDENCE LANE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4645152"/>
            <a:ext cx="8092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D0EC"/>
                </a:solidFill>
                <a:latin typeface="Segoe UI"/>
              </a:rPr>
              <a:t>Target MCU: STM32 / Cortex-M  |  Interface: JTAG/SWD  |  Evidence: HardFault registers, stack frames, memory dumps, peripheral state, probe logs and GitHub PR links.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0040" y="5394960"/>
            <a:ext cx="2697480" cy="86868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20040" y="5394960"/>
            <a:ext cx="45720" cy="86868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48056" y="546811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A89A"/>
                </a:solidFill>
                <a:latin typeface="Segoe UI"/>
              </a:rPr>
              <a:t>Faster RCA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8056" y="5760720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 i="0">
                <a:solidFill>
                  <a:srgbClr val="B8D0EC"/>
                </a:solidFill>
                <a:latin typeface="Segoe UI"/>
              </a:rPr>
              <a:t>Days of manual setup become guided ROVO/Copilot actions.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00400" y="5394960"/>
            <a:ext cx="2697480" cy="86868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200400" y="5394960"/>
            <a:ext cx="45720" cy="8686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328416" y="546811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2C6"/>
                </a:solidFill>
                <a:latin typeface="Segoe UI"/>
              </a:rPr>
              <a:t>Traceable Fixes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28416" y="5760720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 i="0">
                <a:solidFill>
                  <a:srgbClr val="B8D0EC"/>
                </a:solidFill>
                <a:latin typeface="Segoe UI"/>
              </a:rPr>
              <a:t>Every patch links Jira, Confluence, GitHub and hardware evidence.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80759" y="5394960"/>
            <a:ext cx="2697480" cy="86868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6080759" y="5394960"/>
            <a:ext cx="45720" cy="86868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208775" y="5468112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8A"/>
                </a:solidFill>
                <a:latin typeface="Segoe UI"/>
              </a:rPr>
              <a:t>PG3 Ready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08775" y="5760720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0" b="0" i="0">
                <a:solidFill>
                  <a:srgbClr val="B8D0EC"/>
                </a:solidFill>
                <a:latin typeface="Segoe UI"/>
              </a:rPr>
              <a:t>Validated fixes flow into PG5 launch preparation gates.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PG5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Segoe UI"/>
              </a:rPr>
              <a:t>PG5 Validation &amp; Launch Preparation Gatekeeper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0EC"/>
                </a:solidFill>
                <a:latin typeface="Segoe UI"/>
              </a:rPr>
              <a:t>AEPLO evaluates launch readiness using code, QA, traceability and JTAG/SWD evidence. The outcome is an unambiguous gate verdict with action-ready remediation.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011680"/>
            <a:ext cx="5029200" cy="135331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50292" cy="135331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5488" y="2395728"/>
            <a:ext cx="502920" cy="502920"/>
          </a:xfrm>
          <a:prstGeom prst="round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2395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0848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8A"/>
                </a:solidFill>
                <a:latin typeface="Segoe UI"/>
              </a:rPr>
              <a:t>Validates PG5
Launch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606040"/>
            <a:ext cx="4069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Coverage, static analysis, regression status, traceability, hardware proof and launch evidence are checked together.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520440"/>
            <a:ext cx="5029200" cy="135331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520440"/>
            <a:ext cx="50292" cy="1353312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75488" y="3904488"/>
            <a:ext cx="502920" cy="502920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3904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59359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2C6"/>
                </a:solidFill>
                <a:latin typeface="Segoe UI"/>
              </a:rPr>
              <a:t>Structured Verdict:
READY / NOT_READY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114800"/>
            <a:ext cx="4069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Binary, unambiguous gate decision with confidence score, Jira evidence summary and GitHub PR links.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5029200"/>
            <a:ext cx="5029200" cy="135331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5029200"/>
            <a:ext cx="50292" cy="135331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75488" y="5413248"/>
            <a:ext cx="50292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54132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1023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  <a:latin typeface="Segoe UI"/>
              </a:rPr>
              <a:t>Clear Remediation
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5623560"/>
            <a:ext cx="4069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Every NOT_READY verdict includes a prioritized action list: which test, fix, evidence or launch artefact must be updated.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1965960"/>
            <a:ext cx="3182112" cy="449884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23560" y="1965960"/>
            <a:ext cx="3182112" cy="50292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23560" y="2029968"/>
            <a:ext cx="3182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2C6"/>
                </a:solidFill>
                <a:latin typeface="Segoe UI"/>
              </a:rPr>
              <a:t>RELEASE GATE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60" y="2423160"/>
            <a:ext cx="3182112" cy="1463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824728" y="2542032"/>
            <a:ext cx="2779776" cy="1536192"/>
          </a:xfrm>
          <a:prstGeom prst="roundRect">
            <a:avLst/>
          </a:prstGeom>
          <a:solidFill>
            <a:srgbClr val="02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24728" y="2542032"/>
            <a:ext cx="2779776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629400" y="2706624"/>
            <a:ext cx="621792" cy="621792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2706624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7768" y="274320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8A"/>
                </a:solidFill>
                <a:latin typeface="Segoe UI"/>
              </a:rPr>
              <a:t>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9592" y="324612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0EC"/>
                </a:solidFill>
                <a:latin typeface="Segoe UI"/>
              </a:rPr>
              <a:t>All gates passed.
Cleared for release.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24728" y="4224528"/>
            <a:ext cx="2779776" cy="1536192"/>
          </a:xfrm>
          <a:prstGeom prst="roundRect">
            <a:avLst/>
          </a:prstGeom>
          <a:solidFill>
            <a:srgbClr val="2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824728" y="4224528"/>
            <a:ext cx="2779776" cy="45720"/>
          </a:xfrm>
          <a:prstGeom prst="rect">
            <a:avLst/>
          </a:prstGeom>
          <a:solidFill>
            <a:srgbClr val="FF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629400" y="4389120"/>
            <a:ext cx="621792" cy="621792"/>
          </a:xfrm>
          <a:prstGeom prst="ellipse">
            <a:avLst/>
          </a:prstGeom>
          <a:solidFill>
            <a:srgbClr val="FF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400" y="4389120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7768" y="4425696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3A3A"/>
                </a:solidFill>
                <a:latin typeface="Segoe UI"/>
              </a:rPr>
              <a:t>NOT 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79592" y="493776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0EC"/>
                </a:solidFill>
                <a:latin typeface="Segoe UI"/>
              </a:rPr>
              <a:t>3 blockers found.
See remediation list.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QA2RELEASE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QA2Release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0EC"/>
                </a:solidFill>
                <a:latin typeface="Segoe UI"/>
              </a:rPr>
              <a:t>Creates a closed-loop embedded PDLC: QA results and JTAG evidence drive root-cause analysis, test optimisation and next-release learning.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834640"/>
            <a:ext cx="36576" cy="7040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7472" y="2231136"/>
            <a:ext cx="621792" cy="62179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2231136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029968"/>
            <a:ext cx="7662672" cy="135331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3000" y="2029968"/>
            <a:ext cx="45720" cy="13533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8448" y="210312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  <a:latin typeface="Segoe UI"/>
              </a:rPr>
              <a:t>Analyze QA 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523744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All QA failures and hardware evidence are ingested — unit, integration, HIL, system tests, JTAG registers and probe logs are mapped together.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343400"/>
            <a:ext cx="36576" cy="70408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7472" y="3739896"/>
            <a:ext cx="621792" cy="621792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739896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3538728"/>
            <a:ext cx="7662672" cy="135331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3000" y="3538728"/>
            <a:ext cx="45720" cy="1353312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8448" y="361188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C6"/>
                </a:solidFill>
                <a:latin typeface="Segoe UI"/>
              </a:rPr>
              <a:t>Extract Root Causes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032504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AI correlates failures with commits, Jira issues, Confluence decisions, RTOS timing deltas and JTAG/SWD evidence. Root causes are ranked by confidence.</a:t>
            </a:r>
          </a:p>
        </p:txBody>
      </p:sp>
      <p:sp>
        <p:nvSpPr>
          <p:cNvPr id="23" name="Oval 22"/>
          <p:cNvSpPr/>
          <p:nvPr/>
        </p:nvSpPr>
        <p:spPr>
          <a:xfrm>
            <a:off x="347472" y="5248656"/>
            <a:ext cx="621792" cy="621792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5248656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5047488"/>
            <a:ext cx="7662672" cy="135331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43000" y="5047488"/>
            <a:ext cx="45720" cy="135331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98448" y="512064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8A"/>
                </a:solidFill>
                <a:latin typeface="Segoe UI"/>
              </a:rPr>
              <a:t>Generate Next-Release Improvements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541264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Automated improvement tickets are raised with code suggestions, test additions, coverage targets and launch-prep actions for the next NPI cycle.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6400800"/>
            <a:ext cx="8503920" cy="310896"/>
          </a:xfrm>
          <a:prstGeom prst="round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6400800"/>
            <a:ext cx="45720" cy="3108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400800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latin typeface="Segoe UI"/>
              </a:rPr>
              <a:t>CLOSED-LOOP LIFECYCLE: QA → Root Cause → Next Release Plan → Better QA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Demo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0EC"/>
                </a:solidFill>
                <a:latin typeface="Segoe UI"/>
              </a:rPr>
              <a:t>Live demonstration of how AEPLO executes the NPI gate pipeline from PG1 discovery through PG3 JTAG-accelerated development to PG5 validation and launch prep.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93392"/>
            <a:ext cx="2697480" cy="427939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2697480" cy="4572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4632" y="2103120"/>
            <a:ext cx="1188720" cy="256032"/>
          </a:xfrm>
          <a:prstGeom prst="round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21031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STAGE 1</a:t>
            </a:r>
          </a:p>
        </p:txBody>
      </p:sp>
      <p:sp>
        <p:nvSpPr>
          <p:cNvPr id="13" name="Oval 12"/>
          <p:cNvSpPr/>
          <p:nvPr/>
        </p:nvSpPr>
        <p:spPr>
          <a:xfrm>
            <a:off x="1284732" y="2487168"/>
            <a:ext cx="768096" cy="768096"/>
          </a:xfrm>
          <a:prstGeom prst="ellipse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4732" y="2487168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015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89A"/>
                </a:solidFill>
                <a:latin typeface="Segoe UI"/>
              </a:rPr>
              <a:t>PG1 → Discovery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3913632"/>
            <a:ext cx="2368296" cy="14630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005072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• ROVO Studio cockpit opens NPI scenario
• Jira + Confluence + GitHub context ingested
• AEPLO maps embedded PDLC risks
• Demo scope and board setup are generated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54096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88843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23590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158337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93084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00400" y="1993392"/>
            <a:ext cx="2697480" cy="427939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0" y="1993392"/>
            <a:ext cx="2697480" cy="457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364992" y="2103120"/>
            <a:ext cx="1188720" cy="256032"/>
          </a:xfrm>
          <a:prstGeom prst="round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64992" y="21031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STAGE 2</a:t>
            </a:r>
          </a:p>
        </p:txBody>
      </p:sp>
      <p:sp>
        <p:nvSpPr>
          <p:cNvPr id="27" name="Oval 26"/>
          <p:cNvSpPr/>
          <p:nvPr/>
        </p:nvSpPr>
        <p:spPr>
          <a:xfrm>
            <a:off x="4165092" y="2487168"/>
            <a:ext cx="768096" cy="768096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65092" y="2487168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4015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2C6"/>
                </a:solidFill>
                <a:latin typeface="Segoe UI"/>
              </a:rPr>
              <a:t>PG3 → Development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64992" y="3913632"/>
            <a:ext cx="2368296" cy="1463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4005072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• JTAG Accelerator attaches to target MCU
• Fault Analyzer captures register evidence
• Copilot proposes guarded fix
• GitHub PR links code and hardware proof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34456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69203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03950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38697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073444" y="4114800"/>
            <a:ext cx="22860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080759" y="1993392"/>
            <a:ext cx="2697480" cy="4279392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80759" y="1993392"/>
            <a:ext cx="26974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245351" y="2103120"/>
            <a:ext cx="1188720" cy="2560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45351" y="21031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STAGE 3</a:t>
            </a:r>
          </a:p>
        </p:txBody>
      </p:sp>
      <p:sp>
        <p:nvSpPr>
          <p:cNvPr id="41" name="Oval 40"/>
          <p:cNvSpPr/>
          <p:nvPr/>
        </p:nvSpPr>
        <p:spPr>
          <a:xfrm>
            <a:off x="7045451" y="2487168"/>
            <a:ext cx="768096" cy="7680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5451" y="2487168"/>
            <a:ext cx="76809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19" y="34015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  <a:latin typeface="Segoe UI"/>
              </a:rPr>
              <a:t>PG5 → Validation &amp; Launch Prep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45351" y="3913632"/>
            <a:ext cx="2368296" cy="1463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3639" y="4005072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• QA and JTAG evidence feed Release Gate
• READY / NOT_READY verdict issued
• Jira actions and Confluence summary created
• Next NPI learning loop is updated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BUSINESS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Business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D0EC"/>
                </a:solidFill>
                <a:latin typeface="Segoe UI"/>
              </a:rPr>
              <a:t>Measured outcomes for the Coding Embedded Workstream: connected platform data, hardware-backed debugging, AI optimisation and NPI gate 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93392"/>
            <a:ext cx="4206240" cy="21031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420624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2176272"/>
            <a:ext cx="548640" cy="548640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1762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848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Reduced
Defect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66544"/>
            <a:ext cx="1143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 dirty="0">
                <a:solidFill>
                  <a:srgbClr val="00D48A"/>
                </a:solidFill>
                <a:latin typeface="Segoe UI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51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D0EC"/>
                </a:solidFill>
                <a:latin typeface="Segoe UI"/>
              </a:rPr>
              <a:t>fewer post-release defects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2651760"/>
            <a:ext cx="3877056" cy="1463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798064"/>
            <a:ext cx="38404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ML defect prediction + auto-test generation eliminates the most common escape vectors before firmware ships.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79" y="1993392"/>
            <a:ext cx="4206240" cy="21031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79" y="1993392"/>
            <a:ext cx="4206240" cy="457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937759" y="2176272"/>
            <a:ext cx="548640" cy="548640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59" y="21762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59" y="20848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Faster Firmware
RCA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39" y="2066544"/>
            <a:ext cx="114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 dirty="0">
                <a:solidFill>
                  <a:srgbClr val="0072C6"/>
                </a:solidFill>
                <a:latin typeface="Segoe UI"/>
              </a:rPr>
              <a:t>&lt;30m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9" y="2651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D0EC"/>
                </a:solidFill>
                <a:latin typeface="Segoe UI"/>
              </a:rPr>
              <a:t>from ticket to root cause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19471" y="2651760"/>
            <a:ext cx="3877056" cy="1463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59" y="2798064"/>
            <a:ext cx="38404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JTAG Orchestrator captures HardFault registers, stack frames and memory evidence without manual tool switching.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325112"/>
            <a:ext cx="4206240" cy="21031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325112"/>
            <a:ext cx="420624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2920" y="4507992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5079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PG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4165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NPI Gate
Confidence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398264"/>
            <a:ext cx="114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i="0" dirty="0">
                <a:solidFill>
                  <a:srgbClr val="FF8C00"/>
                </a:solidFill>
                <a:latin typeface="Segoe UI"/>
              </a:rPr>
              <a:t>PG1/3/5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983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D0EC"/>
                </a:solidFill>
                <a:latin typeface="Segoe UI"/>
              </a:rPr>
              <a:t>demo-ready decisions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" y="4983480"/>
            <a:ext cx="3877056" cy="1463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5129784"/>
            <a:ext cx="38404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AEPLO turns Discovery, Development and Validation evidence into clear decisions and action lists.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79" y="4325112"/>
            <a:ext cx="4206240" cy="2103120"/>
          </a:xfrm>
          <a:prstGeom prst="round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54879" y="4325112"/>
            <a:ext cx="42062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937759" y="4507992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37759" y="45079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59" y="44165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Embedded PDLC
Optimisation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39" y="4398264"/>
            <a:ext cx="1143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8B5CF6"/>
                </a:solidFill>
                <a:latin typeface="Segoe UI"/>
              </a:rPr>
              <a:t>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39" y="4983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8D0EC"/>
                </a:solidFill>
                <a:latin typeface="Segoe UI"/>
              </a:rPr>
              <a:t>risk, test and fix focus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19471" y="4983480"/>
            <a:ext cx="3877056" cy="1463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37759" y="5129784"/>
            <a:ext cx="38404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D0EC"/>
                </a:solidFill>
                <a:latin typeface="Segoe UI"/>
              </a:rPr>
              <a:t>ROVO Studio, Copilot and AEPLO agents optimise work across planning, coding, validation and launch preparation.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472" y="438912"/>
            <a:ext cx="2011680" cy="274320"/>
          </a:xfrm>
          <a:prstGeom prst="round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438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EVALUATION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Criteria &amp; Key Metric Focus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8412480" cy="1463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8458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 i="1">
                <a:solidFill>
                  <a:srgbClr val="B8D0EC"/>
                </a:solidFill>
                <a:latin typeface="Segoe UI"/>
              </a:rPr>
              <a:t>AEPLO JTAG Accelerator is positioned against the judging matrix with measurable stream value, platform readiness, live execution proof and agentic AI governance.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01952"/>
            <a:ext cx="8503920" cy="418795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01952"/>
            <a:ext cx="8503920" cy="5029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901952"/>
            <a:ext cx="3063240" cy="384048"/>
          </a:xfrm>
          <a:prstGeom prst="rect">
            <a:avLst/>
          </a:prstGeom>
          <a:solidFill>
            <a:srgbClr val="D7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901952"/>
            <a:ext cx="5440680" cy="384048"/>
          </a:xfrm>
          <a:prstGeom prst="rect">
            <a:avLst/>
          </a:prstGeom>
          <a:solidFill>
            <a:srgbClr val="D7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975104"/>
            <a:ext cx="3063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5142E"/>
                </a:solidFill>
                <a:latin typeface="Segoe UI"/>
              </a:rPr>
              <a:t>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75104"/>
            <a:ext cx="5440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5142E"/>
                </a:solidFill>
                <a:latin typeface="Segoe UI"/>
              </a:rPr>
              <a:t>KEY METRIC FOCUS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3063240" cy="658368"/>
          </a:xfrm>
          <a:prstGeom prst="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83280" y="2286000"/>
            <a:ext cx="5440680" cy="658368"/>
          </a:xfrm>
          <a:prstGeom prst="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286000"/>
            <a:ext cx="50292" cy="65836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280" y="2286000"/>
            <a:ext cx="20116" cy="65836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286000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2395728"/>
            <a:ext cx="2743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Stream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2395728"/>
            <a:ext cx="5056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B8D0EC"/>
                </a:solidFill>
                <a:latin typeface="Segoe UI"/>
              </a:rPr>
              <a:t>- PDLC engineering lead-time drop
- Defect rate reduction
- Projected productivity savings 2026 H2 and 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44368"/>
            <a:ext cx="3063240" cy="4754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83280" y="2944368"/>
            <a:ext cx="5440680" cy="4754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944368"/>
            <a:ext cx="50292" cy="47548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83280" y="2944368"/>
            <a:ext cx="20116" cy="47548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2944368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" y="305409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Platformization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3054096"/>
            <a:ext cx="5056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B8D0EC"/>
                </a:solidFill>
                <a:latin typeface="Segoe UI"/>
              </a:rPr>
              <a:t>- BA-org hosting readiness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419856"/>
            <a:ext cx="3063240" cy="658368"/>
          </a:xfrm>
          <a:prstGeom prst="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83280" y="3419856"/>
            <a:ext cx="5440680" cy="658368"/>
          </a:xfrm>
          <a:prstGeom prst="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3419856"/>
            <a:ext cx="50292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83280" y="3419856"/>
            <a:ext cx="20116" cy="65836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3419856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4632" y="3529584"/>
            <a:ext cx="2743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Live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4448" y="3529584"/>
            <a:ext cx="50566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 i="0">
                <a:solidFill>
                  <a:srgbClr val="B8D0EC"/>
                </a:solidFill>
                <a:latin typeface="Segoe UI"/>
              </a:rPr>
              <a:t>A fully functional, resilient working prototype and impact in ongoing active projects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078224"/>
            <a:ext cx="3063240" cy="9326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383280" y="4078224"/>
            <a:ext cx="5440680" cy="932688"/>
          </a:xfrm>
          <a:prstGeom prst="rect">
            <a:avLst/>
          </a:prstGeom>
          <a:solidFill>
            <a:srgbClr val="0B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4078224"/>
            <a:ext cx="50292" cy="9326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383280" y="4078224"/>
            <a:ext cx="20116" cy="932688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4078224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" y="4187952"/>
            <a:ext cx="2743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1" i="0">
                <a:solidFill>
                  <a:srgbClr val="FFFFFF"/>
                </a:solidFill>
                <a:latin typeface="Segoe UI"/>
              </a:rPr>
              <a:t>Agentic AI design pattern compliance
[Agents orchestration, routing protocols,
MCP Servers, Skills, etc]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4448" y="4187952"/>
            <a:ext cx="505663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B8D0EC"/>
                </a:solidFill>
                <a:latin typeface="Segoe UI"/>
              </a:rPr>
              <a:t>- Inter-agent handoff efficiency
- Twin simulation accuracy
- Tool and skill reusability
- MCP Server usage relevancy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010912"/>
            <a:ext cx="3063240" cy="1078992"/>
          </a:xfrm>
          <a:prstGeom prst="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383280" y="5010912"/>
            <a:ext cx="5440680" cy="1078992"/>
          </a:xfrm>
          <a:prstGeom prst="rect">
            <a:avLst/>
          </a:prstGeom>
          <a:solidFill>
            <a:srgbClr val="0F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0040" y="5010912"/>
            <a:ext cx="50292" cy="107899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383280" y="5010912"/>
            <a:ext cx="20116" cy="107899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0040" y="5010912"/>
            <a:ext cx="8503920" cy="10972"/>
          </a:xfrm>
          <a:prstGeom prst="rect">
            <a:avLst/>
          </a:prstGeom>
          <a:solidFill>
            <a:srgbClr val="20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4632" y="51206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30" b="1" i="0" dirty="0">
                <a:solidFill>
                  <a:srgbClr val="FFFFFF"/>
                </a:solidFill>
                <a:latin typeface="Segoe UI"/>
              </a:rPr>
              <a:t>LLM selection strategies
[GitHub Copilot &amp; OpenAI] &amp; AI Token
usage Optimization
[LLM selection, Context Management,
and Prompt engineering]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84448" y="5120640"/>
            <a:ext cx="50566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 dirty="0">
                <a:solidFill>
                  <a:srgbClr val="B8D0EC"/>
                </a:solidFill>
                <a:latin typeface="Segoe UI"/>
              </a:rPr>
              <a:t>- Token reduction percentage [baseline vs actual]
- Cost-per-request savings
- Tool-calling JSON accuracy
- Prompt caching utilization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0040" y="6272784"/>
            <a:ext cx="8503920" cy="219456"/>
          </a:xfrm>
          <a:prstGeom prst="round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6318504"/>
            <a:ext cx="81381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" b="1" i="0">
                <a:solidFill>
                  <a:srgbClr val="00D48A"/>
                </a:solidFill>
                <a:latin typeface="Segoe UI"/>
              </a:rPr>
              <a:t>FOCUS: prove measurable PDLC impact with a reusable, hosted, agentic-AI execution pattern.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12  /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2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657600" y="228600"/>
            <a:ext cx="6400800" cy="6400800"/>
          </a:xfrm>
          <a:prstGeom prst="ellipse">
            <a:avLst/>
          </a:prstGeom>
          <a:solidFill>
            <a:srgbClr val="06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297680" y="868680"/>
            <a:ext cx="5120640" cy="5120640"/>
          </a:xfrm>
          <a:prstGeom prst="ellipse">
            <a:avLst/>
          </a:prstGeom>
          <a:solidFill>
            <a:srgbClr val="07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0" y="1600200"/>
            <a:ext cx="3657600" cy="3657600"/>
          </a:xfrm>
          <a:prstGeom prst="ellipse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760720" y="2331720"/>
            <a:ext cx="2194560" cy="219456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38284" y="340888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22873" y="372257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976789" y="403325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00475" y="433791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794668" y="463362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60384" y="491754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98919" y="518693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311826" y="543919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00908" y="567190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8196" y="588282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15930" y="606991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46542" y="623138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062624" y="636566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66911" y="647147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62251" y="654778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51578" y="659387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37884" y="660928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24189" y="659387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213516" y="654778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908856" y="647147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613143" y="636566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329225" y="623138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59837" y="606991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07571" y="588282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74859" y="567190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363941" y="543919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176848" y="5186930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015383" y="491754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881099" y="463362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775292" y="433791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698978" y="403325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652894" y="372257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637484" y="340888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652894" y="309518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698978" y="278451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775292" y="247985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881099" y="218414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015383" y="190022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176848" y="1630837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363941" y="137857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574859" y="114585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807571" y="93494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059837" y="74784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329225" y="58638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613143" y="45209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908856" y="34629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213516" y="26997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524189" y="22389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837883" y="20848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151578" y="223894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462251" y="26997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766911" y="346292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062624" y="45209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346542" y="58638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615930" y="747848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868196" y="93494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9100908" y="114585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9311826" y="1378571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9498919" y="1630837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660384" y="1900225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794668" y="2184143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9900475" y="247985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9976789" y="2784516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022873" y="3095189"/>
            <a:ext cx="36576" cy="3657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832854" y="340385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7054584" y="353187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6832854" y="365988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611123" y="353187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6611123" y="327583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6832854" y="314782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054584" y="327583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7276314" y="365988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7054584" y="378790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6832854" y="391591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6611123" y="378790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389393" y="365988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6389393" y="340385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6389393" y="314782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6611123" y="301980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832854" y="289179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7054584" y="301980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7276314" y="314782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7276314" y="340385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7498044" y="378790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7276314" y="391591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7054584" y="404393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6832854" y="417195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611123" y="404393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6389393" y="391591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6167663" y="378790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6167663" y="353187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6167663" y="327583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6167663" y="301980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6389393" y="289179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6611123" y="276377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6832854" y="263575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7054584" y="276377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7276314" y="2891789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7498044" y="301980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7498044" y="327583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7498044" y="353187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7719774" y="391591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7498044" y="404393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7276314" y="417195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7054584" y="429996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6832854" y="442798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611123" y="429996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6389393" y="417195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6167663" y="404393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5945933" y="391591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5945933" y="365988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5945933" y="340385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5945933" y="314782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5945933" y="289179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6167663" y="276377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6389393" y="2635758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6611123" y="250774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6832854" y="237972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7054584" y="250774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7276314" y="2635757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7498044" y="2763773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7719774" y="2891790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7719774" y="3147822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7719774" y="3403854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7719774" y="3659886"/>
            <a:ext cx="50292" cy="50292"/>
          </a:xfrm>
          <a:prstGeom prst="ellipse">
            <a:avLst/>
          </a:prstGeom>
          <a:solidFill>
            <a:srgbClr val="00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47472" y="6583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0"/>
                </a:solidFill>
                <a:latin typeface="Segoe UI"/>
              </a:rPr>
              <a:t>CONCLUSION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7472" y="987552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Transform Embedded PDLC
from PG1 to PG5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47472" y="2029968"/>
            <a:ext cx="4956047" cy="14630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347472" y="2322576"/>
            <a:ext cx="256032" cy="256032"/>
          </a:xfrm>
          <a:prstGeom prst="ellipse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621792" y="2432304"/>
            <a:ext cx="502920" cy="36576"/>
          </a:xfrm>
          <a:prstGeom prst="rect">
            <a:avLst/>
          </a:prstGeom>
          <a:solidFill>
            <a:srgbClr val="00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261872" y="22494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89A"/>
                </a:solidFill>
                <a:latin typeface="Segoe UI"/>
              </a:rPr>
              <a:t>From fragmented embedded data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61872" y="2615184"/>
            <a:ext cx="4069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Jira, Confluence, GitHub, QA and JTAG/SWD evidence become one connected AEPLO PDLC foundation.</a:t>
            </a:r>
          </a:p>
        </p:txBody>
      </p:sp>
      <p:sp>
        <p:nvSpPr>
          <p:cNvPr id="140" name="Oval 139"/>
          <p:cNvSpPr/>
          <p:nvPr/>
        </p:nvSpPr>
        <p:spPr>
          <a:xfrm>
            <a:off x="347472" y="3739896"/>
            <a:ext cx="256032" cy="256032"/>
          </a:xfrm>
          <a:prstGeom prst="ellipse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621792" y="3849624"/>
            <a:ext cx="502920" cy="36576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261872" y="36667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2C6"/>
                </a:solidFill>
                <a:latin typeface="Segoe UI"/>
              </a:rPr>
              <a:t>To intelligent NPI action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61872" y="4032504"/>
            <a:ext cx="4069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Atlassian MCP, ROVO Studio, Copilot and AEPLO agents drive PG1 discovery, PG3 development and PG5 launch readiness.</a:t>
            </a:r>
          </a:p>
        </p:txBody>
      </p:sp>
      <p:sp>
        <p:nvSpPr>
          <p:cNvPr id="144" name="Oval 143"/>
          <p:cNvSpPr/>
          <p:nvPr/>
        </p:nvSpPr>
        <p:spPr>
          <a:xfrm>
            <a:off x="347472" y="5157216"/>
            <a:ext cx="256032" cy="256032"/>
          </a:xfrm>
          <a:prstGeom prst="ellipse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21792" y="5266944"/>
            <a:ext cx="502920" cy="3657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1261872" y="50840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8A"/>
                </a:solidFill>
                <a:latin typeface="Segoe UI"/>
              </a:rPr>
              <a:t>Optimise every gate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61872" y="5449824"/>
            <a:ext cx="4069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EC"/>
                </a:solidFill>
                <a:latin typeface="Segoe UI"/>
              </a:rPr>
              <a:t>The JTAG Accelerator adds hardware-backed RCA and controlled fixes to AI-optimised validation and launch decisions.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0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8321040" y="65105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A8"/>
                </a:solidFill>
                <a:latin typeface="Segoe UI"/>
              </a:rPr>
              <a:t>12  /  12</a:t>
            </a:r>
          </a:p>
        </p:txBody>
      </p:sp>
      <p:pic>
        <p:nvPicPr>
          <p:cNvPr id="148" name="Picture 147">
            <a:extLst>
              <a:ext uri="{FF2B5EF4-FFF2-40B4-BE49-F238E27FC236}">
                <a16:creationId xmlns:a16="http://schemas.microsoft.com/office/drawing/2014/main" id="{DD5A924B-3180-1590-5F67-0356FA8DD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424" y="2578608"/>
            <a:ext cx="2875434" cy="1700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1666</Words>
  <Application>Microsoft Office PowerPoint</Application>
  <PresentationFormat>On-screen Show (4:3)</PresentationFormat>
  <Paragraphs>232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Shrivastava, Shyam</dc:creator>
  <cp:keywords/>
  <dc:description>generated using python-pptx</dc:description>
  <cp:lastModifiedBy>Shrivastava, Shyam</cp:lastModifiedBy>
  <cp:revision>6</cp:revision>
  <dcterms:created xsi:type="dcterms:W3CDTF">2013-01-27T09:14:16Z</dcterms:created>
  <dcterms:modified xsi:type="dcterms:W3CDTF">2026-06-12T16:21:50Z</dcterms:modified>
  <cp:category/>
</cp:coreProperties>
</file>