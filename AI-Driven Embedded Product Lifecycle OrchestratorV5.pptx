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9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 presenting AEPLO V3 [code name for our project]— an AI platform that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orchestrates the entire embedded product lifecycle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2471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19917" y="648494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3.0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End-to-End Embedded Intelligence
Faster  |  Safer  |  Predictable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10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1" y="749808"/>
            <a:ext cx="8500965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AEPLO Platform for Embedded PDLC AI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67328" y="2944367"/>
            <a:ext cx="1609344" cy="160934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944355" y="3121394"/>
            <a:ext cx="1255288" cy="1255288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60344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594447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67612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523398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462561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86142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95449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192033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7766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4298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824047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4689140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1884" y="47804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414627" y="47714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279720" y="47446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149469" y="47004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026104" y="463960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911734" y="45631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08318" y="447248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717625" y="43690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41206" y="425470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580369" y="413133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36155" y="40010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509320" y="3866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00324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3509320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36155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580369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41206" y="320314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717625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808318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911734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026103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4149469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279720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414627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551884" y="267736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689140" y="26863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24047" y="27131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954298" y="27574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77664" y="281824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192033" y="28946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295449" y="298535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386142" y="30887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5462561" y="320314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5523398" y="332650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567612" y="34567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5594447" y="3591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585033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839223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806088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5751493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5676372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5582012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5470025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5342329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5201108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048778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887947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721365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4551884" y="50273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4382402" y="501626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4215820" y="49831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4054989" y="492853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902660" y="485341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761438" y="475905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3633742" y="464706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3521755" y="451936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3427395" y="43781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3352274" y="422581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297679" y="406498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264544" y="38984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325343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3264544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297679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352274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3427395" y="307969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521755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633742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761438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902659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4054989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215820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382402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551884" y="24304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4721365" y="244158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4887947" y="24747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048778" y="252931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01108" y="260443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5342329" y="269879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5470025" y="281078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5582012" y="293847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5676372" y="30796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5751493" y="323202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5806088" y="339285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839223" y="35594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6088076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6074933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6035731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5971140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5882265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5770627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638135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5487058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319980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139759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4949479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4752397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4551884" y="526511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4351370" y="5251972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4154288" y="5212770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3964008" y="5148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3783788" y="505930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3616709" y="4947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465632" y="4815174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333140" y="466409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3221502" y="449701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132627" y="431679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3068036" y="412651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3028834" y="392943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3015692" y="372892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3028834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3068036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3132627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3221502" y="29608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3333140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65632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3616709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3783787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3964008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4154288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4351370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4551884" y="219273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4752397" y="2205873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4949479" y="2245075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5139759" y="230966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5319980" y="239854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5487058" y="251017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5638135" y="2642671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5770627" y="2793748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5882265" y="2960826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971140" y="314104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035731" y="3331327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6074933" y="3528409"/>
            <a:ext cx="40233" cy="40233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748694" y="3444687"/>
            <a:ext cx="1609344" cy="16093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D71920"/>
                </a:solidFill>
                <a:latin typeface="Arial"/>
              </a:rPr>
              <a:t>AEPLO
JTAG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647370" y="2473633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2633654" y="2487349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9144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91440" y="137159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228600" y="153619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62179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Connected Embedded
Data Foundation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860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Unifies Jira, Confluence, GitHub, JTAG/SWD evidence, QA and gate context.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5312298" y="2473633"/>
            <a:ext cx="118433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82913" y="2487349"/>
            <a:ext cx="27432" cy="52139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6309360" y="137159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6309360" y="1371599"/>
            <a:ext cx="2743200" cy="411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6446520" y="1536191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839712" y="144475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JTAG Accelerator
Inside AEPLO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446520" y="192023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Hardware-backed RCA, variable tracing and peripheral inspection become PDLC evidence.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647370" y="4997012"/>
            <a:ext cx="1184330" cy="274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2633654" y="4489337"/>
            <a:ext cx="27432" cy="52139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9144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91440" y="4937759"/>
            <a:ext cx="27432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228600" y="5102351"/>
            <a:ext cx="274320" cy="27432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62179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71920"/>
                </a:solidFill>
                <a:latin typeface="Arial"/>
              </a:rPr>
              <a:t>NPI Gate
Orchestration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2860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PG1 discovery, PG3 development and PG5 launch prep become one demo flow.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312298" y="4997012"/>
            <a:ext cx="1184330" cy="2743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6482913" y="4489337"/>
            <a:ext cx="27432" cy="52139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ounded Rectangle 177"/>
          <p:cNvSpPr/>
          <p:nvPr/>
        </p:nvSpPr>
        <p:spPr>
          <a:xfrm>
            <a:off x="6309360" y="4937759"/>
            <a:ext cx="2743200" cy="11887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6309360" y="4937759"/>
            <a:ext cx="2743200" cy="4114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6446520" y="5102351"/>
            <a:ext cx="274320" cy="27432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839712" y="5010911"/>
            <a:ext cx="2084831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E8E8"/>
                </a:solidFill>
                <a:latin typeface="Arial"/>
              </a:rPr>
              <a:t>AI Optimisation
Experiences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446520" y="5486399"/>
            <a:ext cx="246888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ROVO Studio, Copilot and agents optimise risks, fixes, tests and readiness.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12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CONNECTED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Arial"/>
              </a:rPr>
              <a:t>ROVO + Copilot + Atlassian MCP + GitHub + Jira + Confluence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demo platform brings work management, knowledge, code, AI coding assistance and hardware evidence into AEPLO's embedded PDLC optimisation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PLAN &amp; 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607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Jira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epics, coding defects,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607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Confluence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PRD, architecture, test notes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607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Risk map and demo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43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46888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8945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1002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3060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5117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7175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9232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61289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46888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468880" y="1965960"/>
            <a:ext cx="193852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7860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E8E8E8"/>
                </a:solidFill>
                <a:latin typeface="Arial"/>
              </a:rPr>
              <a:t>BUILD &amp;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0604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724912" y="286207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06324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2491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Branches, PRs, reviews, evidence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0604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24912" y="386791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6324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Copilot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Patch suggestions and explanations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604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24912" y="4873752"/>
            <a:ext cx="256032" cy="25603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06324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2491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RCA, guarded fix and PR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6227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61772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63829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5886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67944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70001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72059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4116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76173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61772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617720" y="1965960"/>
            <a:ext cx="193852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2744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D71920"/>
                </a:solidFill>
                <a:latin typeface="Arial"/>
              </a:rPr>
              <a:t>ORCHESTRATE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75488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873752" y="286207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1208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Atlassian MCP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375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Jira + Confluence 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75488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873752" y="386791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AEPLO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7375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Agent routing and PDLC knowledge graph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5488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4873752" y="4873752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1208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ROVO Studio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375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NPI demo cockpit and AI experience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11112" y="3858768"/>
            <a:ext cx="15544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66560" y="3803904"/>
            <a:ext cx="24688" cy="1645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787134" y="3814191"/>
            <a:ext cx="21602" cy="14401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6807708" y="3824478"/>
            <a:ext cx="18516" cy="1234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828282" y="3834765"/>
            <a:ext cx="15430" cy="10287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848856" y="3845052"/>
            <a:ext cx="12344" cy="822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869430" y="3855339"/>
            <a:ext cx="9258" cy="6172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890004" y="3865626"/>
            <a:ext cx="6172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10578" y="3875913"/>
            <a:ext cx="3086" cy="2057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766560" y="1965960"/>
            <a:ext cx="1938528" cy="41605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766560" y="1965960"/>
            <a:ext cx="193852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876288" y="2121408"/>
            <a:ext cx="1719072" cy="2926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19" b="1" i="0">
                <a:solidFill>
                  <a:srgbClr val="2E7D32"/>
                </a:solidFill>
                <a:latin typeface="Arial"/>
              </a:rPr>
              <a:t>VALIDATE &amp; LAUNCH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903720" y="269748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7022592" y="286207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360920" y="280720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JTAG Accelerator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22592" y="308152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MCU register, memory and probe evidence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903720" y="370332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022592" y="386791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360920" y="381304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Release Gate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2592" y="408736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READY / NOT_READY with action list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903720" y="4709160"/>
            <a:ext cx="1664208" cy="74980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22592" y="4873752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360920" y="4818888"/>
            <a:ext cx="10058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FFFFF"/>
                </a:solidFill>
                <a:latin typeface="Arial"/>
              </a:rPr>
              <a:t>PG5 Launch Prep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22592" y="5093208"/>
            <a:ext cx="1298448" cy="1828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690" b="0" i="0">
                <a:solidFill>
                  <a:srgbClr val="E8E8E8"/>
                </a:solidFill>
                <a:latin typeface="Arial"/>
              </a:rPr>
              <a:t>Validation proof and governance pack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20040" y="635508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02920" y="6391656"/>
            <a:ext cx="8138160" cy="14630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69" b="1" i="0">
                <a:solidFill>
                  <a:srgbClr val="2E7D32"/>
                </a:solidFill>
                <a:latin typeface="Arial"/>
              </a:rPr>
              <a:t>COMMON IDEA: AEPLO connects enterprise collaboration tools with embedded hardware evidence to optimise NPI gate decisions.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5  /  12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PG1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3393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Arial"/>
              </a:rPr>
              <a:t>PG1 Discovery — AI Risk &amp; Scope </a:t>
            </a:r>
            <a:r>
              <a:rPr sz="2800" b="1" i="0" dirty="0" err="1">
                <a:solidFill>
                  <a:srgbClr val="FFFFFF"/>
                </a:solidFill>
                <a:latin typeface="Arial"/>
              </a:rPr>
              <a:t>Optimisation</a:t>
            </a:r>
            <a:endParaRPr sz="28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511371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E8E8E8"/>
                </a:solidFill>
                <a:latin typeface="Arial"/>
              </a:rPr>
              <a:t>AEPLO starts before coding: it connects PRD content, Jira themes, Confluence context, GitHub history and target-board data to shape a risk-backed embedded demo plan.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NPI + Embedded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8E8E8"/>
                </a:solidFill>
                <a:latin typeface="Arial"/>
              </a:rPr>
              <a:t>Ingests PRD, Jira epics, Confluence architecture notes, GitHub defect history and target-board assumptions.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PDLC Risk &amp; Traceability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Builds a lifecycle graph from requirements to code areas, tests, JTAG debug hotspots and validation evidence needs.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PG1 Demo Readiness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Produces a risk-backed demo scope, board setup checklist, debug scenario and PG3 development entry criteria.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14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19CC250-B441-65F2-86F9-7A6AA4F2F964}"/>
              </a:ext>
            </a:extLst>
          </p:cNvPr>
          <p:cNvGrpSpPr/>
          <p:nvPr/>
        </p:nvGrpSpPr>
        <p:grpSpPr>
          <a:xfrm>
            <a:off x="4572000" y="1687471"/>
            <a:ext cx="5006748" cy="4576169"/>
            <a:chOff x="3431101" y="1591384"/>
            <a:chExt cx="5676007" cy="4845992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44AC20B-5D09-003C-2025-C797143DE1F4}"/>
                </a:ext>
              </a:extLst>
            </p:cNvPr>
            <p:cNvSpPr/>
            <p:nvPr/>
          </p:nvSpPr>
          <p:spPr>
            <a:xfrm>
              <a:off x="3701768" y="2310523"/>
              <a:ext cx="4590288" cy="302662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FB0001D-1A63-F1BE-E4E3-B66F768455B1}"/>
                </a:ext>
              </a:extLst>
            </p:cNvPr>
            <p:cNvSpPr txBox="1"/>
            <p:nvPr/>
          </p:nvSpPr>
          <p:spPr>
            <a:xfrm>
              <a:off x="5145608" y="1591384"/>
              <a:ext cx="3961500" cy="19555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solidFill>
                    <a:srgbClr val="FF8C00"/>
                  </a:solidFill>
                  <a:latin typeface="Segoe UI"/>
                </a:rPr>
                <a:t>JTAG - Agent Workflow </a:t>
              </a:r>
              <a:endPara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ADE047CA-0461-A46B-6632-ACB3C62E2A2E}"/>
                </a:ext>
              </a:extLst>
            </p:cNvPr>
            <p:cNvSpPr/>
            <p:nvPr/>
          </p:nvSpPr>
          <p:spPr>
            <a:xfrm>
              <a:off x="3783141" y="1864404"/>
              <a:ext cx="4396155" cy="379638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Bug/Story Ticket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4A937C22-EAF7-2997-D9AE-17BBC2D64CFA}"/>
                </a:ext>
              </a:extLst>
            </p:cNvPr>
            <p:cNvSpPr/>
            <p:nvPr/>
          </p:nvSpPr>
          <p:spPr>
            <a:xfrm>
              <a:off x="3793394" y="2400670"/>
              <a:ext cx="4396155" cy="632629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JTAG Orchestrator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-Context Extraction                  -Tool / Agent Routing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592E2B0C-1C6C-CD74-1B82-7F74F73A6468}"/>
                </a:ext>
              </a:extLst>
            </p:cNvPr>
            <p:cNvSpPr/>
            <p:nvPr/>
          </p:nvSpPr>
          <p:spPr>
            <a:xfrm>
              <a:off x="3782512" y="4612410"/>
              <a:ext cx="4407037" cy="620824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Target MCU - Hardware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(STM32 , Cortex-M)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EDAA72A7-4FAD-6747-6CD6-8FBB7F6216F7}"/>
                </a:ext>
              </a:extLst>
            </p:cNvPr>
            <p:cNvSpPr/>
            <p:nvPr/>
          </p:nvSpPr>
          <p:spPr>
            <a:xfrm>
              <a:off x="3793394" y="5439280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Git Provider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- Branch + PR Creation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61C4652-5DCC-DC32-F083-E36A98C2F115}"/>
                </a:ext>
              </a:extLst>
            </p:cNvPr>
            <p:cNvSpPr/>
            <p:nvPr/>
          </p:nvSpPr>
          <p:spPr>
            <a:xfrm>
              <a:off x="3772259" y="5996654"/>
              <a:ext cx="4407037" cy="440722"/>
            </a:xfrm>
            <a:prstGeom prst="rect">
              <a:avLst/>
            </a:prstGeom>
            <a:solidFill>
              <a:schemeClr val="accent6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Jira Ticket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RCA | Logs | Review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17C28E6D-2A93-4EDB-FFF6-E89C3D566DAE}"/>
                </a:ext>
              </a:extLst>
            </p:cNvPr>
            <p:cNvSpPr/>
            <p:nvPr/>
          </p:nvSpPr>
          <p:spPr>
            <a:xfrm>
              <a:off x="4817060" y="3318593"/>
              <a:ext cx="2533349" cy="198171"/>
            </a:xfrm>
            <a:prstGeom prst="rect">
              <a:avLst/>
            </a:prstGeom>
            <a:solidFill>
              <a:srgbClr val="A9A9A9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300" b="1" dirty="0">
                  <a:solidFill>
                    <a:srgbClr val="00D48A"/>
                  </a:solidFill>
                  <a:latin typeface="Segoe UI"/>
                </a:rPr>
                <a:t>Sub Agents (Multi-Agent)</a:t>
              </a:r>
            </a:p>
            <a:p>
              <a:pPr algn="ctr"/>
              <a:endParaRPr 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1D3F4EFE-E6F3-6BAB-B41A-48728434BB3A}"/>
                </a:ext>
              </a:extLst>
            </p:cNvPr>
            <p:cNvSpPr/>
            <p:nvPr/>
          </p:nvSpPr>
          <p:spPr>
            <a:xfrm>
              <a:off x="3431101" y="3561562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FF7474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Fault Analyzer</a:t>
              </a: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AB6E3101-DB27-A0B5-C335-E935C3062232}"/>
                </a:ext>
              </a:extLst>
            </p:cNvPr>
            <p:cNvSpPr/>
            <p:nvPr/>
          </p:nvSpPr>
          <p:spPr>
            <a:xfrm>
              <a:off x="4375523" y="3560065"/>
              <a:ext cx="864685" cy="494302"/>
            </a:xfrm>
            <a:prstGeom prst="roundRect">
              <a:avLst>
                <a:gd name="adj" fmla="val 18499"/>
              </a:avLst>
            </a:prstGeom>
            <a:solidFill>
              <a:srgbClr val="AAE571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Variable Tracer</a:t>
              </a:r>
            </a:p>
          </p:txBody>
        </p:sp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9CACA3A9-BF1F-4F6E-92B2-781133C05EB0}"/>
                </a:ext>
              </a:extLst>
            </p:cNvPr>
            <p:cNvSpPr/>
            <p:nvPr/>
          </p:nvSpPr>
          <p:spPr>
            <a:xfrm>
              <a:off x="5302876" y="3558305"/>
              <a:ext cx="958382" cy="494302"/>
            </a:xfrm>
            <a:prstGeom prst="roundRect">
              <a:avLst>
                <a:gd name="adj" fmla="val 18499"/>
              </a:avLst>
            </a:prstGeom>
            <a:solidFill>
              <a:srgbClr val="A3DBFF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Peripheral Inspector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164AD8DF-0DE4-748F-9A4D-87F4D4664363}"/>
                </a:ext>
              </a:extLst>
            </p:cNvPr>
            <p:cNvSpPr/>
            <p:nvPr/>
          </p:nvSpPr>
          <p:spPr>
            <a:xfrm>
              <a:off x="6333070" y="3572849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C189F7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Probing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D646080-BE49-03D2-A2BE-303A231C5BCF}"/>
                </a:ext>
              </a:extLst>
            </p:cNvPr>
            <p:cNvSpPr/>
            <p:nvPr/>
          </p:nvSpPr>
          <p:spPr>
            <a:xfrm>
              <a:off x="7450994" y="3562092"/>
              <a:ext cx="1053388" cy="494302"/>
            </a:xfrm>
            <a:prstGeom prst="roundRect">
              <a:avLst>
                <a:gd name="adj" fmla="val 18499"/>
              </a:avLst>
            </a:prstGeom>
            <a:solidFill>
              <a:srgbClr val="FFCE3C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Controlled Auto Fix</a:t>
              </a:r>
            </a:p>
          </p:txBody>
        </p:sp>
        <p:pic>
          <p:nvPicPr>
            <p:cNvPr id="103" name="Picture 2" descr="Microcontroller - Free electronics icons">
              <a:extLst>
                <a:ext uri="{FF2B5EF4-FFF2-40B4-BE49-F238E27FC236}">
                  <a16:creationId xmlns:a16="http://schemas.microsoft.com/office/drawing/2014/main" id="{74E850A5-0FB8-C5A2-6D2A-B2363F51A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41791" y="4561548"/>
              <a:ext cx="646100" cy="6461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Arrow: Down 103">
              <a:extLst>
                <a:ext uri="{FF2B5EF4-FFF2-40B4-BE49-F238E27FC236}">
                  <a16:creationId xmlns:a16="http://schemas.microsoft.com/office/drawing/2014/main" id="{2AA5FC09-C06B-315D-DCCD-8FE40D6E7F9B}"/>
                </a:ext>
              </a:extLst>
            </p:cNvPr>
            <p:cNvSpPr/>
            <p:nvPr/>
          </p:nvSpPr>
          <p:spPr>
            <a:xfrm>
              <a:off x="4487825" y="4224039"/>
              <a:ext cx="342615" cy="381652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5" name="Arrow: Down 104">
              <a:extLst>
                <a:ext uri="{FF2B5EF4-FFF2-40B4-BE49-F238E27FC236}">
                  <a16:creationId xmlns:a16="http://schemas.microsoft.com/office/drawing/2014/main" id="{91CE8768-4D42-B265-E3E2-58801801B7FC}"/>
                </a:ext>
              </a:extLst>
            </p:cNvPr>
            <p:cNvSpPr/>
            <p:nvPr/>
          </p:nvSpPr>
          <p:spPr>
            <a:xfrm rot="10800000">
              <a:off x="7196231" y="4198458"/>
              <a:ext cx="357936" cy="38137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66F2210-3F96-A27A-6B09-A69EBA95F8CA}"/>
                </a:ext>
              </a:extLst>
            </p:cNvPr>
            <p:cNvSpPr txBox="1"/>
            <p:nvPr/>
          </p:nvSpPr>
          <p:spPr>
            <a:xfrm>
              <a:off x="4968973" y="4306352"/>
              <a:ext cx="2227258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Physical Interface to Hardware</a:t>
              </a:r>
            </a:p>
          </p:txBody>
        </p:sp>
        <p:sp>
          <p:nvSpPr>
            <p:cNvPr id="107" name="Arrow: Down 106">
              <a:extLst>
                <a:ext uri="{FF2B5EF4-FFF2-40B4-BE49-F238E27FC236}">
                  <a16:creationId xmlns:a16="http://schemas.microsoft.com/office/drawing/2014/main" id="{A58741E5-B20A-73D8-DC6F-A26668ED1160}"/>
                </a:ext>
              </a:extLst>
            </p:cNvPr>
            <p:cNvSpPr/>
            <p:nvPr/>
          </p:nvSpPr>
          <p:spPr>
            <a:xfrm>
              <a:off x="5763133" y="3060172"/>
              <a:ext cx="270355" cy="231548"/>
            </a:xfrm>
            <a:prstGeom prst="down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1212C948-7DFB-8225-D1A6-C259F4111B20}"/>
                </a:ext>
              </a:extLst>
            </p:cNvPr>
            <p:cNvSpPr txBox="1"/>
            <p:nvPr/>
          </p:nvSpPr>
          <p:spPr>
            <a:xfrm>
              <a:off x="6085697" y="3076944"/>
              <a:ext cx="579477" cy="171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50" b="1" dirty="0">
                  <a:solidFill>
                    <a:srgbClr val="00D48A"/>
                  </a:solidFill>
                  <a:latin typeface="Segoe UI"/>
                </a:rPr>
                <a:t>A2A</a:t>
              </a:r>
              <a:endParaRPr lang="en-US" sz="1300" b="1" dirty="0">
                <a:solidFill>
                  <a:srgbClr val="00D48A"/>
                </a:solidFill>
                <a:latin typeface="Segoe UI"/>
              </a:endParaRPr>
            </a:p>
          </p:txBody>
        </p:sp>
      </p:grp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84579" y="1659537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D7192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 dirty="0">
              <a:solidFill>
                <a:srgbClr val="FF8C00"/>
              </a:solidFill>
              <a:latin typeface="Segoe UI"/>
            </a:endParaRP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100" b="1" dirty="0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dirty="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Development — AEPLO JTAG Accelerator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Inside AEPLO, the JTAG Accelerator converts embedded coding defects into hardware-backed RCA, controlled code fixes, GitHub PRs and Jira evidence.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JIRA / CONFLUENCE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Bug, requirement, architecture note and PG3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JTAG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Routes requests across AEPLO, IDE, J-Link probe and target MCU session.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SPECIALIST AGENTS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Fault Analyzer, Variable Tracer, Peripheral Inspector and Memory Parser collaborate.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CONTROLLED AUTO-FIX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Copilot-assisted patch becomes a GitHub branch, PR and review-ready Jira update.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PHYSICAL DEBUG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Target MCU: STM32 / Cortex-M  |  Interface: JTAG/SWD  |  Evidence: HardFault registers, stack frames, memory dumps, peripheral state, probe logs and GitHub PR links.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RCA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Days of manual setup become guided ROVO/Copilot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Fixes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patch links Jira, Confluence, GitHub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fixes flow into PG5 launch preparation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12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Arial"/>
              </a:rPr>
              <a:t>PG5 Validation &amp; Launch Preparation Gatekeeper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AEPLO evaluates launch readiness using code, QA, traceability and JTAG/SWD evidence. The outcome is an unambiguous gate verdict with action-ready remediation.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Validates PG5
Launch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Coverage, static analysis, regression status, traceability, hardware proof and launch evidence are checked together.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Structured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Binary, unambiguous gate decision with confidence score, Jira evidence summary and GitHub PR links.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Clear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verdict includes a prioritized action list: which test, fix, evidence or launch artefact must be updated.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RELEASE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23444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24612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All gates passed.
Cleared for release.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9592" y="4937760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3 blockers found.
See remediation list.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QA2Release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Creates a closed-loop embedded PDLC: QA results and JTAG evidence drive root-cause analysis, test optimisation and next-release learning.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Analyze QA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All QA failures and hardware evidence are ingested — unit, integration, HIL, system tests, JTAG registers and probe logs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Root Causes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deltas and JTAG/SWD evidence. Root causes are ranked by confidence.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Generate Next-Release Improvements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improvement tickets are raised with code suggestions, test additions, coverage targets and launch-prep actions for the next NPI cycle.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E8E8"/>
                </a:solidFill>
                <a:latin typeface="Arial"/>
              </a:rPr>
              <a:t>CLOSED-LOOP LIFECYCLE: QA → Root Cause → Next Release Plan → Better QA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Demo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Live demonstration of how AEPLO executes the NPI gate pipeline from PG1 discovery through PG3 JTAG-accelerated development to PG5 validation and launch prep.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103120"/>
            <a:ext cx="1188720" cy="256032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1</a:t>
            </a:r>
          </a:p>
        </p:txBody>
      </p:sp>
      <p:sp>
        <p:nvSpPr>
          <p:cNvPr id="13" name="Oval 12"/>
          <p:cNvSpPr/>
          <p:nvPr/>
        </p:nvSpPr>
        <p:spPr>
          <a:xfrm>
            <a:off x="1284732" y="2487168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473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70E17"/>
                </a:solidFill>
                <a:latin typeface="Arial"/>
              </a:rPr>
              <a:t>PG1 → Discovery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913632"/>
            <a:ext cx="2368296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ROVO Studio cockpit opens NPI scenario
• Jira + Confluence + GitHub context ingested
• AEPLO maps embedded PDLC risks
• Demo scope and board setup are generated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5409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08884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12359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5833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19308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0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0" y="1993392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364992" y="2103120"/>
            <a:ext cx="1188720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64992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2</a:t>
            </a:r>
          </a:p>
        </p:txBody>
      </p:sp>
      <p:sp>
        <p:nvSpPr>
          <p:cNvPr id="27" name="Oval 26"/>
          <p:cNvSpPr/>
          <p:nvPr/>
        </p:nvSpPr>
        <p:spPr>
          <a:xfrm>
            <a:off x="4165092" y="2487168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65092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71920"/>
                </a:solidFill>
                <a:latin typeface="Arial"/>
              </a:rPr>
              <a:t>PG3 → Development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4992" y="3913632"/>
            <a:ext cx="236829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83280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JTAG Accelerator attaches to target MCU
• Fault Analyzer captures register evidence
• Copilot proposes guarded fix
• GitHub PR links code and hardware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34456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69203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003950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38697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73444" y="4114800"/>
            <a:ext cx="2286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080759" y="1993392"/>
            <a:ext cx="2697480" cy="427939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80759" y="1993392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245351" y="2103120"/>
            <a:ext cx="1188720" cy="256032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45351" y="2103120"/>
            <a:ext cx="1188720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STAGE 3</a:t>
            </a:r>
          </a:p>
        </p:txBody>
      </p:sp>
      <p:sp>
        <p:nvSpPr>
          <p:cNvPr id="41" name="Oval 40"/>
          <p:cNvSpPr/>
          <p:nvPr/>
        </p:nvSpPr>
        <p:spPr>
          <a:xfrm>
            <a:off x="7045451" y="2487168"/>
            <a:ext cx="768096" cy="7680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45451" y="2487168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19" y="3401568"/>
            <a:ext cx="242316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E8E8"/>
                </a:solidFill>
                <a:latin typeface="Arial"/>
              </a:rPr>
              <a:t>PG5 → Validation &amp; Launch Prep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1" y="3913632"/>
            <a:ext cx="236829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39" y="4005072"/>
            <a:ext cx="2331720" cy="2103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• QA and JTAG evidence feed Release Gate
• READY / NOT_READY verdict issued
• Jira actions and Confluence summary created
• Next NPI learning loop is updated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10  /  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Business Outcomes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Measured outcomes for the Coding Embedded Workstream: connected platform data, hardware-backed debugging, AI optimisation and NPI gate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420624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176272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Reduced
Defect Leakage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66544"/>
            <a:ext cx="1143000" cy="64633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600" b="1" i="0" dirty="0">
                <a:solidFill>
                  <a:srgbClr val="2E7D32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fewer post-release defects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2651760"/>
            <a:ext cx="3877056" cy="1463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ML defect prediction + auto-test generation eliminates the most common escape vectors before firmware 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79" y="199339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54879" y="199339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4937759" y="217627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37759" y="217627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208483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Faster Firmware
RCA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39" y="2066544"/>
            <a:ext cx="11430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2400" b="1" i="0" dirty="0">
                <a:solidFill>
                  <a:srgbClr val="D71920"/>
                </a:solidFill>
                <a:latin typeface="Arial"/>
              </a:rPr>
              <a:t>&lt;30m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265176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from ticket to root cause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1" y="265176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37759" y="279806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 Orchestrator captures HardFault registers, stack frames and memory evidence without manual tool switching.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325112"/>
            <a:ext cx="420624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02920" y="4507992"/>
            <a:ext cx="548640" cy="5486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NPI Gate
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398264"/>
            <a:ext cx="1143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b="1" i="0" dirty="0">
                <a:solidFill>
                  <a:srgbClr val="D71920"/>
                </a:solidFill>
                <a:latin typeface="Arial"/>
              </a:rPr>
              <a:t>PG1/3/5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demo-ready decisions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" y="4983480"/>
            <a:ext cx="3877056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AEPLO turns Discovery, Development and Validation evidence into clear decisions and action lists.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79" y="4325112"/>
            <a:ext cx="4206240" cy="210312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54879" y="4325112"/>
            <a:ext cx="420624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937759" y="4507992"/>
            <a:ext cx="548640" cy="54864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59" y="4507992"/>
            <a:ext cx="548640" cy="548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59" y="4416552"/>
            <a:ext cx="22860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Embedded PDLC
Optimisation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5239" y="4398264"/>
            <a:ext cx="1143000" cy="5669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8E8E8"/>
                </a:solidFill>
                <a:latin typeface="Arial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39" y="4983480"/>
            <a:ext cx="11887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8E8E8"/>
                </a:solidFill>
                <a:latin typeface="Arial"/>
              </a:rPr>
              <a:t>risk, test and fix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19471" y="4983480"/>
            <a:ext cx="3877056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37759" y="5129784"/>
            <a:ext cx="3840480" cy="11704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 Studio, Copilot and AEPLO agents optimise work across planning, coding, validation and launch preparation.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11  /  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Criteria &amp; Key Metric Focus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Updated with current demo values: measurable stream value, BA-hosting readiness, live execution proof, agentic AI governance and LLM/token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Stream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PDLC lead time: 41% drop (PG1-&gt;PG5 workflow 4.8h -&gt; 2.8h)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Defect leakage: 60% fewer projected escapes</a:t>
            </a:r>
          </a:p>
          <a:p>
            <a:pPr algn="l"/>
            <a:r>
              <a:rPr sz="819" b="0" i="0">
                <a:solidFill>
                  <a:srgbClr val="E8E8E8"/>
                </a:solidFill>
                <a:latin typeface="Arial"/>
              </a:rPr>
              <a:t>- Productivity saving: 320 hrs in 2026 H2; 760 hrs in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Platformization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BA-org hosting readiness: 85%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Sandbox deployment, SSO path and MCP connectors ready; prod hardening pending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Live 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Working prototype: 100% PG1 / PG3 / PG5 demo flow completed</a:t>
            </a:r>
          </a:p>
          <a:p>
            <a:pPr algn="l"/>
            <a:r>
              <a:rPr sz="840" b="0" i="0">
                <a:solidFill>
                  <a:srgbClr val="E8E8E8"/>
                </a:solidFill>
                <a:latin typeface="Arial"/>
              </a:rPr>
              <a:t>- Active impact: Jira evidence + GitHub PR + Confluence summary generated in run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design pattern compliance
[Agents orchestration, routing protocols,
MCP Servers, Skills, etc]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Inter-agent handoff success: 92%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Twin simulation accuracy: 88%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Reusable tools/skills: 9 of 12 (75%)</a:t>
            </a:r>
          </a:p>
          <a:p>
            <a:pPr algn="l"/>
            <a:r>
              <a:rPr sz="810" b="0" i="0">
                <a:solidFill>
                  <a:srgbClr val="E8E8E8"/>
                </a:solidFill>
                <a:latin typeface="Arial"/>
              </a:rPr>
              <a:t>- MCP usage relevancy: 100% of Jira/Confluence actions mapped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 dirty="0">
                <a:solidFill>
                  <a:srgbClr val="FFFFFF"/>
                </a:solidFill>
                <a:latin typeface="Arial"/>
              </a:rPr>
              <a:t>LLM selection strategies
[GitHub Copilot &amp; OpenAI] &amp; AI Token
usage Optimization
[LLM selection, Context Management,
and Prompt engineering]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41% (baseline prompt pack vs routed context)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Cost/request savings: 36%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Tool-calling JSON accuracy: 96%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Prompt caching utilization: 68%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show quantified PDLC impact with a reusable, hosted, agentic-AI execution pattern.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57600" y="228600"/>
            <a:ext cx="6400800" cy="640080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297680" y="868680"/>
            <a:ext cx="5120640" cy="512064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0" y="1600200"/>
            <a:ext cx="3657600" cy="3657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60720" y="2331720"/>
            <a:ext cx="2194560" cy="21945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382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22873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76789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00475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794668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60384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498919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11826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00908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868196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15930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46542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062624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766911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62251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51578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37884" y="66092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524189" y="659387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213516" y="65477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908856" y="64714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3143" y="63656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29225" y="62313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059837" y="60699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807571" y="588282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74859" y="567190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63941" y="543919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176848" y="51869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4015383" y="491754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881099" y="46336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3775292" y="433791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698978" y="403325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3652894" y="37225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3637484" y="34088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652894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698978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3775292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1099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015383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4176848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4363941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574859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4807571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059837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5329225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5613143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5908856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6213516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524189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6837883" y="20848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7151578" y="22389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7462251" y="26997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66911" y="34629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062624" y="45209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346542" y="58638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615930" y="74784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8868196" y="9349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00908" y="114585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9311826" y="13785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9498919" y="163083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9660384" y="190022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794668" y="21841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9900475" y="24798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9976789" y="278451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10022873" y="309518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683285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05458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83285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61112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661112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683285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705458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631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705458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83285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61112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38939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8939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38939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61112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83285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705458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727631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727631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498044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27631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05458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683285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661112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638939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6167663" y="37879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6167663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6167663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6167663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638939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661112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832854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7054584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7276314" y="289178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7498044" y="301980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7498044" y="327583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7498044" y="353187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7719774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7498044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7276314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7054584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6832854" y="44279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6611123" y="42999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9393" y="41719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6167663" y="40439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5945933" y="39159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5945933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945933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945933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5945933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6167663" y="276377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6389393" y="263575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6611123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6832854" y="23797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7054584" y="25077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7276314" y="263575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7498044" y="276377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7719774" y="289179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7719774" y="314782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7719774" y="340385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7719774" y="36598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347472" y="658368"/>
            <a:ext cx="50292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CONCLUSION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7472" y="987552"/>
            <a:ext cx="5303520" cy="9601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Transform Embedded PDLC
from PG1 to PG5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47472" y="2029968"/>
            <a:ext cx="4956047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347472" y="2322576"/>
            <a:ext cx="256032" cy="25603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621792" y="2432304"/>
            <a:ext cx="502920" cy="36576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261872" y="224942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70E17"/>
                </a:solidFill>
                <a:latin typeface="Arial"/>
              </a:rPr>
              <a:t>From fragmented embedded data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1872" y="261518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Jira, Confluence, GitHub, QA and JTAG/SWD evidence become one connected AEPLO PDLC foundation.</a:t>
            </a:r>
          </a:p>
        </p:txBody>
      </p:sp>
      <p:sp>
        <p:nvSpPr>
          <p:cNvPr id="140" name="Oval 139"/>
          <p:cNvSpPr/>
          <p:nvPr/>
        </p:nvSpPr>
        <p:spPr>
          <a:xfrm>
            <a:off x="347472" y="3739896"/>
            <a:ext cx="256032" cy="25603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621792" y="3849624"/>
            <a:ext cx="502920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1261872" y="366674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71920"/>
                </a:solidFill>
                <a:latin typeface="Arial"/>
              </a:rPr>
              <a:t>To intelligent NPI action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1872" y="403250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MCP, ROVO Studio, Copilot and AEPLO agents drive PG1 discovery, PG3 development and PG5 launch readiness.</a:t>
            </a:r>
          </a:p>
        </p:txBody>
      </p:sp>
      <p:sp>
        <p:nvSpPr>
          <p:cNvPr id="144" name="Oval 143"/>
          <p:cNvSpPr/>
          <p:nvPr/>
        </p:nvSpPr>
        <p:spPr>
          <a:xfrm>
            <a:off x="347472" y="5157216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21792" y="5266944"/>
            <a:ext cx="5029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1261872" y="5084064"/>
            <a:ext cx="41148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Optimise every gate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61872" y="5449824"/>
            <a:ext cx="4069080" cy="8229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The JTAG Accelerator adds hardware-backed RCA and controlled fixes to AI-optimised validation and launch decisions.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12  /  12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DD5A924B-3180-1590-5F67-0356FA8DD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424" y="2578608"/>
            <a:ext cx="2875434" cy="1700784"/>
          </a:xfrm>
          <a:prstGeom prst="rect">
            <a:avLst/>
          </a:prstGeom>
          <a:ln/>
        </p:spPr>
      </p:pic>
      <p:sp>
        <p:nvSpPr>
          <p:cNvPr id="155" name="Rectangle 15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2004</Words>
  <Application>Microsoft Office PowerPoint</Application>
  <PresentationFormat>On-screen Show (4:3)</PresentationFormat>
  <Paragraphs>307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7</cp:revision>
  <dcterms:created xsi:type="dcterms:W3CDTF">2013-01-27T09:14:16Z</dcterms:created>
  <dcterms:modified xsi:type="dcterms:W3CDTF">2026-06-15T09:16:08Z</dcterms:modified>
  <cp:category/>
</cp:coreProperties>
</file>