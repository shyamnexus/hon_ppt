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20116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AI-DRIVEN EMBEDDED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47088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PRODUCT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459736"/>
            <a:ext cx="539496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100" b="1" i="0">
                <a:solidFill>
                  <a:srgbClr val="D71920"/>
                </a:solidFill>
                <a:latin typeface="Arial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246120"/>
            <a:ext cx="1143000" cy="31089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282696"/>
            <a:ext cx="1143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VERSION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886200"/>
            <a:ext cx="498348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Arial"/>
              </a:rPr>
              <a:t>3-minute executive story: PRD -&gt; firmware -&gt; JTAG evidence -&gt; QA READY -&gt; STQC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74920"/>
            <a:ext cx="3657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DDDDDD"/>
                </a:solidFill>
                <a:latin typeface="Arial"/>
              </a:rPr>
              <a:t>Atharva | Manas | Sheraaz | Shyam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30" b="0" i="1">
                <a:solidFill>
                  <a:srgbClr val="242424"/>
                </a:solidFill>
                <a:latin typeface="Arial"/>
              </a:rPr>
              <a:t>NPI gates rely on disconnected requirements, Jira tickets, Confluence knowledge, GitHub code, JTAG/SWD evidence and QA results - slowing decisions from PG1 to PG5.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176272"/>
            <a:ext cx="2697480" cy="6400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377440"/>
            <a:ext cx="566928" cy="402336"/>
          </a:xfrm>
          <a:prstGeom prst="round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Discovery
Blind Spots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2176272"/>
            <a:ext cx="2697480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55848" y="2377440"/>
            <a:ext cx="566928" cy="40233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BUG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Late Defect
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59" y="2176272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59" y="2176272"/>
            <a:ext cx="2697480" cy="6400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36207" y="2377440"/>
            <a:ext cx="566928" cy="402336"/>
          </a:xfrm>
          <a:prstGeom prst="round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7" y="2423160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19" y="2322576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Tool Chain
Fragmentation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1" y="2889504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032504"/>
            <a:ext cx="2697480" cy="6400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5488" y="4233672"/>
            <a:ext cx="566928" cy="402336"/>
          </a:xfrm>
          <a:prstGeom prst="round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PDLC
Trace Gaps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0" y="4032504"/>
            <a:ext cx="2697480" cy="6400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55848" y="4233672"/>
            <a:ext cx="566928" cy="402336"/>
          </a:xfrm>
          <a:prstGeom prst="round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55848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JTAG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Embedded
Hardware Gap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64992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80759" y="4032504"/>
            <a:ext cx="2697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80759" y="4032504"/>
            <a:ext cx="2697480" cy="64008"/>
          </a:xfrm>
          <a:prstGeom prst="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36207" y="4233672"/>
            <a:ext cx="566928" cy="402336"/>
          </a:xfrm>
          <a:prstGeom prst="round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36207" y="4279392"/>
            <a:ext cx="56692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19" y="4178808"/>
            <a:ext cx="17373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1" i="0">
                <a:solidFill>
                  <a:srgbClr val="242424"/>
                </a:solidFill>
                <a:latin typeface="Arial"/>
              </a:rPr>
              <a:t>Launch Gate
Uncertainty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5351" y="4745736"/>
            <a:ext cx="2359152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68686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Connects Jira, Confluence, GitHub, Copilot, ROVO Studio, Atlassian MCP and JTAG/SWD evidence into one embedded PDLC optimization platform.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84248"/>
            <a:ext cx="1920240" cy="603504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148840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984248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984248"/>
            <a:ext cx="54864" cy="6035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2157984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Jira | Confluence | GitHub | Copilot | ROVO Studio | JTAG/SWD | QA Results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70632"/>
            <a:ext cx="1920240" cy="603504"/>
          </a:xfrm>
          <a:prstGeom prst="round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935224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06040" y="2770632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2770632"/>
            <a:ext cx="54864" cy="603504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2944368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Unified Knowledge Graph | Semantic Traceability Engine | Version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57015"/>
            <a:ext cx="1920240" cy="603504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721607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06040" y="3557015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06040" y="3557015"/>
            <a:ext cx="54864" cy="6035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3730751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Atlassian MCP | JTAG Accelerator | Fault Analyzer | Release Agent | QA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1920240" cy="603504"/>
          </a:xfrm>
          <a:prstGeom prst="round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4507992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4343400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06040" y="4343400"/>
            <a:ext cx="54864" cy="603504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17136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CI/CD Hooks | Controlled Auto-Fix | Auto-PR | Release Gate | Remediation 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129783"/>
            <a:ext cx="1920240" cy="603504"/>
          </a:xfrm>
          <a:prstGeom prst="round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5294375"/>
            <a:ext cx="18653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19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06040" y="5129783"/>
            <a:ext cx="6126480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06040" y="5129783"/>
            <a:ext cx="54864" cy="603504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8920" y="5303519"/>
            <a:ext cx="57607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242424"/>
                </a:solidFill>
                <a:latin typeface="Arial"/>
              </a:rPr>
              <a:t>PG1 Risk Plan | PG3 RCA + PR | PG5 READY / NOT_READY | Audit Evidence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PRD TO 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Confluence PRD Becomes Pickable Jira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Epics and stories are created from the PRD hosted on Confluence, guided by SDE Elements and PSJIRA. The user picks the work item and AEPLO carries the acceptance context forward.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788920"/>
            <a:ext cx="1965960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081528"/>
            <a:ext cx="566928" cy="566928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D71920"/>
                </a:solidFill>
                <a:latin typeface="Arial"/>
              </a:rPr>
              <a:t>PRD Source of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Confluence PRD, architecture notes, release intent and regulatory scope are ingested.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96312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96312" y="2788920"/>
            <a:ext cx="1965960" cy="6400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82112" y="3081528"/>
            <a:ext cx="566928" cy="566928"/>
          </a:xfrm>
          <a:prstGeom prst="ellipse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82112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0066A4"/>
                </a:solidFill>
                <a:latin typeface="Arial"/>
              </a:rPr>
              <a:t>SDE Elements + PSJIRA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0904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AI maps requirements into epics, stories, acceptance criteria and trace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2272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72583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2583" y="2788920"/>
            <a:ext cx="1965960" cy="6400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58383" y="3081528"/>
            <a:ext cx="566928" cy="566928"/>
          </a:xfrm>
          <a:prstGeom prst="ellipse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8383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3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6542A6"/>
                </a:solidFill>
                <a:latin typeface="Arial"/>
              </a:rPr>
              <a:t>User Picks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7175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Epics and stories are listed for the developer or product owner to select.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38543" y="4087368"/>
            <a:ext cx="201168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48855" y="2788920"/>
            <a:ext cx="196596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48855" y="2788920"/>
            <a:ext cx="1965960" cy="6400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34655" y="3081528"/>
            <a:ext cx="566928" cy="566928"/>
          </a:xfrm>
          <a:prstGeom prst="ellipse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4655" y="3255264"/>
            <a:ext cx="566928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5" y="3776472"/>
            <a:ext cx="169164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40" b="1" i="0">
                <a:solidFill>
                  <a:srgbClr val="008A4B"/>
                </a:solidFill>
                <a:latin typeface="Arial"/>
              </a:rPr>
              <a:t>Branch + QA Context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7" y="4233672"/>
            <a:ext cx="1627632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90" b="0" i="0">
                <a:solidFill>
                  <a:srgbClr val="242424"/>
                </a:solidFill>
                <a:latin typeface="Arial"/>
              </a:rPr>
              <a:t>A feature branch is created with PRD clauses, QA inputs and validation expectations attached.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715000"/>
            <a:ext cx="7772400" cy="384048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15584"/>
            <a:ext cx="7498079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Outcome: every branch starts with traceable PRD intent, Jira work item, QA input and release-gate evidence plan.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r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PG3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FFFFFF"/>
                </a:solidFill>
                <a:latin typeface="Arial"/>
              </a:rPr>
              <a:t>At PG3, AEPLO generates firmware/code from the datasheet and PRD. SDK, BSP, OS/RTOS, compiler and board context are injected before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121408"/>
            <a:ext cx="73152" cy="3063240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66A4"/>
                </a:solidFill>
                <a:latin typeface="Arial"/>
              </a:rPr>
              <a:t>Context Injection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Datasheet and register map
- PRD acceptance criteria
- SDK/BSP and HAL
- OS/RTOS constraints
- Board and memory limits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73552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2121408"/>
            <a:ext cx="73152" cy="306324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71920"/>
                </a:solidFill>
                <a:latin typeface="Arial"/>
              </a:rPr>
              <a:t>Firmware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Driver skeletons
- Peripheral init code
- Configuration tables
- Unit and HIL test hooks
- Review-ready feature branch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2167128"/>
            <a:ext cx="2606040" cy="306324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2121408"/>
            <a:ext cx="260604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121408"/>
            <a:ext cx="73152" cy="3063240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24028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8A4B"/>
                </a:solidFill>
                <a:latin typeface="Arial"/>
              </a:rPr>
              <a:t>Evidence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688336"/>
            <a:ext cx="2331720" cy="23682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- Datasheet conformance checks
- PRD trace verification
- Static and unit checks
- JTAG/SWD hardware evidence
- Ready / Not Ready signal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577840"/>
            <a:ext cx="7589520" cy="493776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715000"/>
            <a:ext cx="7269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60" b="1" i="0">
                <a:solidFill>
                  <a:srgbClr val="FFFFFF"/>
                </a:solidFill>
                <a:latin typeface="Arial"/>
              </a:rPr>
              <a:t>JTAG Agent adds hardware-backed proof: registers, memory dumps, stack frames, peripheral state and probe logs.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QA RELEASE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Closed Loop Until QA Says READY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242424"/>
                </a:solidFill>
                <a:latin typeface="Arial"/>
              </a:rPr>
              <a:t>Feature branch, PRD criteria, QA inputs and JTAG evidence are validated together. A NOT_READY decision becomes prioritized Jira work for the next release loop.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67712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67712"/>
            <a:ext cx="64008" cy="111556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2560320"/>
            <a:ext cx="420624" cy="420624"/>
          </a:xfrm>
          <a:prstGeom prst="ellipse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386584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66A4"/>
                </a:solidFill>
                <a:latin typeface="Arial"/>
              </a:rPr>
              <a:t>Feature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706624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Selected story, generated code and linked 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2084831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2084831"/>
            <a:ext cx="64008" cy="111556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29000" y="2377439"/>
            <a:ext cx="420624" cy="420624"/>
          </a:xfrm>
          <a:prstGeom prst="ellipse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505455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352" y="2203703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E87900"/>
                </a:solidFill>
                <a:latin typeface="Arial"/>
              </a:rPr>
              <a:t>QA Inputs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9352" y="2523743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Regression, HIL, field issues and acceptance tests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267712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7880" y="2267712"/>
            <a:ext cx="64008" cy="11155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80760" y="2560320"/>
            <a:ext cx="420624" cy="42062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2688336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2386584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D71920"/>
                </a:solidFill>
                <a:latin typeface="Arial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2706624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PRD, datasheet, code, tests and JTAG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617720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4617720"/>
            <a:ext cx="64008" cy="1115568"/>
          </a:xfrm>
          <a:prstGeom prst="rect">
            <a:avLst/>
          </a:prstGeom>
          <a:solidFill>
            <a:srgbClr val="A6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37760" y="4910328"/>
            <a:ext cx="420624" cy="420624"/>
          </a:xfrm>
          <a:prstGeom prst="ellipse">
            <a:avLst/>
          </a:prstGeom>
          <a:solidFill>
            <a:srgbClr val="A6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0" y="5038344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4736592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A61218"/>
                </a:solidFill>
                <a:latin typeface="Arial"/>
              </a:rPr>
              <a:t>NOT_READY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056632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Create defects, stories and priority order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91640" y="4617720"/>
            <a:ext cx="228600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91640" y="4617720"/>
            <a:ext cx="64008" cy="1115568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874520" y="4910328"/>
            <a:ext cx="420624" cy="420624"/>
          </a:xfrm>
          <a:prstGeom prst="ellipse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20" y="5038344"/>
            <a:ext cx="42062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4872" y="4736592"/>
            <a:ext cx="1417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8A4B"/>
                </a:solidFill>
                <a:latin typeface="Arial"/>
              </a:rPr>
              <a:t>READY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4872" y="5056632"/>
            <a:ext cx="1417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30" b="0" i="0">
                <a:solidFill>
                  <a:srgbClr val="242424"/>
                </a:solidFill>
                <a:latin typeface="Arial"/>
              </a:rPr>
              <a:t>Release candidate cleared with evidence pack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4680" y="3703320"/>
            <a:ext cx="2834640" cy="566928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0128" y="3858768"/>
            <a:ext cx="2523744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>QA gate guides the next-release backlog until READY is achieved.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PG5 STQC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Star: STQC Agent for BIS Certification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80" b="0" i="1">
                <a:solidFill>
                  <a:srgbClr val="FFFFFF"/>
                </a:solidFill>
                <a:latin typeface="Arial"/>
              </a:rPr>
              <a:t>All IoT security and surveillance devices need BIS certification governed by STQC guidelines. This applies to in-house designs and BTS sales.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029968"/>
            <a:ext cx="73152" cy="3703320"/>
          </a:xfrm>
          <a:prstGeom prst="rect">
            <a:avLst/>
          </a:prstGeom>
          <a:solidFill>
            <a:srgbClr val="B8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B88300"/>
                </a:solidFill>
                <a:latin typeface="Arial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9" b="0" i="0">
                <a:solidFill>
                  <a:srgbClr val="242424"/>
                </a:solidFill>
                <a:latin typeface="Arial"/>
              </a:rPr>
              <a:t>Earlier, developers spent months crawling code, creating evidence, validating rules and packaging documents for auditors.
AEPLO compresses this to days with repeatable evidence generation.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73552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2029968"/>
            <a:ext cx="73152" cy="37033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D71920"/>
                </a:solidFill>
                <a:latin typeface="Arial"/>
              </a:rPr>
              <a:t>What STQC Agent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242424"/>
                </a:solidFill>
                <a:latin typeface="Arial"/>
              </a:rPr>
              <a:t>- Crawls source and configuration
- Creates audit evidence
- Enforces hard rules, including no foreign characters
- Checks STQC ER guideline coverage
- Validates submission readiness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2075688"/>
            <a:ext cx="2606040" cy="3703320"/>
          </a:xfrm>
          <a:prstGeom prst="roundRect">
            <a:avLst/>
          </a:prstGeom>
          <a:solidFill>
            <a:srgbClr val="C8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2029968"/>
            <a:ext cx="26060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029968"/>
            <a:ext cx="73152" cy="3703320"/>
          </a:xfrm>
          <a:prstGeom prst="rect">
            <a:avLst/>
          </a:prstGeom>
          <a:solidFill>
            <a:srgbClr val="00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148840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8A4B"/>
                </a:solidFill>
                <a:latin typeface="Arial"/>
              </a:rPr>
              <a:t>If Not 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596896"/>
            <a:ext cx="2331720" cy="30083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242424"/>
                </a:solidFill>
                <a:latin typeface="Arial"/>
              </a:rPr>
              <a:t>- Highlights the exact failing section
- Explains the missing evidence
- Creates Jira tickets and stories
- Sends fixes back through PG3 and QA gate
- Re-checks until submission-ready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998464"/>
            <a:ext cx="704088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8" y="6089904"/>
            <a:ext cx="6720840" cy="12801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69" b="1" i="0">
                <a:solidFill>
                  <a:srgbClr val="FFFFFF"/>
                </a:solidFill>
                <a:latin typeface="Arial"/>
              </a:rPr>
              <a:t>Output: READY for STQC submission, or NOT_READY with actionable evidence gaps and Jira remediation.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"/>
            <a:ext cx="914400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"/>
            <a:ext cx="24231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86868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749808"/>
            <a:ext cx="8183879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242424"/>
                </a:solidFill>
                <a:latin typeface="Arial"/>
              </a:rPr>
              <a:t>Realistic Quantified 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234440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81328"/>
            <a:ext cx="84124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40" b="0" i="1">
                <a:solidFill>
                  <a:srgbClr val="242424"/>
                </a:solidFill>
                <a:latin typeface="Arial"/>
              </a:rPr>
              <a:t>Pilot-ready targets for efficiency, time saved and token optimization. Values are framed as measured/expected ranges for a controlled demo-to-pilot rollout.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05740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73152" cy="102412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16712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D71920"/>
                </a:solidFill>
                <a:latin typeface="Arial"/>
              </a:rPr>
              <a:t>STQC Evidence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59" y="213055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6-10 weeks -&gt; 2-4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53288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85-92% effort reduction for first submission pack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79" y="205740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79" y="2057400"/>
            <a:ext cx="73152" cy="1024128"/>
          </a:xfrm>
          <a:prstGeom prst="rect">
            <a:avLst/>
          </a:prstGeom>
          <a:solidFill>
            <a:srgbClr val="E8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1" y="216712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E87900"/>
                </a:solidFill>
                <a:latin typeface="Arial"/>
              </a:rPr>
              <a:t>PG3 Firmware 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398" y="213055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3-5 days -&gt; 1-2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1" y="253288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45-60% faster first draft and validation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38328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83280"/>
            <a:ext cx="73152" cy="1024128"/>
          </a:xfrm>
          <a:prstGeom prst="rect">
            <a:avLst/>
          </a:prstGeom>
          <a:solidFill>
            <a:srgbClr val="006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349300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0066A4"/>
                </a:solidFill>
                <a:latin typeface="Arial"/>
              </a:rPr>
              <a:t>JTAG Root 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59" y="345643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1-2 days -&gt; under 2 hours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385876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70-90% faster hardware-backed diagnosis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79" y="3383280"/>
            <a:ext cx="42062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79" y="3383280"/>
            <a:ext cx="73152" cy="1024128"/>
          </a:xfrm>
          <a:prstGeom prst="rect">
            <a:avLst/>
          </a:prstGeom>
          <a:solidFill>
            <a:srgbClr val="654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1" y="3493008"/>
            <a:ext cx="17373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1" i="0">
                <a:solidFill>
                  <a:srgbClr val="6542A6"/>
                </a:solidFill>
                <a:latin typeface="Arial"/>
              </a:rPr>
              <a:t>QA Gate Triage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8" y="3456432"/>
            <a:ext cx="2148840" cy="301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220" b="1" i="0">
                <a:solidFill>
                  <a:srgbClr val="242424"/>
                </a:solidFill>
                <a:latin typeface="Arial"/>
              </a:rPr>
              <a:t>2-3 days -&gt; under 4 hours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1" y="3858768"/>
            <a:ext cx="387705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19" b="0" i="0">
                <a:solidFill>
                  <a:srgbClr val="686868"/>
                </a:solidFill>
                <a:latin typeface="Arial"/>
              </a:rPr>
              <a:t>60-75% faster release priority decisions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480060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D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800600"/>
            <a:ext cx="73152" cy="10515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937760"/>
            <a:ext cx="1920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40" b="1" i="0">
                <a:solidFill>
                  <a:srgbClr val="D71920"/>
                </a:solidFill>
                <a:latin typeface="Arial"/>
              </a:rPr>
              <a:t>Token 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901184"/>
            <a:ext cx="62636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60" b="0" i="0">
                <a:solidFill>
                  <a:srgbClr val="242424"/>
                </a:solidFill>
                <a:latin typeface="Arial"/>
              </a:rPr>
              <a:t>35-45% lower token use through routed context, PRD/datasheet chunk retrieval, prompt caching for STQC guidelines, and compact evidence summaries. Repeated STQC runs can reuse 80%+ of guideline and datasheet context.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144768"/>
            <a:ext cx="8183879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80" b="1" i="0">
                <a:solidFill>
                  <a:srgbClr val="D71920"/>
                </a:solidFill>
                <a:latin typeface="Arial"/>
              </a:rPr>
              <a:t>Close: AEPLO keeps looping across PG3, JTAG, QA and STQC until the release is READY.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9144000" cy="329184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611112"/>
            <a:ext cx="50292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AI-Driven Embedded Product Lifecycle Orchestrator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601968"/>
            <a:ext cx="475488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Arial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