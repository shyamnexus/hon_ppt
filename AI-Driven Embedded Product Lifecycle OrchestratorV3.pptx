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381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0" y="762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43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1524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905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2286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667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3048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3429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3810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4191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4572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4953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5334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0" y="5715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6096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6477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0372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4380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2396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97680" y="297180"/>
            <a:ext cx="5852160" cy="5852160"/>
          </a:xfrm>
          <a:prstGeom prst="ellipse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54880" y="754380"/>
            <a:ext cx="4937760" cy="4937760"/>
          </a:xfrm>
          <a:prstGeom prst="ellipse">
            <a:avLst/>
          </a:prstGeom>
          <a:solidFill>
            <a:srgbClr val="07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03520" y="1303020"/>
            <a:ext cx="3840480" cy="3840480"/>
          </a:xfrm>
          <a:prstGeom prst="ellipse">
            <a:avLst/>
          </a:prstGeom>
          <a:solidFill>
            <a:srgbClr val="08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43600" y="1943100"/>
            <a:ext cx="2560320" cy="2560320"/>
          </a:xfrm>
          <a:prstGeom prst="ellipse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37960" y="2537460"/>
            <a:ext cx="1371600" cy="1371600"/>
          </a:xfrm>
          <a:prstGeom prst="ellipse">
            <a:avLst/>
          </a:prstGeom>
          <a:solidFill>
            <a:srgbClr val="0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12666" y="543683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32236" y="557907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41202" y="5706723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40742" y="5818986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32092" y="5915175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16538" y="5994697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895409" y="6057062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70069" y="6101885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441907" y="6128889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12330" y="6137910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82752" y="6128889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54590" y="6101885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29250" y="6057062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08121" y="5994697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92567" y="5915175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883917" y="5818986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683457" y="5706723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492423" y="557907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311993" y="543683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143278" y="528088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143278" y="114277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311993" y="98682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492423" y="84458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83457" y="716936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883917" y="604673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092567" y="508484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308121" y="428962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529250" y="366597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754590" y="321774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82752" y="294770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212329" y="285750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441907" y="294770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70069" y="321774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895409" y="366597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116538" y="428962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2092" y="508484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540742" y="604673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741202" y="716936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932236" y="84458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112666" y="98682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485632" y="320497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481685" y="33054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69871" y="340523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450261" y="350381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422976" y="360056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388185" y="369486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346102" y="378615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296987" y="387385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241143" y="395743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178913" y="403636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110681" y="411018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036869" y="417841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957931" y="424064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874353" y="429648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786652" y="434560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695368" y="438768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601063" y="442247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504319" y="444976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05733" y="446937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305912" y="448118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205472" y="448513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105031" y="448118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005210" y="446937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906624" y="444976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809880" y="442247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715575" y="438768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624291" y="434560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36590" y="429648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453012" y="424064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374074" y="417841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300262" y="411018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232030" y="403636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169800" y="395743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113956" y="387385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064841" y="378615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022758" y="369486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87967" y="360056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960682" y="350381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41072" y="340523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929258" y="33054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925312" y="320497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929258" y="310453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941072" y="300471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960682" y="290612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987967" y="280938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022758" y="271507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064841" y="262379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113956" y="253609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169800" y="24525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232030" y="237357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00262" y="229976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374074" y="223153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453012" y="216930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536590" y="211345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624291" y="206434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715575" y="202225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809880" y="198746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906624" y="196018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005210" y="194057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105031" y="192875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205472" y="19248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305912" y="192875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405733" y="194057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504319" y="196018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601063" y="198746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695368" y="202225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786652" y="206434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874353" y="211345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957931" y="216930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036869" y="223153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110681" y="229976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178913" y="237357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241143" y="24525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296987" y="253609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346102" y="262379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388185" y="271507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422976" y="280938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450261" y="290612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469871" y="300471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481685" y="310453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198614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420344" y="332613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198614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976883" y="332613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976883" y="307009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198614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420344" y="307009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642074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420344" y="358216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198614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976883" y="358216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755153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755153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755153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976883" y="281406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198614" y="268605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20344" y="281406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642074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642074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863804" y="358216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642074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420344" y="383819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198614" y="396621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6976883" y="383819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755153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533423" y="358216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533423" y="332613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533423" y="307009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533423" y="281406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6755153" y="268605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976883" y="255803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198614" y="243001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420344" y="255803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642074" y="2686049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863804" y="281406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863804" y="307009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863804" y="332613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085534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863804" y="383819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642074" y="396621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420344" y="409422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198614" y="422224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976883" y="409422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6755153" y="396621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6533423" y="383819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6311693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6311693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311693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6311693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6311693" y="268605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6533423" y="255803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6755153" y="243001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976883" y="230200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198614" y="217398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420344" y="230200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642074" y="2430017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863804" y="2558033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085534" y="268605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085534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085534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085534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256032" y="105156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AI-DRIVEN EMBEDDED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56032" y="1755648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PRODUCT LIFECYCLE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6032" y="2450592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8F0"/>
                </a:solidFill>
                <a:latin typeface="Segoe UI"/>
              </a:rPr>
              <a:t>ORCHESTRATOR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56032" y="3291840"/>
            <a:ext cx="1280160" cy="347472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256032" y="3291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VERSION 3.0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56032" y="3794760"/>
            <a:ext cx="50292" cy="8229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20624" y="3822191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0EC"/>
                </a:solidFill>
                <a:latin typeface="Segoe UI"/>
              </a:rPr>
              <a:t>End-to-End Embedded Intelligence
Faster  |  Safer  |  Predictable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56032" y="4892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80A8"/>
                </a:solidFill>
                <a:latin typeface="Segoe UI"/>
              </a:rPr>
              <a:t>May 2026   |   CONFIDENTIAL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56032" y="5806440"/>
            <a:ext cx="2286000" cy="4114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256032" y="5971031"/>
            <a:ext cx="1828800" cy="4114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56032" y="6135624"/>
            <a:ext cx="1371600" cy="41148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1  / 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371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Embedded Development Is Fragmented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8412480" cy="1463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8988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8D0EC"/>
                </a:solidFill>
                <a:latin typeface="Segoe UI"/>
              </a:rPr>
              <a:t>Lifecycle stages operate in silos — leading to late defect discovery, manual governance overhead, and limited reuse of QA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5740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26974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" y="2221992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Requirements
&amp;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80720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Manual, disconnected from code reality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05740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2057400"/>
            <a:ext cx="2697480" cy="45720"/>
          </a:xfrm>
          <a:prstGeom prst="rect">
            <a:avLst/>
          </a:prstGeom>
          <a:solidFill>
            <a:srgbClr val="F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64992" y="2221992"/>
            <a:ext cx="457200" cy="457200"/>
          </a:xfrm>
          <a:prstGeom prst="roundRect">
            <a:avLst/>
          </a:prstGeom>
          <a:solidFill>
            <a:srgbClr val="F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Late Defect
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280720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Bugs found at integration — 100× costlier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205740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59" y="2057400"/>
            <a:ext cx="26974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45351" y="2221992"/>
            <a:ext cx="457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7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Tool Chain
Fragmentation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1" y="280720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12–20 siloed tools; no unified data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20624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206240"/>
            <a:ext cx="2697480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4632" y="4370832"/>
            <a:ext cx="457200" cy="45720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370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437083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Governance
Overhead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95604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Manual artefact generation; audit 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20624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4206240"/>
            <a:ext cx="2697480" cy="4572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64992" y="4370832"/>
            <a:ext cx="457200" cy="457200"/>
          </a:xfrm>
          <a:prstGeom prst="round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4370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437083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HW/SW
Co-Design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495604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Integration delays from late bring-up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59" y="420624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0759" y="4206240"/>
            <a:ext cx="269748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45351" y="4370832"/>
            <a:ext cx="457200" cy="457200"/>
          </a:xfrm>
          <a:prstGeom prst="round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1" y="4370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JTAG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7" y="437083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MCU Debug
Bottleneck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1" y="495604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Fault registers, memory views, probes and tickets are handled manually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Lifecycle-Aware AI Orchestrator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67328" y="2944367"/>
            <a:ext cx="1609344" cy="1609344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44355" y="3121394"/>
            <a:ext cx="1255288" cy="1255288"/>
          </a:xfrm>
          <a:prstGeom prst="ellipse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03444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94447" y="3866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67612" y="40010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3398" y="413133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62561" y="425470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86142" y="436907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95449" y="447248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92033" y="456318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77664" y="4639600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4298" y="470043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24047" y="474465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89140" y="47714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51884" y="478048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4627" y="47714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79720" y="474465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49469" y="470043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26104" y="4639600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11734" y="456318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08318" y="447248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17625" y="436907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41206" y="425470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80369" y="413133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36155" y="40010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9320" y="3866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00324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09320" y="3591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36155" y="34567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80369" y="332650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41206" y="320314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17625" y="308877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08318" y="298535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11734" y="289466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026103" y="281824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149469" y="275740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279720" y="271319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414627" y="26863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51884" y="267736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89140" y="26863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24047" y="271319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54298" y="275740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77664" y="281824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92033" y="289466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295449" y="298535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386142" y="308877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462561" y="320314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523398" y="332650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567612" y="34567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94447" y="3591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850332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39223" y="389840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06088" y="40649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751493" y="422581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676372" y="437814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582012" y="451936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470025" y="464706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342329" y="475905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01108" y="485341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048778" y="492853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887947" y="49831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721365" y="501626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551884" y="502737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382402" y="501626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15820" y="49831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054989" y="492853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02660" y="485341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761438" y="475905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633742" y="464706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521755" y="451936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427395" y="437814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52274" y="422581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97679" y="40649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64544" y="389840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53436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64544" y="355944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97679" y="33928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352274" y="323202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27395" y="307969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21755" y="293847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33742" y="281078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61438" y="269879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902659" y="260443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054989" y="252931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215820" y="247471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82402" y="244158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551884" y="243047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721365" y="244158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887947" y="247471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048778" y="252931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201108" y="260443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342329" y="269879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470025" y="281078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582012" y="293847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676372" y="307969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751493" y="323202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806088" y="33928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839223" y="355944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088076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074933" y="392943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035731" y="412651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971140" y="431679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882265" y="449701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770627" y="466409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638135" y="481517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487058" y="4947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19980" y="505930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139759" y="5148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949479" y="5212770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752397" y="525197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551884" y="526511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351370" y="525197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154288" y="5212770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964008" y="5148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783788" y="505930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616709" y="4947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465632" y="481517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333140" y="466409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221502" y="449701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132627" y="431679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068036" y="412651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028834" y="392943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015692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028834" y="352840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068036" y="33313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132627" y="314104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221502" y="29608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333140" y="279374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465632" y="264267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616709" y="2510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783787" y="239854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964008" y="2309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154288" y="224507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351370" y="220587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551884" y="219273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752397" y="220587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949479" y="224507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139759" y="2309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319980" y="239854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487058" y="2510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638135" y="264267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770627" y="279374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882265" y="296082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971140" y="314104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35731" y="33313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074933" y="352840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767328" y="2944367"/>
            <a:ext cx="160934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0"/>
                </a:solidFill>
                <a:latin typeface="Segoe UI"/>
              </a:rPr>
              <a:t>AEPLO
V3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47370" y="2473633"/>
            <a:ext cx="1184330" cy="2743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633654" y="2487349"/>
            <a:ext cx="27432" cy="52139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91440" y="1371599"/>
            <a:ext cx="2743200" cy="11887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1440" y="1371599"/>
            <a:ext cx="2743200" cy="4114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28600" y="1536191"/>
            <a:ext cx="274320" cy="274320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21792" y="1444751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0"/>
                </a:solidFill>
                <a:latin typeface="Segoe UI"/>
              </a:rPr>
              <a:t>Lifecycle-aware
AI Orchestrator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8600" y="192023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Unified intelligence spanning all lifecycle phases from requirements to field ops.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312298" y="2473633"/>
            <a:ext cx="1184330" cy="2743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482913" y="2487349"/>
            <a:ext cx="27432" cy="52139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6309360" y="1371599"/>
            <a:ext cx="2743200" cy="11887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309360" y="1371599"/>
            <a:ext cx="2743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446520" y="1536191"/>
            <a:ext cx="274320" cy="274320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839712" y="1444751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8A"/>
                </a:solidFill>
                <a:latin typeface="Segoe UI"/>
              </a:rPr>
              <a:t>Multi-agent
Engineering Intelligence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446520" y="192023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Specialized AI agents collaborate on design, JTAG debug, test, defect analysis and certification.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647370" y="4997012"/>
            <a:ext cx="118433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633654" y="4489337"/>
            <a:ext cx="27432" cy="52139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91440" y="4937759"/>
            <a:ext cx="2743200" cy="11887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1440" y="4937759"/>
            <a:ext cx="2743200" cy="411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228600" y="5102351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1792" y="5010911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Continuous QA
Feedback Loop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28600" y="548639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QA results feed back into the next release cycle, preventing recurrence of defects.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312298" y="4997012"/>
            <a:ext cx="118433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482913" y="4489337"/>
            <a:ext cx="27432" cy="5213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6309360" y="4937759"/>
            <a:ext cx="2743200" cy="11887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309360" y="4937759"/>
            <a:ext cx="2743200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6446520" y="5102351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839712" y="5010911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Segoe UI"/>
              </a:rPr>
              <a:t>Governance
Built-in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446520" y="548639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ISO 26262, IEC 61508, DO-178C compliance woven into every stage automatically.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EOPS Copilot —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Connects requirements, code, JTAG/SWD evidence, QA results &amp; governance rules — orchestrating specialized agents for continuous validation, debugging and decision-making.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874519" cy="749808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965960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965960"/>
            <a:ext cx="4114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130552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Requirements  ·  Source Code  ·  Jira Tickets  ·  JTAG/SWD Evidence  ·  QA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15768"/>
            <a:ext cx="45720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715768"/>
            <a:ext cx="45720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2843784"/>
            <a:ext cx="1874519" cy="749808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843784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DATA INTEGRATION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843784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1720" y="2843784"/>
            <a:ext cx="41148" cy="74980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7168" y="3008376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Unified Knowledge Graph  ·  Semantic Traceability Engine  ·  Version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93592"/>
            <a:ext cx="45720" cy="128016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93592"/>
            <a:ext cx="45720" cy="128016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" y="3721608"/>
            <a:ext cx="1874519" cy="749808"/>
          </a:xfrm>
          <a:prstGeom prst="round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721608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EOPS COPILOT — ORCHESTRATION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3721608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31720" y="3721608"/>
            <a:ext cx="41148" cy="74980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7168" y="3886200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Change Agent  ·  JTAG Orchestrator  ·  Fault Analyzer  ·  Release Agent  ·  QA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71416"/>
            <a:ext cx="45720" cy="12801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4471416"/>
            <a:ext cx="45720" cy="12801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0040" y="4599431"/>
            <a:ext cx="1874519" cy="7498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599431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AUTOMATION &amp; GATING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4599431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4599431"/>
            <a:ext cx="41148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4764023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CI/CD Hooks  ·  Controlled Auto-Fix  ·  Auto-PR  ·  Release Gate  ·  Remediation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349239"/>
            <a:ext cx="4572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5349239"/>
            <a:ext cx="4572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" y="5477256"/>
            <a:ext cx="1874519" cy="749808"/>
          </a:xfrm>
          <a:prstGeom prst="round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477256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OUTPUTS &amp; DELIVERY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5477256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5477256"/>
            <a:ext cx="41148" cy="7498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7168" y="5641848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Dashboards  ·  Verdicts  ·  Audit Trails  ·  Cert Packages  ·  APIs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CHANGE IMPACT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Change Impact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Analyzes engineering changes in real time — identifying timing issues, config mismatches and system-level risks before integration.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3296412"/>
            <a:ext cx="8449056" cy="27432"/>
          </a:xfrm>
          <a:prstGeom prst="rect">
            <a:avLst/>
          </a:prstGeom>
          <a:solidFill>
            <a:srgbClr val="0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" y="2011680"/>
            <a:ext cx="2633472" cy="4133087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2011680"/>
            <a:ext cx="2633472" cy="4572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2926080"/>
            <a:ext cx="768096" cy="768096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3123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8726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94329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19932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45535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14884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A89A"/>
                </a:solidFill>
                <a:latin typeface="Segoe UI"/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57860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RTOS &amp; Config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2999232"/>
            <a:ext cx="2304288" cy="1463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127248"/>
            <a:ext cx="23042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Monitors every commit and configuration change in real time.
Identifies RTOS scheduling changes, BSP config deltas, and peripheral register modifications automatically.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011680"/>
            <a:ext cx="2633472" cy="4133087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011680"/>
            <a:ext cx="2633472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33088" y="2926080"/>
            <a:ext cx="768096" cy="768096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33088" y="292608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96051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21654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7257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72860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98463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214884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2C6"/>
                </a:solidFill>
                <a:latin typeface="Segoe UI"/>
              </a:rPr>
              <a:t>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57860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Scheduling &amp; Timing Impacts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64992" y="2999232"/>
            <a:ext cx="2304288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2" y="3127248"/>
            <a:ext cx="23042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Runs AI-powered impact analysis on detected changes.
Models task preemption effects, IRQ latency shifts, stack overflow risk, and inter-process communication impacts.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53328" y="2011680"/>
            <a:ext cx="2633472" cy="4133087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3328" y="2011680"/>
            <a:ext cx="2633472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86016" y="2926080"/>
            <a:ext cx="768096" cy="768096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292608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214884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  <a:latin typeface="Segoe UI"/>
              </a:rPr>
              <a:t>FLAG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257860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System-Level Risks Early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2999232"/>
            <a:ext cx="2304288" cy="1463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127248"/>
            <a:ext cx="23042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Generates prioritized risk reports before integration.
Each flag includes severity, affected components, and recommended mitigation — directly in the developer's IDE.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JTAG DEBUG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Agentic JTAG Debugging for MCU Bugs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Sheraaz's BuildAThon addition turns slow, manual firmware debugging into a ticket-driven agent workflow attached to the IDE, J-Link and target MCU.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1965960" cy="192024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1965960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6988" y="2212848"/>
            <a:ext cx="512064" cy="512064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852928"/>
            <a:ext cx="1746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72C6"/>
                </a:solidFill>
                <a:latin typeface="Segoe UI"/>
              </a:rPr>
              <a:t>BUG / STORY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273552"/>
            <a:ext cx="1709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B8D0EC"/>
                </a:solidFill>
                <a:latin typeface="Segoe UI"/>
              </a:rPr>
              <a:t>Jira context, crash logs and reproduction steps are ingested as the entry point.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2763774"/>
            <a:ext cx="314919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78608" y="2660904"/>
            <a:ext cx="13716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2324" y="2671572"/>
            <a:ext cx="13716" cy="23469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2682240"/>
            <a:ext cx="13716" cy="213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19756" y="2692908"/>
            <a:ext cx="13716" cy="19202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703576"/>
            <a:ext cx="13716" cy="1706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47188" y="2714244"/>
            <a:ext cx="13716" cy="14935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60904" y="2724912"/>
            <a:ext cx="13716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74620" y="2735580"/>
            <a:ext cx="13716" cy="10667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88336" y="2746248"/>
            <a:ext cx="13716" cy="853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02052" y="2756916"/>
            <a:ext cx="13716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5768" y="2767584"/>
            <a:ext cx="13716" cy="4267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29484" y="2778252"/>
            <a:ext cx="13716" cy="2133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96312" y="1993392"/>
            <a:ext cx="1965960" cy="192024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96312" y="1993392"/>
            <a:ext cx="196596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23260" y="2212848"/>
            <a:ext cx="512064" cy="51206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23260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2852928"/>
            <a:ext cx="1746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8C00"/>
                </a:solidFill>
                <a:latin typeface="Segoe UI"/>
              </a:rPr>
              <a:t>JTAG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3273552"/>
            <a:ext cx="1709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B8D0EC"/>
                </a:solidFill>
                <a:latin typeface="Segoe UI"/>
              </a:rPr>
              <a:t>Routes requests across the CLI/daemon, IDE, J-Link probe and target MCU session.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5424" y="2763774"/>
            <a:ext cx="314919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4880" y="2660904"/>
            <a:ext cx="13716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68596" y="2671572"/>
            <a:ext cx="13716" cy="23469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82312" y="2682240"/>
            <a:ext cx="13716" cy="213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96028" y="2692908"/>
            <a:ext cx="13716" cy="19202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09744" y="2703576"/>
            <a:ext cx="13716" cy="1706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3460" y="2714244"/>
            <a:ext cx="13716" cy="14935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37176" y="2724912"/>
            <a:ext cx="13716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50892" y="2735580"/>
            <a:ext cx="13716" cy="10667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64608" y="2746248"/>
            <a:ext cx="13716" cy="853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78324" y="2756916"/>
            <a:ext cx="13716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92040" y="2767584"/>
            <a:ext cx="13716" cy="4267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05756" y="2778252"/>
            <a:ext cx="13716" cy="2133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72583" y="1993392"/>
            <a:ext cx="1965960" cy="192024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72583" y="1993392"/>
            <a:ext cx="1965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99531" y="2212848"/>
            <a:ext cx="512064" cy="5120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9531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2311" y="2852928"/>
            <a:ext cx="1746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5CF6"/>
                </a:solidFill>
                <a:latin typeface="Segoe UI"/>
              </a:rPr>
              <a:t>SPECIALIST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599" y="3273552"/>
            <a:ext cx="1709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B8D0EC"/>
                </a:solidFill>
                <a:latin typeface="Segoe UI"/>
              </a:rPr>
              <a:t>Fault Analyzer, Variable Tracer, Peripheral Inspector, Hex/Memory Parser and Probing Agent collaborate.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11695" y="2763774"/>
            <a:ext cx="314919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31151" y="2660904"/>
            <a:ext cx="13716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44867" y="2671572"/>
            <a:ext cx="13716" cy="23469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58583" y="2682240"/>
            <a:ext cx="13716" cy="213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72299" y="2692908"/>
            <a:ext cx="13716" cy="19202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86015" y="2703576"/>
            <a:ext cx="13716" cy="1706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999731" y="2714244"/>
            <a:ext cx="13716" cy="14935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13447" y="2724912"/>
            <a:ext cx="13716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27163" y="2735580"/>
            <a:ext cx="13716" cy="10667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40879" y="2746248"/>
            <a:ext cx="13716" cy="853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54595" y="2756916"/>
            <a:ext cx="13716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68311" y="2767584"/>
            <a:ext cx="13716" cy="4267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82027" y="2778252"/>
            <a:ext cx="13716" cy="2133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848855" y="1993392"/>
            <a:ext cx="1965960" cy="192024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48855" y="1993392"/>
            <a:ext cx="196596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75803" y="2212848"/>
            <a:ext cx="512064" cy="512064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75803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8583" y="2852928"/>
            <a:ext cx="1746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8A"/>
                </a:solidFill>
                <a:latin typeface="Segoe UI"/>
              </a:rPr>
              <a:t>CONTROLLED AUTO-FIX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6871" y="3273552"/>
            <a:ext cx="1709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B8D0EC"/>
                </a:solidFill>
                <a:latin typeface="Segoe UI"/>
              </a:rPr>
              <a:t>Root cause, register evidence and a guarded patch become a branch, PR and review-ready ticket update.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4224528"/>
            <a:ext cx="8503920" cy="9144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" y="4224528"/>
            <a:ext cx="4572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4315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  <a:latin typeface="Segoe UI"/>
              </a:rPr>
              <a:t>PHYSICAL DEBUG EVIDENCE LANE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4645152"/>
            <a:ext cx="8092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Target MCU: STM32 / Cortex-M  |  Interface: JTAG/SWD  |  Evidence: HardFault registers, stack frames, memory dumps, peripheral state, probe logs and scope captures.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" y="5394960"/>
            <a:ext cx="2697480" cy="86868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0040" y="5394960"/>
            <a:ext cx="45720" cy="86868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8056" y="546811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A89A"/>
                </a:solidFill>
                <a:latin typeface="Segoe UI"/>
              </a:rPr>
              <a:t>Faster RCA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6" y="5760720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B8D0EC"/>
                </a:solidFill>
                <a:latin typeface="Segoe UI"/>
              </a:rPr>
              <a:t>Days of manual setup become guided conversational debug actions.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0" y="5394960"/>
            <a:ext cx="2697480" cy="86868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00400" y="5394960"/>
            <a:ext cx="45720" cy="8686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8416" y="546811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2C6"/>
                </a:solidFill>
                <a:latin typeface="Segoe UI"/>
              </a:rPr>
              <a:t>Traceable Fixes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28416" y="5760720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B8D0EC"/>
                </a:solidFill>
                <a:latin typeface="Segoe UI"/>
              </a:rPr>
              <a:t>Every patch links back to Jira, registers, logs and affected code.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80759" y="5394960"/>
            <a:ext cx="2697480" cy="86868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80759" y="5394960"/>
            <a:ext cx="45720" cy="8686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08775" y="546811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8A"/>
                </a:solidFill>
                <a:latin typeface="Segoe UI"/>
              </a:rPr>
              <a:t>Release Ready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08775" y="5760720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B8D0EC"/>
                </a:solidFill>
                <a:latin typeface="Segoe UI"/>
              </a:rPr>
              <a:t>Validated fixes flow into the existing gatekeeper and QA2Release loop.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RELEASE GATEKEEPER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Firmware Release Gatekeeper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Evaluates firmware release readiness using predefined criteria. Generates an unambiguous verdict with actionable remediation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11680"/>
            <a:ext cx="5029200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50292" cy="135331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" y="2395728"/>
            <a:ext cx="502920" cy="502920"/>
          </a:xfrm>
          <a:prstGeom prst="round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395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848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  <a:latin typeface="Segoe UI"/>
              </a:rPr>
              <a:t>Validates Readiness
Before 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60604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All quality gates evaluated: coverage, static analysis, regression status, traceability, and compliance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20440"/>
            <a:ext cx="5029200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520440"/>
            <a:ext cx="50292" cy="135331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" y="3904488"/>
            <a:ext cx="502920" cy="5029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904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5935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  <a:latin typeface="Segoe UI"/>
              </a:rPr>
              <a:t>Structured Verdict:
READY / NOT_READY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11480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Binary, unambiguous gate decision with confidence score and evidence summary — no interpretation needed.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029200"/>
            <a:ext cx="5029200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029200"/>
            <a:ext cx="50292" cy="13533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5488" y="5413248"/>
            <a:ext cx="50292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413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1023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Segoe UI"/>
              </a:rPr>
              <a:t>Clear Remediation
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62356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Every NOT_READY verdict includes a prioritized action list: which test to fix, which artefact to update, and who owns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1965960"/>
            <a:ext cx="3182112" cy="44988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23560" y="1965960"/>
            <a:ext cx="3182112" cy="5029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2029968"/>
            <a:ext cx="3182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2C6"/>
                </a:solidFill>
                <a:latin typeface="Segoe UI"/>
              </a:rPr>
              <a:t>RELEASE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2423160"/>
            <a:ext cx="3182112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24728" y="2542032"/>
            <a:ext cx="2779776" cy="1536192"/>
          </a:xfrm>
          <a:prstGeom prst="roundRect">
            <a:avLst/>
          </a:prstGeom>
          <a:solidFill>
            <a:srgbClr val="02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24728" y="2542032"/>
            <a:ext cx="2779776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9400" y="2706624"/>
            <a:ext cx="621792" cy="62179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706624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27432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8A"/>
                </a:solidFill>
                <a:latin typeface="Segoe UI"/>
              </a:rPr>
              <a:t>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32461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0EC"/>
                </a:solidFill>
                <a:latin typeface="Segoe UI"/>
              </a:rPr>
              <a:t>All gates passed.
Cleared for release.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24728" y="4224528"/>
            <a:ext cx="2779776" cy="1536192"/>
          </a:xfrm>
          <a:prstGeom prst="roundRect">
            <a:avLst/>
          </a:prstGeom>
          <a:solidFill>
            <a:srgbClr val="2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4728" y="4224528"/>
            <a:ext cx="2779776" cy="45720"/>
          </a:xfrm>
          <a:prstGeom prst="rect">
            <a:avLst/>
          </a:prstGeom>
          <a:solidFill>
            <a:srgbClr val="F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29400" y="4389120"/>
            <a:ext cx="621792" cy="621792"/>
          </a:xfrm>
          <a:prstGeom prst="ellipse">
            <a:avLst/>
          </a:prstGeom>
          <a:solidFill>
            <a:srgbClr val="F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38912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442569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3A3A"/>
                </a:solidFill>
                <a:latin typeface="Segoe UI"/>
              </a:rPr>
              <a:t>NOT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9592" y="49377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0EC"/>
                </a:solidFill>
                <a:latin typeface="Segoe UI"/>
              </a:rPr>
              <a:t>3 blockers found.
See remediation list.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QA2RELEASE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QA2Release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Creates a closed-loop lifecycle: QA results drive root-cause analysis and feed improvements directly into the next release — defects are not repeated.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36576" cy="7040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" y="2231136"/>
            <a:ext cx="621792" cy="6217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23113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029968"/>
            <a:ext cx="7662672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029968"/>
            <a:ext cx="45720" cy="13533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210312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Segoe UI"/>
              </a:rPr>
              <a:t>Analyze QA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All QA test failures from the current release are ingested — unit, integration, HIL, and system tests. Failure signatures are clustered by similarity and mapped to change history.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43400"/>
            <a:ext cx="36576" cy="70408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7472" y="3739896"/>
            <a:ext cx="621792" cy="62179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73989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538728"/>
            <a:ext cx="7662672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3538728"/>
            <a:ext cx="45720" cy="135331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361188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  <a:latin typeface="Segoe UI"/>
              </a:rPr>
              <a:t>Extract Root Causes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03250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AI correlates failures with recent commits, config changes, and RTOS timing deltas. Each root cause is ranked by confidence and linked to the originating engineering change.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" y="5248656"/>
            <a:ext cx="621792" cy="62179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524865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047488"/>
            <a:ext cx="7662672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" y="5047488"/>
            <a:ext cx="45720" cy="135331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51206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8A"/>
                </a:solidFill>
                <a:latin typeface="Segoe UI"/>
              </a:rPr>
              <a:t>Generate Next-Release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54126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Automated improvement tickets are raised with code suggestions, test additions, and coverage targets. The next release plan is pre-enriched with lessons from the current cycle.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6400800"/>
            <a:ext cx="8503920" cy="310896"/>
          </a:xfrm>
          <a:prstGeom prst="round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6400800"/>
            <a:ext cx="45720" cy="3108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0080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Segoe UI"/>
              </a:rPr>
              <a:t>CLOSED-LOOP LIFECYCLE: QA → Root Cause → Next Release Plan → Better QA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Live demonstration of how AEPLO V3 executes the intelligence pipeline from ticket-driven JTAG diagnosis through release decision to QA-driven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2697480" cy="427939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2697480" cy="4572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" y="2103120"/>
            <a:ext cx="1188720" cy="256032"/>
          </a:xfrm>
          <a:prstGeom prst="round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103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STAGE 1</a:t>
            </a:r>
          </a:p>
        </p:txBody>
      </p:sp>
      <p:sp>
        <p:nvSpPr>
          <p:cNvPr id="13" name="Oval 12"/>
          <p:cNvSpPr/>
          <p:nvPr/>
        </p:nvSpPr>
        <p:spPr>
          <a:xfrm>
            <a:off x="1284732" y="2487168"/>
            <a:ext cx="768096" cy="768096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4732" y="2487168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9A"/>
                </a:solidFill>
                <a:latin typeface="Segoe UI"/>
              </a:rPr>
              <a:t>Ticket → JTAG Diagnosis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913632"/>
            <a:ext cx="2368296" cy="1463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• Jira firmware bug opens debug session
• JTAG Orchestrator connects IDE, J-Link and MCU
• Fault registers and memory evidence captured
• RCA appears as conversational IDE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88843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23590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8337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93084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0" y="1993392"/>
            <a:ext cx="2697480" cy="427939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1993392"/>
            <a:ext cx="2697480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64992" y="2103120"/>
            <a:ext cx="1188720" cy="256032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2103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STAGE 2</a:t>
            </a:r>
          </a:p>
        </p:txBody>
      </p:sp>
      <p:sp>
        <p:nvSpPr>
          <p:cNvPr id="27" name="Oval 26"/>
          <p:cNvSpPr/>
          <p:nvPr/>
        </p:nvSpPr>
        <p:spPr>
          <a:xfrm>
            <a:off x="4165092" y="2487168"/>
            <a:ext cx="768096" cy="768096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5092" y="2487168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4015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2C6"/>
                </a:solidFill>
                <a:latin typeface="Segoe UI"/>
              </a:rPr>
              <a:t>Patch → Release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3913632"/>
            <a:ext cx="2368296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005072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• Controlled auto-fix creates branch and PR
• Risk score and hardware evidence feed Release Gate
• Gatekeeper evaluates all quality criteria
• READY / NOT_READY verdict issued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34456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9203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03950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8697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73444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80759" y="1993392"/>
            <a:ext cx="2697480" cy="427939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0759" y="1993392"/>
            <a:ext cx="26974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45351" y="2103120"/>
            <a:ext cx="118872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1" y="2103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STAGE 3</a:t>
            </a:r>
          </a:p>
        </p:txBody>
      </p:sp>
      <p:sp>
        <p:nvSpPr>
          <p:cNvPr id="41" name="Oval 40"/>
          <p:cNvSpPr/>
          <p:nvPr/>
        </p:nvSpPr>
        <p:spPr>
          <a:xfrm>
            <a:off x="7045451" y="2487168"/>
            <a:ext cx="768096" cy="7680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5451" y="2487168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19" y="34015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Segoe UI"/>
              </a:rPr>
              <a:t>QA → Learning → Next Release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5351" y="3913632"/>
            <a:ext cx="2368296" cy="1463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39" y="4005072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• QA failures from current release ingested
• Root causes extracted and ranked
• Improvement tickets auto-generated
• Next release plan pre-enriched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Business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Measured outcomes from AEPLO V3 deployments and Sheraaz's agentic JTAG debug workflow across embedded programmes.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4206240" cy="21031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420624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176272"/>
            <a:ext cx="548640" cy="548640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848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Reduced
Defect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6654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00D48A"/>
                </a:solidFill>
                <a:latin typeface="Segoe UI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D0EC"/>
                </a:solidFill>
                <a:latin typeface="Segoe UI"/>
              </a:rPr>
              <a:t>fewer post-release defects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651760"/>
            <a:ext cx="3877056" cy="1463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98064"/>
            <a:ext cx="3840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ML defect prediction + auto-test generation eliminates the most common escape vectors before firmware 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1993392"/>
            <a:ext cx="4206240" cy="21031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79" y="1993392"/>
            <a:ext cx="4206240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59" y="2176272"/>
            <a:ext cx="548640" cy="548640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2176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0848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Faster Firmware
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206654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0072C6"/>
                </a:solidFill>
                <a:latin typeface="Segoe UI"/>
              </a:rPr>
              <a:t>&lt;30m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D0EC"/>
                </a:solidFill>
                <a:latin typeface="Segoe UI"/>
              </a:rPr>
              <a:t>from ticket to root cause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9471" y="2651760"/>
            <a:ext cx="3877056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2798064"/>
            <a:ext cx="3840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JTAG Orchestrator captures HardFault registers, stack frames and memory evidence without manual tool switching.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325112"/>
            <a:ext cx="4206240" cy="21031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325112"/>
            <a:ext cx="420624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" y="4507992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5079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16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Audit-Ready
Traceability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9826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FF8C00"/>
                </a:solidFill>
                <a:latin typeface="Segoe UI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D0EC"/>
                </a:solidFill>
                <a:latin typeface="Segoe UI"/>
              </a:rPr>
              <a:t>bi-directional trace coverage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" y="4983480"/>
            <a:ext cx="3877056" cy="1463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129784"/>
            <a:ext cx="3840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Live traceability from market requirement through silicon to field telemetry — always current, always complete.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79" y="4325112"/>
            <a:ext cx="4206240" cy="21031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79" y="4325112"/>
            <a:ext cx="42062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37759" y="4507992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59" y="45079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4416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Faster
Development Cycles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39" y="439826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8B5CF6"/>
                </a:solidFill>
                <a:latin typeface="Segoe UI"/>
              </a:rPr>
              <a:t>40%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39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D0EC"/>
                </a:solidFill>
                <a:latin typeface="Segoe UI"/>
              </a:rPr>
              <a:t>reduction in time-to-market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1" y="4983480"/>
            <a:ext cx="3877056" cy="1463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59" y="5129784"/>
            <a:ext cx="3840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Automation of routine engineering tasks reclaims 30%+ of engineering bandwidth for creative, high-value work.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228600"/>
            <a:ext cx="6400800" cy="6400800"/>
          </a:xfrm>
          <a:prstGeom prst="ellipse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97680" y="868680"/>
            <a:ext cx="5120640" cy="5120640"/>
          </a:xfrm>
          <a:prstGeom prst="ellipse">
            <a:avLst/>
          </a:prstGeom>
          <a:solidFill>
            <a:srgbClr val="07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1600200"/>
            <a:ext cx="3657600" cy="3657600"/>
          </a:xfrm>
          <a:prstGeom prst="ellipse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60720" y="2331720"/>
            <a:ext cx="2194560" cy="219456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38284" y="34088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22873" y="372257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76789" y="403325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00475" y="433791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4668" y="463362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60384" y="491754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98919" y="518693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11826" y="543919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00908" y="567190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8196" y="588282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15930" y="606991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6542" y="62313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62624" y="636566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66911" y="647147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62251" y="654778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51578" y="659387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37884" y="66092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24189" y="659387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13516" y="654778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08856" y="647147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13143" y="636566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29225" y="62313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59837" y="606991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07571" y="588282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4859" y="567190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63941" y="543919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76848" y="518693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015383" y="491754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81099" y="463362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775292" y="433791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98978" y="403325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52894" y="372257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37484" y="34088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52894" y="309518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98978" y="278451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75292" y="247985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81099" y="218414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015383" y="190022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76848" y="163083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63941" y="137857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74859" y="114585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807571" y="93494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59837" y="74784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29225" y="58638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13143" y="45209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08856" y="34629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13516" y="26997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24189" y="22389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837883" y="2084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151578" y="22389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62251" y="26997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66911" y="34629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62624" y="45209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46542" y="58638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15930" y="74784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868196" y="93494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00908" y="114585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311826" y="137857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498919" y="163083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660384" y="190022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794668" y="218414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900475" y="247985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976789" y="278451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022873" y="309518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832854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054584" y="353187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32854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611123" y="353187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611123" y="327583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832854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054584" y="327583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276314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054584" y="378790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832854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611123" y="378790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9393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9393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9393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611123" y="301980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832854" y="289179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054584" y="301980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276314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276314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498044" y="378790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276314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054584" y="404393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32854" y="417195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611123" y="404393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9393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167663" y="378790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167663" y="353187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167663" y="327583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167663" y="301980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389393" y="289179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611123" y="276377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832854" y="263575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054584" y="276377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276314" y="2891789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98044" y="301980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98044" y="327583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98044" y="353187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719774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98044" y="404393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276314" y="417195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054584" y="429996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832854" y="442798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611123" y="429996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389393" y="417195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167663" y="404393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945933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45933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945933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945933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945933" y="289179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167663" y="276377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389393" y="263575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611123" y="250774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832854" y="237972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054584" y="250774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276314" y="2635757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498044" y="2763773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719774" y="289179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719774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719774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719774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2" y="6583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0"/>
                </a:solidFill>
                <a:latin typeface="Segoe UI"/>
              </a:rPr>
              <a:t>CONCLUSION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7472" y="98755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Transform Your Embedded
Development Lifecycle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47472" y="2029968"/>
            <a:ext cx="4956047" cy="1463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47472" y="2322576"/>
            <a:ext cx="256032" cy="256032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21792" y="2432304"/>
            <a:ext cx="502920" cy="36576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61872" y="22494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9A"/>
                </a:solidFill>
                <a:latin typeface="Segoe UI"/>
              </a:rPr>
              <a:t>From fragmented workflows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61872" y="2615184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Siloed tools, manual artefacts, and late defect discovery are replaced by a unified intelligent pipeline.</a:t>
            </a:r>
          </a:p>
        </p:txBody>
      </p:sp>
      <p:sp>
        <p:nvSpPr>
          <p:cNvPr id="140" name="Oval 139"/>
          <p:cNvSpPr/>
          <p:nvPr/>
        </p:nvSpPr>
        <p:spPr>
          <a:xfrm>
            <a:off x="347472" y="3739896"/>
            <a:ext cx="256032" cy="25603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21792" y="3849624"/>
            <a:ext cx="502920" cy="36576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261872" y="36667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2C6"/>
                </a:solidFill>
                <a:latin typeface="Segoe UI"/>
              </a:rPr>
              <a:t>To AI-driven continuous lifecycle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4032504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Every stage — from requirements to end-of-life — is monitored, analysed, and optimised by specialized AI agents.</a:t>
            </a:r>
          </a:p>
        </p:txBody>
      </p:sp>
      <p:sp>
        <p:nvSpPr>
          <p:cNvPr id="144" name="Oval 143"/>
          <p:cNvSpPr/>
          <p:nvPr/>
        </p:nvSpPr>
        <p:spPr>
          <a:xfrm>
            <a:off x="347472" y="5157216"/>
            <a:ext cx="256032" cy="25603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1792" y="5266944"/>
            <a:ext cx="502920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61872" y="50840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8A"/>
                </a:solidFill>
                <a:latin typeface="Segoe UI"/>
              </a:rPr>
              <a:t>Diagnose, fix and learn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5449824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Sheraaz's JTAG copilot adds hardware-backed RCA and controlled fixes to the closed-loop QA learning engine.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440680" y="2587752"/>
            <a:ext cx="2834640" cy="169164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532120" y="26517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READY TO TRANSFORM?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32120" y="30449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0"/>
                </a:solidFill>
                <a:latin typeface="Segoe UI"/>
              </a:rPr>
              <a:t>aeplo.ai/demo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32120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hello@aeplo.ai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532120" y="39959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A8"/>
                </a:solidFill>
                <a:latin typeface="Segoe UI"/>
              </a:rPr>
              <a:t>© 2026 AEPLO Technologies Inc.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