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cb_background_explic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999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7744" y="146304"/>
            <a:ext cx="5074920" cy="6181344"/>
          </a:xfrm>
          <a:prstGeom prst="roundRect">
            <a:avLst/>
          </a:prstGeom>
          <a:solidFill>
            <a:srgbClr val="111111"/>
          </a:solidFill>
          <a:ln w="13970"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329184"/>
            <a:ext cx="4572000" cy="310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CONNECTED EMBEDDED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8368"/>
            <a:ext cx="4572000" cy="2926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900" b="1" i="0">
                <a:solidFill>
                  <a:srgbClr val="D71920"/>
                </a:solidFill>
                <a:latin typeface="Arial"/>
              </a:rPr>
              <a:t>REAL JTAG + MCU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4480560" cy="2926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919" b="0" i="0">
                <a:solidFill>
                  <a:srgbClr val="E8E8E8"/>
                </a:solidFill>
                <a:latin typeface="Arial"/>
              </a:rPr>
              <a:t>AEPLO turns SoC / MCU debug signals into traceable PDLC decisions across PG1, PG3 and PG5.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1920240" cy="14630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930" b="1" i="0">
                <a:solidFill>
                  <a:srgbClr val="D71920"/>
                </a:solidFill>
                <a:latin typeface="Arial"/>
              </a:rPr>
              <a:t>WHAT STANDS 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10512"/>
            <a:ext cx="4407408" cy="475488"/>
          </a:xfrm>
          <a:prstGeom prst="roundRect">
            <a:avLst/>
          </a:prstGeom>
          <a:solidFill>
            <a:srgbClr val="333333"/>
          </a:solidFill>
          <a:ln w="13970"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74520"/>
            <a:ext cx="1600200" cy="10972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770" b="1" i="0">
                <a:solidFill>
                  <a:srgbClr val="FFFFFF"/>
                </a:solidFill>
                <a:latin typeface="Arial"/>
              </a:rPr>
              <a:t>SoC / MCU close-up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874520"/>
            <a:ext cx="2423160" cy="14630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645" b="0" i="0">
                <a:solidFill>
                  <a:srgbClr val="E8E8E8"/>
                </a:solidFill>
                <a:latin typeface="Arial"/>
              </a:rPr>
              <a:t>Cortex-M target context, vector table, ADC, SysTick, flash 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68880"/>
            <a:ext cx="4407408" cy="475488"/>
          </a:xfrm>
          <a:prstGeom prst="roundRect">
            <a:avLst/>
          </a:prstGeom>
          <a:solidFill>
            <a:srgbClr val="333333"/>
          </a:solidFill>
          <a:ln w="1397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532888"/>
            <a:ext cx="1600200" cy="10972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770" b="1" i="0">
                <a:solidFill>
                  <a:srgbClr val="FFFFFF"/>
                </a:solidFill>
                <a:latin typeface="Arial"/>
              </a:rPr>
              <a:t>JTAG/SWD header + probe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532888"/>
            <a:ext cx="2423160" cy="14630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645" b="0" i="0">
                <a:solidFill>
                  <a:srgbClr val="E8E8E8"/>
                </a:solidFill>
                <a:latin typeface="Arial"/>
              </a:rPr>
              <a:t>10-pin header, SWDIO, SWCLK, reset and live target session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127248"/>
            <a:ext cx="4407408" cy="475488"/>
          </a:xfrm>
          <a:prstGeom prst="roundRect">
            <a:avLst/>
          </a:prstGeom>
          <a:solidFill>
            <a:srgbClr val="333333"/>
          </a:solidFill>
          <a:ln w="13970"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191256"/>
            <a:ext cx="1600200" cy="10972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770" b="1" i="0">
                <a:solidFill>
                  <a:srgbClr val="FFFFFF"/>
                </a:solidFill>
                <a:latin typeface="Arial"/>
              </a:rPr>
              <a:t>Debug evidence overlay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3191256"/>
            <a:ext cx="2423160" cy="14630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645" b="0" i="0">
                <a:solidFill>
                  <a:srgbClr val="E8E8E8"/>
                </a:solidFill>
                <a:latin typeface="Arial"/>
              </a:rPr>
              <a:t>PC, VTOR, xPSR, stack and waveform signals become AI context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85616"/>
            <a:ext cx="4407408" cy="475488"/>
          </a:xfrm>
          <a:prstGeom prst="roundRect">
            <a:avLst/>
          </a:prstGeom>
          <a:solidFill>
            <a:srgbClr val="333333"/>
          </a:solidFill>
          <a:ln w="1397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849624"/>
            <a:ext cx="1600200" cy="10972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770" b="1" i="0">
                <a:solidFill>
                  <a:srgbClr val="FFFFFF"/>
                </a:solidFill>
                <a:latin typeface="Arial"/>
              </a:rPr>
              <a:t>PDLC impact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3849624"/>
            <a:ext cx="2423160" cy="14630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645" b="0" i="0">
                <a:solidFill>
                  <a:srgbClr val="E8E8E8"/>
                </a:solidFill>
                <a:latin typeface="Arial"/>
              </a:rPr>
              <a:t>Jira, Confluence, GitHub, Copilot and AEPLO gate decisions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645152"/>
            <a:ext cx="530352" cy="246888"/>
          </a:xfrm>
          <a:prstGeom prst="roundRect">
            <a:avLst/>
          </a:prstGeom>
          <a:solidFill>
            <a:srgbClr val="2B2B2B"/>
          </a:solidFill>
          <a:ln w="13970"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695444"/>
            <a:ext cx="438912" cy="914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rial"/>
              </a:rPr>
              <a:t>Jira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88136" y="4645152"/>
            <a:ext cx="530352" cy="246888"/>
          </a:xfrm>
          <a:prstGeom prst="roundRect">
            <a:avLst/>
          </a:prstGeom>
          <a:solidFill>
            <a:srgbClr val="2B2B2B"/>
          </a:solidFill>
          <a:ln w="13970"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3856" y="4695444"/>
            <a:ext cx="438912" cy="914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rial"/>
              </a:rPr>
              <a:t>Confluence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19072" y="4645152"/>
            <a:ext cx="530352" cy="246888"/>
          </a:xfrm>
          <a:prstGeom prst="roundRect">
            <a:avLst/>
          </a:prstGeom>
          <a:solidFill>
            <a:srgbClr val="2B2B2B"/>
          </a:solidFill>
          <a:ln w="13970"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64792" y="4695444"/>
            <a:ext cx="438912" cy="914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rial"/>
              </a:rPr>
              <a:t>GitHub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50008" y="4645152"/>
            <a:ext cx="530352" cy="246888"/>
          </a:xfrm>
          <a:prstGeom prst="roundRect">
            <a:avLst/>
          </a:prstGeom>
          <a:solidFill>
            <a:srgbClr val="2B2B2B"/>
          </a:solidFill>
          <a:ln w="1397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95728" y="4695444"/>
            <a:ext cx="438912" cy="914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rial"/>
              </a:rPr>
              <a:t>Copilot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80944" y="4645152"/>
            <a:ext cx="530352" cy="246888"/>
          </a:xfrm>
          <a:prstGeom prst="roundRect">
            <a:avLst/>
          </a:prstGeom>
          <a:solidFill>
            <a:srgbClr val="2B2B2B"/>
          </a:solidFill>
          <a:ln w="13970"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4695444"/>
            <a:ext cx="438912" cy="914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rial"/>
              </a:rPr>
              <a:t>ROVO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11879" y="4645152"/>
            <a:ext cx="530352" cy="246888"/>
          </a:xfrm>
          <a:prstGeom prst="roundRect">
            <a:avLst/>
          </a:prstGeom>
          <a:solidFill>
            <a:srgbClr val="2B2B2B"/>
          </a:solidFill>
          <a:ln w="13970"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599" y="4695444"/>
            <a:ext cx="438912" cy="914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rial"/>
              </a:rPr>
              <a:t>MCP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42816" y="4645152"/>
            <a:ext cx="530352" cy="246888"/>
          </a:xfrm>
          <a:prstGeom prst="roundRect">
            <a:avLst/>
          </a:prstGeom>
          <a:solidFill>
            <a:srgbClr val="2B2B2B"/>
          </a:solidFill>
          <a:ln w="1397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88536" y="4695444"/>
            <a:ext cx="438912" cy="914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rial"/>
              </a:rPr>
              <a:t>JTAG/SWD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138928"/>
            <a:ext cx="1371600" cy="12801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930" b="1" i="0">
                <a:solidFill>
                  <a:srgbClr val="D71920"/>
                </a:solidFill>
                <a:latin typeface="Arial"/>
              </a:rPr>
              <a:t>DEMO IMPACT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394960"/>
            <a:ext cx="1051560" cy="566928"/>
          </a:xfrm>
          <a:prstGeom prst="roundRect">
            <a:avLst/>
          </a:prstGeom>
          <a:solidFill>
            <a:srgbClr val="111111"/>
          </a:solidFill>
          <a:ln w="13970"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" y="5449824"/>
            <a:ext cx="978408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1400" b="1" i="0">
                <a:solidFill>
                  <a:srgbClr val="D71920"/>
                </a:solidFill>
                <a:latin typeface="Arial"/>
              </a:rPr>
              <a:t>41%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" y="5705856"/>
            <a:ext cx="978408" cy="137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570" b="0" i="0">
                <a:solidFill>
                  <a:srgbClr val="E8E8E8"/>
                </a:solidFill>
                <a:latin typeface="Arial"/>
              </a:rPr>
              <a:t>lead-time drop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664208" y="5394960"/>
            <a:ext cx="1051560" cy="566928"/>
          </a:xfrm>
          <a:prstGeom prst="roundRect">
            <a:avLst/>
          </a:prstGeom>
          <a:solidFill>
            <a:srgbClr val="111111"/>
          </a:solidFill>
          <a:ln w="1397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700784" y="5449824"/>
            <a:ext cx="978408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1400" b="1" i="0">
                <a:solidFill>
                  <a:srgbClr val="2E7D32"/>
                </a:solidFill>
                <a:latin typeface="Arial"/>
              </a:rPr>
              <a:t>60%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00784" y="5705856"/>
            <a:ext cx="978408" cy="137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570" b="0" i="0">
                <a:solidFill>
                  <a:srgbClr val="E8E8E8"/>
                </a:solidFill>
                <a:latin typeface="Arial"/>
              </a:rPr>
              <a:t>fewer escapes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871216" y="5394960"/>
            <a:ext cx="1051560" cy="566928"/>
          </a:xfrm>
          <a:prstGeom prst="roundRect">
            <a:avLst/>
          </a:prstGeom>
          <a:solidFill>
            <a:srgbClr val="111111"/>
          </a:solidFill>
          <a:ln w="13970"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07792" y="5449824"/>
            <a:ext cx="978408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1400" b="1" i="0">
                <a:solidFill>
                  <a:srgbClr val="D71920"/>
                </a:solidFill>
                <a:latin typeface="Arial"/>
              </a:rPr>
              <a:t>92%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07792" y="5705856"/>
            <a:ext cx="978408" cy="137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570" b="0" i="0">
                <a:solidFill>
                  <a:srgbClr val="E8E8E8"/>
                </a:solidFill>
                <a:latin typeface="Arial"/>
              </a:rPr>
              <a:t>agent handoff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078224" y="5394960"/>
            <a:ext cx="1051560" cy="566928"/>
          </a:xfrm>
          <a:prstGeom prst="roundRect">
            <a:avLst/>
          </a:prstGeom>
          <a:solidFill>
            <a:srgbClr val="111111"/>
          </a:solidFill>
          <a:ln w="1397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0" y="5449824"/>
            <a:ext cx="978408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1400" b="1" i="0">
                <a:solidFill>
                  <a:srgbClr val="2E7D32"/>
                </a:solidFill>
                <a:latin typeface="Arial"/>
              </a:rPr>
              <a:t>96%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5705856"/>
            <a:ext cx="978408" cy="137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570" b="0" i="0">
                <a:solidFill>
                  <a:srgbClr val="E8E8E8"/>
                </a:solidFill>
                <a:latin typeface="Arial"/>
              </a:rPr>
              <a:t>JSON accuracy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532120" y="347472"/>
            <a:ext cx="6355080" cy="5650992"/>
          </a:xfrm>
          <a:prstGeom prst="roundRect">
            <a:avLst/>
          </a:prstGeom>
          <a:solidFill>
            <a:srgbClr val="141414"/>
          </a:solidFill>
          <a:ln w="13970"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42432" y="530352"/>
            <a:ext cx="3383280" cy="14630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EMBEDDED DEBUG VISUAL STACK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42432" y="786384"/>
            <a:ext cx="3840480" cy="10972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720" b="0" i="0">
                <a:solidFill>
                  <a:srgbClr val="E8E8E8"/>
                </a:solidFill>
                <a:latin typeface="Arial"/>
              </a:rPr>
              <a:t>SoC / MCU + PCB traces + JTAG probe + register evidence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49840" y="493776"/>
            <a:ext cx="14173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/>
            <a:r>
              <a:rPr sz="1300" b="1" i="0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  <p:pic>
        <p:nvPicPr>
          <p:cNvPr id="53" name="Picture 52" descr="soc_mcu_explic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1042415"/>
            <a:ext cx="3840480" cy="2633472"/>
          </a:xfrm>
          <a:prstGeom prst="rect">
            <a:avLst/>
          </a:prstGeom>
        </p:spPr>
      </p:pic>
      <p:pic>
        <p:nvPicPr>
          <p:cNvPr id="54" name="Picture 53" descr="jtag_probe_header_explic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472" y="1143000"/>
            <a:ext cx="2176272" cy="914400"/>
          </a:xfrm>
          <a:prstGeom prst="rect">
            <a:avLst/>
          </a:prstGeom>
        </p:spPr>
      </p:pic>
      <p:pic>
        <p:nvPicPr>
          <p:cNvPr id="55" name="Picture 54" descr="debug_waveforms_regist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2432" y="3822191"/>
            <a:ext cx="4370832" cy="1444752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9491472" y="2249424"/>
            <a:ext cx="2176272" cy="1298448"/>
          </a:xfrm>
          <a:prstGeom prst="roundRect">
            <a:avLst/>
          </a:prstGeom>
          <a:solidFill>
            <a:srgbClr val="111111"/>
          </a:solidFill>
          <a:ln w="13970"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46920" y="2395728"/>
            <a:ext cx="1847088" cy="10972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760" b="1" i="0">
                <a:solidFill>
                  <a:srgbClr val="D71920"/>
                </a:solidFill>
                <a:latin typeface="Arial"/>
              </a:rPr>
              <a:t>JTAG AGENT USE CASES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74352" y="2633472"/>
            <a:ext cx="1810512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700" b="0" i="0">
                <a:solidFill>
                  <a:srgbClr val="E8E8E8"/>
                </a:solidFill>
                <a:latin typeface="Arial"/>
              </a:rPr>
              <a:t>HardFault RCA
Cold ADC emulation
Boot config trace
Peripheral state proof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742432" y="5413248"/>
            <a:ext cx="5925312" cy="402336"/>
          </a:xfrm>
          <a:prstGeom prst="roundRect">
            <a:avLst/>
          </a:prstGeom>
          <a:solidFill>
            <a:srgbClr val="333333"/>
          </a:solidFill>
          <a:ln w="1397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989320" y="5522976"/>
            <a:ext cx="530352" cy="18288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564124"/>
            <a:ext cx="530352" cy="640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580" b="1" i="0">
                <a:solidFill>
                  <a:srgbClr val="FFFFFF"/>
                </a:solidFill>
                <a:latin typeface="Arial"/>
              </a:rPr>
              <a:t>PG1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16168" y="5742432"/>
            <a:ext cx="676656" cy="5486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520" b="0" i="0">
                <a:solidFill>
                  <a:srgbClr val="E8E8E8"/>
                </a:solidFill>
                <a:latin typeface="Arial"/>
              </a:rPr>
              <a:t>risk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20256" y="5541264"/>
            <a:ext cx="109728" cy="5486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780" b="1" i="0">
                <a:solidFill>
                  <a:srgbClr val="D71920"/>
                </a:solidFill>
                <a:latin typeface="Arial"/>
              </a:rPr>
              <a:t>&gt;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013448" y="5522976"/>
            <a:ext cx="530352" cy="1828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013448" y="5564124"/>
            <a:ext cx="530352" cy="640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580" b="1" i="0">
                <a:solidFill>
                  <a:srgbClr val="FFFFFF"/>
                </a:solidFill>
                <a:latin typeface="Arial"/>
              </a:rPr>
              <a:t>PG3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0296" y="5742432"/>
            <a:ext cx="676656" cy="5486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520" b="0" i="0">
                <a:solidFill>
                  <a:srgbClr val="E8E8E8"/>
                </a:solidFill>
                <a:latin typeface="Arial"/>
              </a:rPr>
              <a:t>RCA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44384" y="5541264"/>
            <a:ext cx="109728" cy="5486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780" b="1" i="0">
                <a:solidFill>
                  <a:srgbClr val="D71920"/>
                </a:solidFill>
                <a:latin typeface="Arial"/>
              </a:rPr>
              <a:t>&gt;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37575" y="5522976"/>
            <a:ext cx="530352" cy="18288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37575" y="5564124"/>
            <a:ext cx="530352" cy="640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580" b="1" i="0">
                <a:solidFill>
                  <a:srgbClr val="FFFFFF"/>
                </a:solidFill>
                <a:latin typeface="Arial"/>
              </a:rPr>
              <a:t>PR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64423" y="5742432"/>
            <a:ext cx="676656" cy="5486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520" b="0" i="0">
                <a:solidFill>
                  <a:srgbClr val="E8E8E8"/>
                </a:solidFill>
                <a:latin typeface="Arial"/>
              </a:rPr>
              <a:t>fix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68511" y="5541264"/>
            <a:ext cx="109728" cy="5486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780" b="1" i="0">
                <a:solidFill>
                  <a:srgbClr val="D71920"/>
                </a:solidFill>
                <a:latin typeface="Arial"/>
              </a:rPr>
              <a:t>&gt;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061704" y="5522976"/>
            <a:ext cx="530352" cy="1828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061704" y="5564124"/>
            <a:ext cx="530352" cy="640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580" b="1" i="0">
                <a:solidFill>
                  <a:srgbClr val="FFFFFF"/>
                </a:solidFill>
                <a:latin typeface="Arial"/>
              </a:rPr>
              <a:t>PG5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5742432"/>
            <a:ext cx="676656" cy="5486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520" b="0" i="0">
                <a:solidFill>
                  <a:srgbClr val="E8E8E8"/>
                </a:solidFill>
                <a:latin typeface="Arial"/>
              </a:rPr>
              <a:t>gate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92640" y="5541264"/>
            <a:ext cx="109728" cy="5486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780" b="1" i="0">
                <a:solidFill>
                  <a:srgbClr val="D71920"/>
                </a:solidFill>
                <a:latin typeface="Arial"/>
              </a:rPr>
              <a:t>&gt;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085832" y="5522976"/>
            <a:ext cx="530352" cy="18288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085832" y="5564124"/>
            <a:ext cx="530352" cy="640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580" b="1" i="0">
                <a:solidFill>
                  <a:srgbClr val="FFFFFF"/>
                </a:solidFill>
                <a:latin typeface="Arial"/>
              </a:rPr>
              <a:t>QA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12680" y="5742432"/>
            <a:ext cx="676656" cy="5486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520" b="0" i="0">
                <a:solidFill>
                  <a:srgbClr val="E8E8E8"/>
                </a:solidFill>
                <a:latin typeface="Arial"/>
              </a:rPr>
              <a:t>learn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56032" y="6400800"/>
            <a:ext cx="11686032" cy="1828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10896" y="6547104"/>
            <a:ext cx="3154680" cy="7315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720" b="1" i="0">
                <a:solidFill>
                  <a:srgbClr val="111111"/>
                </a:solidFill>
                <a:latin typeface="Arial"/>
              </a:rPr>
              <a:t>Better Together. Built for Embedded PDLC Impact.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566160" y="6547104"/>
            <a:ext cx="8119872" cy="7315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/>
            <a:r>
              <a:rPr sz="610" b="1" i="0">
                <a:solidFill>
                  <a:srgbClr val="111111"/>
                </a:solidFill>
                <a:latin typeface="Arial"/>
              </a:rPr>
              <a:t>SoC / MCU | PCB traces | JTAG/SWD | ROVO Studio | Copilot | Atlassian MCP | GitHub | Jira | Confluence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25312" y="3858768"/>
            <a:ext cx="2926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D71920"/>
                </a:solidFill>
                <a:latin typeface="Arial"/>
              </a:rPr>
              <a:t>DEBUG SIGNALS + REGISTER EVIDENCE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