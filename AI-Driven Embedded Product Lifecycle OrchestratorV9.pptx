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68" r:id="rId5"/>
    <p:sldId id="257" r:id="rId6"/>
    <p:sldId id="258" r:id="rId7"/>
    <p:sldId id="259" r:id="rId8"/>
    <p:sldId id="260" r:id="rId9"/>
    <p:sldId id="261" r:id="rId10"/>
    <p:sldId id="262" r:id="rId11"/>
    <p:sldId id="270" r:id="rId12"/>
    <p:sldId id="263" r:id="rId13"/>
    <p:sldId id="264" r:id="rId14"/>
    <p:sldId id="265" r:id="rId15"/>
    <p:sldId id="266" r:id="rId16"/>
    <p:sldId id="267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B6B6B"/>
    <a:srgbClr val="D719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34CE74-0792-4501-A99F-2CF3CFA1166E}" v="107" dt="2026-06-15T13:19:31.730"/>
    <p1510:client id="{14B4AA2C-2FF3-3A7D-B1B7-20FF86D16280}" v="2" dt="2026-06-15T12:34:32.869"/>
    <p1510:client id="{7F5A5EC7-A3F4-41AD-9141-CF10EA960EAA}" v="100" dt="2026-06-16T07:29:49.578"/>
    <p1510:client id="{CB6C0A9B-3727-4295-98CD-6FB636046EBB}" v="2" dt="2026-06-16T07:27:29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35" autoAdjust="0"/>
  </p:normalViewPr>
  <p:slideViewPr>
    <p:cSldViewPr snapToGrid="0">
      <p:cViewPr>
        <p:scale>
          <a:sx n="125" d="100"/>
          <a:sy n="125" d="100"/>
        </p:scale>
        <p:origin x="1194" y="-9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544E3D8-A955-9E63-0E7D-EED82BC9D2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6C963-9598-4857-33EC-EC247C74CF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AB91F-961D-4A07-BD14-A68507151E7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B287B-2CEB-664E-026B-0B714746E6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Honeywell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E3EBC-5078-7A91-7401-F292C1911C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CF262-CA4D-493A-BF7B-3F5A47362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1139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F9780D-A041-4638-B6BA-87BB754D206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Honeywell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9C4E8-DCB7-4C66-B47F-361D1DFDA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023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 we are presenting the AEPLO JTAG Accelerator for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Embedded PDLC AI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Optimisation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story is simple: connect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planning data, code, AI assistance, and JTAG evidence so we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move faster from discovery to validated launch readiness.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076E56-C255-4CAD-BA1A-93AA2E49E01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AB7C5-5590-7BCB-C58B-AC5F2E7F6A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</p:spTree>
    <p:extLst>
      <p:ext uri="{BB962C8B-B14F-4D97-AF65-F5344CB8AC3E}">
        <p14:creationId xmlns:p14="http://schemas.microsoft.com/office/powerpoint/2010/main" val="618791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Problem :</a:t>
            </a:r>
            <a:br>
              <a:rPr lang="en-US"/>
            </a:br>
            <a:r>
              <a:rPr lang="en-US"/>
              <a:t>Embedded PDLC data is fragmented. Jira, Confluence, GitHub,</a:t>
            </a:r>
          </a:p>
          <a:p>
            <a:r>
              <a:rPr lang="en-US"/>
              <a:t>QA results, and JTAG/SWD hardware evidence often sit in</a:t>
            </a:r>
          </a:p>
          <a:p>
            <a:r>
              <a:rPr lang="en-US"/>
              <a:t>separate places. That slows decisions across PG1, PG3, and PG5</a:t>
            </a:r>
          </a:p>
          <a:p>
            <a:r>
              <a:rPr lang="en-US"/>
              <a:t>and makes launch readiness harder to prove.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9C4E8-DCB7-4C66-B47F-361D1DFDA22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86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Solution :</a:t>
            </a:r>
            <a:br>
              <a:rPr lang="en-US"/>
            </a:br>
            <a:r>
              <a:rPr lang="en-US"/>
              <a:t>AEPLO becomes the connected platform. It treats JTAG evidence</a:t>
            </a:r>
          </a:p>
          <a:p>
            <a:r>
              <a:rPr lang="en-US"/>
              <a:t>as a native PDLC signal, combines it with traceability and</a:t>
            </a:r>
          </a:p>
          <a:p>
            <a:r>
              <a:rPr lang="en-US"/>
              <a:t>project context, and applies AI </a:t>
            </a:r>
            <a:r>
              <a:rPr lang="en-US" err="1"/>
              <a:t>optimisation</a:t>
            </a:r>
            <a:r>
              <a:rPr lang="en-US"/>
              <a:t> through ROVO</a:t>
            </a:r>
          </a:p>
          <a:p>
            <a:r>
              <a:rPr lang="en-US"/>
              <a:t>Studio, Copilot, and </a:t>
            </a:r>
            <a:r>
              <a:rPr lang="en-US" err="1"/>
              <a:t>specialised</a:t>
            </a:r>
            <a:r>
              <a:rPr lang="en-US"/>
              <a:t> agents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9C4E8-DCB7-4C66-B47F-361D1DFDA22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"The architecture connects Jira, Confluence, GitHub, Copilot,</a:t>
            </a:r>
          </a:p>
          <a:p>
            <a:r>
              <a:rPr lang="en-US"/>
              <a:t>ROVO Studio, Atlassian MCP, and JTAG/SWD evidence. AEPLO then</a:t>
            </a:r>
          </a:p>
          <a:p>
            <a:r>
              <a:rPr lang="en-US"/>
              <a:t>turns that data into orchestration, controlled fixes, gate</a:t>
            </a:r>
          </a:p>
          <a:p>
            <a:r>
              <a:rPr lang="en-US"/>
              <a:t>verdicts, and reusable launch evidence."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9C4E8-DCB7-4C66-B47F-361D1DFDA22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95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"This is the working tool stack. Jira and Confluence carry the</a:t>
            </a:r>
          </a:p>
          <a:p>
            <a:r>
              <a:rPr lang="en-US"/>
              <a:t>planning and knowledge base. GitHub and Copilot support code</a:t>
            </a:r>
          </a:p>
          <a:p>
            <a:r>
              <a:rPr lang="en-US"/>
              <a:t>change. Atlassian MCP and AEPLO orchestrate the workflow. The</a:t>
            </a:r>
          </a:p>
          <a:p>
            <a:r>
              <a:rPr lang="en-US"/>
              <a:t>JTAG Accelerator adds physical target evidence."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9C4E8-DCB7-4C66-B47F-361D1DFDA22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62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"At PG1, AEPLO collects PRD context, Jira themes, Confluence</a:t>
            </a:r>
          </a:p>
          <a:p>
            <a:r>
              <a:rPr lang="en-US"/>
              <a:t>architecture, GitHub history, and target-board assumptions. It</a:t>
            </a:r>
          </a:p>
          <a:p>
            <a:r>
              <a:rPr lang="en-US"/>
              <a:t>maps PDLC risks and embedded debug hotspots, then produces a</a:t>
            </a:r>
          </a:p>
          <a:p>
            <a:r>
              <a:rPr lang="en-US"/>
              <a:t>risk-backed demo scope and validation plan."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9C4E8-DCB7-4C66-B47F-361D1DFDA22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62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"At PG3, the JTAG Accelerator converts embedded coding defects</a:t>
            </a:r>
          </a:p>
          <a:p>
            <a:r>
              <a:rPr lang="en-US"/>
              <a:t>into hardware-backed root-cause analysis. It captures registers,</a:t>
            </a:r>
          </a:p>
          <a:p>
            <a:r>
              <a:rPr lang="en-US"/>
              <a:t>stack frames, memory evidence, and probe logs, then links the</a:t>
            </a:r>
          </a:p>
          <a:p>
            <a:r>
              <a:rPr lang="en-US"/>
              <a:t>controlled fix back to GitHub and Jira."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9C4E8-DCB7-4C66-B47F-361D1DFDA22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0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"This slide shows three real-time use cases for the JTAG agent.</a:t>
            </a:r>
          </a:p>
          <a:p>
            <a:r>
              <a:rPr lang="en-US"/>
              <a:t>First, a bootloader-to-application handoff caused a </a:t>
            </a:r>
            <a:r>
              <a:rPr lang="en-US" err="1"/>
              <a:t>HardFault</a:t>
            </a:r>
            <a:endParaRPr lang="en-US"/>
          </a:p>
          <a:p>
            <a:r>
              <a:rPr lang="en-US"/>
              <a:t>because </a:t>
            </a:r>
            <a:r>
              <a:rPr lang="en-US" err="1"/>
              <a:t>SysTick</a:t>
            </a:r>
            <a:r>
              <a:rPr lang="en-US"/>
              <a:t> was enabled but the application vector table had</a:t>
            </a:r>
          </a:p>
          <a:p>
            <a:r>
              <a:rPr lang="en-US"/>
              <a:t>no </a:t>
            </a:r>
            <a:r>
              <a:rPr lang="en-US" err="1"/>
              <a:t>SysTick</a:t>
            </a:r>
            <a:r>
              <a:rPr lang="en-US"/>
              <a:t> handler. The agent correlated the PC, vector table,</a:t>
            </a:r>
          </a:p>
          <a:p>
            <a:r>
              <a:rPr lang="en-US"/>
              <a:t>and peripheral state and reduced diagnosis from days to about</a:t>
            </a:r>
          </a:p>
          <a:p>
            <a:r>
              <a:rPr lang="en-US"/>
              <a:t>45 minutes.</a:t>
            </a:r>
          </a:p>
          <a:p>
            <a:endParaRPr lang="en-US"/>
          </a:p>
          <a:p>
            <a:r>
              <a:rPr lang="en-US"/>
              <a:t>Second, the agent emulated a sub-zero ADC condition at room</a:t>
            </a:r>
          </a:p>
          <a:p>
            <a:r>
              <a:rPr lang="en-US"/>
              <a:t>temperature. That allowed driver </a:t>
            </a:r>
            <a:r>
              <a:rPr lang="en-US" err="1"/>
              <a:t>reinitialisation</a:t>
            </a:r>
            <a:r>
              <a:rPr lang="en-US"/>
              <a:t> and gain</a:t>
            </a:r>
          </a:p>
          <a:p>
            <a:r>
              <a:rPr lang="en-US"/>
              <a:t>adjustment to be validated without waiting for thermal chamber</a:t>
            </a:r>
          </a:p>
          <a:p>
            <a:r>
              <a:rPr lang="en-US"/>
              <a:t>cycling.</a:t>
            </a:r>
          </a:p>
          <a:p>
            <a:endParaRPr lang="en-US"/>
          </a:p>
          <a:p>
            <a:r>
              <a:rPr lang="en-US"/>
              <a:t>Third, for a boot failure after flashing a new build, the agent</a:t>
            </a:r>
          </a:p>
          <a:p>
            <a:r>
              <a:rPr lang="en-US"/>
              <a:t>traced the Program Counter and identified execution going to</a:t>
            </a:r>
          </a:p>
          <a:p>
            <a:r>
              <a:rPr lang="en-US"/>
              <a:t>system ROM instead of internal flash. The key message is that</a:t>
            </a:r>
          </a:p>
          <a:p>
            <a:r>
              <a:rPr lang="en-US"/>
              <a:t>JTAG evidence becomes actionable AI context, not just a debug</a:t>
            </a:r>
          </a:p>
          <a:p>
            <a:r>
              <a:rPr lang="en-US"/>
              <a:t>artifact."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84156-8AE9-4423-952A-88BA8F9A5A49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4013F-CC9D-DB38-4883-8B125F1E99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</p:spTree>
    <p:extLst>
      <p:ext uri="{BB962C8B-B14F-4D97-AF65-F5344CB8AC3E}">
        <p14:creationId xmlns:p14="http://schemas.microsoft.com/office/powerpoint/2010/main" val="1259615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"At PG5, AEPLO evaluates code, QA results, traceability, and</a:t>
            </a:r>
          </a:p>
          <a:p>
            <a:r>
              <a:rPr lang="en-US"/>
              <a:t>JTAG/SWD evidence together. The gatekeeper produces a clear</a:t>
            </a:r>
          </a:p>
          <a:p>
            <a:r>
              <a:rPr lang="en-US"/>
              <a:t>READY or NOT_READY verdict, plus a prioritized remediation list</a:t>
            </a:r>
          </a:p>
          <a:p>
            <a:r>
              <a:rPr lang="en-US"/>
              <a:t>for validation and launch preparation.“</a:t>
            </a:r>
          </a:p>
          <a:p>
            <a:r>
              <a:rPr lang="en-US"/>
              <a:t>We also Plan to demo a STQC Agent as part of PG5 , All IOT based Surveillance devices (Cameras and NVRs) need to be BIS certified and in order to do so , need to go through a very strict STQC audit.</a:t>
            </a:r>
          </a:p>
          <a:p>
            <a:r>
              <a:rPr lang="en-US"/>
              <a:t>The STQC team updates the Guidelines from time to time, tightening the security norms a little further at each revision.</a:t>
            </a:r>
          </a:p>
          <a:p>
            <a:endParaRPr lang="en-US"/>
          </a:p>
          <a:p>
            <a:r>
              <a:rPr lang="en-US"/>
              <a:t>Developers take  months to traverse through the code, and Create evidences, Validate them and do a thorough Code/Hardware Review.</a:t>
            </a:r>
          </a:p>
          <a:p>
            <a:r>
              <a:rPr lang="en-US"/>
              <a:t>AEPLO’s STQC feature reduces this time frame to Days.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9C4E8-DCB7-4C66-B47F-361D1DFDA22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16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"QA2Release closes the loop. Test failures and JTAG evidence</a:t>
            </a:r>
          </a:p>
          <a:p>
            <a:r>
              <a:rPr lang="en-US"/>
              <a:t>feed root-cause analysis, test </a:t>
            </a:r>
            <a:r>
              <a:rPr lang="en-US" err="1"/>
              <a:t>optimisation</a:t>
            </a:r>
            <a:r>
              <a:rPr lang="en-US"/>
              <a:t>, and next-release</a:t>
            </a:r>
          </a:p>
          <a:p>
            <a:r>
              <a:rPr lang="en-US"/>
              <a:t>learning. The output becomes Jira actions, Confluence summaries,</a:t>
            </a:r>
          </a:p>
          <a:p>
            <a:r>
              <a:rPr lang="en-US"/>
              <a:t>and better evidence for the next gate.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9C4E8-DCB7-4C66-B47F-361D1DFDA22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125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live demo follows three stages: PG1 discovery in ROVO</a:t>
            </a:r>
          </a:p>
          <a:p>
            <a:r>
              <a:rPr lang="en-US"/>
              <a:t>Studio, PG3 development with the JTAG Accelerator and Copilot,</a:t>
            </a:r>
          </a:p>
          <a:p>
            <a:r>
              <a:rPr lang="en-US"/>
              <a:t>and PG5 validation with AEPLO release gating , STQC Agent and automated</a:t>
            </a:r>
          </a:p>
          <a:p>
            <a:r>
              <a:rPr lang="en-US"/>
              <a:t>launch-prep evidence.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9C4E8-DCB7-4C66-B47F-361D1DFDA22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64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"The value for embedded teams is practical: reduced defect</a:t>
            </a:r>
          </a:p>
          <a:p>
            <a:r>
              <a:rPr lang="en-US"/>
              <a:t>leakage, faster firmware root cause, clearer NPI gate</a:t>
            </a:r>
          </a:p>
          <a:p>
            <a:r>
              <a:rPr lang="en-US"/>
              <a:t>confidence, and AI-</a:t>
            </a:r>
            <a:r>
              <a:rPr lang="en-US" err="1"/>
              <a:t>optimised</a:t>
            </a:r>
            <a:r>
              <a:rPr lang="en-US"/>
              <a:t> PDLC work across planning, coding,</a:t>
            </a:r>
          </a:p>
          <a:p>
            <a:r>
              <a:rPr lang="en-US"/>
              <a:t>validation, and launch preparation."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9C4E8-DCB7-4C66-B47F-361D1DFDA228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C47DC-78E4-96AC-C239-EF94F65A56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</p:spTree>
    <p:extLst>
      <p:ext uri="{BB962C8B-B14F-4D97-AF65-F5344CB8AC3E}">
        <p14:creationId xmlns:p14="http://schemas.microsoft.com/office/powerpoint/2010/main" val="2365324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"The common idea is connected embedded data plus intelligent</a:t>
            </a:r>
          </a:p>
          <a:p>
            <a:r>
              <a:rPr lang="en-US"/>
              <a:t>PDLC action. AEPLO, with the JTAG Accelerator inside it, helps</a:t>
            </a:r>
          </a:p>
          <a:p>
            <a:r>
              <a:rPr lang="en-US" err="1"/>
              <a:t>optimise</a:t>
            </a:r>
            <a:r>
              <a:rPr lang="en-US"/>
              <a:t> every gate from PG1 to PG5. Thank you."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9C4E8-DCB7-4C66-B47F-361D1DFDA22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2566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"The matrix connects the demo to measurable judging criteria.</a:t>
            </a:r>
          </a:p>
          <a:p>
            <a:r>
              <a:rPr lang="en-US" dirty="0"/>
              <a:t>We show a 41 percent lead-time drop, 60 percent fewer projected</a:t>
            </a:r>
          </a:p>
          <a:p>
            <a:r>
              <a:rPr lang="en-US" dirty="0"/>
              <a:t>defect escapes, 85 percent BA hosting readiness, and measurable</a:t>
            </a:r>
          </a:p>
          <a:p>
            <a:r>
              <a:rPr lang="en-US" dirty="0"/>
              <a:t>agentic AI execution metrics including handoff success, tool</a:t>
            </a:r>
          </a:p>
          <a:p>
            <a:r>
              <a:rPr lang="en-US" dirty="0"/>
              <a:t>calling accuracy, and prompt caching </a:t>
            </a:r>
            <a:r>
              <a:rPr lang="en-US" dirty="0" err="1"/>
              <a:t>utilisation</a:t>
            </a:r>
            <a:r>
              <a:rPr lang="en-US" dirty="0"/>
              <a:t>."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9C4E8-DCB7-4C66-B47F-361D1DFDA22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23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37CD1-81F4-4E54-BFDF-E16D2184C663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C3EB2-E1A6-47BA-8593-B34734AEB315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4CBE-979D-4D21-8390-5BC5AB12AD11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095C7-9F5A-4A6C-9FA1-9161E0A3FFBB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AA869-C9B3-402C-B5B3-1BFF8B6EA432}" type="datetime1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B0153-82DD-487D-96F5-1F203E6321BD}" type="datetime1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D799-78FF-416B-8AA1-69E05E041B9D}" type="datetime1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602E-1BB0-4F2C-9C65-984B82A5027C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EBBC4-B7AA-4360-AFB8-953CB36DF14B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1A519-C67A-420F-A0A0-AFE7A3A0FAF9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29E2E-F8F7-42F4-AD5C-445F524D0C4A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54EFD-6F0B-4429-9B43-F009676198DC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03520" y="381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03520" y="762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03520" y="1143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03520" y="1524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03520" y="1905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03520" y="2286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03520" y="2667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03520" y="3048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03520" y="3429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03520" y="3810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03520" y="4191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03520" y="4572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303520" y="4953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03520" y="5334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303520" y="5715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303520" y="6096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303520" y="6477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94360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26364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8368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90372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22376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54380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86384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18388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50392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82396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297680" y="297180"/>
            <a:ext cx="5852160" cy="585216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4754880" y="754380"/>
            <a:ext cx="4937760" cy="493776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5303520" y="1303020"/>
            <a:ext cx="3840480" cy="38404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5943600" y="1943100"/>
            <a:ext cx="2560320" cy="256032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537960" y="2537460"/>
            <a:ext cx="1371600" cy="13716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9112666" y="543683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8932236" y="557907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741202" y="5706723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8540742" y="5818986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8332092" y="5915175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8116538" y="5994697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7895409" y="6057062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7670069" y="6101885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7441907" y="6128889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7212330" y="6137910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6982752" y="6128889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6754590" y="6101885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6529250" y="6057062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6308121" y="5994697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6092567" y="5915175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883917" y="5818986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5683457" y="5706723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5492423" y="557907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5311993" y="543683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5143278" y="528088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5143278" y="114277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5311993" y="98682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5492423" y="84458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5683457" y="716936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5883917" y="604673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092567" y="508484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6308121" y="428962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529250" y="366597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6754590" y="321774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6982752" y="294770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7212329" y="285750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7441907" y="294770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7670069" y="321774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7895409" y="366597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8116538" y="428962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8332092" y="508484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8540742" y="604673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8741202" y="716936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8932236" y="84458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9112666" y="98682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8485632" y="320497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8481685" y="33054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8469871" y="340523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8450261" y="350381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8422976" y="360056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8388185" y="369486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346102" y="378615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296987" y="387385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8241143" y="395743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8178913" y="403636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8110681" y="411018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8036869" y="417841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Oval 91"/>
          <p:cNvSpPr/>
          <p:nvPr/>
        </p:nvSpPr>
        <p:spPr>
          <a:xfrm>
            <a:off x="7957931" y="424064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7874353" y="429648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7786652" y="434560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7695368" y="438768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7601063" y="442247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7504319" y="444976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7405733" y="446937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Oval 98"/>
          <p:cNvSpPr/>
          <p:nvPr/>
        </p:nvSpPr>
        <p:spPr>
          <a:xfrm>
            <a:off x="7305912" y="448118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Oval 99"/>
          <p:cNvSpPr/>
          <p:nvPr/>
        </p:nvSpPr>
        <p:spPr>
          <a:xfrm>
            <a:off x="7205472" y="448513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7105031" y="448118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7005210" y="446937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6906624" y="444976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6809880" y="442247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6715575" y="438768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6624291" y="434560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6536590" y="429648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6453012" y="424064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6374074" y="417841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6300262" y="411018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6232030" y="403636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6169800" y="395743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6113956" y="387385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6064841" y="378615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6022758" y="369486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5987967" y="360056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5960682" y="350381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5941072" y="340523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5929258" y="33054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5925312" y="320497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5929258" y="310453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5941072" y="300471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5960682" y="290612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5987967" y="280938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6022758" y="271507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Oval 125"/>
          <p:cNvSpPr/>
          <p:nvPr/>
        </p:nvSpPr>
        <p:spPr>
          <a:xfrm>
            <a:off x="6064841" y="262379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Oval 126"/>
          <p:cNvSpPr/>
          <p:nvPr/>
        </p:nvSpPr>
        <p:spPr>
          <a:xfrm>
            <a:off x="6113956" y="253609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6169800" y="24525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6232030" y="237357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6300262" y="229976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6374074" y="223153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6453012" y="216930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6536590" y="211345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6624291" y="206434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Oval 134"/>
          <p:cNvSpPr/>
          <p:nvPr/>
        </p:nvSpPr>
        <p:spPr>
          <a:xfrm>
            <a:off x="6715575" y="202225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6809880" y="198746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6906624" y="196018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7005210" y="194057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7105031" y="192875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7205472" y="19248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7305912" y="192875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7405733" y="194057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7504319" y="196018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7601063" y="198746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7695368" y="202225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6" name="Oval 145"/>
          <p:cNvSpPr/>
          <p:nvPr/>
        </p:nvSpPr>
        <p:spPr>
          <a:xfrm>
            <a:off x="7786652" y="206434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7" name="Oval 146"/>
          <p:cNvSpPr/>
          <p:nvPr/>
        </p:nvSpPr>
        <p:spPr>
          <a:xfrm>
            <a:off x="7874353" y="211345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8" name="Oval 147"/>
          <p:cNvSpPr/>
          <p:nvPr/>
        </p:nvSpPr>
        <p:spPr>
          <a:xfrm>
            <a:off x="7957931" y="216930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9" name="Oval 148"/>
          <p:cNvSpPr/>
          <p:nvPr/>
        </p:nvSpPr>
        <p:spPr>
          <a:xfrm>
            <a:off x="8036869" y="223153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8110681" y="229976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8178913" y="237357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2" name="Oval 151"/>
          <p:cNvSpPr/>
          <p:nvPr/>
        </p:nvSpPr>
        <p:spPr>
          <a:xfrm>
            <a:off x="8241143" y="24525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" name="Oval 152"/>
          <p:cNvSpPr/>
          <p:nvPr/>
        </p:nvSpPr>
        <p:spPr>
          <a:xfrm>
            <a:off x="8296987" y="253609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8346102" y="262379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5" name="Oval 154"/>
          <p:cNvSpPr/>
          <p:nvPr/>
        </p:nvSpPr>
        <p:spPr>
          <a:xfrm>
            <a:off x="8388185" y="271507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6" name="Oval 155"/>
          <p:cNvSpPr/>
          <p:nvPr/>
        </p:nvSpPr>
        <p:spPr>
          <a:xfrm>
            <a:off x="8422976" y="280938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8450261" y="290612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8" name="Oval 157"/>
          <p:cNvSpPr/>
          <p:nvPr/>
        </p:nvSpPr>
        <p:spPr>
          <a:xfrm>
            <a:off x="8469871" y="300471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9" name="Oval 158"/>
          <p:cNvSpPr/>
          <p:nvPr/>
        </p:nvSpPr>
        <p:spPr>
          <a:xfrm>
            <a:off x="8481685" y="310453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7198614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1" name="Oval 160"/>
          <p:cNvSpPr/>
          <p:nvPr/>
        </p:nvSpPr>
        <p:spPr>
          <a:xfrm>
            <a:off x="7420344" y="332613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2" name="Oval 161"/>
          <p:cNvSpPr/>
          <p:nvPr/>
        </p:nvSpPr>
        <p:spPr>
          <a:xfrm>
            <a:off x="7198614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" name="Oval 162"/>
          <p:cNvSpPr/>
          <p:nvPr/>
        </p:nvSpPr>
        <p:spPr>
          <a:xfrm>
            <a:off x="6976883" y="332613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6976883" y="307009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7198614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6" name="Oval 165"/>
          <p:cNvSpPr/>
          <p:nvPr/>
        </p:nvSpPr>
        <p:spPr>
          <a:xfrm>
            <a:off x="7420344" y="307009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7" name="Oval 166"/>
          <p:cNvSpPr/>
          <p:nvPr/>
        </p:nvSpPr>
        <p:spPr>
          <a:xfrm>
            <a:off x="7642074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8" name="Oval 167"/>
          <p:cNvSpPr/>
          <p:nvPr/>
        </p:nvSpPr>
        <p:spPr>
          <a:xfrm>
            <a:off x="7420344" y="358216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9" name="Oval 168"/>
          <p:cNvSpPr/>
          <p:nvPr/>
        </p:nvSpPr>
        <p:spPr>
          <a:xfrm>
            <a:off x="7198614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0" name="Oval 169"/>
          <p:cNvSpPr/>
          <p:nvPr/>
        </p:nvSpPr>
        <p:spPr>
          <a:xfrm>
            <a:off x="6976883" y="358216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1" name="Oval 170"/>
          <p:cNvSpPr/>
          <p:nvPr/>
        </p:nvSpPr>
        <p:spPr>
          <a:xfrm>
            <a:off x="6755153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2" name="Oval 171"/>
          <p:cNvSpPr/>
          <p:nvPr/>
        </p:nvSpPr>
        <p:spPr>
          <a:xfrm>
            <a:off x="6755153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3" name="Oval 172"/>
          <p:cNvSpPr/>
          <p:nvPr/>
        </p:nvSpPr>
        <p:spPr>
          <a:xfrm>
            <a:off x="6755153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4" name="Oval 173"/>
          <p:cNvSpPr/>
          <p:nvPr/>
        </p:nvSpPr>
        <p:spPr>
          <a:xfrm>
            <a:off x="6976883" y="28140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5" name="Oval 174"/>
          <p:cNvSpPr/>
          <p:nvPr/>
        </p:nvSpPr>
        <p:spPr>
          <a:xfrm>
            <a:off x="7198614" y="26860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6" name="Oval 175"/>
          <p:cNvSpPr/>
          <p:nvPr/>
        </p:nvSpPr>
        <p:spPr>
          <a:xfrm>
            <a:off x="7420344" y="28140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7" name="Oval 176"/>
          <p:cNvSpPr/>
          <p:nvPr/>
        </p:nvSpPr>
        <p:spPr>
          <a:xfrm>
            <a:off x="7642074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8" name="Oval 177"/>
          <p:cNvSpPr/>
          <p:nvPr/>
        </p:nvSpPr>
        <p:spPr>
          <a:xfrm>
            <a:off x="7642074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9" name="Oval 178"/>
          <p:cNvSpPr/>
          <p:nvPr/>
        </p:nvSpPr>
        <p:spPr>
          <a:xfrm>
            <a:off x="7863804" y="358216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0" name="Oval 179"/>
          <p:cNvSpPr/>
          <p:nvPr/>
        </p:nvSpPr>
        <p:spPr>
          <a:xfrm>
            <a:off x="7642074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1" name="Oval 180"/>
          <p:cNvSpPr/>
          <p:nvPr/>
        </p:nvSpPr>
        <p:spPr>
          <a:xfrm>
            <a:off x="7420344" y="383819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2" name="Oval 181"/>
          <p:cNvSpPr/>
          <p:nvPr/>
        </p:nvSpPr>
        <p:spPr>
          <a:xfrm>
            <a:off x="7198614" y="396621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3" name="Oval 182"/>
          <p:cNvSpPr/>
          <p:nvPr/>
        </p:nvSpPr>
        <p:spPr>
          <a:xfrm>
            <a:off x="6976883" y="383819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4" name="Oval 183"/>
          <p:cNvSpPr/>
          <p:nvPr/>
        </p:nvSpPr>
        <p:spPr>
          <a:xfrm>
            <a:off x="6755153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5" name="Oval 184"/>
          <p:cNvSpPr/>
          <p:nvPr/>
        </p:nvSpPr>
        <p:spPr>
          <a:xfrm>
            <a:off x="6533423" y="358216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6" name="Oval 185"/>
          <p:cNvSpPr/>
          <p:nvPr/>
        </p:nvSpPr>
        <p:spPr>
          <a:xfrm>
            <a:off x="6533423" y="332613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7" name="Oval 186"/>
          <p:cNvSpPr/>
          <p:nvPr/>
        </p:nvSpPr>
        <p:spPr>
          <a:xfrm>
            <a:off x="6533423" y="307009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8" name="Oval 187"/>
          <p:cNvSpPr/>
          <p:nvPr/>
        </p:nvSpPr>
        <p:spPr>
          <a:xfrm>
            <a:off x="6533423" y="28140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9" name="Oval 188"/>
          <p:cNvSpPr/>
          <p:nvPr/>
        </p:nvSpPr>
        <p:spPr>
          <a:xfrm>
            <a:off x="6755153" y="26860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0" name="Oval 189"/>
          <p:cNvSpPr/>
          <p:nvPr/>
        </p:nvSpPr>
        <p:spPr>
          <a:xfrm>
            <a:off x="6976883" y="25580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1" name="Oval 190"/>
          <p:cNvSpPr/>
          <p:nvPr/>
        </p:nvSpPr>
        <p:spPr>
          <a:xfrm>
            <a:off x="7198614" y="24300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2" name="Oval 191"/>
          <p:cNvSpPr/>
          <p:nvPr/>
        </p:nvSpPr>
        <p:spPr>
          <a:xfrm>
            <a:off x="7420344" y="25580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3" name="Oval 192"/>
          <p:cNvSpPr/>
          <p:nvPr/>
        </p:nvSpPr>
        <p:spPr>
          <a:xfrm>
            <a:off x="7642074" y="2686049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4" name="Oval 193"/>
          <p:cNvSpPr/>
          <p:nvPr/>
        </p:nvSpPr>
        <p:spPr>
          <a:xfrm>
            <a:off x="7863804" y="28140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5" name="Oval 194"/>
          <p:cNvSpPr/>
          <p:nvPr/>
        </p:nvSpPr>
        <p:spPr>
          <a:xfrm>
            <a:off x="7863804" y="307009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6" name="Oval 195"/>
          <p:cNvSpPr/>
          <p:nvPr/>
        </p:nvSpPr>
        <p:spPr>
          <a:xfrm>
            <a:off x="7863804" y="332613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7" name="Oval 196"/>
          <p:cNvSpPr/>
          <p:nvPr/>
        </p:nvSpPr>
        <p:spPr>
          <a:xfrm>
            <a:off x="8085534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8" name="Oval 197"/>
          <p:cNvSpPr/>
          <p:nvPr/>
        </p:nvSpPr>
        <p:spPr>
          <a:xfrm>
            <a:off x="7863804" y="383819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9" name="Oval 198"/>
          <p:cNvSpPr/>
          <p:nvPr/>
        </p:nvSpPr>
        <p:spPr>
          <a:xfrm>
            <a:off x="7642074" y="396621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0" name="Oval 199"/>
          <p:cNvSpPr/>
          <p:nvPr/>
        </p:nvSpPr>
        <p:spPr>
          <a:xfrm>
            <a:off x="7420344" y="409422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1" name="Oval 200"/>
          <p:cNvSpPr/>
          <p:nvPr/>
        </p:nvSpPr>
        <p:spPr>
          <a:xfrm>
            <a:off x="7198614" y="422224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2" name="Oval 201"/>
          <p:cNvSpPr/>
          <p:nvPr/>
        </p:nvSpPr>
        <p:spPr>
          <a:xfrm>
            <a:off x="6976883" y="409422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3" name="Oval 202"/>
          <p:cNvSpPr/>
          <p:nvPr/>
        </p:nvSpPr>
        <p:spPr>
          <a:xfrm>
            <a:off x="6755153" y="396621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" name="Oval 203"/>
          <p:cNvSpPr/>
          <p:nvPr/>
        </p:nvSpPr>
        <p:spPr>
          <a:xfrm>
            <a:off x="6533423" y="383819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5" name="Oval 204"/>
          <p:cNvSpPr/>
          <p:nvPr/>
        </p:nvSpPr>
        <p:spPr>
          <a:xfrm>
            <a:off x="6311693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6" name="Oval 205"/>
          <p:cNvSpPr/>
          <p:nvPr/>
        </p:nvSpPr>
        <p:spPr>
          <a:xfrm>
            <a:off x="6311693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7" name="Oval 206"/>
          <p:cNvSpPr/>
          <p:nvPr/>
        </p:nvSpPr>
        <p:spPr>
          <a:xfrm>
            <a:off x="6311693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8" name="Oval 207"/>
          <p:cNvSpPr/>
          <p:nvPr/>
        </p:nvSpPr>
        <p:spPr>
          <a:xfrm>
            <a:off x="6311693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9" name="Oval 208"/>
          <p:cNvSpPr/>
          <p:nvPr/>
        </p:nvSpPr>
        <p:spPr>
          <a:xfrm>
            <a:off x="6311693" y="26860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0" name="Oval 209"/>
          <p:cNvSpPr/>
          <p:nvPr/>
        </p:nvSpPr>
        <p:spPr>
          <a:xfrm>
            <a:off x="6533423" y="25580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1" name="Oval 210"/>
          <p:cNvSpPr/>
          <p:nvPr/>
        </p:nvSpPr>
        <p:spPr>
          <a:xfrm>
            <a:off x="6755153" y="24300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2" name="Oval 211"/>
          <p:cNvSpPr/>
          <p:nvPr/>
        </p:nvSpPr>
        <p:spPr>
          <a:xfrm>
            <a:off x="6976883" y="23020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3" name="Oval 212"/>
          <p:cNvSpPr/>
          <p:nvPr/>
        </p:nvSpPr>
        <p:spPr>
          <a:xfrm>
            <a:off x="7198614" y="21739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4" name="Oval 213"/>
          <p:cNvSpPr/>
          <p:nvPr/>
        </p:nvSpPr>
        <p:spPr>
          <a:xfrm>
            <a:off x="7420344" y="23020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5" name="Oval 214"/>
          <p:cNvSpPr/>
          <p:nvPr/>
        </p:nvSpPr>
        <p:spPr>
          <a:xfrm>
            <a:off x="7642074" y="2430017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863804" y="2558033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7" name="Oval 216"/>
          <p:cNvSpPr/>
          <p:nvPr/>
        </p:nvSpPr>
        <p:spPr>
          <a:xfrm>
            <a:off x="8085534" y="26860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8" name="Oval 217"/>
          <p:cNvSpPr/>
          <p:nvPr/>
        </p:nvSpPr>
        <p:spPr>
          <a:xfrm>
            <a:off x="8085534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9" name="Oval 218"/>
          <p:cNvSpPr/>
          <p:nvPr/>
        </p:nvSpPr>
        <p:spPr>
          <a:xfrm>
            <a:off x="8085534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0" name="Oval 219"/>
          <p:cNvSpPr/>
          <p:nvPr/>
        </p:nvSpPr>
        <p:spPr>
          <a:xfrm>
            <a:off x="8085534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256032" y="1051560"/>
            <a:ext cx="6398518" cy="6771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AI-DRIVEN EMBEDDED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56032" y="1755648"/>
            <a:ext cx="5486400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 LIFECYCLE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56032" y="2450592"/>
            <a:ext cx="5486400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>
                <a:ln>
                  <a:noFill/>
                </a:ln>
                <a:solidFill>
                  <a:srgbClr val="D719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ORCHESTRATOR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256032" y="3291840"/>
            <a:ext cx="1280160" cy="347472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256032" y="3291840"/>
            <a:ext cx="128016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VERSION 3.0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56032" y="3794760"/>
            <a:ext cx="50292" cy="8229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420624" y="3822191"/>
            <a:ext cx="4937760" cy="7772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End-to-End Embedded Intelligence
Faster  |  Safer  |  Predictable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56032" y="4892040"/>
            <a:ext cx="5486400" cy="26161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Atharva | Manas |</a:t>
            </a: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Sheraaz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|Shyam</a:t>
            </a:r>
            <a:endParaRPr kumimoji="0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9" name="Rectangle 228"/>
          <p:cNvSpPr/>
          <p:nvPr/>
        </p:nvSpPr>
        <p:spPr>
          <a:xfrm>
            <a:off x="256032" y="5806440"/>
            <a:ext cx="2286000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0" name="Rectangle 229"/>
          <p:cNvSpPr/>
          <p:nvPr/>
        </p:nvSpPr>
        <p:spPr>
          <a:xfrm>
            <a:off x="256032" y="5971031"/>
            <a:ext cx="1828800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1" name="Rectangle 230"/>
          <p:cNvSpPr/>
          <p:nvPr/>
        </p:nvSpPr>
        <p:spPr>
          <a:xfrm>
            <a:off x="256032" y="6135624"/>
            <a:ext cx="1371600" cy="41148"/>
          </a:xfrm>
          <a:prstGeom prst="rect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2" name="Rectangle 23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B8B8B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 /  10</a:t>
            </a:r>
          </a:p>
        </p:txBody>
      </p:sp>
      <p:pic>
        <p:nvPicPr>
          <p:cNvPr id="237" name="Picture 236">
            <a:extLst>
              <a:ext uri="{FF2B5EF4-FFF2-40B4-BE49-F238E27FC236}">
                <a16:creationId xmlns:a16="http://schemas.microsoft.com/office/drawing/2014/main" id="{67AC3E27-C892-3B9F-ED91-B1E734C41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545" y="1535563"/>
            <a:ext cx="3118134" cy="3118134"/>
          </a:xfrm>
          <a:prstGeom prst="rect">
            <a:avLst/>
          </a:prstGeom>
          <a:ln/>
        </p:spPr>
      </p:pic>
      <p:sp>
        <p:nvSpPr>
          <p:cNvPr id="238" name="Rectangle 23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37160"/>
            <a:ext cx="822960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71920"/>
                </a:solidFill>
                <a:latin typeface="Arial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57200"/>
            <a:ext cx="850392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Embedded PDLC Data Is Fragmented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389888"/>
            <a:ext cx="85039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E8E8"/>
                </a:solidFill>
                <a:latin typeface="Arial"/>
              </a:rPr>
              <a:t>NPI gates rely on disconnected requirements, Jira tickets, Confluence knowledge, GitHub code, JTAG/SWD evidence and QA results — slowing decisions from PG1 to PG5.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057400"/>
            <a:ext cx="2697480" cy="193852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057400"/>
            <a:ext cx="269748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4632" y="2221992"/>
            <a:ext cx="457200" cy="45720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2221992"/>
            <a:ext cx="457200" cy="5232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PG1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21992"/>
            <a:ext cx="178308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Discovery
Blind Spots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807208"/>
            <a:ext cx="23591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Risks and debug hotspots are not visible early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057400"/>
            <a:ext cx="2697480" cy="193852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2057400"/>
            <a:ext cx="269748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64992" y="2221992"/>
            <a:ext cx="457200" cy="45720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2" y="2221992"/>
            <a:ext cx="4572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0208" y="2221992"/>
            <a:ext cx="178308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Late Defect
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2807208"/>
            <a:ext cx="23591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MCU faults surface after coding and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59" y="2057400"/>
            <a:ext cx="2697480" cy="193852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80759" y="2057400"/>
            <a:ext cx="269748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45351" y="2221992"/>
            <a:ext cx="457200" cy="4572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5351" y="2221992"/>
            <a:ext cx="4572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7" y="2221992"/>
            <a:ext cx="178308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Tool Chain
Fragmentation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1" y="2807208"/>
            <a:ext cx="23591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ROVO, Copilot, Jira, GitHub and JTAG need orchestration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206240"/>
            <a:ext cx="2697480" cy="193852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4206240"/>
            <a:ext cx="269748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84632" y="4370832"/>
            <a:ext cx="457200" cy="45720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" y="4370832"/>
            <a:ext cx="4572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" y="4370832"/>
            <a:ext cx="178308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PDLC
Trace Gaps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4956048"/>
            <a:ext cx="23591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Requirements, code, tests and evidence drift apart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4206240"/>
            <a:ext cx="2697480" cy="193852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00400" y="4206240"/>
            <a:ext cx="2697480" cy="4572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364992" y="4370832"/>
            <a:ext cx="457200" cy="457200"/>
          </a:xfrm>
          <a:prstGeom prst="round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64992" y="4370832"/>
            <a:ext cx="4572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0208" y="4370832"/>
            <a:ext cx="178308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Embedded
Hardware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4992" y="4956048"/>
            <a:ext cx="23591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JTAG/SWD evidence stays outside lifecycle decisions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0759" y="4206240"/>
            <a:ext cx="2697480" cy="193852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080759" y="4206240"/>
            <a:ext cx="269748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245351" y="4370832"/>
            <a:ext cx="457200" cy="45720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45351" y="4370832"/>
            <a:ext cx="457200" cy="5232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PG5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7" y="4370832"/>
            <a:ext cx="178308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Launch Gate
Uncertainty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5351" y="4956048"/>
            <a:ext cx="23591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Readiness depends on manual proof and subjective reviews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2  /  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1" y="749808"/>
            <a:ext cx="8500965" cy="4616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AEPLO Platform for Embedded PDLC AI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767328" y="2944367"/>
            <a:ext cx="1609344" cy="1609344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944355" y="3121394"/>
            <a:ext cx="1255288" cy="1255288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603444" y="372892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594447" y="386617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567612" y="400108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523398" y="413133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62561" y="425470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386142" y="436907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295449" y="447248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192033" y="456318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77664" y="4639600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54298" y="470043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824047" y="474465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689140" y="477148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551884" y="478048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414627" y="477148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279720" y="474465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149469" y="470043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026104" y="4639600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911734" y="456318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808318" y="447248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717625" y="436907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641206" y="425470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580369" y="413133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536155" y="400108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509320" y="386617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500324" y="372892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09320" y="359166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36155" y="345675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580369" y="332650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641206" y="320314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717625" y="308877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808318" y="298535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911734" y="289466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026103" y="2818245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149469" y="275740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279720" y="271319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414627" y="268635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551884" y="267736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689140" y="268635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824047" y="271319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954298" y="275740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077664" y="2818245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192033" y="289466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295449" y="298535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386142" y="308877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462561" y="320314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523398" y="332650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5567612" y="345675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5594447" y="359166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5850332" y="372892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5839223" y="389840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5806088" y="406498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5751493" y="422581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5676372" y="437814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5582012" y="451936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470025" y="464706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5342329" y="475905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201108" y="485341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048778" y="492853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4887947" y="498312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4721365" y="501626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4551884" y="502737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4382402" y="501626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4215820" y="498312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4054989" y="492853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3902660" y="485341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3761438" y="475905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3633742" y="464706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3521755" y="451936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3427395" y="437814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3352274" y="422581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3297679" y="406498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3264544" y="389840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3253436" y="372892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3264544" y="355944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3297679" y="339285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3352274" y="323202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3427395" y="307969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3521755" y="293847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3633742" y="281078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3761438" y="269879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3902659" y="260443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4054989" y="252931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4215820" y="247471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4382402" y="244158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4551884" y="2430475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721365" y="244158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4887947" y="247471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5048778" y="252931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5201108" y="260443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5342329" y="269879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5470025" y="281078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5582012" y="293847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5676372" y="307969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5751493" y="323202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5806088" y="339285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5839223" y="355944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6088076" y="372892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6074933" y="392943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6035731" y="412651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5971140" y="431679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5882265" y="449701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5770627" y="466409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5638135" y="481517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5487058" y="494766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5319980" y="505930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5139759" y="514817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4949479" y="5212770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4752397" y="525197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4551884" y="5265115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4351370" y="525197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4154288" y="5212770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3964008" y="514817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3783788" y="505930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3616709" y="494766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3465632" y="481517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3333140" y="466409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3221502" y="449701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3132627" y="431679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3068036" y="412651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3028834" y="392943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3015692" y="372892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3028834" y="352840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3068036" y="333132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3132627" y="314104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3221502" y="296082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3333140" y="279374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3465632" y="264267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3616709" y="251017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3783787" y="239854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3964008" y="230966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4154288" y="2245075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4351370" y="220587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4551884" y="219273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4752397" y="220587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4949479" y="2245075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5139759" y="230966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5319980" y="239854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5487058" y="251017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5638135" y="264267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5770627" y="279374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5882265" y="296082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5971140" y="314104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6035731" y="333132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6074933" y="352840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748694" y="3444687"/>
            <a:ext cx="1609344" cy="160934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71920"/>
                </a:solidFill>
                <a:latin typeface="Arial"/>
              </a:rPr>
              <a:t>AEPLO
JTAG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647370" y="2473633"/>
            <a:ext cx="1184330" cy="2743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2633654" y="2487349"/>
            <a:ext cx="27432" cy="52139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91440" y="1371599"/>
            <a:ext cx="2743200" cy="11887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91440" y="1371599"/>
            <a:ext cx="2743200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228600" y="1536191"/>
            <a:ext cx="274320" cy="274320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21792" y="1444751"/>
            <a:ext cx="2084831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1920"/>
                </a:solidFill>
                <a:latin typeface="Arial"/>
              </a:rPr>
              <a:t>Connected Embedded
Data Foundation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28600" y="1920239"/>
            <a:ext cx="2468880" cy="56692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E8"/>
                </a:solidFill>
                <a:latin typeface="Arial"/>
              </a:rPr>
              <a:t>Unifies Jira, Confluence, GitHub, JTAG/SWD evidence, QA and gate context.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312298" y="2473633"/>
            <a:ext cx="1184330" cy="274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6482913" y="2487349"/>
            <a:ext cx="27432" cy="5213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ounded Rectangle 163"/>
          <p:cNvSpPr/>
          <p:nvPr/>
        </p:nvSpPr>
        <p:spPr>
          <a:xfrm>
            <a:off x="6309360" y="1371599"/>
            <a:ext cx="2743200" cy="11887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6309360" y="1371599"/>
            <a:ext cx="27432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6446520" y="1536191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6839712" y="1444751"/>
            <a:ext cx="2084831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Arial"/>
              </a:rPr>
              <a:t>JTAG Accelerator
Inside AEPLO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446520" y="1920239"/>
            <a:ext cx="2468880" cy="56692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E8"/>
                </a:solidFill>
                <a:latin typeface="Arial"/>
              </a:rPr>
              <a:t>Hardware-backed RCA, variable tracing and peripheral inspection become PDLC evidence.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647370" y="4997012"/>
            <a:ext cx="1184330" cy="2743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2633654" y="4489337"/>
            <a:ext cx="27432" cy="52139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ounded Rectangle 170"/>
          <p:cNvSpPr/>
          <p:nvPr/>
        </p:nvSpPr>
        <p:spPr>
          <a:xfrm>
            <a:off x="91440" y="4937759"/>
            <a:ext cx="2743200" cy="11887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1440" y="4937759"/>
            <a:ext cx="2743200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228600" y="5102351"/>
            <a:ext cx="274320" cy="274320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621792" y="5010911"/>
            <a:ext cx="2084831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1920"/>
                </a:solidFill>
                <a:latin typeface="Arial"/>
              </a:rPr>
              <a:t>NPI Gate
Orchestration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28600" y="5486399"/>
            <a:ext cx="2468880" cy="56692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E8"/>
                </a:solidFill>
                <a:latin typeface="Arial"/>
              </a:rPr>
              <a:t>PG1 discovery, PG3 development and PG5 launch prep become one demo flow.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312298" y="4997012"/>
            <a:ext cx="1184330" cy="2743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6482913" y="4489337"/>
            <a:ext cx="27432" cy="52139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ounded Rectangle 177"/>
          <p:cNvSpPr/>
          <p:nvPr/>
        </p:nvSpPr>
        <p:spPr>
          <a:xfrm>
            <a:off x="6309360" y="4937759"/>
            <a:ext cx="2743200" cy="11887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6309360" y="4937759"/>
            <a:ext cx="2743200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6446520" y="5102351"/>
            <a:ext cx="274320" cy="27432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839712" y="5010911"/>
            <a:ext cx="2084831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E8E8"/>
                </a:solidFill>
                <a:latin typeface="Arial"/>
              </a:rPr>
              <a:t>AI Optimisation
Experiences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446520" y="5486399"/>
            <a:ext cx="2468880" cy="577081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E8"/>
                </a:solidFill>
                <a:latin typeface="Arial"/>
              </a:rPr>
              <a:t>ROVO Studio, Copilot and agents </a:t>
            </a:r>
            <a:r>
              <a:rPr lang="en-US" sz="1050" b="0" i="0" err="1">
                <a:solidFill>
                  <a:srgbClr val="E8E8E8"/>
                </a:solidFill>
                <a:latin typeface="Arial"/>
              </a:rPr>
              <a:t>optimise</a:t>
            </a:r>
            <a:r>
              <a:rPr sz="1050" b="0" i="0">
                <a:solidFill>
                  <a:srgbClr val="E8E8E8"/>
                </a:solidFill>
                <a:latin typeface="Arial"/>
              </a:rPr>
              <a:t> risks, fixes, tests and readiness.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3  /  12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AEPLO Platform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Connects Jira, Confluence, GitHub, Copilot, ROVO Studio, Atlassian MCP and JTAG/SWD evidence into one embedded PDLC optimisation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65960"/>
            <a:ext cx="1874519" cy="749808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965960"/>
            <a:ext cx="1874519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CONNECTED 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965960"/>
            <a:ext cx="6510528" cy="74980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31720" y="1965960"/>
            <a:ext cx="41148" cy="7498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87168" y="2130552"/>
            <a:ext cx="6236208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Jira · Confluence · GitHub · Copilot · ROVO Studio · JTAG/SWD · QA Results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715768"/>
            <a:ext cx="45720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2715768"/>
            <a:ext cx="45720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2843784"/>
            <a:ext cx="1874519" cy="749808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2843784"/>
            <a:ext cx="1874519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DATA INTEGRATION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2843784"/>
            <a:ext cx="6510528" cy="74980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31720" y="2843784"/>
            <a:ext cx="41148" cy="7498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87168" y="3008376"/>
            <a:ext cx="6236208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Unified Knowledge Graph  ·  Semantic Traceability Engine  ·  Version 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593592"/>
            <a:ext cx="45720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0" y="3593592"/>
            <a:ext cx="45720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20040" y="3721608"/>
            <a:ext cx="1874519" cy="749808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3721608"/>
            <a:ext cx="1874519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AEPLO ORCHESTRATION 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1720" y="3721608"/>
            <a:ext cx="6510528" cy="74980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331720" y="3721608"/>
            <a:ext cx="41148" cy="7498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87168" y="3886200"/>
            <a:ext cx="6236208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Atlassian MCP · JTAG Accelerator · Fault Analyzer · Release Agent · QA 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471416"/>
            <a:ext cx="45720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0" y="4471416"/>
            <a:ext cx="45720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20040" y="4599431"/>
            <a:ext cx="1874519" cy="749808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4599431"/>
            <a:ext cx="1874519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AUTOMATION &amp; GATING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31720" y="4599431"/>
            <a:ext cx="6510528" cy="74980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331720" y="4599431"/>
            <a:ext cx="41148" cy="74980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87168" y="4764023"/>
            <a:ext cx="6236208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CI/CD Hooks  ·  Controlled Auto-Fix  ·  Auto-PR  ·  Release Gate  ·  Remediation Actions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349239"/>
            <a:ext cx="45720" cy="12801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0" y="5349239"/>
            <a:ext cx="45720" cy="12801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20040" y="5477256"/>
            <a:ext cx="1874519" cy="7498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5477256"/>
            <a:ext cx="1874519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NPI GATE OUTCOMES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31720" y="5477256"/>
            <a:ext cx="6510528" cy="74980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331720" y="5477256"/>
            <a:ext cx="41148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87168" y="5641848"/>
            <a:ext cx="6236208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PG1 Risk Plan · PG3 RCA + PR · PG5 READY / NOT_READY · Audit 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4  /  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CONNECTED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40011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ROVO + Copilot + Atlassian MCP + GitHub + Jira + Confluence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The demo platform brings work management, knowledge, code, AI coding assistance and hardware evidence into AEPLO's embedded PDLC optimisation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65960"/>
            <a:ext cx="1938528" cy="4160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65960"/>
            <a:ext cx="1938528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2121408"/>
            <a:ext cx="1719072" cy="2926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D71920"/>
                </a:solidFill>
                <a:latin typeface="Arial"/>
              </a:rPr>
              <a:t>PLAN &amp; KNOWLEDGE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9748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76072" y="2862072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80720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Jira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08152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NPI epics, coding defects,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0332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6072" y="3867912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81304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Confluence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08736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PRD, architecture, test notes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0916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6072" y="4873752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81888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PG1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509320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Risk map and demo scope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3432" y="3858768"/>
            <a:ext cx="155448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468880" y="3803904"/>
            <a:ext cx="24688" cy="1645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489454" y="3814191"/>
            <a:ext cx="21602" cy="14401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10028" y="3824478"/>
            <a:ext cx="18516" cy="12344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530602" y="3834765"/>
            <a:ext cx="15430" cy="10287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551176" y="3845052"/>
            <a:ext cx="12344" cy="8229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571750" y="3855339"/>
            <a:ext cx="9258" cy="6172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92324" y="3865626"/>
            <a:ext cx="6172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612898" y="3875913"/>
            <a:ext cx="3086" cy="2057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468880" y="1965960"/>
            <a:ext cx="1938528" cy="4160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468880" y="1965960"/>
            <a:ext cx="1938528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78608" y="2121408"/>
            <a:ext cx="1719072" cy="2926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E8E8E8"/>
                </a:solidFill>
                <a:latin typeface="Arial"/>
              </a:rPr>
              <a:t>BUILD &amp; CODE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06040" y="269748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724912" y="2862072"/>
            <a:ext cx="256032" cy="256032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063240" y="280720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GitHub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24912" y="308152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Branches, PRs, reviews,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06040" y="370332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724912" y="3867912"/>
            <a:ext cx="256032" cy="256032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63240" y="381304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Copilot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24912" y="408736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Patch suggestions and explanations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06040" y="470916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724912" y="4873752"/>
            <a:ext cx="256032" cy="256032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063240" y="481888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PG3 Development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24912" y="509320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RCA, guarded fix and PR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62272" y="3858768"/>
            <a:ext cx="155448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617720" y="3803904"/>
            <a:ext cx="24688" cy="1645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638294" y="3814191"/>
            <a:ext cx="21602" cy="14401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658868" y="3824478"/>
            <a:ext cx="18516" cy="12344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679442" y="3834765"/>
            <a:ext cx="15430" cy="10287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700016" y="3845052"/>
            <a:ext cx="12344" cy="8229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720590" y="3855339"/>
            <a:ext cx="9258" cy="6172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741164" y="3865626"/>
            <a:ext cx="6172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761738" y="3875913"/>
            <a:ext cx="3086" cy="2057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4617720" y="1965960"/>
            <a:ext cx="1938528" cy="4160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617720" y="1965960"/>
            <a:ext cx="1938528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727448" y="2121408"/>
            <a:ext cx="1719072" cy="2926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D71920"/>
                </a:solidFill>
                <a:latin typeface="Arial"/>
              </a:rPr>
              <a:t>ORCHESTRATE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54880" y="269748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4873752" y="2862072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12080" y="280720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Atlassian MCP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73752" y="308152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Jira + Confluence actions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754880" y="370332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4873752" y="3867912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12080" y="381304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AEPLO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73752" y="408736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Agent routing and PDLC knowledge graph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754880" y="470916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4873752" y="4873752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212080" y="481888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ROVO Studio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73752" y="509320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NPI demo cockpit and AI experience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11112" y="3858768"/>
            <a:ext cx="155448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766560" y="3803904"/>
            <a:ext cx="24688" cy="1645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787134" y="3814191"/>
            <a:ext cx="21602" cy="14401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807708" y="3824478"/>
            <a:ext cx="18516" cy="12344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828282" y="3834765"/>
            <a:ext cx="15430" cy="10287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848856" y="3845052"/>
            <a:ext cx="12344" cy="8229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869430" y="3855339"/>
            <a:ext cx="9258" cy="6172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890004" y="3865626"/>
            <a:ext cx="6172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910578" y="3875913"/>
            <a:ext cx="3086" cy="2057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6766560" y="1965960"/>
            <a:ext cx="1938528" cy="4160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766560" y="1965960"/>
            <a:ext cx="1938528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76288" y="2121408"/>
            <a:ext cx="1719072" cy="2926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2E7D32"/>
                </a:solidFill>
                <a:latin typeface="Arial"/>
              </a:rPr>
              <a:t>VALIDATE &amp; LAUNCH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903720" y="269748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7022592" y="2862072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360920" y="280720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JTAG Accelerator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22592" y="308152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MCU register, memory and probe evidence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903720" y="370332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7022592" y="3867912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360920" y="381304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Release Gate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22592" y="408736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READY / NOT_READY with action list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903720" y="470916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7022592" y="4873752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360920" y="481888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PG5 Launch Prep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22592" y="509320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Validation proof and governance pack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9768" y="6214491"/>
            <a:ext cx="8138160" cy="22608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869" b="1" i="0">
                <a:solidFill>
                  <a:srgbClr val="2E7D32"/>
                </a:solidFill>
                <a:latin typeface="Arial"/>
              </a:rPr>
              <a:t>COMMON IDEA: AEPLO connects enterprise collaboration tools with embedded hardware evidence to </a:t>
            </a:r>
            <a:r>
              <a:rPr lang="en-IN" sz="869" b="1" i="0">
                <a:solidFill>
                  <a:srgbClr val="2E7D32"/>
                </a:solidFill>
                <a:latin typeface="Arial"/>
              </a:rPr>
              <a:t>optimize</a:t>
            </a:r>
            <a:r>
              <a:rPr sz="869" b="1" i="0">
                <a:solidFill>
                  <a:srgbClr val="2E7D32"/>
                </a:solidFill>
                <a:latin typeface="Arial"/>
              </a:rPr>
              <a:t> NPI gate decisions.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5  /  12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PG1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622792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PG1 Discovery — AI Risk &amp; Scope </a:t>
            </a:r>
            <a:r>
              <a:rPr sz="2800" b="1" i="0" err="1">
                <a:solidFill>
                  <a:srgbClr val="FFFFFF"/>
                </a:solidFill>
                <a:latin typeface="Arial"/>
              </a:rPr>
              <a:t>Optimisation</a:t>
            </a:r>
            <a:endParaRPr sz="28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AEPLO starts before coding: it connects PRD content, Jira themes, Confluence context, GitHub history and target-board data to shape a risk-backed embedded demo plan.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3296412"/>
            <a:ext cx="8449056" cy="27432"/>
          </a:xfrm>
          <a:prstGeom prst="rect">
            <a:avLst/>
          </a:prstGeom>
          <a:solidFill>
            <a:srgbClr val="0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7472" y="2011680"/>
            <a:ext cx="2633472" cy="4133087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" y="2011680"/>
            <a:ext cx="2633472" cy="4572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80160" y="2926080"/>
            <a:ext cx="768096" cy="768096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768096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43123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68726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94329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19932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45535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2148840"/>
            <a:ext cx="2633472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0E17"/>
                </a:solidFill>
                <a:latin typeface="Arial"/>
              </a:rPr>
              <a:t>COLLECT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2578608"/>
            <a:ext cx="2633472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NPI + Embedded Context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" y="2999232"/>
            <a:ext cx="2304288" cy="1463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" y="3749040"/>
            <a:ext cx="2304288" cy="2834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Ingests PRD, Jira epics, Confluence architecture notes, GitHub defect history and target-board assumptions.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2011680"/>
            <a:ext cx="2633472" cy="4133087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0" y="2011680"/>
            <a:ext cx="2633472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133088" y="2926080"/>
            <a:ext cx="768096" cy="76809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33088" y="2926080"/>
            <a:ext cx="768096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70448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96051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21654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7257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72860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98463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0" y="2148840"/>
            <a:ext cx="2633472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71920"/>
                </a:solidFill>
                <a:latin typeface="Arial"/>
              </a:rPr>
              <a:t>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2578608"/>
            <a:ext cx="2633472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PDLC Risk &amp; Traceability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64992" y="2999232"/>
            <a:ext cx="2304288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19856" y="3728791"/>
            <a:ext cx="2304288" cy="2834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Builds a lifecycle graph from requirements to code areas, tests, JTAG debug hotspots and validation evidence needs.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53328" y="2011680"/>
            <a:ext cx="2633472" cy="4133087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053328" y="2011680"/>
            <a:ext cx="2633472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986016" y="2926080"/>
            <a:ext cx="768096" cy="76809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86016" y="2926080"/>
            <a:ext cx="768096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8" y="2148840"/>
            <a:ext cx="2633472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71920"/>
                </a:solidFill>
                <a:latin typeface="Arial"/>
              </a:rPr>
              <a:t>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3328" y="2578608"/>
            <a:ext cx="2633472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PG1 Demo Readiness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19" y="2999232"/>
            <a:ext cx="2304288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0405" y="3728791"/>
            <a:ext cx="2304288" cy="2834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Produces a risk-backed demo scope, board setup checklist, debug scenario and PG3 development entry criteria.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6  /  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PG3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PG3 Development — AEPLO JTAG Accelerator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3891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Inside AEPLO, the JTAG Accelerator converts embedded coding defects into hardware-backed RCA, controlled code fixes, GitHub PRs and Jira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93392"/>
            <a:ext cx="1965960" cy="1920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196596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46988" y="2212848"/>
            <a:ext cx="512064" cy="512064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6988" y="2212848"/>
            <a:ext cx="512064" cy="51206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852928"/>
            <a:ext cx="1746504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D71920"/>
                </a:solidFill>
                <a:latin typeface="Arial"/>
              </a:rPr>
              <a:t>JIRA / CONFLUENCE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3273552"/>
            <a:ext cx="1709928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E8E8E8"/>
                </a:solidFill>
                <a:latin typeface="Arial"/>
              </a:rPr>
              <a:t>Bug, requirement, architecture note and PG3 acceptance criteria define the 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9152" y="2763774"/>
            <a:ext cx="314919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78608" y="2660904"/>
            <a:ext cx="13716" cy="25603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92324" y="2671572"/>
            <a:ext cx="13716" cy="23469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06040" y="2682240"/>
            <a:ext cx="13716" cy="2133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19756" y="2692908"/>
            <a:ext cx="13716" cy="1920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33472" y="2703576"/>
            <a:ext cx="13716" cy="1706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47188" y="2714244"/>
            <a:ext cx="13716" cy="149351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660904" y="2724912"/>
            <a:ext cx="13716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74620" y="2735580"/>
            <a:ext cx="13716" cy="106679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688336" y="2746248"/>
            <a:ext cx="13716" cy="8534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02052" y="2756916"/>
            <a:ext cx="13716" cy="640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15768" y="2767584"/>
            <a:ext cx="13716" cy="42671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29484" y="2778252"/>
            <a:ext cx="13716" cy="2133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496312" y="1993392"/>
            <a:ext cx="1965960" cy="1920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496312" y="1993392"/>
            <a:ext cx="196596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223260" y="2212848"/>
            <a:ext cx="512064" cy="512064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23260" y="2212848"/>
            <a:ext cx="512064" cy="51206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2852928"/>
            <a:ext cx="1746504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D71920"/>
                </a:solidFill>
                <a:latin typeface="Arial"/>
              </a:rPr>
              <a:t>JTAG ORCHESTRATOR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4328" y="3273552"/>
            <a:ext cx="1709928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E8E8E8"/>
                </a:solidFill>
                <a:latin typeface="Arial"/>
              </a:rPr>
              <a:t>Routes requests across AEPLO, IDE, J-Link probe and target MCU session.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35424" y="2763774"/>
            <a:ext cx="314919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54880" y="2660904"/>
            <a:ext cx="13716" cy="25603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68596" y="2671572"/>
            <a:ext cx="13716" cy="23469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82312" y="2682240"/>
            <a:ext cx="13716" cy="2133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96028" y="2692908"/>
            <a:ext cx="13716" cy="1920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809744" y="2703576"/>
            <a:ext cx="13716" cy="1706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23460" y="2714244"/>
            <a:ext cx="13716" cy="149351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837176" y="2724912"/>
            <a:ext cx="13716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850892" y="2735580"/>
            <a:ext cx="13716" cy="106679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864608" y="2746248"/>
            <a:ext cx="13716" cy="8534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878324" y="2756916"/>
            <a:ext cx="13716" cy="640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892040" y="2767584"/>
            <a:ext cx="13716" cy="42671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905756" y="2778252"/>
            <a:ext cx="13716" cy="2133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672583" y="1993392"/>
            <a:ext cx="1965960" cy="1920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672583" y="1993392"/>
            <a:ext cx="196596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5399531" y="2212848"/>
            <a:ext cx="512064" cy="512064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99531" y="2212848"/>
            <a:ext cx="512064" cy="51206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82311" y="2852928"/>
            <a:ext cx="1746504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8E8E8"/>
                </a:solidFill>
                <a:latin typeface="Arial"/>
              </a:rPr>
              <a:t>SPECIALIST AGENTS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00599" y="3273552"/>
            <a:ext cx="1709928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E8E8E8"/>
                </a:solidFill>
                <a:latin typeface="Arial"/>
              </a:rPr>
              <a:t>Fault Analyzer, Variable Tracer, Peripheral Inspector and Memory Parser collaborate.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11695" y="2763774"/>
            <a:ext cx="314919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931151" y="2660904"/>
            <a:ext cx="13716" cy="25603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944867" y="2671572"/>
            <a:ext cx="13716" cy="23469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58583" y="2682240"/>
            <a:ext cx="13716" cy="2133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972299" y="2692908"/>
            <a:ext cx="13716" cy="1920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986015" y="2703576"/>
            <a:ext cx="13716" cy="1706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999731" y="2714244"/>
            <a:ext cx="13716" cy="149351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013447" y="2724912"/>
            <a:ext cx="13716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027163" y="2735580"/>
            <a:ext cx="13716" cy="106679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040879" y="2746248"/>
            <a:ext cx="13716" cy="8534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054595" y="2756916"/>
            <a:ext cx="13716" cy="640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068311" y="2767584"/>
            <a:ext cx="13716" cy="42671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082027" y="2778252"/>
            <a:ext cx="13716" cy="2133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6848855" y="1993392"/>
            <a:ext cx="1965960" cy="1920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848855" y="1993392"/>
            <a:ext cx="196596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7575803" y="2212848"/>
            <a:ext cx="512064" cy="51206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575803" y="2212848"/>
            <a:ext cx="512064" cy="51206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58583" y="2852928"/>
            <a:ext cx="1746504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E7D32"/>
                </a:solidFill>
                <a:latin typeface="Arial"/>
              </a:rPr>
              <a:t>CONTROLLED AUTO-FIX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76871" y="3273552"/>
            <a:ext cx="1709928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E8E8E8"/>
                </a:solidFill>
                <a:latin typeface="Arial"/>
              </a:rPr>
              <a:t>Copilot-assisted patch becomes a GitHub branch, PR and review-ready Jira update.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20040" y="4224528"/>
            <a:ext cx="8503920" cy="91440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320040" y="4224528"/>
            <a:ext cx="45720" cy="9144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02920" y="4315968"/>
            <a:ext cx="274320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71920"/>
                </a:solidFill>
                <a:latin typeface="Arial"/>
              </a:rPr>
              <a:t>PHYSICAL DEBUG EVIDENCE LANE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4645152"/>
            <a:ext cx="809244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E8"/>
                </a:solidFill>
                <a:latin typeface="Arial"/>
              </a:rPr>
              <a:t>Target MCU: STM32 / Cortex-M  |  Interface: JTAG/SWD  |  Evidence: HardFault registers, stack frames, memory dumps, peripheral state, probe logs and GitHub PR links.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20040" y="5394960"/>
            <a:ext cx="2697480" cy="8686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20040" y="5394960"/>
            <a:ext cx="45720" cy="86868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48056" y="5468112"/>
            <a:ext cx="2450592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0E17"/>
                </a:solidFill>
                <a:latin typeface="Arial"/>
              </a:rPr>
              <a:t>Faster RCA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8056" y="5760720"/>
            <a:ext cx="2450592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930" b="0" i="0">
                <a:solidFill>
                  <a:srgbClr val="E8E8E8"/>
                </a:solidFill>
                <a:latin typeface="Arial"/>
              </a:rPr>
              <a:t>Days of manual setup become guided ROVO/Copilot actions.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00400" y="5394960"/>
            <a:ext cx="2697480" cy="8686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200400" y="5394960"/>
            <a:ext cx="45720" cy="86868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328416" y="5468112"/>
            <a:ext cx="2450592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71920"/>
                </a:solidFill>
                <a:latin typeface="Arial"/>
              </a:rPr>
              <a:t>Traceable Fixes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28416" y="5760720"/>
            <a:ext cx="2450592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930" b="0" i="0">
                <a:solidFill>
                  <a:srgbClr val="E8E8E8"/>
                </a:solidFill>
                <a:latin typeface="Arial"/>
              </a:rPr>
              <a:t>Every patch links Jira, Confluence, GitHub and hardware evidence.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80759" y="5394960"/>
            <a:ext cx="2697480" cy="8686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080759" y="5394960"/>
            <a:ext cx="45720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208775" y="5468112"/>
            <a:ext cx="2450592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  <a:latin typeface="Arial"/>
              </a:rPr>
              <a:t>PG3 Ready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08775" y="5760720"/>
            <a:ext cx="2450592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930" b="0" i="0">
                <a:solidFill>
                  <a:srgbClr val="E8E8E8"/>
                </a:solidFill>
                <a:latin typeface="Arial"/>
              </a:rPr>
              <a:t>Validated fixes flow into PG5 launch preparation gates.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8B8B8"/>
                </a:solidFill>
                <a:latin typeface="Arial"/>
              </a:rPr>
              <a:t>7  /  13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0"/>
            <a:ext cx="9144000" cy="254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9AA3D-9E9D-0F14-F0DD-124AABEDB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494532-563A-EC02-1800-5D90A66210E7}"/>
              </a:ext>
            </a:extLst>
          </p:cNvPr>
          <p:cNvSpPr/>
          <p:nvPr/>
        </p:nvSpPr>
        <p:spPr>
          <a:xfrm>
            <a:off x="0" y="-338684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>
              <a:solidFill>
                <a:srgbClr val="FF8C00"/>
              </a:solidFill>
              <a:latin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55DA41-095B-D3E1-3B4E-71A7755DB23C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B0703DB-49DE-3174-2D07-184ED8F20F0B}"/>
              </a:ext>
            </a:extLst>
          </p:cNvPr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0829D-C4FD-331E-BC12-68026E61127A}"/>
              </a:ext>
            </a:extLst>
          </p:cNvPr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JTAG DEBUG COPILOT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5E541-162F-9DB4-E1A2-5C72979D8E3F}"/>
              </a:ext>
            </a:extLst>
          </p:cNvPr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lang="en-US" sz="2800" b="1" i="0">
                <a:solidFill>
                  <a:srgbClr val="FFFFFF"/>
                </a:solidFill>
                <a:latin typeface="Arial"/>
              </a:rPr>
              <a:t>Agent JTAG Debugging: From Failure to Fix</a:t>
            </a:r>
            <a:endParaRPr sz="2800" b="1" i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2BAD0A-C1E0-C9D9-2574-7883A375CD20}"/>
              </a:ext>
            </a:extLst>
          </p:cNvPr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EC86AF2-44E5-04CC-ED51-AF652062FB84}"/>
              </a:ext>
            </a:extLst>
          </p:cNvPr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D8309E7-BBF2-586F-5AB2-0A46BAECF76B}"/>
              </a:ext>
            </a:extLst>
          </p:cNvPr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8  /  14</a:t>
            </a:r>
          </a:p>
        </p:txBody>
      </p:sp>
      <p:sp>
        <p:nvSpPr>
          <p:cNvPr id="110" name="Rounded Rectangle 26">
            <a:extLst>
              <a:ext uri="{FF2B5EF4-FFF2-40B4-BE49-F238E27FC236}">
                <a16:creationId xmlns:a16="http://schemas.microsoft.com/office/drawing/2014/main" id="{2445ED3F-2AB1-3F8D-A939-B69AE27EBC13}"/>
              </a:ext>
            </a:extLst>
          </p:cNvPr>
          <p:cNvSpPr/>
          <p:nvPr/>
        </p:nvSpPr>
        <p:spPr>
          <a:xfrm>
            <a:off x="4502150" y="1490472"/>
            <a:ext cx="4568724" cy="4946904"/>
          </a:xfrm>
          <a:prstGeom prst="roundRect">
            <a:avLst>
              <a:gd name="adj" fmla="val 11746"/>
            </a:avLst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44AC20B-5D09-003C-2025-C797143DE1F4}"/>
              </a:ext>
            </a:extLst>
          </p:cNvPr>
          <p:cNvSpPr/>
          <p:nvPr/>
        </p:nvSpPr>
        <p:spPr>
          <a:xfrm>
            <a:off x="4810753" y="2366569"/>
            <a:ext cx="4049046" cy="2858107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dash"/>
            <a:round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FB0001D-1A63-F1BE-E4E3-B66F768455B1}"/>
              </a:ext>
            </a:extLst>
          </p:cNvPr>
          <p:cNvSpPr txBox="1"/>
          <p:nvPr/>
        </p:nvSpPr>
        <p:spPr>
          <a:xfrm>
            <a:off x="6084349" y="1687471"/>
            <a:ext cx="34943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FF0000"/>
                </a:solidFill>
                <a:latin typeface="Segoe UI"/>
              </a:rPr>
              <a:t>JTAG - Agent Workflow </a:t>
            </a:r>
            <a:endParaRPr kumimoji="0" lang="en-US" sz="105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DE047CA-0461-A46B-6632-ACB3C62E2A2E}"/>
              </a:ext>
            </a:extLst>
          </p:cNvPr>
          <p:cNvSpPr/>
          <p:nvPr/>
        </p:nvSpPr>
        <p:spPr>
          <a:xfrm>
            <a:off x="4882531" y="1945289"/>
            <a:ext cx="3877804" cy="3585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Bug/Story Ticket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A937C22-EAF7-2997-D9AE-17BBC2D64CFA}"/>
              </a:ext>
            </a:extLst>
          </p:cNvPr>
          <p:cNvSpPr/>
          <p:nvPr/>
        </p:nvSpPr>
        <p:spPr>
          <a:xfrm>
            <a:off x="4891575" y="2451696"/>
            <a:ext cx="3877804" cy="597404"/>
          </a:xfrm>
          <a:prstGeom prst="rect">
            <a:avLst/>
          </a:prstGeom>
          <a:solidFill>
            <a:srgbClr val="6B6B6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JTAG Orchestrator</a:t>
            </a:r>
          </a:p>
          <a:p>
            <a:pPr algn="ctr"/>
            <a:r>
              <a:rPr lang="en-US" sz="1200" b="1">
                <a:solidFill>
                  <a:schemeClr val="bg1"/>
                </a:solidFill>
              </a:rPr>
              <a:t>-Context Extraction                  -Tool / Agent Routing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92E2B0C-1C6C-CD74-1B82-7F74F73A6468}"/>
              </a:ext>
            </a:extLst>
          </p:cNvPr>
          <p:cNvSpPr/>
          <p:nvPr/>
        </p:nvSpPr>
        <p:spPr>
          <a:xfrm>
            <a:off x="4881976" y="4540287"/>
            <a:ext cx="3887402" cy="586257"/>
          </a:xfrm>
          <a:prstGeom prst="rect">
            <a:avLst/>
          </a:prstGeom>
          <a:solidFill>
            <a:srgbClr val="6B6B6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Target MCU - Hardware</a:t>
            </a:r>
          </a:p>
          <a:p>
            <a:pPr algn="ctr"/>
            <a:r>
              <a:rPr lang="en-US" sz="1100" b="1">
                <a:solidFill>
                  <a:schemeClr val="bg1"/>
                </a:solidFill>
              </a:rPr>
              <a:t>(STM32 , Cortex-M)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DAA72A7-4FAD-6747-6CD6-8FBB7F6216F7}"/>
              </a:ext>
            </a:extLst>
          </p:cNvPr>
          <p:cNvSpPr/>
          <p:nvPr/>
        </p:nvSpPr>
        <p:spPr>
          <a:xfrm>
            <a:off x="4891575" y="5321118"/>
            <a:ext cx="3887402" cy="41618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Git Provider</a:t>
            </a:r>
          </a:p>
          <a:p>
            <a:pPr algn="ctr"/>
            <a:r>
              <a:rPr lang="en-US" sz="1200">
                <a:solidFill>
                  <a:schemeClr val="bg1"/>
                </a:solidFill>
              </a:rPr>
              <a:t>- Branch + PR Creation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61C4652-5DCC-DC32-F083-E36A98C2F115}"/>
              </a:ext>
            </a:extLst>
          </p:cNvPr>
          <p:cNvSpPr/>
          <p:nvPr/>
        </p:nvSpPr>
        <p:spPr>
          <a:xfrm>
            <a:off x="4872932" y="5847457"/>
            <a:ext cx="3887402" cy="41618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Jira Ticket</a:t>
            </a:r>
          </a:p>
          <a:p>
            <a:pPr algn="ctr"/>
            <a:r>
              <a:rPr lang="en-US" sz="1200" b="1">
                <a:solidFill>
                  <a:srgbClr val="FFFFFF"/>
                </a:solidFill>
              </a:rPr>
              <a:t>RCA | Logs | Review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7C28E6D-2A93-4EDB-FFF6-E89C3D566DAE}"/>
              </a:ext>
            </a:extLst>
          </p:cNvPr>
          <p:cNvSpPr/>
          <p:nvPr/>
        </p:nvSpPr>
        <p:spPr>
          <a:xfrm>
            <a:off x="5794540" y="3318510"/>
            <a:ext cx="2234641" cy="187137"/>
          </a:xfrm>
          <a:prstGeom prst="rect">
            <a:avLst/>
          </a:prstGeom>
          <a:solidFill>
            <a:srgbClr val="A9A9A9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  <a:p>
            <a:r>
              <a:rPr lang="en-US" sz="1200" b="1">
                <a:solidFill>
                  <a:schemeClr val="tx1">
                    <a:lumMod val="50000"/>
                    <a:lumOff val="50000"/>
                  </a:schemeClr>
                </a:solidFill>
                <a:latin typeface="Segoe UI"/>
              </a:rPr>
              <a:t>Sub Agents (Multi-Agent)</a:t>
            </a:r>
          </a:p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1D3F4EFE-E6F3-6BAB-B41A-48728434BB3A}"/>
              </a:ext>
            </a:extLst>
          </p:cNvPr>
          <p:cNvSpPr/>
          <p:nvPr/>
        </p:nvSpPr>
        <p:spPr>
          <a:xfrm>
            <a:off x="4572000" y="3547950"/>
            <a:ext cx="762730" cy="466779"/>
          </a:xfrm>
          <a:prstGeom prst="roundRect">
            <a:avLst>
              <a:gd name="adj" fmla="val 18499"/>
            </a:avLst>
          </a:prstGeom>
          <a:solidFill>
            <a:srgbClr val="D7192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bg1"/>
                </a:solidFill>
              </a:rPr>
              <a:t>Fault Analyzer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AB6E3101-DB27-A0B5-C335-E935C3062232}"/>
              </a:ext>
            </a:extLst>
          </p:cNvPr>
          <p:cNvSpPr/>
          <p:nvPr/>
        </p:nvSpPr>
        <p:spPr>
          <a:xfrm>
            <a:off x="5405065" y="3546537"/>
            <a:ext cx="762730" cy="466779"/>
          </a:xfrm>
          <a:prstGeom prst="roundRect">
            <a:avLst>
              <a:gd name="adj" fmla="val 18499"/>
            </a:avLst>
          </a:prstGeom>
          <a:solidFill>
            <a:srgbClr val="6B6B6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bg1"/>
                </a:solidFill>
              </a:rPr>
              <a:t>Variable Tracer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9CACA3A9-BF1F-4F6E-92B2-781133C05EB0}"/>
              </a:ext>
            </a:extLst>
          </p:cNvPr>
          <p:cNvSpPr/>
          <p:nvPr/>
        </p:nvSpPr>
        <p:spPr>
          <a:xfrm>
            <a:off x="6223074" y="3544875"/>
            <a:ext cx="845379" cy="466779"/>
          </a:xfrm>
          <a:prstGeom prst="roundRect">
            <a:avLst>
              <a:gd name="adj" fmla="val 18499"/>
            </a:avLst>
          </a:prstGeom>
          <a:solidFill>
            <a:srgbClr val="6B6B6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bg1"/>
                </a:solidFill>
              </a:rPr>
              <a:t>Peripheral Inspector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164AD8DF-0DE4-748F-9A4D-87F4D4664363}"/>
              </a:ext>
            </a:extLst>
          </p:cNvPr>
          <p:cNvSpPr/>
          <p:nvPr/>
        </p:nvSpPr>
        <p:spPr>
          <a:xfrm>
            <a:off x="7131797" y="3558609"/>
            <a:ext cx="929183" cy="466779"/>
          </a:xfrm>
          <a:prstGeom prst="roundRect">
            <a:avLst>
              <a:gd name="adj" fmla="val 18499"/>
            </a:avLst>
          </a:prstGeom>
          <a:solidFill>
            <a:srgbClr val="6B6B6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bg1"/>
                </a:solidFill>
              </a:rPr>
              <a:t>Probing</a:t>
            </a:r>
          </a:p>
          <a:p>
            <a:pPr algn="ctr"/>
            <a:r>
              <a:rPr lang="en-US" sz="1100">
                <a:solidFill>
                  <a:schemeClr val="bg1"/>
                </a:solidFill>
              </a:rPr>
              <a:t>Agent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3D646080-BE49-03D2-A2BE-303A231C5BCF}"/>
              </a:ext>
            </a:extLst>
          </p:cNvPr>
          <p:cNvSpPr/>
          <p:nvPr/>
        </p:nvSpPr>
        <p:spPr>
          <a:xfrm>
            <a:off x="8117907" y="3548451"/>
            <a:ext cx="929183" cy="466779"/>
          </a:xfrm>
          <a:prstGeom prst="roundRect">
            <a:avLst>
              <a:gd name="adj" fmla="val 18499"/>
            </a:avLst>
          </a:prstGeom>
          <a:solidFill>
            <a:srgbClr val="D7192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bg1"/>
                </a:solidFill>
              </a:rPr>
              <a:t>Controlled Auto Fix</a:t>
            </a:r>
          </a:p>
        </p:txBody>
      </p:sp>
      <p:sp>
        <p:nvSpPr>
          <p:cNvPr id="104" name="Arrow: Down 103">
            <a:extLst>
              <a:ext uri="{FF2B5EF4-FFF2-40B4-BE49-F238E27FC236}">
                <a16:creationId xmlns:a16="http://schemas.microsoft.com/office/drawing/2014/main" id="{2AA5FC09-C06B-315D-DCCD-8FE40D6E7F9B}"/>
              </a:ext>
            </a:extLst>
          </p:cNvPr>
          <p:cNvSpPr/>
          <p:nvPr/>
        </p:nvSpPr>
        <p:spPr>
          <a:xfrm>
            <a:off x="5504125" y="4141791"/>
            <a:ext cx="302217" cy="360402"/>
          </a:xfrm>
          <a:prstGeom prst="downArrow">
            <a:avLst/>
          </a:prstGeom>
          <a:solidFill>
            <a:srgbClr val="6B6B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105" name="Arrow: Down 104">
            <a:extLst>
              <a:ext uri="{FF2B5EF4-FFF2-40B4-BE49-F238E27FC236}">
                <a16:creationId xmlns:a16="http://schemas.microsoft.com/office/drawing/2014/main" id="{91CE8768-4D42-B265-E3E2-58801801B7FC}"/>
              </a:ext>
            </a:extLst>
          </p:cNvPr>
          <p:cNvSpPr/>
          <p:nvPr/>
        </p:nvSpPr>
        <p:spPr>
          <a:xfrm rot="10800000">
            <a:off x="7893183" y="4117634"/>
            <a:ext cx="315732" cy="360143"/>
          </a:xfrm>
          <a:prstGeom prst="downArrow">
            <a:avLst/>
          </a:prstGeom>
          <a:solidFill>
            <a:srgbClr val="6B6B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66F2210-3F96-A27A-6B09-A69EBA95F8CA}"/>
              </a:ext>
            </a:extLst>
          </p:cNvPr>
          <p:cNvSpPr txBox="1"/>
          <p:nvPr/>
        </p:nvSpPr>
        <p:spPr>
          <a:xfrm>
            <a:off x="5928541" y="4251271"/>
            <a:ext cx="1964642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  <a:latin typeface="Segoe UI"/>
              </a:rPr>
              <a:t>Physical Interface to Hardware</a:t>
            </a:r>
          </a:p>
        </p:txBody>
      </p:sp>
      <p:sp>
        <p:nvSpPr>
          <p:cNvPr id="107" name="Arrow: Down 106">
            <a:extLst>
              <a:ext uri="{FF2B5EF4-FFF2-40B4-BE49-F238E27FC236}">
                <a16:creationId xmlns:a16="http://schemas.microsoft.com/office/drawing/2014/main" id="{A58741E5-B20A-73D8-DC6F-A26668ED1160}"/>
              </a:ext>
            </a:extLst>
          </p:cNvPr>
          <p:cNvSpPr/>
          <p:nvPr/>
        </p:nvSpPr>
        <p:spPr>
          <a:xfrm>
            <a:off x="6629062" y="3080827"/>
            <a:ext cx="238477" cy="218655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212C948-7DFB-8225-D1A6-C259F4111B20}"/>
              </a:ext>
            </a:extLst>
          </p:cNvPr>
          <p:cNvSpPr txBox="1"/>
          <p:nvPr/>
        </p:nvSpPr>
        <p:spPr>
          <a:xfrm>
            <a:off x="6913592" y="3090316"/>
            <a:ext cx="511151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C00000"/>
                </a:solidFill>
                <a:latin typeface="Segoe UI"/>
              </a:rPr>
              <a:t>A2A</a:t>
            </a:r>
            <a:endParaRPr lang="en-US" sz="1300" b="1">
              <a:solidFill>
                <a:srgbClr val="C00000"/>
              </a:solidFill>
              <a:latin typeface="Segoe UI"/>
            </a:endParaRPr>
          </a:p>
        </p:txBody>
      </p:sp>
      <p:sp>
        <p:nvSpPr>
          <p:cNvPr id="112" name="Rounded Rectangle 71">
            <a:extLst>
              <a:ext uri="{FF2B5EF4-FFF2-40B4-BE49-F238E27FC236}">
                <a16:creationId xmlns:a16="http://schemas.microsoft.com/office/drawing/2014/main" id="{8AA13838-9DB4-74F6-C927-58E428D39838}"/>
              </a:ext>
            </a:extLst>
          </p:cNvPr>
          <p:cNvSpPr/>
          <p:nvPr/>
        </p:nvSpPr>
        <p:spPr>
          <a:xfrm>
            <a:off x="232337" y="1574798"/>
            <a:ext cx="4032557" cy="35478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b="1">
              <a:solidFill>
                <a:srgbClr val="FF8C00"/>
              </a:solidFill>
              <a:latin typeface="Segoe UI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8FF9C45-E82C-C26B-0593-8C7808AA6235}"/>
              </a:ext>
            </a:extLst>
          </p:cNvPr>
          <p:cNvSpPr/>
          <p:nvPr/>
        </p:nvSpPr>
        <p:spPr>
          <a:xfrm>
            <a:off x="232337" y="1574798"/>
            <a:ext cx="63625" cy="3547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DD612C8-DEA0-7526-5232-37363E748859}"/>
              </a:ext>
            </a:extLst>
          </p:cNvPr>
          <p:cNvGrpSpPr/>
          <p:nvPr/>
        </p:nvGrpSpPr>
        <p:grpSpPr>
          <a:xfrm>
            <a:off x="232336" y="2154232"/>
            <a:ext cx="4055965" cy="1323236"/>
            <a:chOff x="58373" y="2985722"/>
            <a:chExt cx="2697480" cy="868680"/>
          </a:xfrm>
        </p:grpSpPr>
        <p:sp>
          <p:nvSpPr>
            <p:cNvPr id="121" name="Rounded Rectangle 75">
              <a:extLst>
                <a:ext uri="{FF2B5EF4-FFF2-40B4-BE49-F238E27FC236}">
                  <a16:creationId xmlns:a16="http://schemas.microsoft.com/office/drawing/2014/main" id="{CE3941D8-2543-9F45-1EE7-2C7E01A38D67}"/>
                </a:ext>
              </a:extLst>
            </p:cNvPr>
            <p:cNvSpPr/>
            <p:nvPr/>
          </p:nvSpPr>
          <p:spPr>
            <a:xfrm>
              <a:off x="58373" y="2985722"/>
              <a:ext cx="2697480" cy="868680"/>
            </a:xfrm>
            <a:prstGeom prst="roundRect">
              <a:avLst>
                <a:gd name="adj" fmla="val 6877"/>
              </a:avLst>
            </a:prstGeom>
            <a:solidFill>
              <a:srgbClr val="0F284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935DE6C-837F-D3F7-062F-7E7B781C7910}"/>
                </a:ext>
              </a:extLst>
            </p:cNvPr>
            <p:cNvSpPr/>
            <p:nvPr/>
          </p:nvSpPr>
          <p:spPr>
            <a:xfrm>
              <a:off x="58373" y="2985722"/>
              <a:ext cx="45720" cy="868680"/>
            </a:xfrm>
            <a:prstGeom prst="rect">
              <a:avLst/>
            </a:prstGeom>
            <a:solidFill>
              <a:srgbClr val="00A8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5" name="Rounded Rectangle 75">
            <a:extLst>
              <a:ext uri="{FF2B5EF4-FFF2-40B4-BE49-F238E27FC236}">
                <a16:creationId xmlns:a16="http://schemas.microsoft.com/office/drawing/2014/main" id="{A148F514-4E3B-EE65-E6B2-AB3E6E9040EE}"/>
              </a:ext>
            </a:extLst>
          </p:cNvPr>
          <p:cNvSpPr/>
          <p:nvPr/>
        </p:nvSpPr>
        <p:spPr>
          <a:xfrm>
            <a:off x="213581" y="3566076"/>
            <a:ext cx="4055965" cy="1540277"/>
          </a:xfrm>
          <a:prstGeom prst="roundRect">
            <a:avLst>
              <a:gd name="adj" fmla="val 6877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BEF358D-44DD-4B4B-5451-559406E54F3D}"/>
              </a:ext>
            </a:extLst>
          </p:cNvPr>
          <p:cNvSpPr/>
          <p:nvPr/>
        </p:nvSpPr>
        <p:spPr>
          <a:xfrm>
            <a:off x="217505" y="3565386"/>
            <a:ext cx="83576" cy="1540277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79">
            <a:extLst>
              <a:ext uri="{FF2B5EF4-FFF2-40B4-BE49-F238E27FC236}">
                <a16:creationId xmlns:a16="http://schemas.microsoft.com/office/drawing/2014/main" id="{EFD6A22B-8B15-C890-08EA-4798E6253AF8}"/>
              </a:ext>
            </a:extLst>
          </p:cNvPr>
          <p:cNvSpPr/>
          <p:nvPr/>
        </p:nvSpPr>
        <p:spPr>
          <a:xfrm>
            <a:off x="239330" y="5176572"/>
            <a:ext cx="4025563" cy="996241"/>
          </a:xfrm>
          <a:prstGeom prst="roundRect">
            <a:avLst>
              <a:gd name="adj" fmla="val 5959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A6BDB28-FBDE-4636-E6CA-4AC350B48D8C}"/>
              </a:ext>
            </a:extLst>
          </p:cNvPr>
          <p:cNvSpPr txBox="1"/>
          <p:nvPr/>
        </p:nvSpPr>
        <p:spPr>
          <a:xfrm>
            <a:off x="275497" y="1592219"/>
            <a:ext cx="3968932" cy="627556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lang="en-US" sz="1200" b="1" i="0">
                <a:solidFill>
                  <a:srgbClr val="FF0000"/>
                </a:solidFill>
                <a:latin typeface="Arial"/>
              </a:rPr>
              <a:t>JTAG Agent – Real time Use cases</a:t>
            </a:r>
          </a:p>
          <a:p>
            <a:pPr algn="l"/>
            <a:endParaRPr lang="en-US" sz="1100" b="1">
              <a:solidFill>
                <a:srgbClr val="FF8C00"/>
              </a:solidFill>
              <a:latin typeface="Segoe UI"/>
            </a:endParaRPr>
          </a:p>
          <a:p>
            <a:endParaRPr lang="en-US" sz="1100" b="1">
              <a:solidFill>
                <a:srgbClr val="00D48A"/>
              </a:solidFill>
              <a:latin typeface="Segoe UI"/>
            </a:endParaRPr>
          </a:p>
          <a:p>
            <a:r>
              <a:rPr lang="en-US" sz="1100" b="1">
                <a:solidFill>
                  <a:srgbClr val="2E7D32"/>
                </a:solidFill>
                <a:latin typeface="Arial"/>
              </a:rPr>
              <a:t>Bootloader -&gt; Application Handoff Failure (Hard Fault)</a:t>
            </a:r>
          </a:p>
          <a:p>
            <a:endParaRPr lang="en-US" sz="1100" b="1">
              <a:solidFill>
                <a:srgbClr val="00D48A"/>
              </a:solidFill>
              <a:latin typeface="Segoe UI"/>
            </a:endParaRPr>
          </a:p>
          <a:p>
            <a:r>
              <a:rPr lang="en-US" sz="1000" b="1">
                <a:solidFill>
                  <a:srgbClr val="E8E8E8"/>
                </a:solidFill>
                <a:latin typeface="Arial"/>
              </a:rPr>
              <a:t>Problem</a:t>
            </a:r>
            <a:r>
              <a:rPr lang="en-US" sz="930">
                <a:solidFill>
                  <a:srgbClr val="E8E8E8"/>
                </a:solidFill>
                <a:latin typeface="Arial"/>
              </a:rPr>
              <a:t>: Bootloader enabled </a:t>
            </a:r>
            <a:r>
              <a:rPr lang="en-US" sz="930" err="1">
                <a:solidFill>
                  <a:srgbClr val="E8E8E8"/>
                </a:solidFill>
                <a:latin typeface="Arial"/>
              </a:rPr>
              <a:t>SysTick</a:t>
            </a:r>
            <a:r>
              <a:rPr lang="en-US" sz="930">
                <a:solidFill>
                  <a:srgbClr val="E8E8E8"/>
                </a:solidFill>
                <a:latin typeface="Arial"/>
              </a:rPr>
              <a:t> timer; application's vector table had no </a:t>
            </a:r>
            <a:r>
              <a:rPr lang="en-US" sz="930" err="1">
                <a:solidFill>
                  <a:srgbClr val="E8E8E8"/>
                </a:solidFill>
                <a:latin typeface="Arial"/>
              </a:rPr>
              <a:t>SysTick</a:t>
            </a:r>
            <a:r>
              <a:rPr lang="en-US" sz="930">
                <a:solidFill>
                  <a:srgbClr val="E8E8E8"/>
                </a:solidFill>
                <a:latin typeface="Arial"/>
              </a:rPr>
              <a:t> handler → </a:t>
            </a:r>
            <a:r>
              <a:rPr lang="en-US" sz="930" err="1">
                <a:solidFill>
                  <a:srgbClr val="E8E8E8"/>
                </a:solidFill>
                <a:latin typeface="Arial"/>
              </a:rPr>
              <a:t>HardFault</a:t>
            </a:r>
            <a:r>
              <a:rPr lang="en-US" sz="930">
                <a:solidFill>
                  <a:srgbClr val="E8E8E8"/>
                </a:solidFill>
                <a:latin typeface="Arial"/>
              </a:rPr>
              <a:t> on jump.</a:t>
            </a:r>
          </a:p>
          <a:p>
            <a:endParaRPr lang="en-US" sz="930">
              <a:solidFill>
                <a:srgbClr val="B8D0EC"/>
              </a:solidFill>
              <a:latin typeface="Segoe UI"/>
            </a:endParaRPr>
          </a:p>
          <a:p>
            <a:r>
              <a:rPr lang="en-US" sz="1000" b="1">
                <a:solidFill>
                  <a:srgbClr val="E8E8E8"/>
                </a:solidFill>
                <a:latin typeface="Arial"/>
              </a:rPr>
              <a:t>Solution: </a:t>
            </a:r>
            <a:r>
              <a:rPr lang="en-US" sz="1000">
                <a:solidFill>
                  <a:srgbClr val="E8E8E8"/>
                </a:solidFill>
                <a:latin typeface="Arial"/>
              </a:rPr>
              <a:t>Agent identified root cause in 45 minutes (vs. 2–3 days manual debugging) by correlating PC, vector tables, and peripheral state.</a:t>
            </a:r>
          </a:p>
          <a:p>
            <a:endParaRPr lang="en-US" sz="1000">
              <a:solidFill>
                <a:srgbClr val="B8D0EC"/>
              </a:solidFill>
              <a:latin typeface="Segoe UI"/>
            </a:endParaRPr>
          </a:p>
          <a:p>
            <a:endParaRPr lang="en-US" sz="1000">
              <a:solidFill>
                <a:srgbClr val="B8D0EC"/>
              </a:solidFill>
              <a:latin typeface="Segoe UI"/>
            </a:endParaRPr>
          </a:p>
          <a:p>
            <a:r>
              <a:rPr lang="en-US" sz="1000" b="1">
                <a:solidFill>
                  <a:srgbClr val="2E7D32"/>
                </a:solidFill>
                <a:latin typeface="Arial"/>
              </a:rPr>
              <a:t>Emulating sub zero temperature condition at room temperature</a:t>
            </a:r>
          </a:p>
          <a:p>
            <a:endParaRPr lang="en-US" sz="1000" b="1">
              <a:solidFill>
                <a:srgbClr val="00D48A"/>
              </a:solidFill>
              <a:latin typeface="Segoe UI"/>
            </a:endParaRPr>
          </a:p>
          <a:p>
            <a:r>
              <a:rPr lang="en-US" sz="1000" b="1">
                <a:solidFill>
                  <a:srgbClr val="E8E8E8"/>
                </a:solidFill>
                <a:latin typeface="Arial"/>
              </a:rPr>
              <a:t>Problem: </a:t>
            </a:r>
            <a:r>
              <a:rPr lang="en-US" sz="1000">
                <a:solidFill>
                  <a:srgbClr val="E8E8E8"/>
                </a:solidFill>
                <a:latin typeface="Arial"/>
              </a:rPr>
              <a:t>ADC stalled at negative temperature; fix required driver </a:t>
            </a:r>
            <a:r>
              <a:rPr lang="en-US" sz="1000" err="1">
                <a:solidFill>
                  <a:srgbClr val="E8E8E8"/>
                </a:solidFill>
                <a:latin typeface="Arial"/>
              </a:rPr>
              <a:t>reinit</a:t>
            </a:r>
            <a:r>
              <a:rPr lang="en-US" sz="1000">
                <a:solidFill>
                  <a:srgbClr val="E8E8E8"/>
                </a:solidFill>
                <a:latin typeface="Arial"/>
              </a:rPr>
              <a:t> with gain adjustment.</a:t>
            </a:r>
          </a:p>
          <a:p>
            <a:endParaRPr lang="en-US" sz="1000">
              <a:solidFill>
                <a:srgbClr val="B8D0EC"/>
              </a:solidFill>
              <a:latin typeface="Segoe UI"/>
            </a:endParaRPr>
          </a:p>
          <a:p>
            <a:r>
              <a:rPr lang="en-US" sz="1000" b="1">
                <a:solidFill>
                  <a:srgbClr val="E8E8E8"/>
                </a:solidFill>
                <a:latin typeface="Arial"/>
              </a:rPr>
              <a:t>Solution: </a:t>
            </a:r>
            <a:r>
              <a:rPr lang="en-US" sz="1000">
                <a:solidFill>
                  <a:srgbClr val="E8E8E8"/>
                </a:solidFill>
                <a:latin typeface="Arial"/>
              </a:rPr>
              <a:t>Agent simulated cold ADC state at 25°C, enabling root-cause fix and validation without thermal chamber—saved 1 week of thermal cycling.</a:t>
            </a:r>
          </a:p>
          <a:p>
            <a:endParaRPr lang="en-US" sz="1000">
              <a:solidFill>
                <a:srgbClr val="B8D0EC"/>
              </a:solidFill>
              <a:latin typeface="Segoe UI"/>
            </a:endParaRPr>
          </a:p>
          <a:p>
            <a:r>
              <a:rPr lang="en-US" sz="1000" b="1">
                <a:solidFill>
                  <a:srgbClr val="2E7D32"/>
                </a:solidFill>
                <a:latin typeface="Arial"/>
              </a:rPr>
              <a:t>Boot Failure due to Incorrect Boot Configuration</a:t>
            </a:r>
          </a:p>
          <a:p>
            <a:r>
              <a:rPr lang="en-US" sz="1000" b="1">
                <a:solidFill>
                  <a:srgbClr val="E8E8E8"/>
                </a:solidFill>
                <a:latin typeface="Arial"/>
              </a:rPr>
              <a:t>Problem: </a:t>
            </a:r>
            <a:r>
              <a:rPr lang="en-US" sz="1000">
                <a:solidFill>
                  <a:srgbClr val="E8E8E8"/>
                </a:solidFill>
                <a:latin typeface="Arial"/>
              </a:rPr>
              <a:t>Device failed to boot into application after flashing new build on new hardware, all looked good.</a:t>
            </a:r>
          </a:p>
          <a:p>
            <a:endParaRPr lang="en-US" sz="1000">
              <a:solidFill>
                <a:srgbClr val="B8D0EC"/>
              </a:solidFill>
              <a:latin typeface="Segoe UI"/>
            </a:endParaRPr>
          </a:p>
          <a:p>
            <a:r>
              <a:rPr lang="en-US" sz="1000" b="1">
                <a:solidFill>
                  <a:srgbClr val="E8E8E8"/>
                </a:solidFill>
                <a:latin typeface="Arial"/>
              </a:rPr>
              <a:t>Solution: </a:t>
            </a:r>
            <a:r>
              <a:rPr lang="en-US" sz="1000">
                <a:solidFill>
                  <a:srgbClr val="E8E8E8"/>
                </a:solidFill>
                <a:latin typeface="Arial"/>
              </a:rPr>
              <a:t>Agent traced Program Counter (PC) and identified execution redirecting to system ROM instead of internal flash.</a:t>
            </a:r>
          </a:p>
          <a:p>
            <a:endParaRPr lang="en-US" sz="1000" b="1">
              <a:solidFill>
                <a:srgbClr val="00D48A"/>
              </a:solidFill>
              <a:latin typeface="Segoe UI"/>
            </a:endParaRPr>
          </a:p>
          <a:p>
            <a:endParaRPr lang="en-US" sz="1000" b="1">
              <a:solidFill>
                <a:srgbClr val="00D48A"/>
              </a:solidFill>
              <a:latin typeface="Segoe UI"/>
            </a:endParaRPr>
          </a:p>
          <a:p>
            <a:endParaRPr lang="en-US" sz="1000">
              <a:solidFill>
                <a:srgbClr val="B8D0EC"/>
              </a:solidFill>
              <a:latin typeface="Segoe UI"/>
            </a:endParaRPr>
          </a:p>
          <a:p>
            <a:endParaRPr lang="en-US" sz="1000">
              <a:solidFill>
                <a:srgbClr val="B8D0EC"/>
              </a:solidFill>
              <a:latin typeface="Segoe UI"/>
            </a:endParaRPr>
          </a:p>
          <a:p>
            <a:endParaRPr lang="en-US" sz="1000">
              <a:solidFill>
                <a:srgbClr val="B8D0EC"/>
              </a:solidFill>
              <a:latin typeface="Segoe UI"/>
            </a:endParaRPr>
          </a:p>
          <a:p>
            <a:endParaRPr lang="en-US" sz="930">
              <a:solidFill>
                <a:srgbClr val="B8D0EC"/>
              </a:solidFill>
              <a:latin typeface="Segoe UI"/>
            </a:endParaRPr>
          </a:p>
          <a:p>
            <a:endParaRPr lang="en-US" sz="930">
              <a:solidFill>
                <a:srgbClr val="B8D0EC"/>
              </a:solidFill>
              <a:latin typeface="Segoe UI"/>
            </a:endParaRPr>
          </a:p>
          <a:p>
            <a:endParaRPr lang="en-US" sz="930">
              <a:solidFill>
                <a:srgbClr val="B8D0EC"/>
              </a:solidFill>
              <a:latin typeface="Segoe UI"/>
            </a:endParaRPr>
          </a:p>
          <a:p>
            <a:endParaRPr lang="en-US" sz="930">
              <a:solidFill>
                <a:srgbClr val="B8D0EC"/>
              </a:solidFill>
              <a:latin typeface="Segoe UI"/>
            </a:endParaRPr>
          </a:p>
          <a:p>
            <a:pPr algn="l"/>
            <a:endParaRPr sz="1100" b="1" i="0">
              <a:solidFill>
                <a:srgbClr val="FF8C00"/>
              </a:solidFill>
              <a:latin typeface="Segoe UI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7D4E16F-AFAB-0026-531E-F65A232C42BE}"/>
              </a:ext>
            </a:extLst>
          </p:cNvPr>
          <p:cNvSpPr/>
          <p:nvPr/>
        </p:nvSpPr>
        <p:spPr>
          <a:xfrm>
            <a:off x="217504" y="5183072"/>
            <a:ext cx="60553" cy="99624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8A8D32-1D50-667D-BFF9-05C2E63A0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689" y="4565958"/>
            <a:ext cx="524578" cy="52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719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PG5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4616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PG5 Validation &amp; Launch Preparation Gatekeeper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AEPLO evaluates launch readiness using code, QA, traceability and JTAG/SWD evidence. The outcome is an unambiguous gate verdict with action-ready remediation.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011680"/>
            <a:ext cx="5029200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50292" cy="13533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5488" y="2395728"/>
            <a:ext cx="50292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2395728"/>
            <a:ext cx="5029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084832"/>
            <a:ext cx="411480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Arial"/>
              </a:rPr>
              <a:t>Validates PG5
Launch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606040"/>
            <a:ext cx="406908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Coverage, static analysis, regression status, traceability, hardware proof and launch evidence are checked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520440"/>
            <a:ext cx="5029200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520440"/>
            <a:ext cx="50292" cy="135331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75488" y="3904488"/>
            <a:ext cx="502920" cy="5029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3904488"/>
            <a:ext cx="5029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593592"/>
            <a:ext cx="411480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1920"/>
                </a:solidFill>
                <a:latin typeface="Arial"/>
              </a:rPr>
              <a:t>Structured Verdict:
READY / NOT_READY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114800"/>
            <a:ext cx="406908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Binary, unambiguous gate decision with confidence score, Jira evidence summary and GitHub PR links.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5029200"/>
            <a:ext cx="5029200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5029200"/>
            <a:ext cx="50292" cy="135331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75488" y="5413248"/>
            <a:ext cx="502920" cy="5029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5413248"/>
            <a:ext cx="5029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102352"/>
            <a:ext cx="411480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1920"/>
                </a:solidFill>
                <a:latin typeface="Arial"/>
              </a:rPr>
              <a:t>Clear Remediation
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5623560"/>
            <a:ext cx="406908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Every NOT_READY verdict includes a prioritized action list: which test, fix, evidence or launch artefact must be updated.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1965960"/>
            <a:ext cx="3182112" cy="449884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23560" y="1965960"/>
            <a:ext cx="3182112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23560" y="2029968"/>
            <a:ext cx="3182112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71920"/>
                </a:solidFill>
                <a:latin typeface="Arial"/>
              </a:rPr>
              <a:t>RELEASE 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3560" y="2423160"/>
            <a:ext cx="3182112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824728" y="2542032"/>
            <a:ext cx="2779776" cy="153619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24728" y="2542032"/>
            <a:ext cx="2779776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629400" y="2706624"/>
            <a:ext cx="621792" cy="6217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2706624"/>
            <a:ext cx="621792" cy="6217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7768" y="2743200"/>
            <a:ext cx="1316736" cy="4616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7D32"/>
                </a:solidFill>
                <a:latin typeface="Arial"/>
              </a:rPr>
              <a:t>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9592" y="3337453"/>
            <a:ext cx="265176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Arial"/>
              </a:rPr>
              <a:t>All gates passed.
Cleared for release.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24728" y="4224528"/>
            <a:ext cx="2779776" cy="153619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824728" y="4224528"/>
            <a:ext cx="2779776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629400" y="4389120"/>
            <a:ext cx="621792" cy="62179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9400" y="4389120"/>
            <a:ext cx="621792" cy="6217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87768" y="4425696"/>
            <a:ext cx="1417320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71920"/>
                </a:solidFill>
                <a:latin typeface="Arial"/>
              </a:rPr>
              <a:t>NOT 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88736" y="5060357"/>
            <a:ext cx="265176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Arial"/>
              </a:rPr>
              <a:t>3 blockers found.
See remediation list.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8  / 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QA2RELEASE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QA2Release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3891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Creates a closed-loop embedded PDLC: QA results and JTAG evidence drive root-cause analysis, test optimisation and next-release learning.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834640"/>
            <a:ext cx="36576" cy="7040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7472" y="2231136"/>
            <a:ext cx="621792" cy="621792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2231136"/>
            <a:ext cx="621792" cy="6217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029968"/>
            <a:ext cx="7662672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3000" y="2029968"/>
            <a:ext cx="45720" cy="135331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98448" y="2103120"/>
            <a:ext cx="7132320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E8E8"/>
                </a:solidFill>
                <a:latin typeface="Arial"/>
              </a:rPr>
              <a:t>Analyze QA Failures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523744"/>
            <a:ext cx="7132320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All QA failures and hardware evidence are ingested — unit, integration, HIL, system tests, JTAG registers and probe logs are mapped together.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343400"/>
            <a:ext cx="36576" cy="7040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7472" y="3739896"/>
            <a:ext cx="621792" cy="62179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739896"/>
            <a:ext cx="621792" cy="6217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3538728"/>
            <a:ext cx="7662672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3000" y="3538728"/>
            <a:ext cx="45720" cy="135331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8448" y="3611880"/>
            <a:ext cx="7132320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71920"/>
                </a:solidFill>
                <a:latin typeface="Arial"/>
              </a:rPr>
              <a:t>Extract Root Causes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032504"/>
            <a:ext cx="7132320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AI correlates failures with commits, Jira issues, Confluence decisions, RTOS timing deltas and JTAG/SWD evidence. Root causes are ranked by confidence.</a:t>
            </a:r>
          </a:p>
        </p:txBody>
      </p:sp>
      <p:sp>
        <p:nvSpPr>
          <p:cNvPr id="23" name="Oval 22"/>
          <p:cNvSpPr/>
          <p:nvPr/>
        </p:nvSpPr>
        <p:spPr>
          <a:xfrm>
            <a:off x="347472" y="5248656"/>
            <a:ext cx="621792" cy="6217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5248656"/>
            <a:ext cx="621792" cy="6217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5047488"/>
            <a:ext cx="7662672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43000" y="5047488"/>
            <a:ext cx="45720" cy="13533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98448" y="5120640"/>
            <a:ext cx="7132320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Arial"/>
              </a:rPr>
              <a:t>Generate Next-Release Improvements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541264"/>
            <a:ext cx="7132320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Automated improvement tickets are raised with code suggestions, test additions, coverage targets and launch-prep actions for the next NPI cycle.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9  / 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Demo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Live demonstration of how AEPLO executes the NPI gate pipeline from PG1 discovery through PG3 JTAG-accelerated development to PG5 validation and launch prep.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93392"/>
            <a:ext cx="2697480" cy="427939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2697480" cy="4572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4632" y="2103120"/>
            <a:ext cx="1188720" cy="256032"/>
          </a:xfrm>
          <a:prstGeom prst="round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2103120"/>
            <a:ext cx="1188720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STAGE 1</a:t>
            </a:r>
          </a:p>
        </p:txBody>
      </p:sp>
      <p:sp>
        <p:nvSpPr>
          <p:cNvPr id="13" name="Oval 12"/>
          <p:cNvSpPr/>
          <p:nvPr/>
        </p:nvSpPr>
        <p:spPr>
          <a:xfrm>
            <a:off x="1284732" y="2487168"/>
            <a:ext cx="768096" cy="768096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4732" y="2487168"/>
            <a:ext cx="768096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01568"/>
            <a:ext cx="242316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0E17"/>
                </a:solidFill>
                <a:latin typeface="Arial"/>
              </a:rPr>
              <a:t>PG1 → Discovery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3913632"/>
            <a:ext cx="2368296" cy="1463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005072"/>
            <a:ext cx="2331720" cy="21031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• ROVO Studio cockpit opens NPI scenario
• Jira + Confluence + GitHub context ingested
• AEPLO maps embedded PDLC risks
• Demo scope and board setup are generated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54096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88843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23590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158337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93084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200400" y="1993392"/>
            <a:ext cx="2697480" cy="427939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0" y="1993392"/>
            <a:ext cx="269748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364992" y="2103120"/>
            <a:ext cx="1188720" cy="256032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64992" y="2103120"/>
            <a:ext cx="1188720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STAGE 2</a:t>
            </a:r>
          </a:p>
        </p:txBody>
      </p:sp>
      <p:sp>
        <p:nvSpPr>
          <p:cNvPr id="27" name="Oval 26"/>
          <p:cNvSpPr/>
          <p:nvPr/>
        </p:nvSpPr>
        <p:spPr>
          <a:xfrm>
            <a:off x="4165092" y="2487168"/>
            <a:ext cx="768096" cy="76809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65092" y="2487168"/>
            <a:ext cx="768096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401568"/>
            <a:ext cx="242316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71920"/>
                </a:solidFill>
                <a:latin typeface="Arial"/>
              </a:rPr>
              <a:t>PG3 → Development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64992" y="3913632"/>
            <a:ext cx="2368296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0" y="4005072"/>
            <a:ext cx="2331720" cy="21031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• JTAG Accelerator attaches to target MCU
• Fault Analyzer captures register evidence
• Copilot proposes guarded fix
• GitHub PR links code and hardware proof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34456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69203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03950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038697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073444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080759" y="1993392"/>
            <a:ext cx="2697480" cy="427939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80759" y="1993392"/>
            <a:ext cx="269748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245351" y="2103120"/>
            <a:ext cx="1188720" cy="256032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45351" y="2103120"/>
            <a:ext cx="1188720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STAGE 3</a:t>
            </a:r>
          </a:p>
        </p:txBody>
      </p:sp>
      <p:sp>
        <p:nvSpPr>
          <p:cNvPr id="41" name="Oval 40"/>
          <p:cNvSpPr/>
          <p:nvPr/>
        </p:nvSpPr>
        <p:spPr>
          <a:xfrm>
            <a:off x="7045451" y="2487168"/>
            <a:ext cx="768096" cy="768096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45451" y="2487168"/>
            <a:ext cx="768096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19" y="3401568"/>
            <a:ext cx="242316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E8E8"/>
                </a:solidFill>
                <a:latin typeface="Arial"/>
              </a:rPr>
              <a:t>PG5 → Validation &amp; Launch Prep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45351" y="3913632"/>
            <a:ext cx="2368296" cy="1463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63639" y="4005072"/>
            <a:ext cx="2331720" cy="21031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• QA and JTAG evidence feed Release Gate
• READY / NOT_READY verdict issued
• Jira actions and Confluence summary created
• Next NPI learning loop is updated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10  /  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BUSINESS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Business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Measured outcomes for the Coding Embedded Workstream: connected platform data, hardware-backed debugging, AI optimisation and NPI gate confidence.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93392"/>
            <a:ext cx="4206240" cy="21031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420624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2920" y="2176272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176272"/>
            <a:ext cx="54864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84832"/>
            <a:ext cx="22860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Reduced
Defect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66544"/>
            <a:ext cx="1143000" cy="646331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2E7D32"/>
                </a:solidFill>
                <a:latin typeface="Arial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51760"/>
            <a:ext cx="11887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E8"/>
                </a:solidFill>
                <a:latin typeface="Arial"/>
              </a:rPr>
              <a:t>fewer post-release defects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2651760"/>
            <a:ext cx="3877056" cy="1463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798064"/>
            <a:ext cx="3840480" cy="11704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ML defect prediction + auto-test generation eliminates the most common escape vectors before firmware ships.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79" y="1993392"/>
            <a:ext cx="4206240" cy="21031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79" y="1993392"/>
            <a:ext cx="420624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937759" y="2176272"/>
            <a:ext cx="548640" cy="548640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59" y="2176272"/>
            <a:ext cx="54864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59" y="2084832"/>
            <a:ext cx="22860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Faster Firmware
RCA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39" y="2066544"/>
            <a:ext cx="1143000" cy="4616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D71920"/>
                </a:solidFill>
                <a:latin typeface="Arial"/>
              </a:rPr>
              <a:t>&lt;30m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39" y="2651760"/>
            <a:ext cx="11887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E8"/>
                </a:solidFill>
                <a:latin typeface="Arial"/>
              </a:rPr>
              <a:t>from ticket to root cause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19471" y="2651760"/>
            <a:ext cx="3877056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59" y="2798064"/>
            <a:ext cx="3840480" cy="11704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JTAG Orchestrator captures HardFault registers, stack frames and memory evidence without manual tool switching.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325112"/>
            <a:ext cx="4206240" cy="21031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4325112"/>
            <a:ext cx="420624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02920" y="4507992"/>
            <a:ext cx="548640" cy="548640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507992"/>
            <a:ext cx="54864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PG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416552"/>
            <a:ext cx="22860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NPI Gate
Confidence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398264"/>
            <a:ext cx="1143000" cy="3693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b="1" i="0">
                <a:solidFill>
                  <a:srgbClr val="D71920"/>
                </a:solidFill>
                <a:latin typeface="Arial"/>
              </a:rPr>
              <a:t>PG1/3/5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983480"/>
            <a:ext cx="11887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E8"/>
                </a:solidFill>
                <a:latin typeface="Arial"/>
              </a:rPr>
              <a:t>demo-ready decisions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" y="4983480"/>
            <a:ext cx="3877056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5129784"/>
            <a:ext cx="3840480" cy="11704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AEPLO turns Discovery, Development and Validation evidence into clear decisions and action lists.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79" y="4325112"/>
            <a:ext cx="4206240" cy="21031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54879" y="4325112"/>
            <a:ext cx="420624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937759" y="4507992"/>
            <a:ext cx="548640" cy="54864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37759" y="4507992"/>
            <a:ext cx="54864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59" y="4416552"/>
            <a:ext cx="22860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Embedded PDLC
Optimisation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39" y="4398264"/>
            <a:ext cx="1143000" cy="56692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E8E8E8"/>
                </a:solidFill>
                <a:latin typeface="Arial"/>
              </a:rPr>
              <a:t>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39" y="4983480"/>
            <a:ext cx="11887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E8"/>
                </a:solidFill>
                <a:latin typeface="Arial"/>
              </a:rPr>
              <a:t>risk, test and fix focus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19471" y="4983480"/>
            <a:ext cx="3877056" cy="1463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37759" y="5129784"/>
            <a:ext cx="3840480" cy="11704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ROVO Studio, Copilot and AEPLO agents optimise work across planning, coding, validation and launch preparation.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11  /  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657600" y="228600"/>
            <a:ext cx="6400800" cy="640080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297680" y="868680"/>
            <a:ext cx="5120640" cy="512064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0" y="1600200"/>
            <a:ext cx="3657600" cy="36576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760720" y="2331720"/>
            <a:ext cx="2194560" cy="219456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38284" y="340888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22873" y="372257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976789" y="403325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00475" y="433791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794668" y="463362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660384" y="491754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498919" y="518693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311826" y="543919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00908" y="567190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8196" y="588282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15930" y="606991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46542" y="623138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062624" y="636566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66911" y="647147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462251" y="654778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151578" y="659387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37884" y="660928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24189" y="659387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213516" y="654778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908856" y="647147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613143" y="636566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329225" y="623138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59837" y="606991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07571" y="588282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74859" y="567190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363941" y="543919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176848" y="518693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015383" y="491754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881099" y="463362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75292" y="433791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698978" y="403325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652894" y="372257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637484" y="340888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652894" y="309518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698978" y="278451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775292" y="247985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881099" y="218414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015383" y="190022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176848" y="163083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363941" y="137857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574859" y="114585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807571" y="93494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059837" y="74784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329225" y="58638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613143" y="45209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908856" y="34629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213516" y="26997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524189" y="22389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837883" y="20848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151578" y="22389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462251" y="26997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766911" y="34629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062624" y="45209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346542" y="58638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615930" y="74784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868196" y="93494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9100908" y="114585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9311826" y="137857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9498919" y="163083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9660384" y="190022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9794668" y="218414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9900475" y="247985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9976789" y="278451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0022873" y="309518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6832854" y="340385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7054584" y="353187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6832854" y="36598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611123" y="353187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6611123" y="327583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6832854" y="314782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7054584" y="327583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7276314" y="36598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7054584" y="37879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6832854" y="39159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6611123" y="37879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6389393" y="36598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6389393" y="340385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6389393" y="314782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6611123" y="301980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6832854" y="289179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7054584" y="301980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7276314" y="314782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7276314" y="340385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7498044" y="37879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7276314" y="39159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7054584" y="40439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6832854" y="41719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6611123" y="40439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6389393" y="39159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6167663" y="37879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6167663" y="353187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6167663" y="327583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6167663" y="301980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6389393" y="289179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6611123" y="276377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6832854" y="263575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7054584" y="276377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7276314" y="2891789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7498044" y="301980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7498044" y="327583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498044" y="353187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7719774" y="39159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7498044" y="40439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7276314" y="41719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7054584" y="42999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6832854" y="44279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6611123" y="42999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6389393" y="41719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6167663" y="40439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5945933" y="39159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5945933" y="36598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5945933" y="340385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5945933" y="314782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5945933" y="289179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6167663" y="276377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6389393" y="263575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6611123" y="250774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6832854" y="237972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7054584" y="250774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7276314" y="2635757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7498044" y="2763773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7719774" y="289179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7719774" y="314782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7719774" y="340385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7719774" y="36598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47472" y="658368"/>
            <a:ext cx="502920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71920"/>
                </a:solidFill>
                <a:latin typeface="Arial"/>
              </a:rPr>
              <a:t>CONCLUSION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7472" y="987552"/>
            <a:ext cx="5303520" cy="9601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Transform Embedded PDLC
from PG1 to PG5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47472" y="2029968"/>
            <a:ext cx="4956047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347472" y="2322576"/>
            <a:ext cx="256032" cy="25603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621792" y="2432304"/>
            <a:ext cx="502920" cy="36576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261872" y="2249424"/>
            <a:ext cx="411480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0E17"/>
                </a:solidFill>
                <a:latin typeface="Arial"/>
              </a:rPr>
              <a:t>From fragmented embedded data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61872" y="2615184"/>
            <a:ext cx="406908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Jira, Confluence, GitHub, QA and JTAG/SWD evidence become one connected AEPLO PDLC foundation.</a:t>
            </a:r>
          </a:p>
        </p:txBody>
      </p:sp>
      <p:sp>
        <p:nvSpPr>
          <p:cNvPr id="140" name="Oval 139"/>
          <p:cNvSpPr/>
          <p:nvPr/>
        </p:nvSpPr>
        <p:spPr>
          <a:xfrm>
            <a:off x="347472" y="3739896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621792" y="3849624"/>
            <a:ext cx="502920" cy="3657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261872" y="3666744"/>
            <a:ext cx="411480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1920"/>
                </a:solidFill>
                <a:latin typeface="Arial"/>
              </a:rPr>
              <a:t>To intelligent NPI action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61872" y="4032504"/>
            <a:ext cx="406908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Atlassian MCP, ROVO Studio, Copilot and AEPLO agents drive PG1 discovery, PG3 development and PG5 launch readiness.</a:t>
            </a:r>
          </a:p>
        </p:txBody>
      </p:sp>
      <p:sp>
        <p:nvSpPr>
          <p:cNvPr id="144" name="Oval 143"/>
          <p:cNvSpPr/>
          <p:nvPr/>
        </p:nvSpPr>
        <p:spPr>
          <a:xfrm>
            <a:off x="347472" y="5157216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21792" y="5266944"/>
            <a:ext cx="5029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1261872" y="5084064"/>
            <a:ext cx="411480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Arial"/>
              </a:rPr>
              <a:t>Optimise every gate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61872" y="5449824"/>
            <a:ext cx="406908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The JTAG Accelerator adds hardware-backed RCA and controlled fixes to AI-optimised validation and launch decisions.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12  /  12</a:t>
            </a:r>
          </a:p>
        </p:txBody>
      </p:sp>
      <p:pic>
        <p:nvPicPr>
          <p:cNvPr id="148" name="Picture 147">
            <a:extLst>
              <a:ext uri="{FF2B5EF4-FFF2-40B4-BE49-F238E27FC236}">
                <a16:creationId xmlns:a16="http://schemas.microsoft.com/office/drawing/2014/main" id="{DD5A924B-3180-1590-5F67-0356FA8DD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429" y="2681478"/>
            <a:ext cx="2875434" cy="1700784"/>
          </a:xfrm>
          <a:prstGeom prst="rect">
            <a:avLst/>
          </a:prstGeom>
          <a:ln/>
        </p:spPr>
      </p:pic>
      <p:sp>
        <p:nvSpPr>
          <p:cNvPr id="155" name="Rectangle 15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EVALUATION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Criteria &amp; Key Metric Focus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458200" cy="40233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40" b="0" i="1">
                <a:solidFill>
                  <a:srgbClr val="E8E8E8"/>
                </a:solidFill>
                <a:latin typeface="Arial"/>
              </a:rPr>
              <a:t>Updated with current demo values: measurable stream value, BA-hosting readiness, live execution proof, agentic AI governance and LLM/token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01952"/>
            <a:ext cx="8503920" cy="4187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01952"/>
            <a:ext cx="850392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901952"/>
            <a:ext cx="306324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1901952"/>
            <a:ext cx="544068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1975104"/>
            <a:ext cx="30632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rial"/>
              </a:rPr>
              <a:t>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975104"/>
            <a:ext cx="544068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rial"/>
              </a:rPr>
              <a:t>KEY METRIC FOCUS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86000"/>
            <a:ext cx="3063240" cy="65836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83280" y="2286000"/>
            <a:ext cx="5440680" cy="65836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286000"/>
            <a:ext cx="50292" cy="6583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83280" y="2286000"/>
            <a:ext cx="20116" cy="65836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286000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2395728"/>
            <a:ext cx="2743200" cy="49377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Stream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2395728"/>
            <a:ext cx="5056632" cy="470513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19" b="0" i="0" dirty="0">
                <a:solidFill>
                  <a:srgbClr val="E8E8E8"/>
                </a:solidFill>
                <a:latin typeface="Arial"/>
              </a:rPr>
              <a:t>- PDLC lead time: 41% drop (PG1-&gt;PG5 workflow 4.8h -&gt; 2.8h)</a:t>
            </a:r>
          </a:p>
          <a:p>
            <a:pPr algn="l"/>
            <a:r>
              <a:rPr sz="819" b="0" i="0" dirty="0">
                <a:solidFill>
                  <a:srgbClr val="E8E8E8"/>
                </a:solidFill>
                <a:latin typeface="Arial"/>
              </a:rPr>
              <a:t>- Defect leakage: 60% fewer projected escapes</a:t>
            </a:r>
          </a:p>
          <a:p>
            <a:pPr algn="l"/>
            <a:endParaRPr sz="819" b="0" i="0" dirty="0">
              <a:solidFill>
                <a:srgbClr val="E8E8E8"/>
              </a:solidFill>
              <a:latin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0040" y="2944368"/>
            <a:ext cx="3063240" cy="4754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83280" y="2944368"/>
            <a:ext cx="5440680" cy="4754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2944368"/>
            <a:ext cx="50292" cy="4754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83280" y="2944368"/>
            <a:ext cx="20116" cy="47548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2944368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" y="3054096"/>
            <a:ext cx="2743200" cy="3108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Platformization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3054096"/>
            <a:ext cx="5056632" cy="3508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40" b="0" i="0" dirty="0">
                <a:solidFill>
                  <a:srgbClr val="E8E8E8"/>
                </a:solidFill>
                <a:latin typeface="Arial"/>
              </a:rPr>
              <a:t>- BA-org hosting readiness: </a:t>
            </a:r>
            <a:r>
              <a:rPr lang="en-US" sz="840" dirty="0">
                <a:solidFill>
                  <a:srgbClr val="E8E8E8"/>
                </a:solidFill>
                <a:latin typeface="Arial"/>
              </a:rPr>
              <a:t>65</a:t>
            </a:r>
            <a:r>
              <a:rPr sz="840" b="0" i="0" dirty="0">
                <a:solidFill>
                  <a:srgbClr val="E8E8E8"/>
                </a:solidFill>
                <a:latin typeface="Arial"/>
              </a:rPr>
              <a:t>%</a:t>
            </a:r>
          </a:p>
          <a:p>
            <a:pPr algn="l"/>
            <a:r>
              <a:rPr sz="840" b="0" i="0" dirty="0">
                <a:solidFill>
                  <a:srgbClr val="E8E8E8"/>
                </a:solidFill>
                <a:latin typeface="Arial"/>
              </a:rPr>
              <a:t>- Sandbox deployment, SSO path and MCP connectors ready; prod hardening pending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419856"/>
            <a:ext cx="3063240" cy="65836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83280" y="3419856"/>
            <a:ext cx="5440680" cy="65836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3419856"/>
            <a:ext cx="50292" cy="65836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83280" y="3419856"/>
            <a:ext cx="20116" cy="65836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3419856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4632" y="3529584"/>
            <a:ext cx="2743200" cy="49377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Live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84448" y="3529584"/>
            <a:ext cx="5056632" cy="3508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40" b="0" i="0" dirty="0">
                <a:solidFill>
                  <a:srgbClr val="E8E8E8"/>
                </a:solidFill>
                <a:latin typeface="Arial"/>
              </a:rPr>
              <a:t>- Working prototype: </a:t>
            </a:r>
            <a:r>
              <a:rPr lang="en-US" sz="840" dirty="0">
                <a:solidFill>
                  <a:srgbClr val="E8E8E8"/>
                </a:solidFill>
                <a:latin typeface="Arial"/>
              </a:rPr>
              <a:t>80</a:t>
            </a:r>
            <a:r>
              <a:rPr sz="840" b="0" i="0" dirty="0">
                <a:solidFill>
                  <a:srgbClr val="E8E8E8"/>
                </a:solidFill>
                <a:latin typeface="Arial"/>
              </a:rPr>
              <a:t>% PG1 / PG3 / PG5 demo flow completed</a:t>
            </a:r>
          </a:p>
          <a:p>
            <a:pPr algn="l"/>
            <a:r>
              <a:rPr sz="840" b="0" i="0" dirty="0">
                <a:solidFill>
                  <a:srgbClr val="E8E8E8"/>
                </a:solidFill>
                <a:latin typeface="Arial"/>
              </a:rPr>
              <a:t>- Active impact: Jira evidence + GitHub PR + Confluence summary generated in run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078224"/>
            <a:ext cx="3063240" cy="9326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383280" y="4078224"/>
            <a:ext cx="5440680" cy="9326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0040" y="4078224"/>
            <a:ext cx="50292" cy="9326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383280" y="4078224"/>
            <a:ext cx="20116" cy="93268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" y="4078224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4632" y="4187952"/>
            <a:ext cx="2743200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30" b="1" i="0">
                <a:solidFill>
                  <a:srgbClr val="FFFFFF"/>
                </a:solidFill>
                <a:latin typeface="Arial"/>
              </a:rPr>
              <a:t>Agentic AI design pattern compliance
[Agents orchestration, routing protocols,
MCP Servers, Skills, etc]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4448" y="4187952"/>
            <a:ext cx="5056632" cy="466281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10" b="0" i="0" dirty="0">
                <a:solidFill>
                  <a:srgbClr val="E8E8E8"/>
                </a:solidFill>
                <a:latin typeface="Arial"/>
              </a:rPr>
              <a:t>- Inter-agent handoff success: 92%</a:t>
            </a:r>
          </a:p>
          <a:p>
            <a:pPr algn="l"/>
            <a:r>
              <a:rPr sz="810" b="0" i="0" dirty="0">
                <a:solidFill>
                  <a:srgbClr val="E8E8E8"/>
                </a:solidFill>
                <a:latin typeface="Arial"/>
              </a:rPr>
              <a:t>- Reusable tools/skills: 9 of 12 (75%)</a:t>
            </a:r>
          </a:p>
          <a:p>
            <a:pPr algn="l"/>
            <a:r>
              <a:rPr sz="810" b="0" i="0" dirty="0">
                <a:solidFill>
                  <a:srgbClr val="E8E8E8"/>
                </a:solidFill>
                <a:latin typeface="Arial"/>
              </a:rPr>
              <a:t>- MCP usage relevancy: 100% of Jira/Confluence actions mapped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010912"/>
            <a:ext cx="3063240" cy="107899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383280" y="5010912"/>
            <a:ext cx="5440680" cy="107899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0040" y="5010912"/>
            <a:ext cx="50292" cy="10789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383280" y="5010912"/>
            <a:ext cx="20116" cy="107899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20040" y="5010912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4632" y="5120640"/>
            <a:ext cx="2743200" cy="9144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30" b="1" i="0">
                <a:solidFill>
                  <a:srgbClr val="FFFFFF"/>
                </a:solidFill>
                <a:latin typeface="Arial"/>
              </a:rPr>
              <a:t>LLM selection strategies
[GitHub Copilot &amp; OpenAI] &amp; AI Token
usage Optimization
[LLM selection, Context Management,
and Prompt engineering]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84448" y="5120640"/>
            <a:ext cx="5056632" cy="9144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790" b="0" i="0">
                <a:solidFill>
                  <a:srgbClr val="E8E8E8"/>
                </a:solidFill>
                <a:latin typeface="Arial"/>
              </a:rPr>
              <a:t>- Token reduction: 41% (baseline prompt pack vs routed context)</a:t>
            </a:r>
          </a:p>
          <a:p>
            <a:pPr algn="l"/>
            <a:r>
              <a:rPr sz="790" b="0" i="0">
                <a:solidFill>
                  <a:srgbClr val="E8E8E8"/>
                </a:solidFill>
                <a:latin typeface="Arial"/>
              </a:rPr>
              <a:t>- Cost/request savings: 36%</a:t>
            </a:r>
          </a:p>
          <a:p>
            <a:pPr algn="l"/>
            <a:r>
              <a:rPr sz="790" b="0" i="0">
                <a:solidFill>
                  <a:srgbClr val="E8E8E8"/>
                </a:solidFill>
                <a:latin typeface="Arial"/>
              </a:rPr>
              <a:t>- Tool-calling JSON accuracy: 96%</a:t>
            </a:r>
          </a:p>
          <a:p>
            <a:pPr algn="l"/>
            <a:r>
              <a:rPr sz="790" b="0" i="0">
                <a:solidFill>
                  <a:srgbClr val="E8E8E8"/>
                </a:solidFill>
                <a:latin typeface="Arial"/>
              </a:rPr>
              <a:t>- Prompt caching utilization: 68%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0040" y="6272784"/>
            <a:ext cx="8503920" cy="219456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" y="6318504"/>
            <a:ext cx="8138160" cy="731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740" b="1" i="0">
                <a:solidFill>
                  <a:srgbClr val="2E7D32"/>
                </a:solidFill>
                <a:latin typeface="Arial"/>
              </a:rPr>
              <a:t>FOCUS: show quantified PDLC impact with a reusable, hosted, agentic-AI execution pattern.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12  /  13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385D4FBCD491449E1D36F0103336E0" ma:contentTypeVersion="3" ma:contentTypeDescription="Create a new document." ma:contentTypeScope="" ma:versionID="05b8c16f72a465d94175fee1a9f0cdb1">
  <xsd:schema xmlns:xsd="http://www.w3.org/2001/XMLSchema" xmlns:xs="http://www.w3.org/2001/XMLSchema" xmlns:p="http://schemas.microsoft.com/office/2006/metadata/properties" xmlns:ns2="e94ddfc3-4734-4b9a-ae26-16534f892664" targetNamespace="http://schemas.microsoft.com/office/2006/metadata/properties" ma:root="true" ma:fieldsID="5da84732ee269f2f8c69a64254ea57c1" ns2:_="">
    <xsd:import namespace="e94ddfc3-4734-4b9a-ae26-16534f8926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4ddfc3-4734-4b9a-ae26-16534f8926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F64E7DF-7969-461F-8D79-4E2223D5DA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521981-0FA2-42A5-9139-0A1170FE2067}">
  <ds:schemaRefs>
    <ds:schemaRef ds:uri="e94ddfc3-4734-4b9a-ae26-16534f89266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70049F5-D881-4A27-9198-FB7AEB41FA35}">
  <ds:schemaRefs>
    <ds:schemaRef ds:uri="e94ddfc3-4734-4b9a-ae26-16534f892664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2747</Words>
  <Application>Microsoft Office PowerPoint</Application>
  <PresentationFormat>On-screen Show (4:3)</PresentationFormat>
  <Paragraphs>402</Paragraphs>
  <Slides>14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Shrivastava, Shyam</dc:creator>
  <cp:keywords/>
  <dc:description>generated using python-pptx</dc:description>
  <cp:lastModifiedBy>Shrivastava, Shyam</cp:lastModifiedBy>
  <cp:revision>1</cp:revision>
  <dcterms:created xsi:type="dcterms:W3CDTF">2013-01-27T09:14:16Z</dcterms:created>
  <dcterms:modified xsi:type="dcterms:W3CDTF">2026-06-17T05:45:01Z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0x010100F3385D4FBCD491449E1D36F0103336E0</vt:lpwstr>
  </property>
</Properties>
</file>