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8" r:id="rId5"/>
    <p:sldId id="257" r:id="rId6"/>
    <p:sldId id="258" r:id="rId7"/>
    <p:sldId id="259" r:id="rId8"/>
    <p:sldId id="260" r:id="rId9"/>
    <p:sldId id="261" r:id="rId10"/>
    <p:sldId id="262" r:id="rId11"/>
    <p:sldId id="270" r:id="rId12"/>
    <p:sldId id="263" r:id="rId13"/>
    <p:sldId id="264" r:id="rId14"/>
    <p:sldId id="265" r:id="rId15"/>
    <p:sldId id="266" r:id="rId16"/>
    <p:sldId id="269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31" dt="2026-06-16T07:14:16.1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290" autoAdjust="0"/>
  </p:normalViewPr>
  <p:slideViewPr>
    <p:cSldViewPr snapToGrid="0">
      <p:cViewPr varScale="1">
        <p:scale>
          <a:sx n="53" d="100"/>
          <a:sy n="53" d="100"/>
        </p:scale>
        <p:origin x="1660" y="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-38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story is simple: connect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:</a:t>
            </a:r>
            <a:br>
              <a:rPr lang="en-US" dirty="0"/>
            </a:br>
            <a:r>
              <a:rPr lang="en-US" dirty="0"/>
              <a:t>Embedded PDLC data is fragmented. Jira, Confluence, GitHub,</a:t>
            </a:r>
          </a:p>
          <a:p>
            <a:r>
              <a:rPr lang="en-US" dirty="0"/>
              <a:t>QA results, and JTAG/SWD hardware evidence often sit in</a:t>
            </a:r>
          </a:p>
          <a:p>
            <a:r>
              <a:rPr lang="en-US" dirty="0"/>
              <a:t>separate places. That slows decisions across PG1, PG3, and PG5</a:t>
            </a:r>
          </a:p>
          <a:p>
            <a:r>
              <a:rPr lang="en-US" dirty="0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:</a:t>
            </a:r>
            <a:br>
              <a:rPr lang="en-US" dirty="0"/>
            </a:br>
            <a:r>
              <a:rPr lang="en-US" dirty="0"/>
              <a:t>AEPLO becomes the connected platform. It treats JTAG evidence</a:t>
            </a:r>
          </a:p>
          <a:p>
            <a:r>
              <a:rPr lang="en-US" dirty="0"/>
              <a:t>as a native PDLC signal, combines it with traceability and</a:t>
            </a:r>
          </a:p>
          <a:p>
            <a:r>
              <a:rPr lang="en-US" dirty="0"/>
              <a:t>project context, and applies AI </a:t>
            </a:r>
            <a:r>
              <a:rPr lang="en-US" dirty="0" err="1"/>
              <a:t>optimisation</a:t>
            </a:r>
            <a:r>
              <a:rPr lang="en-US" dirty="0"/>
              <a:t> through ROVO</a:t>
            </a:r>
          </a:p>
          <a:p>
            <a:r>
              <a:rPr lang="en-US" dirty="0"/>
              <a:t>Studio, Copilot, and </a:t>
            </a:r>
            <a:r>
              <a:rPr lang="en-US" dirty="0" err="1"/>
              <a:t>specialised</a:t>
            </a:r>
            <a:r>
              <a:rPr lang="en-US" dirty="0"/>
              <a:t> agents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0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architecture connects Jira, Confluence, GitHub, Copilot,</a:t>
            </a:r>
          </a:p>
          <a:p>
            <a:r>
              <a:rPr lang="en-US" dirty="0"/>
              <a:t>ROVO Studio, Atlassian MCP, and JTAG/SWD evidence. AEPLO then</a:t>
            </a:r>
          </a:p>
          <a:p>
            <a:r>
              <a:rPr lang="en-US" dirty="0"/>
              <a:t>turns that data into orchestration, controlled fixes, gate</a:t>
            </a:r>
          </a:p>
          <a:p>
            <a:r>
              <a:rPr lang="en-US" dirty="0"/>
              <a:t>verdicts, and reusable launch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958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the working tool stack. Jira and Confluence carry the</a:t>
            </a:r>
          </a:p>
          <a:p>
            <a:r>
              <a:rPr lang="en-US" dirty="0"/>
              <a:t>planning and knowledge base. GitHub and Copilot support code</a:t>
            </a:r>
          </a:p>
          <a:p>
            <a:r>
              <a:rPr lang="en-US" dirty="0"/>
              <a:t>change. Atlassian MCP and AEPLO orchestrate the workflow. The</a:t>
            </a:r>
          </a:p>
          <a:p>
            <a:r>
              <a:rPr lang="en-US" dirty="0"/>
              <a:t>JTAG Accelerator adds physical target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62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"At PG1, AEPLO collects PRD context, Jira themes, Confluence</a:t>
            </a:r>
          </a:p>
          <a:p>
            <a:r>
              <a:rPr lang="en-US" dirty="0"/>
              <a:t>architecture, GitHub history, and target-board assumptions. It</a:t>
            </a:r>
          </a:p>
          <a:p>
            <a:r>
              <a:rPr lang="en-US" dirty="0"/>
              <a:t>maps PDLC risks and embedded debug hotspots, then produces a</a:t>
            </a:r>
          </a:p>
          <a:p>
            <a:r>
              <a:rPr lang="en-US" dirty="0"/>
              <a:t>risk-backed demo scope and validation plan."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62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"At PG3, the JTAG Accelerator converts embedded coding defects</a:t>
            </a:r>
          </a:p>
          <a:p>
            <a:r>
              <a:rPr lang="en-US" dirty="0"/>
              <a:t>into hardware-backed root-cause analysis. It captures registers,</a:t>
            </a:r>
          </a:p>
          <a:p>
            <a:r>
              <a:rPr lang="en-US" dirty="0"/>
              <a:t>stack frames, memory evidence, and probe logs, then links the</a:t>
            </a:r>
          </a:p>
          <a:p>
            <a:r>
              <a:rPr lang="en-US" dirty="0"/>
              <a:t>controlled fix back to GitHub and Jira."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0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slide shows three real-time use cases for the JTAG agent.</a:t>
            </a:r>
          </a:p>
          <a:p>
            <a:r>
              <a:rPr lang="en-US" dirty="0"/>
              <a:t>First, a bootloader-to-application handoff caused a </a:t>
            </a:r>
            <a:r>
              <a:rPr lang="en-US" dirty="0" err="1"/>
              <a:t>HardFault</a:t>
            </a:r>
            <a:endParaRPr lang="en-US" dirty="0"/>
          </a:p>
          <a:p>
            <a:r>
              <a:rPr lang="en-US" dirty="0"/>
              <a:t>because </a:t>
            </a:r>
            <a:r>
              <a:rPr lang="en-US" dirty="0" err="1"/>
              <a:t>SysTick</a:t>
            </a:r>
            <a:r>
              <a:rPr lang="en-US" dirty="0"/>
              <a:t> was enabled but the application vector table had</a:t>
            </a:r>
          </a:p>
          <a:p>
            <a:r>
              <a:rPr lang="en-US" dirty="0"/>
              <a:t>no </a:t>
            </a:r>
            <a:r>
              <a:rPr lang="en-US" dirty="0" err="1"/>
              <a:t>SysTick</a:t>
            </a:r>
            <a:r>
              <a:rPr lang="en-US" dirty="0"/>
              <a:t> handler. The agent correlated the PC, vector table,</a:t>
            </a:r>
          </a:p>
          <a:p>
            <a:r>
              <a:rPr lang="en-US" dirty="0"/>
              <a:t>and peripheral state and reduced diagnosis from days to about</a:t>
            </a:r>
          </a:p>
          <a:p>
            <a:r>
              <a:rPr lang="en-US" dirty="0"/>
              <a:t>45 minutes.</a:t>
            </a:r>
          </a:p>
          <a:p>
            <a:endParaRPr lang="en-US" dirty="0"/>
          </a:p>
          <a:p>
            <a:r>
              <a:rPr lang="en-US" dirty="0"/>
              <a:t>Second, the agent emulated a sub-zero ADC condition at room</a:t>
            </a:r>
          </a:p>
          <a:p>
            <a:r>
              <a:rPr lang="en-US" dirty="0"/>
              <a:t>temperature. That allowed driver </a:t>
            </a:r>
            <a:r>
              <a:rPr lang="en-US" dirty="0" err="1"/>
              <a:t>reinitialisation</a:t>
            </a:r>
            <a:r>
              <a:rPr lang="en-US" dirty="0"/>
              <a:t> and gain</a:t>
            </a:r>
          </a:p>
          <a:p>
            <a:r>
              <a:rPr lang="en-US" dirty="0"/>
              <a:t>adjustment to be validated without waiting for thermal chamber</a:t>
            </a:r>
          </a:p>
          <a:p>
            <a:r>
              <a:rPr lang="en-US" dirty="0"/>
              <a:t>cycling.</a:t>
            </a:r>
          </a:p>
          <a:p>
            <a:endParaRPr lang="en-US" dirty="0"/>
          </a:p>
          <a:p>
            <a:r>
              <a:rPr lang="en-US" dirty="0"/>
              <a:t>Third, for a boot failure after flashing a new build, the agent</a:t>
            </a:r>
          </a:p>
          <a:p>
            <a:r>
              <a:rPr lang="en-US" dirty="0"/>
              <a:t>traced the Program Counter and identified execution going to</a:t>
            </a:r>
          </a:p>
          <a:p>
            <a:r>
              <a:rPr lang="en-US" dirty="0"/>
              <a:t>system ROM instead of internal flash. The key message is that</a:t>
            </a:r>
          </a:p>
          <a:p>
            <a:r>
              <a:rPr lang="en-US" dirty="0"/>
              <a:t>JTAG evidence becomes actionable AI context, not just a debug</a:t>
            </a:r>
          </a:p>
          <a:p>
            <a:r>
              <a:rPr lang="en-US" dirty="0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"At PG5, AEPLO evaluates code, QA results, traceability, and</a:t>
            </a:r>
          </a:p>
          <a:p>
            <a:r>
              <a:rPr lang="en-US" dirty="0"/>
              <a:t>JTAG/SWD evidence together. The gatekeeper produces a clear</a:t>
            </a:r>
          </a:p>
          <a:p>
            <a:r>
              <a:rPr lang="en-US" dirty="0"/>
              <a:t>READY or NOT_READY verdict, plus a prioritized remediation list</a:t>
            </a:r>
          </a:p>
          <a:p>
            <a:r>
              <a:rPr lang="en-US" dirty="0"/>
              <a:t>for validation and launch preparation.“</a:t>
            </a:r>
          </a:p>
          <a:p>
            <a:r>
              <a:rPr lang="en-US" dirty="0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 dirty="0"/>
              <a:t>The STQC team updates the Guidelines from time to time, tightening the security norms a little further at each revision.</a:t>
            </a:r>
          </a:p>
          <a:p>
            <a:endParaRPr lang="en-US" dirty="0"/>
          </a:p>
          <a:p>
            <a:r>
              <a:rPr lang="en-US" dirty="0"/>
              <a:t>Developers take  months to traverse through the code, and Create evidences, Validate them and do a thorough Code/Hardware Review.</a:t>
            </a:r>
          </a:p>
          <a:p>
            <a:r>
              <a:rPr lang="en-US" dirty="0"/>
              <a:t>AEPLO’s STQC feature reduces this time frame to Days.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"QA2Release closes the loop. Test failures and JTAG evidence</a:t>
            </a:r>
          </a:p>
          <a:p>
            <a:r>
              <a:rPr lang="en-US" dirty="0"/>
              <a:t>feed root-cause analysis, test </a:t>
            </a:r>
            <a:r>
              <a:rPr lang="en-US" dirty="0" err="1"/>
              <a:t>optimisation</a:t>
            </a:r>
            <a:r>
              <a:rPr lang="en-US" dirty="0"/>
              <a:t>, and next-release</a:t>
            </a:r>
          </a:p>
          <a:p>
            <a:r>
              <a:rPr lang="en-US" dirty="0"/>
              <a:t>learning. The output becomes Jira actions, Confluence summaries,</a:t>
            </a:r>
          </a:p>
          <a:p>
            <a:r>
              <a:rPr lang="en-US" dirty="0"/>
              <a:t>and better evidence for the next gate.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54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follows three stages: PG1 discovery in ROVO</a:t>
            </a:r>
          </a:p>
          <a:p>
            <a:r>
              <a:rPr lang="en-US" dirty="0"/>
              <a:t>Studio, PG3 development with the JTAG Accelerator and Copilot,</a:t>
            </a:r>
          </a:p>
          <a:p>
            <a:r>
              <a:rPr lang="en-US" dirty="0"/>
              <a:t>and PG5 validation with AEPLO release gating , STQC Agent and automated</a:t>
            </a:r>
          </a:p>
          <a:p>
            <a:r>
              <a:rPr lang="en-US" dirty="0"/>
              <a:t>launch-prep evidence.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3645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value for embedded teams is practical: reduced defect</a:t>
            </a:r>
          </a:p>
          <a:p>
            <a:r>
              <a:rPr lang="en-US" dirty="0"/>
              <a:t>leakage, faster firmware root cause, clearer NPI gate</a:t>
            </a:r>
          </a:p>
          <a:p>
            <a:r>
              <a:rPr lang="en-US" dirty="0"/>
              <a:t>confidence, and AI-</a:t>
            </a:r>
            <a:r>
              <a:rPr lang="en-US" dirty="0" err="1"/>
              <a:t>optimised</a:t>
            </a:r>
            <a:r>
              <a:rPr lang="en-US" dirty="0"/>
              <a:t> PDLC work across planning, coding,</a:t>
            </a:r>
          </a:p>
          <a:p>
            <a:r>
              <a:rPr lang="en-US" dirty="0"/>
              <a:t>validation, and launch preparation."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C47DC-78E4-96AC-C239-EF94F65A567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common idea is connected embedded data plus intelligent</a:t>
            </a:r>
          </a:p>
          <a:p>
            <a:r>
              <a:rPr lang="en-US" dirty="0"/>
              <a:t>PDLC action. AEPLO, with the JTAG Accelerator inside it, helps</a:t>
            </a:r>
          </a:p>
          <a:p>
            <a:r>
              <a:rPr lang="en-US" dirty="0" err="1"/>
              <a:t>optimise</a:t>
            </a:r>
            <a:r>
              <a:rPr lang="en-US" dirty="0"/>
              <a:t> every gate from PG1 to PG5. Thank you."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256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D71920"/>
                </a:solidFill>
                <a:latin typeface="Arial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E8E8"/>
                </a:solidFill>
                <a:latin typeface="Arial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12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E8E8E8"/>
                </a:solidFill>
                <a:latin typeface="Arial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2E7D32"/>
                </a:solidFill>
                <a:latin typeface="Arial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Validation proof and governance pack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9768" y="6214491"/>
            <a:ext cx="8138160" cy="22608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2E7D32"/>
                </a:solidFill>
                <a:latin typeface="Arial"/>
              </a:rPr>
              <a:t>COMMON IDEA: AEPLO connects enterprise collaboration tools with embedded hardware evidence to optimize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5  /  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PG1 Discovery — AI Risk &amp; Scope </a:t>
            </a:r>
            <a:r>
              <a:rPr sz="2800" b="1" i="0" err="1">
                <a:solidFill>
                  <a:srgbClr val="FFFFFF"/>
                </a:solidFill>
                <a:latin typeface="Arial"/>
              </a:rPr>
              <a:t>Optimisation</a:t>
            </a:r>
            <a:endParaRPr sz="28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7  /  13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14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0E17"/>
                </a:solidFill>
                <a:latin typeface="Arial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71920"/>
                </a:solidFill>
                <a:latin typeface="Arial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E8E8"/>
                </a:solidFill>
                <a:latin typeface="Arial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10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D71920"/>
                </a:solidFill>
                <a:latin typeface="Arial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b="1" i="0">
                <a:solidFill>
                  <a:srgbClr val="D71920"/>
                </a:solidFill>
                <a:latin typeface="Arial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8E8E8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11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0E17"/>
                </a:solidFill>
                <a:latin typeface="Arial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71920"/>
                </a:solidFill>
                <a:latin typeface="Arial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429" y="2681478"/>
            <a:ext cx="2875434" cy="1700784"/>
          </a:xfrm>
          <a:prstGeom prst="rect">
            <a:avLst/>
          </a:prstGeom>
          <a:ln/>
        </p:spPr>
      </p:pic>
      <p:sp>
        <p:nvSpPr>
          <p:cNvPr id="155" name="Rectangle 15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www.w3.org/XML/1998/namespace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2768</Words>
  <Application>Microsoft Office PowerPoint</Application>
  <PresentationFormat>On-screen Show (4:3)</PresentationFormat>
  <Paragraphs>404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1</cp:revision>
  <dcterms:created xsi:type="dcterms:W3CDTF">2013-01-27T09:14:16Z</dcterms:created>
  <dcterms:modified xsi:type="dcterms:W3CDTF">2026-06-16T07:14:16Z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