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41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D0E7E-6A88-4B04-9A5D-6C19CCE62BE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E185B-F565-433C-BFFE-C2A527601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11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Coding Embedded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B32CF0-F5B6-41B6-8A76-716E14B1DE2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815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600200"/>
            <a:ext cx="12191695" cy="18288"/>
          </a:xfrm>
          <a:prstGeom prst="rect">
            <a:avLst/>
          </a:prstGeom>
          <a:solidFill>
            <a:srgbClr val="11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55279" y="137160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55279" y="429768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55279" y="722376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55279" y="1014983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955279" y="1307592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55279" y="1600200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55279" y="1892807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55279" y="2185416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55279" y="2478024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55279" y="2770632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55279" y="3063240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955279" y="3355848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955279" y="3648456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955279" y="3941064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955279" y="4233672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955279" y="4526280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955279" y="4818888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955279" y="5111496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955279" y="5404104"/>
            <a:ext cx="3977639" cy="5486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973568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02752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631936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961120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290304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619488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948672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277856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0607040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0936224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1265408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594592" y="137160"/>
            <a:ext cx="5486" cy="6263640"/>
          </a:xfrm>
          <a:prstGeom prst="rect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716768" y="128016"/>
            <a:ext cx="457200" cy="457200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0844784" y="25603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1752" y="155448"/>
            <a:ext cx="7955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AI-Driven Embedded Product Lifecycle Orchestrator  [AEPLO]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01752" y="5029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00C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REAL NPI IMPACT.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39" y="896112"/>
            <a:ext cx="76132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AEPLO unifies Jira, Confluence, GitHub, Copilot, ROVO Studio and JTAG/SWD evidence to optimize embedded PDLC decisions across PG1, PG3 and PG5.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109728"/>
            <a:ext cx="3794760" cy="8961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412480" y="2468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D48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ONE AEPLO PLATFORM.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0292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C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EMBEDDED. PDLC. AI OPTIMISATION.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758952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3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JTAG Accelerator is a native AEPLO capability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6032" y="1225296"/>
            <a:ext cx="1664208" cy="310896"/>
          </a:xfrm>
          <a:prstGeom prst="round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56032" y="1225296"/>
            <a:ext cx="36576" cy="3108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65760" y="1298448"/>
            <a:ext cx="1417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ROVO Studio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39696" y="1225296"/>
            <a:ext cx="1664208" cy="310896"/>
          </a:xfrm>
          <a:prstGeom prst="round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139696" y="1225296"/>
            <a:ext cx="36576" cy="31089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249424" y="1298448"/>
            <a:ext cx="1417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Copilot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23360" y="1225296"/>
            <a:ext cx="1664208" cy="310896"/>
          </a:xfrm>
          <a:prstGeom prst="round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023360" y="1225296"/>
            <a:ext cx="36576" cy="31089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133088" y="1298448"/>
            <a:ext cx="1417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Atlassian MCP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07024" y="1225296"/>
            <a:ext cx="1664208" cy="310896"/>
          </a:xfrm>
          <a:prstGeom prst="round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907024" y="1225296"/>
            <a:ext cx="3657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016752" y="1298448"/>
            <a:ext cx="1417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GitHub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90688" y="1225296"/>
            <a:ext cx="1664208" cy="310896"/>
          </a:xfrm>
          <a:prstGeom prst="round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790688" y="1225296"/>
            <a:ext cx="36576" cy="310896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900416" y="1298448"/>
            <a:ext cx="1417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Jira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74352" y="1225296"/>
            <a:ext cx="1664208" cy="310896"/>
          </a:xfrm>
          <a:prstGeom prst="round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674352" y="1225296"/>
            <a:ext cx="36576" cy="31089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784080" y="1298448"/>
            <a:ext cx="1417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Confluence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9456" y="1755648"/>
            <a:ext cx="1664208" cy="333756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19456" y="1755648"/>
            <a:ext cx="1664208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92608" y="1865376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1. EMBEDDED DATA SOURCES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9184" y="2139696"/>
            <a:ext cx="1444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30" b="0" i="0" u="none" strike="noStrike" kern="1200" cap="none" spc="0" normalizeH="0" baseline="0" noProof="0">
                <a:ln>
                  <a:noFill/>
                </a:ln>
                <a:solidFill>
                  <a:srgbClr val="00D48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Discovery + engineering context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29184" y="2505456"/>
            <a:ext cx="144475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420624" y="2642616"/>
            <a:ext cx="164592" cy="16459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40080" y="2578608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Jira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2734056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NPI epics, defects, decisions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29184" y="3108960"/>
            <a:ext cx="144475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20624" y="3246120"/>
            <a:ext cx="164592" cy="16459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40080" y="3182112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Confluence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3337560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PRD, architecture, lessons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9184" y="3712464"/>
            <a:ext cx="144475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420624" y="3849624"/>
            <a:ext cx="164592" cy="16459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0080" y="3785616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GitHub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3941064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Code, PRs, branches, reviews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9184" y="4315968"/>
            <a:ext cx="144475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420624" y="4453128"/>
            <a:ext cx="164592" cy="16459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40080" y="4389120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JTAG/SWD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4544568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MCU registers, memory, traces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1911096" y="3355848"/>
            <a:ext cx="274320" cy="182880"/>
          </a:xfrm>
          <a:prstGeom prst="rightArrow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2075688" y="1755648"/>
            <a:ext cx="1847088" cy="333756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2075688" y="1755648"/>
            <a:ext cx="1847088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148840" y="1865376"/>
            <a:ext cx="17007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2. UNIFIED PDLC FOUNDATION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85416" y="2139696"/>
            <a:ext cx="1627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30" b="0" i="0" u="none" strike="noStrike" kern="1200" cap="none" spc="0" normalizeH="0" baseline="0" noProof="0">
                <a:ln>
                  <a:noFill/>
                </a:ln>
                <a:solidFill>
                  <a:srgbClr val="0072C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Single source of truth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185416" y="2505456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2276856" y="2642616"/>
            <a:ext cx="164592" cy="16459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496312" y="2578608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Traceability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496312" y="2734056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Requirements -&gt; code -&gt; test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185416" y="3108960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276856" y="3246120"/>
            <a:ext cx="164592" cy="16459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496312" y="3182112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Knowledge Graph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96312" y="3337560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Board, firmware, defect links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185416" y="3712464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2276856" y="3849624"/>
            <a:ext cx="164592" cy="16459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496312" y="3785616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Evidence Lake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96312" y="3941064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Logs, dumps, probe sessions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185416" y="4315968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2276856" y="4453128"/>
            <a:ext cx="164592" cy="16459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496312" y="4389120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NPI Context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96312" y="4544568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PG1 / PG3 / PG5 gates</a:t>
            </a:r>
          </a:p>
        </p:txBody>
      </p:sp>
      <p:sp>
        <p:nvSpPr>
          <p:cNvPr id="106" name="Right Arrow 105"/>
          <p:cNvSpPr/>
          <p:nvPr/>
        </p:nvSpPr>
        <p:spPr>
          <a:xfrm>
            <a:off x="3950208" y="3355848"/>
            <a:ext cx="274320" cy="182880"/>
          </a:xfrm>
          <a:prstGeom prst="rightArrow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4114800" y="1755648"/>
            <a:ext cx="1847088" cy="333756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4114800" y="1755648"/>
            <a:ext cx="1847088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187952" y="1865376"/>
            <a:ext cx="17007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3. AEPLO ORCHESTRATION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24528" y="2139696"/>
            <a:ext cx="1627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30" b="0" i="0" u="none" strike="noStrike" kern="1200" cap="none" spc="0" normalizeH="0" baseline="0" noProof="0">
                <a:ln>
                  <a:noFill/>
                </a:ln>
                <a:solidFill>
                  <a:srgbClr val="FF8C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Work that flows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224528" y="2505456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4315968" y="2642616"/>
            <a:ext cx="164592" cy="16459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535424" y="2578608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Atlassian MCP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35424" y="2734056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Jira + Confluence actions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224528" y="3108960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4315968" y="3246120"/>
            <a:ext cx="164592" cy="16459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535424" y="3182112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JTAG Accelerator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35424" y="3337560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Hardware-backed RCA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224528" y="3712464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4315968" y="3849624"/>
            <a:ext cx="164592" cy="16459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535424" y="3785616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Release Gate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35424" y="3941064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READY / NOT_READY verdict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224528" y="4315968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4315968" y="4453128"/>
            <a:ext cx="164592" cy="16459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535424" y="4389120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GitHub Automation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35424" y="4544568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Branch, PR, review evidence</a:t>
            </a:r>
          </a:p>
        </p:txBody>
      </p:sp>
      <p:sp>
        <p:nvSpPr>
          <p:cNvPr id="127" name="Right Arrow 126"/>
          <p:cNvSpPr/>
          <p:nvPr/>
        </p:nvSpPr>
        <p:spPr>
          <a:xfrm>
            <a:off x="5989320" y="3355848"/>
            <a:ext cx="274320" cy="182880"/>
          </a:xfrm>
          <a:prstGeom prst="rightArrow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6153912" y="1755648"/>
            <a:ext cx="1847088" cy="333756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6153912" y="1755648"/>
            <a:ext cx="184708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227064" y="1865376"/>
            <a:ext cx="17007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4. AI-POWERED EXPERIENCES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63640" y="2139696"/>
            <a:ext cx="1627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30" b="0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Actionable intelligence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63640" y="2505456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355080" y="2642616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574536" y="2578608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ROVO Studio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574536" y="2734056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NPI demo cockpit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263640" y="3108960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6355080" y="3246120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6574536" y="3182112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Copilot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574536" y="3337560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Code fix and explanation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263640" y="3712464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6355080" y="3849624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6574536" y="3785616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AI Agents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574536" y="3941064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Fault, variable, peripheral RCA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263640" y="4315968"/>
            <a:ext cx="162763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6355080" y="4453128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574536" y="4389120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AI Optimisation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574536" y="4544568"/>
            <a:ext cx="1280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Risk, tests, fixes, readiness</a:t>
            </a:r>
          </a:p>
        </p:txBody>
      </p:sp>
      <p:sp>
        <p:nvSpPr>
          <p:cNvPr id="148" name="Right Arrow 147"/>
          <p:cNvSpPr/>
          <p:nvPr/>
        </p:nvSpPr>
        <p:spPr>
          <a:xfrm>
            <a:off x="8028432" y="3355848"/>
            <a:ext cx="274320" cy="182880"/>
          </a:xfrm>
          <a:prstGeom prst="rightArrow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9" name="Rounded Rectangle 148"/>
          <p:cNvSpPr/>
          <p:nvPr/>
        </p:nvSpPr>
        <p:spPr>
          <a:xfrm>
            <a:off x="8193024" y="1755648"/>
            <a:ext cx="1755648" cy="333756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8193024" y="1755648"/>
            <a:ext cx="1755648" cy="54864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266176" y="1865376"/>
            <a:ext cx="1609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5. NPI GATE OUTCOMES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302752" y="2139696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30" b="0" i="0" u="none" strike="noStrike" kern="1200" cap="none" spc="0" normalizeH="0" baseline="0" noProof="0">
                <a:ln>
                  <a:noFill/>
                </a:ln>
                <a:solidFill>
                  <a:srgbClr val="00A89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Demo aligned to phases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302752" y="2505456"/>
            <a:ext cx="153619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8394192" y="2642616"/>
            <a:ext cx="164592" cy="164592"/>
          </a:xfrm>
          <a:prstGeom prst="ellipse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8613648" y="2578608"/>
            <a:ext cx="1188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PG1 Discovery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613648" y="2734056"/>
            <a:ext cx="1188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Risk-backed scope and plan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302752" y="3108960"/>
            <a:ext cx="153619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8394192" y="3246120"/>
            <a:ext cx="164592" cy="164592"/>
          </a:xfrm>
          <a:prstGeom prst="ellipse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8613648" y="3182112"/>
            <a:ext cx="1188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PG3 Development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13648" y="3337560"/>
            <a:ext cx="1188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RCA, patch, PR, evidence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302752" y="3712464"/>
            <a:ext cx="153619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8394192" y="3849624"/>
            <a:ext cx="164592" cy="164592"/>
          </a:xfrm>
          <a:prstGeom prst="ellipse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8613648" y="3785616"/>
            <a:ext cx="1188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PG5 Validation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613648" y="3941064"/>
            <a:ext cx="1188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Launch readiness action list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302752" y="4315968"/>
            <a:ext cx="1536192" cy="4389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8394192" y="4453128"/>
            <a:ext cx="164592" cy="164592"/>
          </a:xfrm>
          <a:prstGeom prst="ellipse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8613648" y="4389120"/>
            <a:ext cx="1188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PDLC Impact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13648" y="4544568"/>
            <a:ext cx="11887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Faster debug, better decisions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149840" y="1572768"/>
            <a:ext cx="1847088" cy="3584448"/>
          </a:xfrm>
          <a:prstGeom prst="round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10149840" y="1572768"/>
            <a:ext cx="1847088" cy="4572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10259568" y="1719072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BUSINESS VALUE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277856" y="1956816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70" b="1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THAT EMBEDDED TEAMS CARE ABOUT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0287000" y="2331720"/>
            <a:ext cx="1572768" cy="457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" name="Oval 173"/>
          <p:cNvSpPr/>
          <p:nvPr/>
        </p:nvSpPr>
        <p:spPr>
          <a:xfrm>
            <a:off x="10405872" y="2450592"/>
            <a:ext cx="219456" cy="219456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10716768" y="2404872"/>
            <a:ext cx="987552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00D48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ACCELERATE NPI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16768" y="2551176"/>
            <a:ext cx="98755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3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PG1 risk to PG5 launch evidence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0287000" y="2953512"/>
            <a:ext cx="1572768" cy="457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8" name="Oval 177"/>
          <p:cNvSpPr/>
          <p:nvPr/>
        </p:nvSpPr>
        <p:spPr>
          <a:xfrm>
            <a:off x="10405872" y="3072384"/>
            <a:ext cx="219456" cy="219456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10716768" y="3026664"/>
            <a:ext cx="987552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FF8C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REDUCE DEBUG CYCLE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716768" y="3224679"/>
            <a:ext cx="1175918" cy="173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30" b="0" i="0" u="none" strike="noStrike" kern="1200" cap="none" spc="0" normalizeH="0" baseline="0" noProof="0" dirty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JTAG-backed RCA and patches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0287000" y="3575304"/>
            <a:ext cx="1572768" cy="457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2" name="Oval 181"/>
          <p:cNvSpPr/>
          <p:nvPr/>
        </p:nvSpPr>
        <p:spPr>
          <a:xfrm>
            <a:off x="10405872" y="3694176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10716768" y="3648456"/>
            <a:ext cx="987552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IMPROVE QUALITY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716768" y="3794760"/>
            <a:ext cx="98755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3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AI-focused tests and gates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0287000" y="4197096"/>
            <a:ext cx="1572768" cy="457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6" name="Oval 185"/>
          <p:cNvSpPr/>
          <p:nvPr/>
        </p:nvSpPr>
        <p:spPr>
          <a:xfrm>
            <a:off x="10405872" y="4315968"/>
            <a:ext cx="219456" cy="21945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10716768" y="4270248"/>
            <a:ext cx="987552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00C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STRENGTHEN GOVERNANCE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699720" y="4507992"/>
            <a:ext cx="1061492" cy="173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30" b="0" i="0" u="none" strike="noStrike" kern="1200" cap="none" spc="0" normalizeH="0" baseline="0" noProof="0" dirty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Traceability and proof in Jira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256032" y="5358384"/>
            <a:ext cx="6629400" cy="713232"/>
          </a:xfrm>
          <a:prstGeom prst="round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475488" y="5449824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FROM NPI DATA TO EMBEDDED IMPACT</a:t>
            </a:r>
          </a:p>
        </p:txBody>
      </p:sp>
      <p:sp>
        <p:nvSpPr>
          <p:cNvPr id="191" name="Oval 190"/>
          <p:cNvSpPr/>
          <p:nvPr/>
        </p:nvSpPr>
        <p:spPr>
          <a:xfrm>
            <a:off x="685800" y="5687568"/>
            <a:ext cx="310896" cy="310896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685800" y="5751576"/>
            <a:ext cx="31089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84632" y="6044184"/>
            <a:ext cx="713232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Collect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11480" y="6163056"/>
            <a:ext cx="86868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Jira + Confluence</a:t>
            </a:r>
          </a:p>
        </p:txBody>
      </p:sp>
      <p:sp>
        <p:nvSpPr>
          <p:cNvPr id="195" name="Right Arrow 194"/>
          <p:cNvSpPr/>
          <p:nvPr/>
        </p:nvSpPr>
        <p:spPr>
          <a:xfrm>
            <a:off x="1088136" y="5742432"/>
            <a:ext cx="320040" cy="182880"/>
          </a:xfrm>
          <a:prstGeom prst="rightArrow">
            <a:avLst/>
          </a:prstGeom>
          <a:solidFill>
            <a:srgbClr val="B8D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1691640" y="5687568"/>
            <a:ext cx="310896" cy="310896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691640" y="5751576"/>
            <a:ext cx="31089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490472" y="6044184"/>
            <a:ext cx="713232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Unify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417320" y="6163056"/>
            <a:ext cx="86868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AEPLO PDLC graph</a:t>
            </a:r>
          </a:p>
        </p:txBody>
      </p:sp>
      <p:sp>
        <p:nvSpPr>
          <p:cNvPr id="200" name="Right Arrow 199"/>
          <p:cNvSpPr/>
          <p:nvPr/>
        </p:nvSpPr>
        <p:spPr>
          <a:xfrm>
            <a:off x="2093976" y="5742432"/>
            <a:ext cx="320040" cy="182880"/>
          </a:xfrm>
          <a:prstGeom prst="rightArrow">
            <a:avLst/>
          </a:prstGeom>
          <a:solidFill>
            <a:srgbClr val="B8D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1" name="Oval 200"/>
          <p:cNvSpPr/>
          <p:nvPr/>
        </p:nvSpPr>
        <p:spPr>
          <a:xfrm>
            <a:off x="2697480" y="5687568"/>
            <a:ext cx="310896" cy="310896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2697480" y="5751576"/>
            <a:ext cx="31089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496312" y="6044184"/>
            <a:ext cx="713232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Orchestrate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423160" y="6163056"/>
            <a:ext cx="86868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Atlassian MCP</a:t>
            </a:r>
          </a:p>
        </p:txBody>
      </p:sp>
      <p:sp>
        <p:nvSpPr>
          <p:cNvPr id="205" name="Right Arrow 204"/>
          <p:cNvSpPr/>
          <p:nvPr/>
        </p:nvSpPr>
        <p:spPr>
          <a:xfrm>
            <a:off x="3099816" y="5742432"/>
            <a:ext cx="320040" cy="182880"/>
          </a:xfrm>
          <a:prstGeom prst="rightArrow">
            <a:avLst/>
          </a:prstGeom>
          <a:solidFill>
            <a:srgbClr val="B8D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3703320" y="5687568"/>
            <a:ext cx="310896" cy="3108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3703320" y="5751576"/>
            <a:ext cx="31089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502152" y="6044184"/>
            <a:ext cx="713232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Diagnose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429000" y="6163056"/>
            <a:ext cx="86868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JTAG Accelerator</a:t>
            </a:r>
          </a:p>
        </p:txBody>
      </p:sp>
      <p:sp>
        <p:nvSpPr>
          <p:cNvPr id="210" name="Right Arrow 209"/>
          <p:cNvSpPr/>
          <p:nvPr/>
        </p:nvSpPr>
        <p:spPr>
          <a:xfrm>
            <a:off x="4105656" y="5742432"/>
            <a:ext cx="320040" cy="182880"/>
          </a:xfrm>
          <a:prstGeom prst="rightArrow">
            <a:avLst/>
          </a:prstGeom>
          <a:solidFill>
            <a:srgbClr val="B8D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1" name="Oval 210"/>
          <p:cNvSpPr/>
          <p:nvPr/>
        </p:nvSpPr>
        <p:spPr>
          <a:xfrm>
            <a:off x="4709160" y="5687568"/>
            <a:ext cx="310896" cy="31089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4709160" y="5751576"/>
            <a:ext cx="31089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507992" y="6044184"/>
            <a:ext cx="713232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Optimise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434840" y="6163056"/>
            <a:ext cx="86868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ROVO + Copilot</a:t>
            </a:r>
          </a:p>
        </p:txBody>
      </p:sp>
      <p:sp>
        <p:nvSpPr>
          <p:cNvPr id="215" name="Right Arrow 214"/>
          <p:cNvSpPr/>
          <p:nvPr/>
        </p:nvSpPr>
        <p:spPr>
          <a:xfrm>
            <a:off x="5111496" y="5742432"/>
            <a:ext cx="320040" cy="182880"/>
          </a:xfrm>
          <a:prstGeom prst="rightArrow">
            <a:avLst/>
          </a:prstGeom>
          <a:solidFill>
            <a:srgbClr val="B8D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5715000" y="5687568"/>
            <a:ext cx="310896" cy="310896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5715000" y="5751576"/>
            <a:ext cx="31089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513832" y="6044184"/>
            <a:ext cx="713232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Impact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440680" y="6163056"/>
            <a:ext cx="86868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0" b="0" i="0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PG5 launch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114032" y="5358384"/>
            <a:ext cx="4736592" cy="7132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7296912" y="546811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00C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DEMO PHASES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7315200" y="5715000"/>
            <a:ext cx="1298448" cy="256032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7315200" y="5769864"/>
            <a:ext cx="129844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PG1  Discovery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796528" y="5715000"/>
            <a:ext cx="1298448" cy="256032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8796528" y="5769864"/>
            <a:ext cx="129844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PG3  Development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10277856" y="5715000"/>
            <a:ext cx="1298448" cy="256032"/>
          </a:xfrm>
          <a:prstGeom prst="round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10210190" y="5758555"/>
            <a:ext cx="1384402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PG5  Validation &amp; Launch Prep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0" y="6419088"/>
            <a:ext cx="12191695" cy="365760"/>
          </a:xfrm>
          <a:prstGeom prst="rect">
            <a:avLst/>
          </a:prstGeom>
          <a:solidFill>
            <a:srgbClr val="D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256032" y="6510528"/>
            <a:ext cx="30175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05142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Better Together. Built for Embedded PDLC Impact.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657600" y="6510528"/>
            <a:ext cx="8138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10" b="0" i="0" u="none" strike="noStrike" kern="1200" cap="none" spc="0" normalizeH="0" baseline="0" noProof="0">
                <a:ln>
                  <a:noFill/>
                </a:ln>
                <a:solidFill>
                  <a:srgbClr val="05142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ROVO Studio | Copilot | Atlassian MCP | GitHub | Jira | Confluence | AEPLO JTAG Accelerator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356</Words>
  <Application>Microsoft Office PowerPoint</Application>
  <PresentationFormat>Widescreen</PresentationFormat>
  <Paragraphs>99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Shrivastava, Shyam</cp:lastModifiedBy>
  <cp:revision>2</cp:revision>
  <dcterms:created xsi:type="dcterms:W3CDTF">2013-01-27T09:14:16Z</dcterms:created>
  <dcterms:modified xsi:type="dcterms:W3CDTF">2026-06-12T15:59:53Z</dcterms:modified>
  <cp:category/>
</cp:coreProperties>
</file>